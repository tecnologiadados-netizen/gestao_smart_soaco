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embeddedFontLst>
    <p:embeddedFont>
      <p:font typeface="Crimson Pro Medium"/>
      <p:regular r:id="rId201314"/>
    </p:embeddedFont>
    <p:embeddedFont>
      <p:font typeface="Crimson Pro ExtraBold"/>
      <p:regular r:id="rId201315"/>
    </p:embeddedFont>
    <p:embeddedFont>
      <p:font typeface="Crimson Pro Black"/>
      <p:regular r:id="rId201316"/>
    </p:embeddedFont>
    <p:embeddedFont>
      <p:font typeface="Crimson Pro ExtraLight"/>
      <p:regular r:id="rId201317"/>
    </p:embeddedFont>
    <p:embeddedFont>
      <p:font typeface="Crimson Pro Light"/>
      <p:regular r:id="rId201318"/>
    </p:embeddedFont>
    <p:embeddedFont>
      <p:font typeface="Crimson Pro"/>
      <p:regular r:id="rId201319"/>
    </p:embeddedFont>
    <p:embeddedFont>
      <p:font typeface="Crimson Pro SemiBold"/>
      <p:regular r:id="rId201320"/>
    </p:embeddedFont>
    <p:embeddedFont>
      <p:font typeface="Crimson Pro Bold"/>
      <p:regular r:id="rId201321"/>
    </p:embeddedFont>
    <p:embeddedFont>
      <p:font typeface="Heebo Thin"/>
      <p:regular r:id="rId201322"/>
    </p:embeddedFont>
    <p:embeddedFont>
      <p:font typeface="Heebo ExtraLight"/>
      <p:regular r:id="rId201323"/>
    </p:embeddedFont>
    <p:embeddedFont>
      <p:font typeface="Heebo Light"/>
      <p:regular r:id="rId201324"/>
    </p:embeddedFont>
    <p:embeddedFont>
      <p:font typeface="Heebo"/>
      <p:regular r:id="rId201325"/>
    </p:embeddedFont>
    <p:embeddedFont>
      <p:font typeface="Heebo Medium"/>
      <p:regular r:id="rId201326"/>
    </p:embeddedFont>
    <p:embeddedFont>
      <p:font typeface="Heebo SemiBold"/>
      <p:regular r:id="rId201327"/>
    </p:embeddedFont>
    <p:embeddedFont>
      <p:font typeface="Heebo Bold"/>
      <p:regular r:id="rId201328"/>
    </p:embeddedFont>
    <p:embeddedFont>
      <p:font typeface="Heebo ExtraBold"/>
      <p:regular r:id="rId201329"/>
    </p:embeddedFont>
    <p:embeddedFont>
      <p:font typeface="Heebo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-2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74241"/>
            <a:ext cx="2402756" cy="6492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6204" y="1046336"/>
            <a:ext cx="590356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496119" y="204906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41E42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Sugestão de Melhoria no Modelo de Metas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96119" y="2622649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Setores de Produção e Montagem Final — </a:t>
            </a:r>
            <a:pPr algn="l" indent="0" marL="0">
              <a:lnSpc>
                <a:spcPct val="133000"/>
              </a:lnSpc>
              <a:buNone/>
            </a:pPr>
            <a:r>
              <a:rPr lang="en-US" sz="950" i="1" dirty="0">
                <a:solidFill>
                  <a:srgbClr val="1E22A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Só Aço Industrial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96119" y="2991594"/>
            <a:ext cx="8151763" cy="14288"/>
          </a:xfrm>
          <a:prstGeom prst="roundRect">
            <a:avLst>
              <a:gd name="adj" fmla="val 59998"/>
            </a:avLst>
          </a:prstGeom>
          <a:solidFill>
            <a:srgbClr val="4C4C4D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96119" y="3176364"/>
            <a:ext cx="8151763" cy="694432"/>
          </a:xfrm>
          <a:prstGeom prst="roundRect">
            <a:avLst>
              <a:gd name="adj" fmla="val 2679"/>
            </a:avLst>
          </a:prstGeom>
          <a:solidFill>
            <a:srgbClr val="CCD7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92" y="3356149"/>
            <a:ext cx="155004" cy="1239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9071" y="3331294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41E4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Proposta estratégica para revisão do modelo de metas e bonificação, com foco em conectar desempenho produtivo à eficiência real de entrega.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496119" y="4010323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Trata-se de uma sugestão para apreciação da liderança, não de uma regra implementada.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9944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41E42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Contexto Atual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35013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 modelo vigente de avaliação de desempenho nos setores de Produção e Montagem Final apresenta limitações estruturais que comprometem a leitura real da eficiência operacional.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071464"/>
            <a:ext cx="2634555" cy="15370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1530" y="2209726"/>
            <a:ext cx="23008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Métrica Única: Volume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1530" y="2477988"/>
            <a:ext cx="230088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 modelo atual é baseado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exclusivamente no volume produzido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sem considerar se os pedidos foram entregues dentro do prazo acordado com o cliente.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4648" y="2071464"/>
            <a:ext cx="2634630" cy="15370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50059" y="2209726"/>
            <a:ext cx="23009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Metas Atingidas com Atrasos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450059" y="2477988"/>
            <a:ext cx="230095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É possível atingir 100% da meta quantitativa mesmo com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atrasos sistemáticos na entrega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o que distorce a percepção de desempenho real do setor.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3252" y="2071464"/>
            <a:ext cx="2634555" cy="153709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08663" y="2209726"/>
            <a:ext cx="23008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Desconexão entre Setores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208663" y="2477988"/>
            <a:ext cx="230088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Não há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integração formal entre produção e entrega final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dificultando o alinhamento e a identificação de responsabilidades.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496119" y="3748087"/>
            <a:ext cx="8151763" cy="495970"/>
          </a:xfrm>
          <a:prstGeom prst="roundRect">
            <a:avLst>
              <a:gd name="adj" fmla="val 3752"/>
            </a:avLst>
          </a:prstGeom>
          <a:solidFill>
            <a:srgbClr val="FCF2B5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092" y="3927872"/>
            <a:ext cx="155004" cy="12397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9071" y="3903018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 modelo atual permite que setores sejam bonificados mesmo quando o cliente final é impactado negativamente por atrasos.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12155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41E42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Problema Identificado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47726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ausência de um critério de prazo nas metas gera consequências diretas para a competitividade e a satisfação do cliente. Os principais pontos de atenção identificados são: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984177"/>
            <a:ext cx="4013895" cy="1111597"/>
          </a:xfrm>
          <a:prstGeom prst="roundRect">
            <a:avLst>
              <a:gd name="adj" fmla="val 1674"/>
            </a:avLst>
          </a:prstGeom>
          <a:solidFill>
            <a:srgbClr val="152D47"/>
          </a:solidFill>
          <a:ln/>
        </p:spPr>
      </p:sp>
      <p:sp>
        <p:nvSpPr>
          <p:cNvPr id="5" name="Text 3"/>
          <p:cNvSpPr/>
          <p:nvPr/>
        </p:nvSpPr>
        <p:spPr>
          <a:xfrm>
            <a:off x="620092" y="2108150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Entregas Fora do Prazo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0092" y="2376413"/>
            <a:ext cx="376594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Pedidos entregues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fora do prazo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comprometem a confiabilidade percebida pela cadeia de clientes, gerando retrabalho comercial e risco de perda de contratos.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33987" y="1984177"/>
            <a:ext cx="4013895" cy="1111597"/>
          </a:xfrm>
          <a:prstGeom prst="roundRect">
            <a:avLst>
              <a:gd name="adj" fmla="val 1674"/>
            </a:avLst>
          </a:prstGeom>
          <a:solidFill>
            <a:srgbClr val="152D47"/>
          </a:solidFill>
          <a:ln/>
        </p:spPr>
      </p:sp>
      <p:sp>
        <p:nvSpPr>
          <p:cNvPr id="8" name="Text 6"/>
          <p:cNvSpPr/>
          <p:nvPr/>
        </p:nvSpPr>
        <p:spPr>
          <a:xfrm>
            <a:off x="4757961" y="2108150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Impacto na Satisfação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7961" y="2376413"/>
            <a:ext cx="376594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 atraso tem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impacto direto na satisfação do cliente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afetando indicadores de NPS, recorrência de compra e reputação da marca Só Aço no mercado.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6119" y="3219748"/>
            <a:ext cx="4013895" cy="1111597"/>
          </a:xfrm>
          <a:prstGeom prst="roundRect">
            <a:avLst>
              <a:gd name="adj" fmla="val 1674"/>
            </a:avLst>
          </a:prstGeom>
          <a:solidFill>
            <a:srgbClr val="152D47"/>
          </a:solidFill>
          <a:ln/>
        </p:spPr>
      </p:sp>
      <p:sp>
        <p:nvSpPr>
          <p:cNvPr id="11" name="Text 9"/>
          <p:cNvSpPr/>
          <p:nvPr/>
        </p:nvSpPr>
        <p:spPr>
          <a:xfrm>
            <a:off x="620092" y="3343721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Falta de Responsabilização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0092" y="3611984"/>
            <a:ext cx="376594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Sem critérios claros, não há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responsabilização segmentada por setor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tornando difícil identificar onde a falha ocorreu e quem deve ser responsabilizado.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33987" y="3219748"/>
            <a:ext cx="4013895" cy="1111597"/>
          </a:xfrm>
          <a:prstGeom prst="roundRect">
            <a:avLst>
              <a:gd name="adj" fmla="val 1674"/>
            </a:avLst>
          </a:prstGeom>
          <a:solidFill>
            <a:srgbClr val="152D47"/>
          </a:solidFill>
          <a:ln/>
        </p:spPr>
      </p:sp>
      <p:sp>
        <p:nvSpPr>
          <p:cNvPr id="14" name="Text 12"/>
          <p:cNvSpPr/>
          <p:nvPr/>
        </p:nvSpPr>
        <p:spPr>
          <a:xfrm>
            <a:off x="4757961" y="3343721"/>
            <a:ext cx="37659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Indicador Inadequado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7961" y="3611984"/>
            <a:ext cx="376594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 indicador atual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não reflete a eficiência real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da operação, mascarando ineficiências e dificultando decisões estratégicas baseadas em dados confiáveis.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7217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41E42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Objetivo da Proposta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12788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Esta sugestão visa evoluir o modelo de metas para um formato mais completo, justo e alinhado à estratégia de entrega da Só Aço Industrial. Os quatro pilares da proposta são: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49239"/>
            <a:ext cx="4075881" cy="4961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0092" y="2269331"/>
            <a:ext cx="382793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41E42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Critério de Prazo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20092" y="2537594"/>
            <a:ext cx="382793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Incluir 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80808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cumprimento de prazo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como variável formal nas metas, ao lado do critério quantitativo já existente.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49239"/>
            <a:ext cx="4075881" cy="4961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95974" y="2269331"/>
            <a:ext cx="382793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41E42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Previsibilidade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695974" y="2537594"/>
            <a:ext cx="382793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Aumentar a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80808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previsibilidade das entregas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ao criar incentivos diretos para que os setores priorizem o cumprimento dos prazos acordados.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3058492"/>
            <a:ext cx="4075881" cy="4961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0092" y="3678585"/>
            <a:ext cx="382793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41E42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Integração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20092" y="3946847"/>
            <a:ext cx="382793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Melhorar a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80808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integração entre setores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de Produção e Montagem Final, criando uma cadeia de responsabilidade compartilhada e rastreável.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058492"/>
            <a:ext cx="4075881" cy="49611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95974" y="3678585"/>
            <a:ext cx="382793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41E42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Justiça e Estratégia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695974" y="3946847"/>
            <a:ext cx="382793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Tornar o modelo mais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80808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justo e estratégico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diferenciando atrasos sob controle do setor daqueles causados por fatores externos ou decisões da diretoria.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41E42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Nova Lógica — Visão Geral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596950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8080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proposta mantém a estrutura quantitativa existente e adiciona uma camada de avaliação de prazo, com penalizações proporcionais e diferenciadas por tipo de atraso.</a:t>
            </a:r>
            <a:endParaRPr lang="en-US" sz="450" dirty="0"/>
          </a:p>
        </p:txBody>
      </p:sp>
      <p:sp>
        <p:nvSpPr>
          <p:cNvPr id="4" name="Shape 2"/>
          <p:cNvSpPr/>
          <p:nvPr/>
        </p:nvSpPr>
        <p:spPr>
          <a:xfrm>
            <a:off x="451470" y="706115"/>
            <a:ext cx="4089574" cy="414189"/>
          </a:xfrm>
          <a:prstGeom prst="roundRect">
            <a:avLst>
              <a:gd name="adj" fmla="val 2246"/>
            </a:avLst>
          </a:prstGeom>
          <a:solidFill>
            <a:srgbClr val="041E42"/>
          </a:solidFill>
          <a:ln/>
        </p:spPr>
      </p:sp>
      <p:sp>
        <p:nvSpPr>
          <p:cNvPr id="5" name="Text 3"/>
          <p:cNvSpPr/>
          <p:nvPr/>
        </p:nvSpPr>
        <p:spPr>
          <a:xfrm>
            <a:off x="513457" y="737071"/>
            <a:ext cx="3965600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 que permanece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13457" y="864915"/>
            <a:ext cx="3965600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meta quantitativa de volume produzido é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mantida como base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do modelo. O sistema de categorias Bronze, Prata e Aço também é preservado como referência de bonificação.</a:t>
            </a:r>
            <a:endParaRPr lang="en-US" sz="450" dirty="0"/>
          </a:p>
        </p:txBody>
      </p:sp>
      <p:sp>
        <p:nvSpPr>
          <p:cNvPr id="7" name="Text 5"/>
          <p:cNvSpPr/>
          <p:nvPr/>
        </p:nvSpPr>
        <p:spPr>
          <a:xfrm>
            <a:off x="4652367" y="737071"/>
            <a:ext cx="400027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1E22AA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 que é adicionado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652367" y="864915"/>
            <a:ext cx="4000277" cy="244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Novo critério de </a:t>
            </a:r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en-US" sz="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cumprimento de prazo</a:t>
            </a:r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integrado à meta</a:t>
            </a:r>
            <a:endParaRPr lang="en-US" sz="450" dirty="0"/>
          </a:p>
          <a:p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Introdução de </a:t>
            </a:r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en-US" sz="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penalizações por atraso não abonado</a:t>
            </a:r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aplicadas de forma proporcional e segmentada</a:t>
            </a:r>
            <a:endParaRPr lang="en-US" sz="450" dirty="0"/>
          </a:p>
          <a:p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Separação formal entre atrasos </a:t>
            </a:r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en-US" sz="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abonados</a:t>
            </a:r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(sem impacto) e </a:t>
            </a:r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en-US" sz="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não abonados</a:t>
            </a:r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en-US" sz="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(com impacto negativo na meta)</a:t>
            </a:r>
            <a:endParaRPr lang="en-US" sz="4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3070" y="1155129"/>
            <a:ext cx="5497860" cy="41324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068438" y="3020611"/>
            <a:ext cx="1002663" cy="687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Score Final de Desempenho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568356" y="4241205"/>
            <a:ext cx="1491639" cy="229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Critério de Prazo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568356" y="4535686"/>
            <a:ext cx="1491639" cy="275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Entregas dentro do prazo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071265" y="4057791"/>
            <a:ext cx="1491639" cy="458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Ajustes por Penalidade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071265" y="4581540"/>
            <a:ext cx="1491639" cy="412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Reduções proporcionais por atraso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799431" y="1416122"/>
            <a:ext cx="1532397" cy="458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Meta Quantitativa (volume)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799431" y="1939871"/>
            <a:ext cx="1532397" cy="275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Quantidade produzida alvo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96119" y="5322391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8080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lógica resultante é simples: o desempenho final de cada setor passa a refletir tanto o que foi produzido quanto se foi entregue no prazo — tornando o indicador muito mais aderente à realidade operacional.</a:t>
            </a:r>
            <a:endParaRPr lang="en-US" sz="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0061"/>
            <a:ext cx="8151763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041E42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Tipos de Atraso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951458"/>
            <a:ext cx="8151763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Um dos pilares centrais da proposta é a distinção clara entre atrasos que estão sob controle do setor e aqueles que decorrem de decisões externas ou fatores imprevisíveis. Essa separação garante que a penalização seja justa e direcionada.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2403" y="1434554"/>
            <a:ext cx="4101480" cy="2287712"/>
          </a:xfrm>
          <a:prstGeom prst="roundRect">
            <a:avLst>
              <a:gd name="adj" fmla="val 763"/>
            </a:avLst>
          </a:prstGeom>
          <a:solidFill>
            <a:srgbClr val="041E42"/>
          </a:solidFill>
          <a:ln/>
        </p:spPr>
      </p:sp>
      <p:sp>
        <p:nvSpPr>
          <p:cNvPr id="5" name="Shape 3"/>
          <p:cNvSpPr/>
          <p:nvPr/>
        </p:nvSpPr>
        <p:spPr>
          <a:xfrm>
            <a:off x="528638" y="1557189"/>
            <a:ext cx="1913409" cy="176585"/>
          </a:xfrm>
          <a:prstGeom prst="roundRect">
            <a:avLst>
              <a:gd name="adj" fmla="val 7903"/>
            </a:avLst>
          </a:prstGeom>
          <a:solidFill>
            <a:srgbClr val="00104C"/>
          </a:solidFill>
          <a:ln/>
        </p:spPr>
      </p:sp>
      <p:sp>
        <p:nvSpPr>
          <p:cNvPr id="6" name="Text 4"/>
          <p:cNvSpPr/>
          <p:nvPr/>
        </p:nvSpPr>
        <p:spPr>
          <a:xfrm>
            <a:off x="598363" y="1592014"/>
            <a:ext cx="2231157" cy="106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ABONADOS — SEM IMPACTO NA META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28638" y="1777380"/>
            <a:ext cx="3869010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Atrasos que não penalizam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8638" y="2068041"/>
            <a:ext cx="3869010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São considerados abonados os atrasos originados por fatores fora do controle direto do setor de produção ou montagem: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8638" y="2526581"/>
            <a:ext cx="3869010" cy="759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Priorização por decisão da diretoria</a:t>
            </a:r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quando a sequência de produção é alterada por orientação estratégica superior</a:t>
            </a:r>
            <a:endParaRPr lang="en-US" sz="900" dirty="0"/>
          </a:p>
          <a:p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Fatores externos</a:t>
            </a:r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eventos fora do controle operacional do setor, como fornecedores, logística ou força maior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18596" y="1557189"/>
            <a:ext cx="2336825" cy="176585"/>
          </a:xfrm>
          <a:prstGeom prst="roundRect">
            <a:avLst>
              <a:gd name="adj" fmla="val 7903"/>
            </a:avLst>
          </a:prstGeom>
          <a:noFill/>
          <a:ln w="4763">
            <a:solidFill>
              <a:srgbClr val="2150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8322" y="1592014"/>
            <a:ext cx="2654573" cy="106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⚠️</a:t>
            </a:r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NÃO ABONADOS — IMPACTAM NEGATIVAMENTE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718596" y="1777380"/>
            <a:ext cx="3934048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E22AA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Atrasos que penalizam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18596" y="2068041"/>
            <a:ext cx="3934048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São considerados não abonados os atrasos cuja origem está dentro da esfera de responsabilidade do setor: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18596" y="2526581"/>
            <a:ext cx="3934048" cy="1157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Baixa produtividade</a:t>
            </a:r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quando o ritmo de produção é insuficiente para cumprir o prazo planejado</a:t>
            </a:r>
            <a:endParaRPr lang="en-US" sz="900" dirty="0"/>
          </a:p>
          <a:p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Falha de planejamento interno</a:t>
            </a:r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erros de sequenciamento, dimensionamento ou priorização feitos pelo próprio setor</a:t>
            </a:r>
            <a:endParaRPr lang="en-US" sz="900" dirty="0"/>
          </a:p>
          <a:p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Problemas operacionais</a:t>
            </a:r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falhas técnicas ou de processo sob responsabilidade direta da produção ou montagem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6119" y="3844900"/>
            <a:ext cx="8151763" cy="625599"/>
          </a:xfrm>
          <a:prstGeom prst="roundRect">
            <a:avLst>
              <a:gd name="adj" fmla="val 2788"/>
            </a:avLst>
          </a:prstGeom>
          <a:solidFill>
            <a:srgbClr val="CCD7FF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353" y="4007495"/>
            <a:ext cx="145331" cy="11623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73919" y="3982938"/>
            <a:ext cx="7657728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classificação do tipo de atraso deve ser registrada no sistema </a:t>
            </a:r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Gestão Smart 2.0</a:t>
            </a:r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- Nas movimentações realizadas no "Gerenciador de pedidos" no momento da alteração de data, garantindo rastreabilidade e transparência no processo de avaliação.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6119" y="4593134"/>
            <a:ext cx="8608963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0262"/>
            <a:ext cx="8151763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Regra para Montagem Final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1011659"/>
            <a:ext cx="8151763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Para o setor de Montagem Final, a penalização é calculada com base nas alterações de data dos pedidos registradas no sistema </a:t>
            </a:r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Gestão Smart 2.0</a:t>
            </a:r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O processo considera apenas as alterações classificadas como </a:t>
            </a:r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não abonadas</a:t>
            </a:r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calculando a média por pedido e aplicando a faixa de impacto correspondente.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2403" y="1494755"/>
            <a:ext cx="4101480" cy="2167384"/>
          </a:xfrm>
          <a:prstGeom prst="roundRect">
            <a:avLst>
              <a:gd name="adj" fmla="val 805"/>
            </a:avLst>
          </a:prstGeom>
          <a:solidFill>
            <a:srgbClr val="041E42"/>
          </a:solidFill>
          <a:ln/>
        </p:spPr>
      </p:sp>
      <p:sp>
        <p:nvSpPr>
          <p:cNvPr id="5" name="Text 3"/>
          <p:cNvSpPr/>
          <p:nvPr/>
        </p:nvSpPr>
        <p:spPr>
          <a:xfrm>
            <a:off x="528638" y="1603772"/>
            <a:ext cx="3869010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Como é calculado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28638" y="1894433"/>
            <a:ext cx="3869010" cy="1195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Levantamento de todas as alterações de data não abonadas</a:t>
            </a:r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no período de apuração</a:t>
            </a:r>
            <a:endParaRPr lang="en-US" sz="900" dirty="0"/>
          </a:p>
          <a:p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Cálculo da média de alterações por pedido</a:t>
            </a:r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no setor</a:t>
            </a:r>
            <a:endParaRPr lang="en-US" sz="900" dirty="0"/>
          </a:p>
          <a:p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Aplicação da faixa de penalização</a:t>
            </a:r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correspondente à média apurada</a:t>
            </a:r>
            <a:endParaRPr lang="en-US" sz="900" dirty="0"/>
          </a:p>
          <a:p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Resultado final</a:t>
            </a:r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 meta ajustada pelo percentual de impacto da faixa atingida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18596" y="1603772"/>
            <a:ext cx="3934048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Faixas de Penalização — Montagem Final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18596" y="1908051"/>
            <a:ext cx="3934048" cy="1631454"/>
          </a:xfrm>
          <a:prstGeom prst="roundRect">
            <a:avLst>
              <a:gd name="adj" fmla="val 106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18596" y="2235771"/>
            <a:ext cx="3934048" cy="72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718596" y="2561109"/>
            <a:ext cx="3934048" cy="72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718596" y="2886447"/>
            <a:ext cx="3934048" cy="72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718596" y="3211785"/>
            <a:ext cx="3934048" cy="726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723433" y="1912813"/>
            <a:ext cx="2158454" cy="322957"/>
          </a:xfrm>
          <a:prstGeom prst="rect">
            <a:avLst/>
          </a:prstGeom>
          <a:solidFill>
            <a:srgbClr val="041E42"/>
          </a:solidFill>
          <a:ln/>
        </p:spPr>
      </p:sp>
      <p:sp>
        <p:nvSpPr>
          <p:cNvPr id="14" name="Text 12"/>
          <p:cNvSpPr/>
          <p:nvPr/>
        </p:nvSpPr>
        <p:spPr>
          <a:xfrm>
            <a:off x="4839667" y="1982986"/>
            <a:ext cx="2383185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Faixa (média/pedido)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81887" y="1912813"/>
            <a:ext cx="1765995" cy="322957"/>
          </a:xfrm>
          <a:prstGeom prst="rect">
            <a:avLst/>
          </a:prstGeom>
          <a:solidFill>
            <a:srgbClr val="041E42"/>
          </a:solidFill>
          <a:ln/>
        </p:spPr>
      </p:sp>
      <p:sp>
        <p:nvSpPr>
          <p:cNvPr id="16" name="Text 14"/>
          <p:cNvSpPr/>
          <p:nvPr/>
        </p:nvSpPr>
        <p:spPr>
          <a:xfrm>
            <a:off x="6998122" y="1982986"/>
            <a:ext cx="1990725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Impacto na meta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39667" y="2308324"/>
            <a:ext cx="2383185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 a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98122" y="2308324"/>
            <a:ext cx="1990725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1E22A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39667" y="2633663"/>
            <a:ext cx="2383185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 a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98122" y="2633663"/>
            <a:ext cx="1990725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1E22A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-20%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39667" y="2959001"/>
            <a:ext cx="2383185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 a 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98122" y="2959001"/>
            <a:ext cx="1990725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1E22A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-30%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39667" y="3284339"/>
            <a:ext cx="2383185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Acima de 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98122" y="3284339"/>
            <a:ext cx="1990725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1E22AA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-40%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6119" y="3784774"/>
            <a:ext cx="8151763" cy="625599"/>
          </a:xfrm>
          <a:prstGeom prst="roundRect">
            <a:avLst>
              <a:gd name="adj" fmla="val 2788"/>
            </a:avLst>
          </a:prstGeom>
          <a:solidFill>
            <a:srgbClr val="CCD7FF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353" y="3947368"/>
            <a:ext cx="145331" cy="116235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73919" y="3922812"/>
            <a:ext cx="7657728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estrutura de faixas garante proporcionalidade: setores com baixo índice de alterações não são penalizados, enquanto aqueles com recorrência elevada de atrasos não abonados têm sua bonificação reduzida de forma progressiva.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96119" y="4533007"/>
            <a:ext cx="8608963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1373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Estrutura de Metas — Categorias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49301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 sistema de categorias já existente na Só Aço Industrial é mantido como base do modelo de bonificação. A proposta não altera essa estrutura — ela apenas adiciona o critério de prazo como fator de ajuste sobre os valores já praticados.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085752"/>
            <a:ext cx="2634555" cy="1310060"/>
          </a:xfrm>
          <a:prstGeom prst="roundRect">
            <a:avLst>
              <a:gd name="adj" fmla="val 1420"/>
            </a:avLst>
          </a:prstGeom>
          <a:solidFill>
            <a:srgbClr val="152D47"/>
          </a:solidFill>
          <a:ln/>
        </p:spPr>
      </p:sp>
      <p:sp>
        <p:nvSpPr>
          <p:cNvPr id="5" name="Text 3"/>
          <p:cNvSpPr/>
          <p:nvPr/>
        </p:nvSpPr>
        <p:spPr>
          <a:xfrm>
            <a:off x="620092" y="2209726"/>
            <a:ext cx="238660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🥉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Meta Bronze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0092" y="2477988"/>
            <a:ext cx="238660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Nível base de desempenho.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Representa o patamar mínimo aceitável de produção. É a condição de entrada para que o setor seja elegível à bonificação no período.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54648" y="2085752"/>
            <a:ext cx="2634630" cy="1310060"/>
          </a:xfrm>
          <a:prstGeom prst="roundRect">
            <a:avLst>
              <a:gd name="adj" fmla="val 1420"/>
            </a:avLst>
          </a:prstGeom>
          <a:solidFill>
            <a:srgbClr val="152D47"/>
          </a:solidFill>
          <a:ln/>
        </p:spPr>
      </p:sp>
      <p:sp>
        <p:nvSpPr>
          <p:cNvPr id="8" name="Text 6"/>
          <p:cNvSpPr/>
          <p:nvPr/>
        </p:nvSpPr>
        <p:spPr>
          <a:xfrm>
            <a:off x="3378622" y="2209726"/>
            <a:ext cx="23866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🥈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Meta Prata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78622" y="2477988"/>
            <a:ext cx="238668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Desempenho intermediário.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Indica que o setor superou o nível base e entregou resultados acima da média esperada, com bonificação proporcionalmente maior.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13252" y="2085752"/>
            <a:ext cx="2634555" cy="1310060"/>
          </a:xfrm>
          <a:prstGeom prst="roundRect">
            <a:avLst>
              <a:gd name="adj" fmla="val 1420"/>
            </a:avLst>
          </a:prstGeom>
          <a:solidFill>
            <a:srgbClr val="152D47"/>
          </a:solidFill>
          <a:ln/>
        </p:spPr>
      </p:sp>
      <p:sp>
        <p:nvSpPr>
          <p:cNvPr id="11" name="Text 9"/>
          <p:cNvSpPr/>
          <p:nvPr/>
        </p:nvSpPr>
        <p:spPr>
          <a:xfrm>
            <a:off x="6137225" y="2209726"/>
            <a:ext cx="238660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Meta Aço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37225" y="2477988"/>
            <a:ext cx="238660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Desempenho de excelência.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Nível máximo de reconhecimento, reservado para setores que atingem os mais altos padrões de produção e prazo no período avaliado.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3535338"/>
            <a:ext cx="8151763" cy="694432"/>
          </a:xfrm>
          <a:prstGeom prst="roundRect">
            <a:avLst>
              <a:gd name="adj" fmla="val 2679"/>
            </a:avLst>
          </a:prstGeom>
          <a:solidFill>
            <a:srgbClr val="CCD7FF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3715122"/>
            <a:ext cx="155004" cy="12397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99071" y="3690268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Sistema de categorias já existente — mantido como base de bonificação. A proposta preserva integralmente essa estrutura, adicionando apenas o critério de prazo como fator de ajuste.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5517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41E42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Regra do Setor de Produção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81088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setor de Produção, a meta é definida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1E22AA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indiretamente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pelo desempenho da Montagem Final. Isso cria um vínculo direto entre os dois setores, incentivando a colaboração e o alinhamento operacional.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06822" y="1617538"/>
            <a:ext cx="4103191" cy="2246412"/>
          </a:xfrm>
          <a:prstGeom prst="roundRect">
            <a:avLst>
              <a:gd name="adj" fmla="val 828"/>
            </a:avLst>
          </a:prstGeom>
          <a:solidFill>
            <a:srgbClr val="041E42"/>
          </a:solidFill>
          <a:ln/>
        </p:spPr>
      </p:sp>
      <p:sp>
        <p:nvSpPr>
          <p:cNvPr id="5" name="Text 3"/>
          <p:cNvSpPr/>
          <p:nvPr/>
        </p:nvSpPr>
        <p:spPr>
          <a:xfrm>
            <a:off x="530796" y="1741512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Lógica de Cálculo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796" y="2059335"/>
            <a:ext cx="3855244" cy="1277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 valor unitário de bonificação da Produção é determinado pela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categoria atingida pela Montagem Final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(Bronze, Prata ou Aço)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 total é calculado como a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soma proporcional por setor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 pelo nível de categoria atingido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Condição mínima: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ao menos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3 setores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devem atingir a Meta Bronze para que a bonificação seja ativada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8046" y="1741512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41E42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Valor Unitário por Categoria — Produção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28046" y="2074887"/>
            <a:ext cx="3924598" cy="1649537"/>
          </a:xfrm>
          <a:prstGeom prst="roundRect">
            <a:avLst>
              <a:gd name="adj" fmla="val 112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28046" y="2637309"/>
            <a:ext cx="3924598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728046" y="2998887"/>
            <a:ext cx="3924598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728046" y="3360465"/>
            <a:ext cx="3924598" cy="775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732883" y="2079650"/>
            <a:ext cx="2153245" cy="557659"/>
          </a:xfrm>
          <a:prstGeom prst="rect">
            <a:avLst/>
          </a:prstGeom>
          <a:solidFill>
            <a:srgbClr val="1E22AA"/>
          </a:solidFill>
          <a:ln/>
        </p:spPr>
      </p:sp>
      <p:sp>
        <p:nvSpPr>
          <p:cNvPr id="13" name="Text 11"/>
          <p:cNvSpPr/>
          <p:nvPr/>
        </p:nvSpPr>
        <p:spPr>
          <a:xfrm>
            <a:off x="4856857" y="2158826"/>
            <a:ext cx="19052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Categoria atingida pela Montagem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86129" y="2079650"/>
            <a:ext cx="1761753" cy="557659"/>
          </a:xfrm>
          <a:prstGeom prst="rect">
            <a:avLst/>
          </a:prstGeom>
          <a:solidFill>
            <a:srgbClr val="1E22AA"/>
          </a:solidFill>
          <a:ln/>
        </p:spPr>
      </p:sp>
      <p:sp>
        <p:nvSpPr>
          <p:cNvPr id="15" name="Text 13"/>
          <p:cNvSpPr/>
          <p:nvPr/>
        </p:nvSpPr>
        <p:spPr>
          <a:xfrm>
            <a:off x="7010102" y="2158826"/>
            <a:ext cx="197100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Valor unitário (Produção)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56857" y="2718867"/>
            <a:ext cx="23624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Meta Bronze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010102" y="2718867"/>
            <a:ext cx="197100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AD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R$ 8,30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56857" y="3080445"/>
            <a:ext cx="23624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Meta Prata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10102" y="3080445"/>
            <a:ext cx="197100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AD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R$ 16,60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56857" y="3442022"/>
            <a:ext cx="23624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Meta Aço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010102" y="3442022"/>
            <a:ext cx="197100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AD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R$ 25,00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6119" y="4003477"/>
            <a:ext cx="8151763" cy="694432"/>
          </a:xfrm>
          <a:prstGeom prst="roundRect">
            <a:avLst>
              <a:gd name="adj" fmla="val 2679"/>
            </a:avLst>
          </a:prstGeom>
          <a:solidFill>
            <a:srgbClr val="CCD7FF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4183261"/>
            <a:ext cx="155004" cy="12397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99071" y="4158407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Essa estrutura cria um incentivo natural para que a Produção apoie ativamente o desempenho da Montagem Final — pois o nível de bonificação da Produção depende diretamente do resultado da Montagem.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6564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41E42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Nova Regra de Penalização — Ponto Principal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02134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penalização do setor de Produção é o elemento mais inovador da proposta. Diferentemente de um modelo de desconto generalizado, a penalização é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80808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segmentada por setor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 acionada apenas em condições específicas e rastreáveis.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38585"/>
            <a:ext cx="4013895" cy="11401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1530" y="1676846"/>
            <a:ext cx="368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41E42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Segmentação por Setor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1530" y="1945109"/>
            <a:ext cx="368022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penalização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80808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não é aplicada de forma global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 toda a Produção. Cada setor é avaliado individualmente, com base nas ocorrências que lhe são diretamente atribuídas.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987" y="1538585"/>
            <a:ext cx="4013895" cy="11401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29398" y="1676846"/>
            <a:ext cx="368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41E42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Gatilho Específico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829398" y="1945109"/>
            <a:ext cx="368022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penalização é acionada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80808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apenas quando a causa registrada é "Reprogramação por ruptura de PP"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garantindo que somente falhas operacionais da Produção gerem impacto negativo.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802731"/>
            <a:ext cx="4013895" cy="11401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1530" y="2940993"/>
            <a:ext cx="368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41E42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Escopo Limitado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91530" y="3209255"/>
            <a:ext cx="368022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Considera somente os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80808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setores de Montagem impactados pela Produção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naquela ocorrência específica, evitando que setores não relacionados sejam afetados.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3987" y="2802731"/>
            <a:ext cx="4013895" cy="11401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29398" y="2940993"/>
            <a:ext cx="36802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41E42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Justiça Operacional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829398" y="3209255"/>
            <a:ext cx="368022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 modelo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80808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evita penalização generalizada e injusta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preservando a bonificação dos setores que cumpriram suas responsabilidades sem gerar impacto negativo na cadeia.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496119" y="4082430"/>
            <a:ext cx="8151763" cy="694432"/>
          </a:xfrm>
          <a:prstGeom prst="roundRect">
            <a:avLst>
              <a:gd name="adj" fmla="val 2679"/>
            </a:avLst>
          </a:prstGeom>
          <a:solidFill>
            <a:srgbClr val="CCD7FF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092" y="4262214"/>
            <a:ext cx="155004" cy="12397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99071" y="4237360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41E42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Este é o ponto central da proposta: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penalização é cirúrgica, rastreável e proporcional — nunca generalizada. Isso garante que o modelo seja percebido como justo por todos os setores envolvidos.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2173"/>
            <a:ext cx="8151763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Exemplo Prático — Setor de Produção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930325"/>
            <a:ext cx="8151763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Para ilustrar a aplicação do modelo, considere o seguinte cenário: </a:t>
            </a:r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E22AA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3 setores atingiram a Meta Bronze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com valor unitário de </a:t>
            </a:r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AD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R$ 8,30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cada. As ocorrências de cada setor determinam se há ou não penalização individual.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1400547"/>
            <a:ext cx="8151763" cy="1447130"/>
          </a:xfrm>
          <a:prstGeom prst="roundRect">
            <a:avLst>
              <a:gd name="adj" fmla="val 118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1895401"/>
            <a:ext cx="8151763" cy="714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212032"/>
            <a:ext cx="8151763" cy="714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528664"/>
            <a:ext cx="8151763" cy="714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129433" y="1400547"/>
            <a:ext cx="7147" cy="14471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164955" y="1400547"/>
            <a:ext cx="7147" cy="14471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200477" y="1400547"/>
            <a:ext cx="7147" cy="14471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01030" y="1405310"/>
            <a:ext cx="1628403" cy="490091"/>
          </a:xfrm>
          <a:prstGeom prst="rect">
            <a:avLst/>
          </a:prstGeom>
          <a:solidFill>
            <a:srgbClr val="041E42"/>
          </a:solidFill>
          <a:ln/>
        </p:spPr>
      </p:sp>
      <p:sp>
        <p:nvSpPr>
          <p:cNvPr id="12" name="Text 10"/>
          <p:cNvSpPr/>
          <p:nvPr/>
        </p:nvSpPr>
        <p:spPr>
          <a:xfrm>
            <a:off x="615330" y="1473324"/>
            <a:ext cx="1854622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Setor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29433" y="1405310"/>
            <a:ext cx="2035522" cy="490091"/>
          </a:xfrm>
          <a:prstGeom prst="rect">
            <a:avLst/>
          </a:prstGeom>
          <a:solidFill>
            <a:srgbClr val="041E42"/>
          </a:solidFill>
          <a:ln/>
        </p:spPr>
      </p:sp>
      <p:sp>
        <p:nvSpPr>
          <p:cNvPr id="14" name="Text 12"/>
          <p:cNvSpPr/>
          <p:nvPr/>
        </p:nvSpPr>
        <p:spPr>
          <a:xfrm>
            <a:off x="2246114" y="1473324"/>
            <a:ext cx="1802160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Ocorrências vinculadas a produção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64955" y="1405310"/>
            <a:ext cx="2035522" cy="490091"/>
          </a:xfrm>
          <a:prstGeom prst="rect">
            <a:avLst/>
          </a:prstGeom>
          <a:solidFill>
            <a:srgbClr val="041E42"/>
          </a:solidFill>
          <a:ln/>
        </p:spPr>
      </p:sp>
      <p:sp>
        <p:nvSpPr>
          <p:cNvPr id="16" name="Text 14"/>
          <p:cNvSpPr/>
          <p:nvPr/>
        </p:nvSpPr>
        <p:spPr>
          <a:xfrm>
            <a:off x="4281636" y="1473324"/>
            <a:ext cx="2259360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Impacto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00477" y="1405310"/>
            <a:ext cx="2442642" cy="490091"/>
          </a:xfrm>
          <a:prstGeom prst="rect">
            <a:avLst/>
          </a:prstGeom>
          <a:solidFill>
            <a:srgbClr val="041E42"/>
          </a:solidFill>
          <a:ln/>
        </p:spPr>
      </p:sp>
      <p:sp>
        <p:nvSpPr>
          <p:cNvPr id="18" name="Text 16"/>
          <p:cNvSpPr/>
          <p:nvPr/>
        </p:nvSpPr>
        <p:spPr>
          <a:xfrm>
            <a:off x="6317159" y="1473324"/>
            <a:ext cx="2668860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Valor recebido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5330" y="1965796"/>
            <a:ext cx="1854622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041E4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Setor 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46114" y="1965796"/>
            <a:ext cx="2259360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 ocorrências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81636" y="1965796"/>
            <a:ext cx="2259360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Sem impacto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17159" y="1965796"/>
            <a:ext cx="2668860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E22AA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R$ 8,30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5330" y="2282428"/>
            <a:ext cx="1854622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041E4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Setor 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246114" y="2282428"/>
            <a:ext cx="2259360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 ocorrência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81636" y="2282428"/>
            <a:ext cx="2259360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Sem impacto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17159" y="2282428"/>
            <a:ext cx="2668860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1E22AA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R$ 8,30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5330" y="2599060"/>
            <a:ext cx="1854622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041E4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Setor 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46114" y="2599060"/>
            <a:ext cx="2259360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 ocorrências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81636" y="2599060"/>
            <a:ext cx="2259360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FFAD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Penalizado (-30%)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17159" y="2599060"/>
            <a:ext cx="2668860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AD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R$ 5,81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6119" y="3023369"/>
            <a:ext cx="2629421" cy="377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R$22,41</a:t>
            </a:r>
            <a:endParaRPr lang="en-US" sz="2950" dirty="0"/>
          </a:p>
        </p:txBody>
      </p:sp>
      <p:sp>
        <p:nvSpPr>
          <p:cNvPr id="32" name="Text 30"/>
          <p:cNvSpPr/>
          <p:nvPr/>
        </p:nvSpPr>
        <p:spPr>
          <a:xfrm>
            <a:off x="496119" y="3536900"/>
            <a:ext cx="2629421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Total do Período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6119" y="3778821"/>
            <a:ext cx="2629421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Soma dos valores recebidos pelos três setores no cenário exemplificado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57252" y="3023369"/>
            <a:ext cx="2629421" cy="377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1/3</a:t>
            </a:r>
            <a:endParaRPr lang="en-US" sz="2950" dirty="0"/>
          </a:p>
        </p:txBody>
      </p:sp>
      <p:sp>
        <p:nvSpPr>
          <p:cNvPr id="35" name="Text 33"/>
          <p:cNvSpPr/>
          <p:nvPr/>
        </p:nvSpPr>
        <p:spPr>
          <a:xfrm>
            <a:off x="3257252" y="3536900"/>
            <a:ext cx="2629421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Setores Penalizados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57252" y="3778821"/>
            <a:ext cx="2629421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Apenas o Setor C foi impactado — os demais preservaram integralmente sua bonificação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18386" y="3023369"/>
            <a:ext cx="2629421" cy="377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-30%</a:t>
            </a:r>
            <a:endParaRPr lang="en-US" sz="2950" dirty="0"/>
          </a:p>
        </p:txBody>
      </p:sp>
      <p:sp>
        <p:nvSpPr>
          <p:cNvPr id="38" name="Text 36"/>
          <p:cNvSpPr/>
          <p:nvPr/>
        </p:nvSpPr>
        <p:spPr>
          <a:xfrm>
            <a:off x="6018386" y="3536900"/>
            <a:ext cx="2629421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Penalização Aplicada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18386" y="3778821"/>
            <a:ext cx="2629421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Desconto aplicado exclusivamente ao Setor C, com base em 3 ocorrências não abonadas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6119" y="4249043"/>
            <a:ext cx="8151763" cy="532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👉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41E42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Apenas o Setor C impacta a penalização da produção.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0808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Os Setores A e B, que cumpriram suas responsabilidades, recebem integralmente o valor de R$ 8,30 cada — demonstrando na prática a justiça e a precisão do modelo proposto.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37797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41E42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OBRIGADO 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2026-07-27T14:25:55Z</dcterms:created>
  <dcterms:modified xsi:type="dcterms:W3CDTF">2026-07-27T14:25:55Z</dcterms:modified>
</cp:coreProperties>
</file>