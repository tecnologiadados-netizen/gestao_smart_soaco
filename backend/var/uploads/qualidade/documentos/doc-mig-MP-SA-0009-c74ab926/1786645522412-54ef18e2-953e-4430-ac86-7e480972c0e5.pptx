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3" r:id="rId2"/>
    <p:sldId id="282" r:id="rId3"/>
    <p:sldId id="256" r:id="rId4"/>
    <p:sldId id="257" r:id="rId5"/>
    <p:sldId id="258" r:id="rId6"/>
    <p:sldId id="259" r:id="rId7"/>
    <p:sldId id="260" r:id="rId8"/>
    <p:sldId id="264" r:id="rId9"/>
    <p:sldId id="261" r:id="rId10"/>
    <p:sldId id="284" r:id="rId11"/>
    <p:sldId id="283" r:id="rId12"/>
    <p:sldId id="281" r:id="rId13"/>
  </p:sldIdLst>
  <p:sldSz cx="5364163" cy="756126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p15:clr>
            <a:srgbClr val="A4A3A4"/>
          </p15:clr>
        </p15:guide>
        <p15:guide id="2" pos="169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p:cViewPr varScale="1">
        <p:scale>
          <a:sx n="101" d="100"/>
          <a:sy n="101" d="100"/>
        </p:scale>
        <p:origin x="3072" y="102"/>
      </p:cViewPr>
      <p:guideLst>
        <p:guide orient="horz" pos="2382"/>
        <p:guide pos="169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6E57C-08D1-4570-AE96-6A5B42D6AF6F}" type="datetimeFigureOut">
              <a:rPr lang="pt-BR" smtClean="0"/>
              <a:t>16/12/2021</a:t>
            </a:fld>
            <a:endParaRPr lang="pt-BR"/>
          </a:p>
        </p:txBody>
      </p:sp>
      <p:sp>
        <p:nvSpPr>
          <p:cNvPr id="4" name="Espaço Reservado para Imagem de Slide 3"/>
          <p:cNvSpPr>
            <a:spLocks noGrp="1" noRot="1" noChangeAspect="1"/>
          </p:cNvSpPr>
          <p:nvPr>
            <p:ph type="sldImg" idx="2"/>
          </p:nvPr>
        </p:nvSpPr>
        <p:spPr>
          <a:xfrm>
            <a:off x="2333625" y="1143000"/>
            <a:ext cx="219075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40256-97A5-4D1E-A1B2-2DA962A9F564}" type="slidenum">
              <a:rPr lang="pt-BR" smtClean="0"/>
              <a:t>‹nº›</a:t>
            </a:fld>
            <a:endParaRPr lang="pt-BR"/>
          </a:p>
        </p:txBody>
      </p:sp>
    </p:spTree>
    <p:extLst>
      <p:ext uri="{BB962C8B-B14F-4D97-AF65-F5344CB8AC3E}">
        <p14:creationId xmlns:p14="http://schemas.microsoft.com/office/powerpoint/2010/main" val="2372487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11375" y="750888"/>
            <a:ext cx="26654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marL="0" marR="0" lvl="0" indent="0" algn="r" defTabSz="1043056" rtl="0" eaLnBrk="1" fontAlgn="auto" latinLnBrk="0" hangingPunct="1">
              <a:lnSpc>
                <a:spcPct val="100000"/>
              </a:lnSpc>
              <a:spcBef>
                <a:spcPts val="0"/>
              </a:spcBef>
              <a:spcAft>
                <a:spcPts val="0"/>
              </a:spcAft>
              <a:buClrTx/>
              <a:buSzTx/>
              <a:buFontTx/>
              <a:buNone/>
              <a:tabLst/>
              <a:defRPr/>
            </a:pPr>
            <a:fld id="{DAD5CC9F-21B8-43E0-9ED1-B2EDFE01E557}"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3056" rtl="0" eaLnBrk="1" fontAlgn="auto" latinLnBrk="0" hangingPunct="1">
                <a:lnSpc>
                  <a:spcPct val="100000"/>
                </a:lnSpc>
                <a:spcBef>
                  <a:spcPts val="0"/>
                </a:spcBef>
                <a:spcAft>
                  <a:spcPts val="0"/>
                </a:spcAft>
                <a:buClrTx/>
                <a:buSzTx/>
                <a:buFontTx/>
                <a:buNone/>
                <a:tabLst/>
                <a:defRPr/>
              </a:pPr>
              <a:t>12</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1675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402312" y="2348893"/>
            <a:ext cx="4559539" cy="1620771"/>
          </a:xfrm>
        </p:spPr>
        <p:txBody>
          <a:bodyPr/>
          <a:lstStyle/>
          <a:p>
            <a:r>
              <a:rPr lang="pt-BR"/>
              <a:t>Clique para editar o título mestre</a:t>
            </a:r>
          </a:p>
        </p:txBody>
      </p:sp>
      <p:sp>
        <p:nvSpPr>
          <p:cNvPr id="3" name="Subtítulo 2"/>
          <p:cNvSpPr>
            <a:spLocks noGrp="1"/>
          </p:cNvSpPr>
          <p:nvPr>
            <p:ph type="subTitle" idx="1"/>
          </p:nvPr>
        </p:nvSpPr>
        <p:spPr>
          <a:xfrm>
            <a:off x="804625" y="4284716"/>
            <a:ext cx="3754914" cy="193232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E7E0A0EA-4E62-4CAB-95EC-3C994C61BD6A}"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25019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5F71AA61-A871-4C64-BD42-656A807765DF}"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194087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423732" y="4858812"/>
            <a:ext cx="4559539" cy="1501751"/>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423732" y="3204786"/>
            <a:ext cx="4559539" cy="165402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B7E9AE3F-3213-4B67-AA71-49664A567617}"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747319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268208"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2726783"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B4671AC4-F8A4-4F50-A0D2-511966B1F395}" type="datetime1">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77033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268208" y="1692533"/>
            <a:ext cx="2370104"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268208" y="2397901"/>
            <a:ext cx="2370104"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2724920" y="1692533"/>
            <a:ext cx="2371035"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2724920" y="2397901"/>
            <a:ext cx="2371035"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6869EE89-0B11-409C-99D9-BEB8FA18E7DE}" type="datetime1">
              <a:rPr lang="pt-BR" smtClean="0"/>
              <a:t>16/12/2021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0547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62291E3B-8BC2-484B-B0C7-23BC0FC8759B}" type="datetime1">
              <a:rPr lang="pt-BR" smtClean="0"/>
              <a:t>16/12/2021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53405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E10B7F4-DBF1-4097-B8CB-90D188522339}" type="datetime1">
              <a:rPr lang="pt-BR" smtClean="0"/>
              <a:t>16/12/2021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20722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68208" y="301050"/>
            <a:ext cx="1764773" cy="1281214"/>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2097239" y="301051"/>
            <a:ext cx="2998716" cy="645332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268208" y="1582265"/>
            <a:ext cx="1764773" cy="517211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0DAF26F-800D-4818-AAE8-F108D74814A5}" type="datetime1">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76338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051413" y="5292884"/>
            <a:ext cx="3218498" cy="624855"/>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1051413" y="675613"/>
            <a:ext cx="3218498" cy="45367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051413" y="5917739"/>
            <a:ext cx="3218498" cy="88739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5FB37F2B-5EBC-4080-B03E-F239C942DD4A}" type="datetime1">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6286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B086009A-5956-4BFF-BDC1-9811A6F69B56}"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37972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3889018" y="302802"/>
            <a:ext cx="1206937" cy="645157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268208" y="302802"/>
            <a:ext cx="3531407" cy="645157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8D794F49-FD96-4E34-B6A3-9A93ACAB91C5}"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894740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268208" y="302801"/>
            <a:ext cx="4827747" cy="1260211"/>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268208" y="1764295"/>
            <a:ext cx="4827747" cy="4990084"/>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268208" y="7008171"/>
            <a:ext cx="1251638" cy="402567"/>
          </a:xfrm>
          <a:prstGeom prst="rect">
            <a:avLst/>
          </a:prstGeom>
        </p:spPr>
        <p:txBody>
          <a:bodyPr vert="horz" lIns="91440" tIns="45720" rIns="91440" bIns="45720" rtlCol="0" anchor="ctr"/>
          <a:lstStyle>
            <a:lvl1pPr algn="l">
              <a:defRPr sz="1200">
                <a:solidFill>
                  <a:schemeClr val="tx1">
                    <a:tint val="75000"/>
                  </a:schemeClr>
                </a:solidFill>
              </a:defRPr>
            </a:lvl1pPr>
          </a:lstStyle>
          <a:p>
            <a:fld id="{4A404D44-9808-474E-BBC1-2116F0AAAFF4}" type="datetime1">
              <a:rPr lang="pt-BR" smtClean="0"/>
              <a:t>16/12/2021</a:t>
            </a:fld>
            <a:endParaRPr lang="pt-BR"/>
          </a:p>
        </p:txBody>
      </p:sp>
      <p:sp>
        <p:nvSpPr>
          <p:cNvPr id="5" name="Espaço Reservado para Rodapé 4"/>
          <p:cNvSpPr>
            <a:spLocks noGrp="1"/>
          </p:cNvSpPr>
          <p:nvPr>
            <p:ph type="ftr" sz="quarter" idx="3"/>
          </p:nvPr>
        </p:nvSpPr>
        <p:spPr>
          <a:xfrm>
            <a:off x="1832756" y="7008171"/>
            <a:ext cx="1698652" cy="40256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3844317" y="7008171"/>
            <a:ext cx="1251638" cy="402567"/>
          </a:xfrm>
          <a:prstGeom prst="rect">
            <a:avLst/>
          </a:prstGeom>
        </p:spPr>
        <p:txBody>
          <a:bodyPr vert="horz" lIns="91440" tIns="45720" rIns="91440" bIns="45720" rtlCol="0" anchor="ctr"/>
          <a:lstStyle>
            <a:lvl1pPr algn="r">
              <a:defRPr sz="1200">
                <a:solidFill>
                  <a:schemeClr val="tx1">
                    <a:tint val="75000"/>
                  </a:schemeClr>
                </a:solidFill>
              </a:defRPr>
            </a:lvl1pPr>
          </a:lstStyle>
          <a:p>
            <a:fld id="{5583268C-60FE-4333-B092-1A38FFBDC3D2}" type="slidenum">
              <a:rPr lang="pt-BR" smtClean="0"/>
              <a:t>‹nº›</a:t>
            </a:fld>
            <a:endParaRPr lang="pt-BR"/>
          </a:p>
        </p:txBody>
      </p:sp>
    </p:spTree>
    <p:extLst>
      <p:ext uri="{BB962C8B-B14F-4D97-AF65-F5344CB8AC3E}">
        <p14:creationId xmlns:p14="http://schemas.microsoft.com/office/powerpoint/2010/main" val="2449934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aixaDeTexto 21">
            <a:extLst>
              <a:ext uri="{FF2B5EF4-FFF2-40B4-BE49-F238E27FC236}">
                <a16:creationId xmlns:a16="http://schemas.microsoft.com/office/drawing/2014/main" id="{8ABC8E75-CF25-4C71-A645-636D81179D6B}"/>
              </a:ext>
            </a:extLst>
          </p:cNvPr>
          <p:cNvSpPr txBox="1"/>
          <p:nvPr/>
        </p:nvSpPr>
        <p:spPr>
          <a:xfrm>
            <a:off x="305817" y="163878"/>
            <a:ext cx="4752528"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a:ln>
                  <a:noFill/>
                </a:ln>
                <a:solidFill>
                  <a:prstClr val="black"/>
                </a:solidFill>
                <a:effectLst/>
                <a:uLnTx/>
                <a:uFillTx/>
                <a:latin typeface="Monda" pitchFamily="2" charset="0"/>
              </a:rPr>
              <a:t>BEBEDOURO INDUSTRIAL</a:t>
            </a:r>
          </a:p>
        </p:txBody>
      </p:sp>
      <p:cxnSp>
        <p:nvCxnSpPr>
          <p:cNvPr id="24" name="Conector reto 23">
            <a:extLst>
              <a:ext uri="{FF2B5EF4-FFF2-40B4-BE49-F238E27FC236}">
                <a16:creationId xmlns:a16="http://schemas.microsoft.com/office/drawing/2014/main" id="{BBE67A95-AE29-4944-AA64-BDB665B83E47}"/>
              </a:ext>
            </a:extLst>
          </p:cNvPr>
          <p:cNvCxnSpPr>
            <a:cxnSpLocks/>
          </p:cNvCxnSpPr>
          <p:nvPr/>
        </p:nvCxnSpPr>
        <p:spPr>
          <a:xfrm>
            <a:off x="72081" y="133091"/>
            <a:ext cx="5220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Conector reto 24">
            <a:extLst>
              <a:ext uri="{FF2B5EF4-FFF2-40B4-BE49-F238E27FC236}">
                <a16:creationId xmlns:a16="http://schemas.microsoft.com/office/drawing/2014/main" id="{A8BA4762-4289-4BD1-A4C9-7AA34A5E7F82}"/>
              </a:ext>
            </a:extLst>
          </p:cNvPr>
          <p:cNvCxnSpPr>
            <a:cxnSpLocks/>
          </p:cNvCxnSpPr>
          <p:nvPr/>
        </p:nvCxnSpPr>
        <p:spPr>
          <a:xfrm>
            <a:off x="72081" y="463397"/>
            <a:ext cx="5220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DA44E89-8ADC-405B-BC43-7805133F2208}"/>
              </a:ext>
            </a:extLst>
          </p:cNvPr>
          <p:cNvSpPr txBox="1"/>
          <p:nvPr/>
        </p:nvSpPr>
        <p:spPr>
          <a:xfrm>
            <a:off x="2713295" y="6060983"/>
            <a:ext cx="2635893" cy="1015663"/>
          </a:xfrm>
          <a:prstGeom prst="rect">
            <a:avLst/>
          </a:prstGeom>
          <a:noFill/>
        </p:spPr>
        <p:txBody>
          <a:bodyPr wrap="square" rtlCol="0">
            <a:spAutoFit/>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kumimoji="0" lang="pt-BR" sz="1200" b="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Parabéns pela sua nova aquisição! Para obter o máximo desempenho e garantir o perfeito funcionamento do seu produto, leia atentamente este manual. </a:t>
            </a:r>
          </a:p>
        </p:txBody>
      </p:sp>
      <p:sp>
        <p:nvSpPr>
          <p:cNvPr id="38" name="CaixaDeTexto 37">
            <a:extLst>
              <a:ext uri="{FF2B5EF4-FFF2-40B4-BE49-F238E27FC236}">
                <a16:creationId xmlns:a16="http://schemas.microsoft.com/office/drawing/2014/main" id="{C2BA3E30-13DD-4F4E-A031-13E6899E223B}"/>
              </a:ext>
            </a:extLst>
          </p:cNvPr>
          <p:cNvSpPr txBox="1"/>
          <p:nvPr/>
        </p:nvSpPr>
        <p:spPr>
          <a:xfrm>
            <a:off x="2974818" y="4788580"/>
            <a:ext cx="2374371" cy="1061829"/>
          </a:xfrm>
          <a:prstGeom prst="rect">
            <a:avLst/>
          </a:prstGeom>
          <a:noFill/>
        </p:spPr>
        <p:txBody>
          <a:bodyPr wrap="square" rtlCol="0">
            <a:spAutoFit/>
          </a:bodyPr>
          <a:lstStyle/>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Instruções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Especificações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Garantia</a:t>
            </a:r>
          </a:p>
        </p:txBody>
      </p:sp>
      <p:cxnSp>
        <p:nvCxnSpPr>
          <p:cNvPr id="39" name="Conector reto 38">
            <a:extLst>
              <a:ext uri="{FF2B5EF4-FFF2-40B4-BE49-F238E27FC236}">
                <a16:creationId xmlns:a16="http://schemas.microsoft.com/office/drawing/2014/main" id="{4AEE42CB-E904-4AC5-AA3E-D7782FA2737D}"/>
              </a:ext>
            </a:extLst>
          </p:cNvPr>
          <p:cNvCxnSpPr>
            <a:cxnSpLocks/>
          </p:cNvCxnSpPr>
          <p:nvPr/>
        </p:nvCxnSpPr>
        <p:spPr>
          <a:xfrm>
            <a:off x="72081" y="7106950"/>
            <a:ext cx="522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Conector reto 39">
            <a:extLst>
              <a:ext uri="{FF2B5EF4-FFF2-40B4-BE49-F238E27FC236}">
                <a16:creationId xmlns:a16="http://schemas.microsoft.com/office/drawing/2014/main" id="{D1A94368-DA36-4C81-BE02-0EE994E17007}"/>
              </a:ext>
            </a:extLst>
          </p:cNvPr>
          <p:cNvCxnSpPr>
            <a:cxnSpLocks/>
          </p:cNvCxnSpPr>
          <p:nvPr/>
        </p:nvCxnSpPr>
        <p:spPr>
          <a:xfrm>
            <a:off x="72081" y="7436686"/>
            <a:ext cx="522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54" name="Imagem 53">
            <a:extLst>
              <a:ext uri="{FF2B5EF4-FFF2-40B4-BE49-F238E27FC236}">
                <a16:creationId xmlns:a16="http://schemas.microsoft.com/office/drawing/2014/main" id="{C310DF7F-5AAA-4841-9730-442723F76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2281" y="7167528"/>
            <a:ext cx="789062" cy="236459"/>
          </a:xfrm>
          <a:prstGeom prst="rect">
            <a:avLst/>
          </a:prstGeom>
        </p:spPr>
      </p:pic>
      <p:pic>
        <p:nvPicPr>
          <p:cNvPr id="55" name="Imagem 54">
            <a:extLst>
              <a:ext uri="{FF2B5EF4-FFF2-40B4-BE49-F238E27FC236}">
                <a16:creationId xmlns:a16="http://schemas.microsoft.com/office/drawing/2014/main" id="{DE432F4C-EDB6-489D-A07F-A578087352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0743" y="7167528"/>
            <a:ext cx="789062" cy="236459"/>
          </a:xfrm>
          <a:prstGeom prst="rect">
            <a:avLst/>
          </a:prstGeom>
        </p:spPr>
      </p:pic>
      <p:pic>
        <p:nvPicPr>
          <p:cNvPr id="56" name="Imagem 55">
            <a:extLst>
              <a:ext uri="{FF2B5EF4-FFF2-40B4-BE49-F238E27FC236}">
                <a16:creationId xmlns:a16="http://schemas.microsoft.com/office/drawing/2014/main" id="{D65D22BD-B446-485D-9BF6-4B906EBAFB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591" y="7167528"/>
            <a:ext cx="789062" cy="236459"/>
          </a:xfrm>
          <a:prstGeom prst="rect">
            <a:avLst/>
          </a:prstGeom>
        </p:spPr>
      </p:pic>
      <p:pic>
        <p:nvPicPr>
          <p:cNvPr id="57" name="Imagem 56">
            <a:extLst>
              <a:ext uri="{FF2B5EF4-FFF2-40B4-BE49-F238E27FC236}">
                <a16:creationId xmlns:a16="http://schemas.microsoft.com/office/drawing/2014/main" id="{8EC9181D-9B38-4323-9B84-403F482B53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19205" y="7167528"/>
            <a:ext cx="789062" cy="236459"/>
          </a:xfrm>
          <a:prstGeom prst="rect">
            <a:avLst/>
          </a:prstGeom>
        </p:spPr>
      </p:pic>
      <p:pic>
        <p:nvPicPr>
          <p:cNvPr id="58" name="Imagem 57">
            <a:extLst>
              <a:ext uri="{FF2B5EF4-FFF2-40B4-BE49-F238E27FC236}">
                <a16:creationId xmlns:a16="http://schemas.microsoft.com/office/drawing/2014/main" id="{BBD56B89-F2FD-4E89-A7B7-CD312F17A9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7667" y="7167528"/>
            <a:ext cx="789062" cy="236459"/>
          </a:xfrm>
          <a:prstGeom prst="rect">
            <a:avLst/>
          </a:prstGeom>
        </p:spPr>
      </p:pic>
      <p:pic>
        <p:nvPicPr>
          <p:cNvPr id="59" name="Imagem 58">
            <a:extLst>
              <a:ext uri="{FF2B5EF4-FFF2-40B4-BE49-F238E27FC236}">
                <a16:creationId xmlns:a16="http://schemas.microsoft.com/office/drawing/2014/main" id="{419FF40A-8159-4477-8071-05182C0357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6129" y="7167528"/>
            <a:ext cx="789062" cy="236459"/>
          </a:xfrm>
          <a:prstGeom prst="rect">
            <a:avLst/>
          </a:prstGeom>
        </p:spPr>
      </p:pic>
      <p:sp>
        <p:nvSpPr>
          <p:cNvPr id="61" name="CaixaDeTexto 60">
            <a:extLst>
              <a:ext uri="{FF2B5EF4-FFF2-40B4-BE49-F238E27FC236}">
                <a16:creationId xmlns:a16="http://schemas.microsoft.com/office/drawing/2014/main" id="{4A831029-E456-4D28-A9AB-1A7FF62BB406}"/>
              </a:ext>
            </a:extLst>
          </p:cNvPr>
          <p:cNvSpPr txBox="1"/>
          <p:nvPr/>
        </p:nvSpPr>
        <p:spPr>
          <a:xfrm>
            <a:off x="1075066" y="1333560"/>
            <a:ext cx="3214031" cy="1323439"/>
          </a:xfrm>
          <a:prstGeom prst="rect">
            <a:avLst/>
          </a:prstGeom>
          <a:noFill/>
        </p:spPr>
        <p:txBody>
          <a:bodyPr wrap="square" rtlCol="0">
            <a:spAutoFit/>
          </a:bodyPr>
          <a:lstStyle/>
          <a:p>
            <a:pPr algn="ctr"/>
            <a:r>
              <a:rPr lang="pt-BR" sz="40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40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pic>
        <p:nvPicPr>
          <p:cNvPr id="3" name="Imagem 2">
            <a:extLst>
              <a:ext uri="{FF2B5EF4-FFF2-40B4-BE49-F238E27FC236}">
                <a16:creationId xmlns:a16="http://schemas.microsoft.com/office/drawing/2014/main" id="{92FC89CF-61A5-4A20-A6D8-740F4C6B57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494" t="8272" r="2789" b="4163"/>
          <a:stretch/>
        </p:blipFill>
        <p:spPr>
          <a:xfrm>
            <a:off x="655659" y="2737292"/>
            <a:ext cx="2374371" cy="2989892"/>
          </a:xfrm>
          <a:prstGeom prst="rect">
            <a:avLst/>
          </a:prstGeom>
        </p:spPr>
      </p:pic>
    </p:spTree>
    <p:extLst>
      <p:ext uri="{BB962C8B-B14F-4D97-AF65-F5344CB8AC3E}">
        <p14:creationId xmlns:p14="http://schemas.microsoft.com/office/powerpoint/2010/main" val="4177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604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161801" y="544949"/>
            <a:ext cx="5040560" cy="1600438"/>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Caro Cliente,</a:t>
            </a:r>
          </a:p>
          <a:p>
            <a:pPr algn="just"/>
            <a:r>
              <a:rPr lang="pt-BR" sz="1000" dirty="0">
                <a:latin typeface="Arial" panose="020B0604020202020204" pitchFamily="34" charset="0"/>
                <a:cs typeface="Arial" panose="020B0604020202020204" pitchFamily="34" charset="0"/>
              </a:rPr>
              <a:t>Parabéns por sua escolha</a:t>
            </a:r>
          </a:p>
          <a:p>
            <a:pPr algn="just"/>
            <a:endParaRPr lang="pt-BR" sz="1000" dirty="0">
              <a:latin typeface="Arial" panose="020B0604020202020204" pitchFamily="34" charset="0"/>
              <a:cs typeface="Arial" panose="020B0604020202020204" pitchFamily="34" charset="0"/>
            </a:endParaRPr>
          </a:p>
          <a:p>
            <a:pPr algn="just"/>
            <a:r>
              <a:rPr lang="pt-BR" sz="1000" dirty="0">
                <a:latin typeface="Arial" panose="020B0604020202020204" pitchFamily="34" charset="0"/>
                <a:cs typeface="Arial" panose="020B0604020202020204" pitchFamily="34" charset="0"/>
              </a:rPr>
              <a:t>O produto que você comprou leva a marca de um dos maiores fabricantes de equipamentos para lanchonetes, bares, restaurante, industrias, etc., e é a melhor garantia que você tem de estar adquirindo um produto moderno e que vai satisfazer plenamente as suas necessidades. Os produtos SÒ AÇO são fabricados utilizando se dos melhores materiais existentes no mercado e conta com a tecnologia mais avançada no ramo de refrigeração comercial do pais. </a:t>
            </a:r>
            <a:endParaRPr lang="pt-BR" sz="1000" dirty="0"/>
          </a:p>
          <a:p>
            <a:pPr algn="just"/>
            <a:r>
              <a:rPr lang="pt-BR" sz="800" dirty="0"/>
              <a:t> </a:t>
            </a:r>
          </a:p>
        </p:txBody>
      </p:sp>
      <p:sp>
        <p:nvSpPr>
          <p:cNvPr id="8" name="CaixaDeTexto 7">
            <a:extLst>
              <a:ext uri="{FF2B5EF4-FFF2-40B4-BE49-F238E27FC236}">
                <a16:creationId xmlns:a16="http://schemas.microsoft.com/office/drawing/2014/main" id="{68D55697-2B46-4B29-B96B-8BE932CFF598}"/>
              </a:ext>
            </a:extLst>
          </p:cNvPr>
          <p:cNvSpPr txBox="1"/>
          <p:nvPr/>
        </p:nvSpPr>
        <p:spPr>
          <a:xfrm>
            <a:off x="161801" y="2313857"/>
            <a:ext cx="5040560" cy="715581"/>
          </a:xfrm>
          <a:prstGeom prst="rect">
            <a:avLst/>
          </a:prstGeom>
          <a:noFill/>
        </p:spPr>
        <p:txBody>
          <a:bodyPr wrap="square" rtlCol="0">
            <a:spAutoFit/>
          </a:bodyPr>
          <a:lstStyle/>
          <a:p>
            <a:pPr algn="just"/>
            <a:r>
              <a:rPr lang="pt-BR" sz="1050" b="1" dirty="0"/>
              <a:t>NOTA: </a:t>
            </a:r>
            <a:r>
              <a:rPr lang="pt-BR" sz="1000" i="1" dirty="0"/>
              <a:t>Guarde a </a:t>
            </a:r>
            <a:r>
              <a:rPr lang="pt-BR" sz="1000" i="1" u="sng" dirty="0"/>
              <a:t>nota fiscal </a:t>
            </a:r>
            <a:r>
              <a:rPr lang="pt-BR" sz="100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9" name="Retângulo 8">
            <a:extLst>
              <a:ext uri="{FF2B5EF4-FFF2-40B4-BE49-F238E27FC236}">
                <a16:creationId xmlns:a16="http://schemas.microsoft.com/office/drawing/2014/main" id="{CD107282-333D-4746-982F-87E1388086CA}"/>
              </a:ext>
            </a:extLst>
          </p:cNvPr>
          <p:cNvSpPr/>
          <p:nvPr/>
        </p:nvSpPr>
        <p:spPr>
          <a:xfrm>
            <a:off x="144089" y="3564607"/>
            <a:ext cx="513028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Índice</a:t>
            </a:r>
          </a:p>
        </p:txBody>
      </p:sp>
      <p:graphicFrame>
        <p:nvGraphicFramePr>
          <p:cNvPr id="10" name="Tabela 9"/>
          <p:cNvGraphicFramePr>
            <a:graphicFrameLocks noGrp="1"/>
          </p:cNvGraphicFramePr>
          <p:nvPr>
            <p:extLst>
              <p:ext uri="{D42A27DB-BD31-4B8C-83A1-F6EECF244321}">
                <p14:modId xmlns:p14="http://schemas.microsoft.com/office/powerpoint/2010/main" val="4148088735"/>
              </p:ext>
            </p:extLst>
          </p:nvPr>
        </p:nvGraphicFramePr>
        <p:xfrm>
          <a:off x="89793" y="3852639"/>
          <a:ext cx="5130280" cy="1691640"/>
        </p:xfrm>
        <a:graphic>
          <a:graphicData uri="http://schemas.openxmlformats.org/drawingml/2006/table">
            <a:tbl>
              <a:tblPr firstRow="1" bandRow="1">
                <a:tableStyleId>{5940675A-B579-460E-94D1-54222C63F5DA}</a:tableStyleId>
              </a:tblPr>
              <a:tblGrid>
                <a:gridCol w="4770240">
                  <a:extLst>
                    <a:ext uri="{9D8B030D-6E8A-4147-A177-3AD203B41FA5}">
                      <a16:colId xmlns:a16="http://schemas.microsoft.com/office/drawing/2014/main" val="20000"/>
                    </a:ext>
                  </a:extLst>
                </a:gridCol>
                <a:gridCol w="360040">
                  <a:extLst>
                    <a:ext uri="{9D8B030D-6E8A-4147-A177-3AD203B41FA5}">
                      <a16:colId xmlns:a16="http://schemas.microsoft.com/office/drawing/2014/main" val="20001"/>
                    </a:ext>
                  </a:extLst>
                </a:gridCol>
              </a:tblGrid>
              <a:tr h="370840">
                <a:tc>
                  <a:txBody>
                    <a:bodyPr/>
                    <a:lstStyle/>
                    <a:p>
                      <a:r>
                        <a:rPr lang="pt-BR" sz="700" dirty="0">
                          <a:latin typeface="Arial" panose="020B0604020202020204" pitchFamily="34" charset="0"/>
                          <a:cs typeface="Arial" panose="020B0604020202020204" pitchFamily="34" charset="0"/>
                        </a:rPr>
                        <a:t>INSTRUÇÃO</a:t>
                      </a:r>
                      <a:r>
                        <a:rPr lang="pt-BR" sz="700" baseline="0" dirty="0">
                          <a:latin typeface="Arial" panose="020B0604020202020204" pitchFamily="34" charset="0"/>
                          <a:cs typeface="Arial" panose="020B0604020202020204" pitchFamily="34" charset="0"/>
                        </a:rPr>
                        <a:t> DE SEGURAÇA.....................................................................................................................................</a:t>
                      </a:r>
                    </a:p>
                    <a:p>
                      <a:r>
                        <a:rPr lang="pt-BR" sz="700" baseline="0" dirty="0">
                          <a:latin typeface="Arial" panose="020B0604020202020204" pitchFamily="34" charset="0"/>
                          <a:cs typeface="Arial" panose="020B0604020202020204" pitchFamily="34" charset="0"/>
                        </a:rPr>
                        <a:t>BEBEDOURO.............................................................................................................................................................</a:t>
                      </a:r>
                    </a:p>
                    <a:p>
                      <a:r>
                        <a:rPr lang="pt-BR" sz="700" baseline="0" dirty="0">
                          <a:latin typeface="Arial" panose="020B0604020202020204" pitchFamily="34" charset="0"/>
                          <a:cs typeface="Arial" panose="020B0604020202020204" pitchFamily="34" charset="0"/>
                        </a:rPr>
                        <a:t>EMBALAGEM..............................................................................................................................................................</a:t>
                      </a:r>
                    </a:p>
                    <a:p>
                      <a:r>
                        <a:rPr lang="pt-BR" sz="700" baseline="0" dirty="0">
                          <a:latin typeface="Arial" panose="020B0604020202020204" pitchFamily="34" charset="0"/>
                          <a:cs typeface="Arial" panose="020B0604020202020204" pitchFamily="34" charset="0"/>
                        </a:rPr>
                        <a:t>PRÉ-INSTALAÇÃO......................................................................................................................................................</a:t>
                      </a:r>
                    </a:p>
                    <a:p>
                      <a:r>
                        <a:rPr lang="pt-BR" sz="700" baseline="0" dirty="0">
                          <a:latin typeface="Arial" panose="020B0604020202020204" pitchFamily="34" charset="0"/>
                          <a:cs typeface="Arial" panose="020B0604020202020204" pitchFamily="34" charset="0"/>
                        </a:rPr>
                        <a:t>INSTALAÇÃO..............................................................................................................................................................</a:t>
                      </a:r>
                    </a:p>
                    <a:p>
                      <a:r>
                        <a:rPr lang="pt-BR" sz="700" baseline="0" dirty="0">
                          <a:latin typeface="Arial" panose="020B0604020202020204" pitchFamily="34" charset="0"/>
                          <a:cs typeface="Arial" panose="020B0604020202020204" pitchFamily="34" charset="0"/>
                        </a:rPr>
                        <a:t>APÓS INSTALADO O BEBEDOURO...........................................................................................................................</a:t>
                      </a:r>
                    </a:p>
                    <a:p>
                      <a:r>
                        <a:rPr lang="pt-BR" sz="700" baseline="0" dirty="0">
                          <a:latin typeface="Arial" panose="020B0604020202020204" pitchFamily="34" charset="0"/>
                          <a:cs typeface="Arial" panose="020B0604020202020204" pitchFamily="34" charset="0"/>
                        </a:rPr>
                        <a:t>SEGURANÇA..............................................................................................................................................................</a:t>
                      </a:r>
                    </a:p>
                    <a:p>
                      <a:r>
                        <a:rPr lang="pt-BR" sz="700" baseline="0" dirty="0">
                          <a:latin typeface="Arial" panose="020B0604020202020204" pitchFamily="34" charset="0"/>
                          <a:cs typeface="Arial" panose="020B0604020202020204" pitchFamily="34" charset="0"/>
                        </a:rPr>
                        <a:t>FUNCIONAMENTO E UTILIZAÇÃO............................................................................................................................</a:t>
                      </a:r>
                    </a:p>
                    <a:p>
                      <a:r>
                        <a:rPr lang="pt-BR" sz="700" baseline="0" dirty="0">
                          <a:latin typeface="Arial" panose="020B0604020202020204" pitchFamily="34" charset="0"/>
                          <a:cs typeface="Arial" panose="020B0604020202020204" pitchFamily="34" charset="0"/>
                        </a:rPr>
                        <a:t>ATERRAMENTO.........................................................................................................................................................</a:t>
                      </a:r>
                    </a:p>
                    <a:p>
                      <a:r>
                        <a:rPr lang="pt-BR" sz="700" baseline="0" dirty="0">
                          <a:latin typeface="Arial" panose="020B0604020202020204" pitchFamily="34" charset="0"/>
                          <a:cs typeface="Arial" panose="020B0604020202020204" pitchFamily="34" charset="0"/>
                        </a:rPr>
                        <a:t>LIMPEZA.....................................................................................................................................................................</a:t>
                      </a:r>
                    </a:p>
                    <a:p>
                      <a:r>
                        <a:rPr lang="pt-BR" sz="700" baseline="0" dirty="0">
                          <a:latin typeface="Arial" panose="020B0604020202020204" pitchFamily="34" charset="0"/>
                          <a:cs typeface="Arial" panose="020B0604020202020204" pitchFamily="34" charset="0"/>
                        </a:rPr>
                        <a:t>POSSIVEIS DEFEITOS E SOLUÇÕES.......................................................................................................................</a:t>
                      </a:r>
                    </a:p>
                    <a:p>
                      <a:r>
                        <a:rPr lang="pt-BR" sz="700" baseline="0" dirty="0">
                          <a:latin typeface="Arial" panose="020B0604020202020204" pitchFamily="34" charset="0"/>
                          <a:cs typeface="Arial" panose="020B0604020202020204" pitchFamily="34" charset="0"/>
                        </a:rPr>
                        <a:t>TERMO DE GARANTIA...............................................................................................................................................</a:t>
                      </a:r>
                    </a:p>
                    <a:p>
                      <a:r>
                        <a:rPr lang="pt-BR" sz="700" baseline="0" dirty="0">
                          <a:latin typeface="Arial" panose="020B0604020202020204" pitchFamily="34" charset="0"/>
                          <a:cs typeface="Arial" panose="020B0604020202020204" pitchFamily="34" charset="0"/>
                        </a:rPr>
                        <a:t>DADOS DA NOTA FISCA............................................................................................................................................</a:t>
                      </a:r>
                    </a:p>
                    <a:p>
                      <a:r>
                        <a:rPr lang="pt-BR" sz="700" baseline="0" dirty="0">
                          <a:latin typeface="Arial" panose="020B0604020202020204" pitchFamily="34" charset="0"/>
                          <a:cs typeface="Arial" panose="020B0604020202020204" pitchFamily="34" charset="0"/>
                        </a:rPr>
                        <a:t>ASSISTÊNCIA TÉCNICA.............................................................................................................................................</a:t>
                      </a:r>
                    </a:p>
                    <a:p>
                      <a:r>
                        <a:rPr lang="pt-BR" sz="700" baseline="0" dirty="0">
                          <a:latin typeface="Arial" panose="020B0604020202020204" pitchFamily="34" charset="0"/>
                          <a:cs typeface="Arial" panose="020B0604020202020204" pitchFamily="34" charset="0"/>
                        </a:rPr>
                        <a:t>CERTIFICADO DE GARANTIA....................................................................................................................................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pt-BR" sz="700" dirty="0">
                          <a:latin typeface="Arial" panose="020B0604020202020204" pitchFamily="34" charset="0"/>
                          <a:cs typeface="Arial" panose="020B0604020202020204" pitchFamily="34" charset="0"/>
                        </a:rPr>
                        <a:t>01</a:t>
                      </a:r>
                    </a:p>
                    <a:p>
                      <a:r>
                        <a:rPr lang="pt-BR" sz="700" dirty="0">
                          <a:latin typeface="Arial" panose="020B0604020202020204" pitchFamily="34" charset="0"/>
                          <a:cs typeface="Arial" panose="020B0604020202020204" pitchFamily="34" charset="0"/>
                        </a:rPr>
                        <a:t>01</a:t>
                      </a:r>
                    </a:p>
                    <a:p>
                      <a:r>
                        <a:rPr lang="pt-BR" sz="700" dirty="0">
                          <a:latin typeface="Arial" panose="020B0604020202020204" pitchFamily="34" charset="0"/>
                          <a:cs typeface="Arial" panose="020B0604020202020204" pitchFamily="34" charset="0"/>
                        </a:rPr>
                        <a:t>01</a:t>
                      </a:r>
                    </a:p>
                    <a:p>
                      <a:r>
                        <a:rPr lang="pt-BR" sz="700" dirty="0">
                          <a:latin typeface="Arial" panose="020B0604020202020204" pitchFamily="34" charset="0"/>
                          <a:cs typeface="Arial" panose="020B0604020202020204" pitchFamily="34" charset="0"/>
                        </a:rPr>
                        <a:t>01</a:t>
                      </a:r>
                    </a:p>
                    <a:p>
                      <a:r>
                        <a:rPr lang="pt-BR" sz="700" dirty="0">
                          <a:latin typeface="Arial" panose="020B0604020202020204" pitchFamily="34" charset="0"/>
                          <a:cs typeface="Arial" panose="020B0604020202020204" pitchFamily="34" charset="0"/>
                        </a:rPr>
                        <a:t>02</a:t>
                      </a:r>
                    </a:p>
                    <a:p>
                      <a:r>
                        <a:rPr lang="pt-BR" sz="700" dirty="0">
                          <a:latin typeface="Arial" panose="020B0604020202020204" pitchFamily="34" charset="0"/>
                          <a:cs typeface="Arial" panose="020B0604020202020204" pitchFamily="34" charset="0"/>
                        </a:rPr>
                        <a:t>03</a:t>
                      </a:r>
                    </a:p>
                    <a:p>
                      <a:r>
                        <a:rPr lang="pt-BR" sz="700" dirty="0">
                          <a:latin typeface="Arial" panose="020B0604020202020204" pitchFamily="34" charset="0"/>
                          <a:cs typeface="Arial" panose="020B0604020202020204" pitchFamily="34" charset="0"/>
                        </a:rPr>
                        <a:t>03</a:t>
                      </a:r>
                    </a:p>
                    <a:p>
                      <a:r>
                        <a:rPr lang="pt-BR" sz="700" dirty="0">
                          <a:latin typeface="Arial" panose="020B0604020202020204" pitchFamily="34" charset="0"/>
                          <a:cs typeface="Arial" panose="020B0604020202020204" pitchFamily="34" charset="0"/>
                        </a:rPr>
                        <a:t>04</a:t>
                      </a:r>
                    </a:p>
                    <a:p>
                      <a:r>
                        <a:rPr lang="pt-BR" sz="700" dirty="0">
                          <a:latin typeface="Arial" panose="020B0604020202020204" pitchFamily="34" charset="0"/>
                          <a:cs typeface="Arial" panose="020B0604020202020204" pitchFamily="34" charset="0"/>
                        </a:rPr>
                        <a:t>04</a:t>
                      </a:r>
                    </a:p>
                    <a:p>
                      <a:r>
                        <a:rPr lang="pt-BR" sz="700" dirty="0">
                          <a:latin typeface="Arial" panose="020B0604020202020204" pitchFamily="34" charset="0"/>
                          <a:cs typeface="Arial" panose="020B0604020202020204" pitchFamily="34" charset="0"/>
                        </a:rPr>
                        <a:t>04</a:t>
                      </a:r>
                    </a:p>
                    <a:p>
                      <a:r>
                        <a:rPr lang="pt-BR" sz="700" dirty="0">
                          <a:latin typeface="Arial" panose="020B0604020202020204" pitchFamily="34" charset="0"/>
                          <a:cs typeface="Arial" panose="020B0604020202020204" pitchFamily="34" charset="0"/>
                        </a:rPr>
                        <a:t>05</a:t>
                      </a:r>
                    </a:p>
                    <a:p>
                      <a:r>
                        <a:rPr lang="pt-BR" sz="700" dirty="0">
                          <a:latin typeface="Arial" panose="020B0604020202020204" pitchFamily="34" charset="0"/>
                          <a:cs typeface="Arial" panose="020B0604020202020204" pitchFamily="34" charset="0"/>
                        </a:rPr>
                        <a:t>06</a:t>
                      </a:r>
                    </a:p>
                    <a:p>
                      <a:r>
                        <a:rPr lang="pt-BR" sz="700" dirty="0">
                          <a:latin typeface="Arial" panose="020B0604020202020204" pitchFamily="34" charset="0"/>
                          <a:cs typeface="Arial" panose="020B0604020202020204" pitchFamily="34" charset="0"/>
                        </a:rPr>
                        <a:t>07</a:t>
                      </a:r>
                    </a:p>
                    <a:p>
                      <a:r>
                        <a:rPr lang="pt-BR" sz="700" dirty="0">
                          <a:latin typeface="Arial" panose="020B0604020202020204" pitchFamily="34" charset="0"/>
                          <a:cs typeface="Arial" panose="020B0604020202020204" pitchFamily="34" charset="0"/>
                        </a:rPr>
                        <a:t>07</a:t>
                      </a:r>
                    </a:p>
                    <a:p>
                      <a:r>
                        <a:rPr lang="pt-BR" sz="700" dirty="0">
                          <a:latin typeface="Arial" panose="020B0604020202020204" pitchFamily="34" charset="0"/>
                          <a:cs typeface="Arial" panose="020B0604020202020204" pitchFamily="34" charset="0"/>
                        </a:rPr>
                        <a:t>07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5505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ângulo 16">
            <a:extLst>
              <a:ext uri="{FF2B5EF4-FFF2-40B4-BE49-F238E27FC236}">
                <a16:creationId xmlns:a16="http://schemas.microsoft.com/office/drawing/2014/main" id="{82323E52-BACF-48AD-B8FA-8F60F81D68A0}"/>
              </a:ext>
            </a:extLst>
          </p:cNvPr>
          <p:cNvSpPr/>
          <p:nvPr/>
        </p:nvSpPr>
        <p:spPr>
          <a:xfrm>
            <a:off x="201319" y="143302"/>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 Instruções de  segurança</a:t>
            </a:r>
          </a:p>
        </p:txBody>
      </p:sp>
      <p:sp>
        <p:nvSpPr>
          <p:cNvPr id="18" name="CaixaDeTexto 17">
            <a:extLst>
              <a:ext uri="{FF2B5EF4-FFF2-40B4-BE49-F238E27FC236}">
                <a16:creationId xmlns:a16="http://schemas.microsoft.com/office/drawing/2014/main" id="{D020CBAE-9A36-4705-8C13-3EB891B71474}"/>
              </a:ext>
            </a:extLst>
          </p:cNvPr>
          <p:cNvSpPr txBox="1"/>
          <p:nvPr/>
        </p:nvSpPr>
        <p:spPr>
          <a:xfrm>
            <a:off x="213817" y="396255"/>
            <a:ext cx="4988544" cy="1015663"/>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1.1 Esse manual traz todas as informações necessárias para a instalação  e a boa utilização deste produto. Leia com atenção, pois desta forma você poderá evitar danos, preservando seu produto e a garantia de  segurança de fábrica que ele possui.  </a:t>
            </a:r>
            <a:endParaRPr lang="pt-BR" sz="1000" dirty="0"/>
          </a:p>
          <a:p>
            <a:pPr algn="just"/>
            <a:r>
              <a:rPr lang="pt-BR" sz="1000" dirty="0">
                <a:latin typeface="Arial" panose="020B0604020202020204" pitchFamily="34" charset="0"/>
                <a:cs typeface="Arial" panose="020B0604020202020204" pitchFamily="34" charset="0"/>
              </a:rPr>
              <a:t>1.2 Não permita que o equipamento seja manuseado por crianças, ou por pessoas que não tenham noção das normas de segurança.</a:t>
            </a:r>
          </a:p>
        </p:txBody>
      </p:sp>
      <p:sp>
        <p:nvSpPr>
          <p:cNvPr id="19" name="Retângulo 18">
            <a:extLst>
              <a:ext uri="{FF2B5EF4-FFF2-40B4-BE49-F238E27FC236}">
                <a16:creationId xmlns:a16="http://schemas.microsoft.com/office/drawing/2014/main" id="{57800981-84E5-4AE5-954D-E3152E965CC4}"/>
              </a:ext>
            </a:extLst>
          </p:cNvPr>
          <p:cNvSpPr/>
          <p:nvPr/>
        </p:nvSpPr>
        <p:spPr>
          <a:xfrm>
            <a:off x="201319" y="1495968"/>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2. BEBEDOURO</a:t>
            </a:r>
          </a:p>
        </p:txBody>
      </p:sp>
      <p:sp>
        <p:nvSpPr>
          <p:cNvPr id="20" name="CaixaDeTexto 19">
            <a:extLst>
              <a:ext uri="{FF2B5EF4-FFF2-40B4-BE49-F238E27FC236}">
                <a16:creationId xmlns:a16="http://schemas.microsoft.com/office/drawing/2014/main" id="{3090799C-3C07-4C6D-A68C-F3F0A9F2BABB}"/>
              </a:ext>
            </a:extLst>
          </p:cNvPr>
          <p:cNvSpPr txBox="1"/>
          <p:nvPr/>
        </p:nvSpPr>
        <p:spPr>
          <a:xfrm>
            <a:off x="185044" y="1893135"/>
            <a:ext cx="5017317" cy="26161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defRPr sz="11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dirty="0">
                <a:solidFill>
                  <a:schemeClr val="tx1"/>
                </a:solidFill>
              </a:rPr>
              <a:t>2.1 Modelos:</a:t>
            </a:r>
          </a:p>
        </p:txBody>
      </p:sp>
      <p:sp>
        <p:nvSpPr>
          <p:cNvPr id="21" name="Retângulo 20">
            <a:extLst>
              <a:ext uri="{FF2B5EF4-FFF2-40B4-BE49-F238E27FC236}">
                <a16:creationId xmlns:a16="http://schemas.microsoft.com/office/drawing/2014/main" id="{951473B9-A093-4245-A653-752CBC42B771}"/>
              </a:ext>
            </a:extLst>
          </p:cNvPr>
          <p:cNvSpPr/>
          <p:nvPr/>
        </p:nvSpPr>
        <p:spPr>
          <a:xfrm>
            <a:off x="201319" y="3551240"/>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ANTES DE ABRIR A EMBALAGEM:</a:t>
            </a:r>
          </a:p>
        </p:txBody>
      </p:sp>
      <p:sp>
        <p:nvSpPr>
          <p:cNvPr id="22" name="CaixaDeTexto 21">
            <a:extLst>
              <a:ext uri="{FF2B5EF4-FFF2-40B4-BE49-F238E27FC236}">
                <a16:creationId xmlns:a16="http://schemas.microsoft.com/office/drawing/2014/main" id="{B3294B49-949E-44C0-B10A-B9C56C40BE50}"/>
              </a:ext>
            </a:extLst>
          </p:cNvPr>
          <p:cNvSpPr txBox="1"/>
          <p:nvPr/>
        </p:nvSpPr>
        <p:spPr>
          <a:xfrm>
            <a:off x="144915" y="3773080"/>
            <a:ext cx="5017317" cy="1015663"/>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3.1 Verifique cuidadosamente se a embalagem está violada ou se o produto apresenta algum problema em sua estrutura (como por exemplo, alguma parte amassada ou danificada). Caso isso aconteça, por gentileza, devolva a mercadoria e não assine o recebimento pois o transportador é responsável pela entrega. Caso note o defeito posteriormente, entre em contato com a SÒ AÇO para as devidas providências.  </a:t>
            </a:r>
            <a:endParaRPr lang="pt-BR" sz="1000" dirty="0">
              <a:solidFill>
                <a:srgbClr val="FF0000"/>
              </a:solidFill>
              <a:latin typeface="Arial" panose="020B0604020202020204" pitchFamily="34" charset="0"/>
              <a:cs typeface="Arial" panose="020B0604020202020204" pitchFamily="34" charset="0"/>
            </a:endParaRPr>
          </a:p>
        </p:txBody>
      </p:sp>
      <p:sp>
        <p:nvSpPr>
          <p:cNvPr id="23" name="CaixaDeTexto 22">
            <a:extLst>
              <a:ext uri="{FF2B5EF4-FFF2-40B4-BE49-F238E27FC236}">
                <a16:creationId xmlns:a16="http://schemas.microsoft.com/office/drawing/2014/main" id="{22DCA115-2EFE-4207-A16D-65475D16E527}"/>
              </a:ext>
            </a:extLst>
          </p:cNvPr>
          <p:cNvSpPr txBox="1"/>
          <p:nvPr/>
        </p:nvSpPr>
        <p:spPr>
          <a:xfrm>
            <a:off x="161801" y="5841568"/>
            <a:ext cx="5040560" cy="1323439"/>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A instalação do seu aparelho é simples, mas algumas instruções são necessárias.</a:t>
            </a:r>
          </a:p>
          <a:p>
            <a:pPr algn="just"/>
            <a:r>
              <a:rPr lang="pt-BR" sz="1000" dirty="0">
                <a:latin typeface="Arial" panose="020B0604020202020204" pitchFamily="34" charset="0"/>
                <a:cs typeface="Arial" panose="020B0604020202020204" pitchFamily="34" charset="0"/>
              </a:rPr>
              <a:t>4.1- Escolha um local seco, arejado, plano e principalmente, longe do  sol</a:t>
            </a:r>
          </a:p>
          <a:p>
            <a:pPr algn="just"/>
            <a:r>
              <a:rPr lang="pt-BR" sz="1000" dirty="0">
                <a:latin typeface="Arial" panose="020B0604020202020204" pitchFamily="34" charset="0"/>
                <a:cs typeface="Arial" panose="020B0604020202020204" pitchFamily="34" charset="0"/>
              </a:rPr>
              <a:t>4.2- A cabine onde fica o conjunto de refrigeração deve ter a entrada e saída de ar livres, sem bloqueio de paredes ou objetos.</a:t>
            </a:r>
          </a:p>
          <a:p>
            <a:pPr algn="just"/>
            <a:r>
              <a:rPr lang="pt-BR" sz="1000" dirty="0">
                <a:latin typeface="Arial" panose="020B0604020202020204" pitchFamily="34" charset="0"/>
                <a:cs typeface="Arial" panose="020B0604020202020204" pitchFamily="34" charset="0"/>
              </a:rPr>
              <a:t>4.3- Antes de ligar o aparelho, instale as torneiras e a pingadeira que estão dentro do bebedouro na parte traseira inferior.</a:t>
            </a:r>
          </a:p>
          <a:p>
            <a:pPr algn="just"/>
            <a:r>
              <a:rPr lang="pt-BR" sz="1000" dirty="0">
                <a:latin typeface="Arial" panose="020B0604020202020204" pitchFamily="34" charset="0"/>
                <a:cs typeface="Arial" panose="020B0604020202020204" pitchFamily="34" charset="0"/>
              </a:rPr>
              <a:t>4.4- A pingadeira deve ser parafusada na furação existente.</a:t>
            </a:r>
          </a:p>
          <a:p>
            <a:pPr algn="just"/>
            <a:r>
              <a:rPr lang="pt-BR" sz="1000" dirty="0">
                <a:latin typeface="Arial" panose="020B0604020202020204" pitchFamily="34" charset="0"/>
                <a:cs typeface="Arial" panose="020B0604020202020204" pitchFamily="34" charset="0"/>
              </a:rPr>
              <a:t>5.5- Limpe bem o tanque interno, removendo todo material usado na embalagem.</a:t>
            </a:r>
          </a:p>
        </p:txBody>
      </p:sp>
      <p:sp>
        <p:nvSpPr>
          <p:cNvPr id="24" name="Retângulo 23">
            <a:extLst>
              <a:ext uri="{FF2B5EF4-FFF2-40B4-BE49-F238E27FC236}">
                <a16:creationId xmlns:a16="http://schemas.microsoft.com/office/drawing/2014/main" id="{C873559A-6CA5-4EA6-86E8-186D5613D3E3}"/>
              </a:ext>
            </a:extLst>
          </p:cNvPr>
          <p:cNvSpPr/>
          <p:nvPr/>
        </p:nvSpPr>
        <p:spPr>
          <a:xfrm>
            <a:off x="201319" y="5605054"/>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4. PRÉ-INSTALAÇÃO:</a:t>
            </a:r>
            <a:endParaRPr lang="pt-BR" sz="1100" b="1" i="1" dirty="0">
              <a:solidFill>
                <a:schemeClr val="tx1"/>
              </a:solidFill>
            </a:endParaRPr>
          </a:p>
        </p:txBody>
      </p:sp>
      <p:graphicFrame>
        <p:nvGraphicFramePr>
          <p:cNvPr id="25" name="Tabela 24"/>
          <p:cNvGraphicFramePr>
            <a:graphicFrameLocks noGrp="1"/>
          </p:cNvGraphicFramePr>
          <p:nvPr>
            <p:extLst>
              <p:ext uri="{D42A27DB-BD31-4B8C-83A1-F6EECF244321}">
                <p14:modId xmlns:p14="http://schemas.microsoft.com/office/powerpoint/2010/main" val="1806747475"/>
              </p:ext>
            </p:extLst>
          </p:nvPr>
        </p:nvGraphicFramePr>
        <p:xfrm>
          <a:off x="170536" y="2196455"/>
          <a:ext cx="4991696" cy="1296144"/>
        </p:xfrm>
        <a:graphic>
          <a:graphicData uri="http://schemas.openxmlformats.org/drawingml/2006/table">
            <a:tbl>
              <a:tblPr firstRow="1" bandRow="1">
                <a:tableStyleId>{9D7B26C5-4107-4FEC-AEDC-1716B250A1EF}</a:tableStyleId>
              </a:tblPr>
              <a:tblGrid>
                <a:gridCol w="1656406">
                  <a:extLst>
                    <a:ext uri="{9D8B030D-6E8A-4147-A177-3AD203B41FA5}">
                      <a16:colId xmlns:a16="http://schemas.microsoft.com/office/drawing/2014/main" val="20000"/>
                    </a:ext>
                  </a:extLst>
                </a:gridCol>
                <a:gridCol w="1667645">
                  <a:extLst>
                    <a:ext uri="{9D8B030D-6E8A-4147-A177-3AD203B41FA5}">
                      <a16:colId xmlns:a16="http://schemas.microsoft.com/office/drawing/2014/main" val="20001"/>
                    </a:ext>
                  </a:extLst>
                </a:gridCol>
                <a:gridCol w="1667645">
                  <a:extLst>
                    <a:ext uri="{9D8B030D-6E8A-4147-A177-3AD203B41FA5}">
                      <a16:colId xmlns:a16="http://schemas.microsoft.com/office/drawing/2014/main" val="20002"/>
                    </a:ext>
                  </a:extLst>
                </a:gridCol>
              </a:tblGrid>
              <a:tr h="341728">
                <a:tc>
                  <a:txBody>
                    <a:bodyPr/>
                    <a:lstStyle/>
                    <a:p>
                      <a:pPr algn="ctr"/>
                      <a:r>
                        <a:rPr lang="pt-BR" sz="1100" dirty="0"/>
                        <a:t>MODELO</a:t>
                      </a:r>
                      <a:endParaRPr lang="pt-BR" sz="1100" dirty="0">
                        <a:solidFill>
                          <a:schemeClr val="tx1"/>
                        </a:solidFill>
                      </a:endParaRPr>
                    </a:p>
                  </a:txBody>
                  <a:tcPr/>
                </a:tc>
                <a:tc>
                  <a:txBody>
                    <a:bodyPr/>
                    <a:lstStyle/>
                    <a:p>
                      <a:pPr algn="ctr"/>
                      <a:r>
                        <a:rPr lang="pt-BR" sz="1100" dirty="0"/>
                        <a:t>TIPO DE CHAPA</a:t>
                      </a:r>
                      <a:endParaRPr lang="pt-BR" sz="1100" dirty="0">
                        <a:solidFill>
                          <a:schemeClr val="tx1"/>
                        </a:solidFill>
                      </a:endParaRPr>
                    </a:p>
                  </a:txBody>
                  <a:tcPr/>
                </a:tc>
                <a:tc>
                  <a:txBody>
                    <a:bodyPr/>
                    <a:lstStyle/>
                    <a:p>
                      <a:pPr algn="ctr"/>
                      <a:r>
                        <a:rPr lang="pt-BR" sz="1100" dirty="0"/>
                        <a:t>TENSÃO</a:t>
                      </a:r>
                      <a:r>
                        <a:rPr lang="pt-BR" sz="1100" baseline="0" dirty="0"/>
                        <a:t> (V~)</a:t>
                      </a:r>
                      <a:endParaRPr lang="pt-BR" sz="1100" dirty="0">
                        <a:solidFill>
                          <a:schemeClr val="tx1"/>
                        </a:solidFill>
                      </a:endParaRPr>
                    </a:p>
                  </a:txBody>
                  <a:tcPr/>
                </a:tc>
                <a:extLst>
                  <a:ext uri="{0D108BD9-81ED-4DB2-BD59-A6C34878D82A}">
                    <a16:rowId xmlns:a16="http://schemas.microsoft.com/office/drawing/2014/main" val="10000"/>
                  </a:ext>
                </a:extLst>
              </a:tr>
              <a:tr h="954416">
                <a:tc>
                  <a:txBody>
                    <a:bodyPr/>
                    <a:lstStyle/>
                    <a:p>
                      <a:pPr algn="ctr"/>
                      <a:r>
                        <a:rPr lang="pt-BR" sz="1100" dirty="0"/>
                        <a:t>BI02T</a:t>
                      </a:r>
                    </a:p>
                    <a:p>
                      <a:pPr algn="ctr"/>
                      <a:r>
                        <a:rPr lang="pt-BR" sz="1100" dirty="0"/>
                        <a:t>BI03T</a:t>
                      </a:r>
                    </a:p>
                    <a:p>
                      <a:pPr algn="ctr"/>
                      <a:r>
                        <a:rPr lang="pt-BR" sz="1100" dirty="0"/>
                        <a:t>BI04T</a:t>
                      </a:r>
                    </a:p>
                    <a:p>
                      <a:pPr algn="ctr"/>
                      <a:r>
                        <a:rPr lang="pt-BR" sz="1100" dirty="0"/>
                        <a:t>BI05T</a:t>
                      </a:r>
                    </a:p>
                    <a:p>
                      <a:pPr algn="ctr"/>
                      <a:r>
                        <a:rPr lang="pt-BR" sz="1100" dirty="0"/>
                        <a:t>BI06T</a:t>
                      </a:r>
                    </a:p>
                  </a:txBody>
                  <a:tcPr/>
                </a:tc>
                <a:tc>
                  <a:txBody>
                    <a:bodyPr/>
                    <a:lstStyle/>
                    <a:p>
                      <a:pPr algn="ctr"/>
                      <a:r>
                        <a:rPr lang="pt-BR" sz="1100" dirty="0"/>
                        <a:t>INOX/PRÉ-PINTADA</a:t>
                      </a:r>
                    </a:p>
                    <a:p>
                      <a:pPr algn="ctr"/>
                      <a:r>
                        <a:rPr lang="pt-BR" sz="1100" dirty="0"/>
                        <a:t>INOX/PRÉ-PINTADA</a:t>
                      </a:r>
                    </a:p>
                    <a:p>
                      <a:pPr algn="ctr"/>
                      <a:r>
                        <a:rPr lang="pt-BR" sz="1100" dirty="0"/>
                        <a:t>INOX/PRÉ-PINTADA</a:t>
                      </a:r>
                    </a:p>
                    <a:p>
                      <a:pPr algn="ctr"/>
                      <a:r>
                        <a:rPr lang="pt-BR" sz="1100" dirty="0"/>
                        <a:t>INOX/PRÉ-PINTADA</a:t>
                      </a:r>
                    </a:p>
                    <a:p>
                      <a:pPr algn="ctr"/>
                      <a:r>
                        <a:rPr lang="pt-BR" sz="1100" dirty="0"/>
                        <a:t>INOX/PRÉ-PINTADA</a:t>
                      </a:r>
                    </a:p>
                  </a:txBody>
                  <a:tcPr/>
                </a:tc>
                <a:tc>
                  <a:txBody>
                    <a:bodyPr/>
                    <a:lstStyle/>
                    <a:p>
                      <a:pPr algn="ctr"/>
                      <a:r>
                        <a:rPr lang="pt-BR" sz="1100" dirty="0"/>
                        <a:t>127/220</a:t>
                      </a:r>
                    </a:p>
                    <a:p>
                      <a:pPr algn="ctr"/>
                      <a:r>
                        <a:rPr lang="pt-BR" sz="1100" dirty="0"/>
                        <a:t>127/220</a:t>
                      </a:r>
                    </a:p>
                    <a:p>
                      <a:pPr algn="ctr"/>
                      <a:r>
                        <a:rPr lang="pt-BR" sz="1100" dirty="0"/>
                        <a:t>127/220</a:t>
                      </a:r>
                    </a:p>
                    <a:p>
                      <a:pPr algn="ctr"/>
                      <a:r>
                        <a:rPr lang="pt-BR" sz="1100" dirty="0"/>
                        <a:t>127/220</a:t>
                      </a:r>
                    </a:p>
                    <a:p>
                      <a:pPr algn="ctr"/>
                      <a:r>
                        <a:rPr lang="pt-BR" sz="1100" dirty="0"/>
                        <a:t>127/220</a:t>
                      </a:r>
                    </a:p>
                  </a:txBody>
                  <a:tcPr/>
                </a:tc>
                <a:extLst>
                  <a:ext uri="{0D108BD9-81ED-4DB2-BD59-A6C34878D82A}">
                    <a16:rowId xmlns:a16="http://schemas.microsoft.com/office/drawing/2014/main" val="10001"/>
                  </a:ext>
                </a:extLst>
              </a:tr>
            </a:tbl>
          </a:graphicData>
        </a:graphic>
      </p:graphicFrame>
      <p:sp>
        <p:nvSpPr>
          <p:cNvPr id="26" name="CaixaDeTexto 25"/>
          <p:cNvSpPr txBox="1"/>
          <p:nvPr/>
        </p:nvSpPr>
        <p:spPr>
          <a:xfrm>
            <a:off x="214810" y="4898179"/>
            <a:ext cx="4967391" cy="646331"/>
          </a:xfrm>
          <a:prstGeom prst="rect">
            <a:avLst/>
          </a:prstGeom>
          <a:noFill/>
          <a:ln>
            <a:solidFill>
              <a:schemeClr val="tx1"/>
            </a:solidFill>
          </a:ln>
        </p:spPr>
        <p:txBody>
          <a:bodyPr wrap="square" rtlCol="0">
            <a:spAutoFit/>
          </a:bodyPr>
          <a:lstStyle/>
          <a:p>
            <a:pPr algn="ctr"/>
            <a:r>
              <a:rPr lang="pt-BR" sz="1200" b="1" dirty="0">
                <a:latin typeface="Arial" panose="020B0604020202020204" pitchFamily="34" charset="0"/>
                <a:cs typeface="Arial" panose="020B0604020202020204" pitchFamily="34" charset="0"/>
              </a:rPr>
              <a:t>IMPORTANTE: </a:t>
            </a:r>
            <a:r>
              <a:rPr lang="pt-BR" sz="1200" dirty="0">
                <a:latin typeface="Arial" panose="020B0604020202020204" pitchFamily="34" charset="0"/>
                <a:cs typeface="Arial" panose="020B0604020202020204" pitchFamily="34" charset="0"/>
              </a:rPr>
              <a:t>Este produto destina-se ao uso com água para consumo humano, atende a Portaria N° 2.914, de 12/12/2011 do Ministério da Saúde</a:t>
            </a:r>
            <a:r>
              <a:rPr lang="pt-BR" sz="1200" dirty="0"/>
              <a:t>.</a:t>
            </a:r>
          </a:p>
        </p:txBody>
      </p:sp>
      <p:sp>
        <p:nvSpPr>
          <p:cNvPr id="2" name="Espaço Reservado para Número de Slide 1">
            <a:extLst>
              <a:ext uri="{FF2B5EF4-FFF2-40B4-BE49-F238E27FC236}">
                <a16:creationId xmlns:a16="http://schemas.microsoft.com/office/drawing/2014/main" id="{AE5A7FBE-644A-497B-A40C-F884D4B69820}"/>
              </a:ext>
            </a:extLst>
          </p:cNvPr>
          <p:cNvSpPr>
            <a:spLocks noGrp="1"/>
          </p:cNvSpPr>
          <p:nvPr>
            <p:ph type="sldNum" sz="quarter" idx="12"/>
          </p:nvPr>
        </p:nvSpPr>
        <p:spPr/>
        <p:txBody>
          <a:bodyPr/>
          <a:lstStyle/>
          <a:p>
            <a:r>
              <a:rPr lang="pt-BR" dirty="0"/>
              <a:t>1</a:t>
            </a:r>
          </a:p>
        </p:txBody>
      </p:sp>
    </p:spTree>
    <p:extLst>
      <p:ext uri="{BB962C8B-B14F-4D97-AF65-F5344CB8AC3E}">
        <p14:creationId xmlns:p14="http://schemas.microsoft.com/office/powerpoint/2010/main" val="294390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6EDA3D4A-1057-4962-81F6-3347ECCC4230}"/>
              </a:ext>
            </a:extLst>
          </p:cNvPr>
          <p:cNvSpPr/>
          <p:nvPr/>
        </p:nvSpPr>
        <p:spPr>
          <a:xfrm>
            <a:off x="161801" y="141917"/>
            <a:ext cx="5005770" cy="21125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5. PROVIDENCIE:</a:t>
            </a:r>
          </a:p>
        </p:txBody>
      </p:sp>
      <p:sp>
        <p:nvSpPr>
          <p:cNvPr id="10" name="Retângulo 9">
            <a:extLst>
              <a:ext uri="{FF2B5EF4-FFF2-40B4-BE49-F238E27FC236}">
                <a16:creationId xmlns:a16="http://schemas.microsoft.com/office/drawing/2014/main" id="{DC2363D6-D018-4AF1-9452-A44DB2FDC255}"/>
              </a:ext>
            </a:extLst>
          </p:cNvPr>
          <p:cNvSpPr/>
          <p:nvPr/>
        </p:nvSpPr>
        <p:spPr>
          <a:xfrm>
            <a:off x="161801" y="495515"/>
            <a:ext cx="5040560" cy="1169551"/>
          </a:xfrm>
          <a:prstGeom prst="rect">
            <a:avLst/>
          </a:prstGeom>
        </p:spPr>
        <p:txBody>
          <a:bodyPr wrap="square">
            <a:spAutoFit/>
          </a:bodyPr>
          <a:lstStyle/>
          <a:p>
            <a:pPr algn="just"/>
            <a:r>
              <a:rPr lang="pt-BR" sz="1000" dirty="0">
                <a:latin typeface="Arial" panose="020B0604020202020204" pitchFamily="34" charset="0"/>
                <a:cs typeface="Arial" panose="020B0604020202020204" pitchFamily="34" charset="0"/>
              </a:rPr>
              <a:t>5.1 Tomada exclusiva de energia elétrica com aterramento, voltagem e potência equivalentes á do seu aparelho.</a:t>
            </a:r>
          </a:p>
          <a:p>
            <a:pPr algn="just"/>
            <a:r>
              <a:rPr lang="pt-BR" sz="1000" dirty="0">
                <a:latin typeface="Arial" panose="020B0604020202020204" pitchFamily="34" charset="0"/>
                <a:cs typeface="Arial" panose="020B0604020202020204" pitchFamily="34" charset="0"/>
              </a:rPr>
              <a:t>5.2  Ponto exclusivo de água com registro de ½ ;</a:t>
            </a:r>
          </a:p>
          <a:p>
            <a:pPr algn="just"/>
            <a:r>
              <a:rPr lang="pt-BR" sz="1000" dirty="0">
                <a:latin typeface="Arial" panose="020B0604020202020204" pitchFamily="34" charset="0"/>
                <a:cs typeface="Arial" panose="020B0604020202020204" pitchFamily="34" charset="0"/>
              </a:rPr>
              <a:t>5.3  Ponto de esgoto no piso ou na parede, desde que esteja no máximo á 30 cm do piso.</a:t>
            </a:r>
          </a:p>
          <a:p>
            <a:pPr algn="just"/>
            <a:r>
              <a:rPr lang="pt-BR" sz="1000" dirty="0">
                <a:latin typeface="Arial" panose="020B0604020202020204" pitchFamily="34" charset="0"/>
                <a:cs typeface="Arial" panose="020B0604020202020204" pitchFamily="34" charset="0"/>
              </a:rPr>
              <a:t>5.5  Utilize apenas veda – rosca de teflon na conexões com rosca, a fim de evitar sabor desagradável na água. Não utilize mangueira de jardim.  </a:t>
            </a:r>
          </a:p>
        </p:txBody>
      </p:sp>
      <p:sp>
        <p:nvSpPr>
          <p:cNvPr id="11" name="Retângulo 10">
            <a:extLst>
              <a:ext uri="{FF2B5EF4-FFF2-40B4-BE49-F238E27FC236}">
                <a16:creationId xmlns:a16="http://schemas.microsoft.com/office/drawing/2014/main" id="{C0BDA508-251E-4B70-8A44-56B55638CB4C}"/>
              </a:ext>
            </a:extLst>
          </p:cNvPr>
          <p:cNvSpPr/>
          <p:nvPr/>
        </p:nvSpPr>
        <p:spPr>
          <a:xfrm>
            <a:off x="184894" y="166506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6. INSTALAÇÃO:</a:t>
            </a:r>
          </a:p>
        </p:txBody>
      </p:sp>
      <p:sp>
        <p:nvSpPr>
          <p:cNvPr id="12" name="CaixaDeTexto 11">
            <a:extLst>
              <a:ext uri="{FF2B5EF4-FFF2-40B4-BE49-F238E27FC236}">
                <a16:creationId xmlns:a16="http://schemas.microsoft.com/office/drawing/2014/main" id="{05080610-7126-4554-AF5F-CECC8D1AA513}"/>
              </a:ext>
            </a:extLst>
          </p:cNvPr>
          <p:cNvSpPr txBox="1"/>
          <p:nvPr/>
        </p:nvSpPr>
        <p:spPr>
          <a:xfrm>
            <a:off x="161801" y="1980431"/>
            <a:ext cx="5001042" cy="5016758"/>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6.1 A instalação do aparelho fica sob responsabilidade do consumidor. Em caso de dúvidas, consulte uma mão de obra qualificada para o serviço.</a:t>
            </a:r>
          </a:p>
          <a:p>
            <a:pPr algn="just"/>
            <a:endParaRPr lang="pt-BR" sz="1000" dirty="0">
              <a:latin typeface="Arial" panose="020B0604020202020204" pitchFamily="34" charset="0"/>
              <a:cs typeface="Arial" panose="020B0604020202020204" pitchFamily="34" charset="0"/>
            </a:endParaRP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Condição de uso: Interno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Os bebedouros tipo industrial Só Aço, devem ser instalados somente onde a pressão de água da rede hidráulica </a:t>
            </a:r>
            <a:r>
              <a:rPr lang="pt-BR" sz="1000" b="1" dirty="0">
                <a:latin typeface="Arial" panose="020B0604020202020204" pitchFamily="34" charset="0"/>
                <a:cs typeface="Arial" panose="020B0604020202020204" pitchFamily="34" charset="0"/>
              </a:rPr>
              <a:t>seja de no máximo 500.000 </a:t>
            </a:r>
            <a:r>
              <a:rPr lang="pt-BR" sz="1000" b="1" dirty="0" err="1">
                <a:latin typeface="Arial" panose="020B0604020202020204" pitchFamily="34" charset="0"/>
                <a:cs typeface="Arial" panose="020B0604020202020204" pitchFamily="34" charset="0"/>
              </a:rPr>
              <a:t>Pa</a:t>
            </a:r>
            <a:r>
              <a:rPr lang="pt-BR" sz="1000" b="1" dirty="0">
                <a:latin typeface="Arial" panose="020B0604020202020204" pitchFamily="34" charset="0"/>
                <a:cs typeface="Arial" panose="020B0604020202020204" pitchFamily="34" charset="0"/>
              </a:rPr>
              <a:t>, </a:t>
            </a:r>
            <a:r>
              <a:rPr lang="pt-BR" sz="1000" dirty="0">
                <a:latin typeface="Arial" panose="020B0604020202020204" pitchFamily="34" charset="0"/>
                <a:cs typeface="Arial" panose="020B0604020202020204" pitchFamily="34" charset="0"/>
              </a:rPr>
              <a:t>para pressões superiores é necessário instalar o redutor de pressão adequado.  </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Utilize canos e conexões hidráulicas adequadas, atóxicos e de boa qualidade, de ½’’ para a entrada de água e ¾’’ para saída. Dê preferência a canos e conexões e certifique-se que não existe vazamento na rede hidráulica após a instalação.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Rosqueie o cotovelo de ½ na rede hidráulica;</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Conecte sua ponta de engate rápida á mangueira de 6 ou 8 mm;</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Conecte em seguida  a outra ponta no bebedouro.</a:t>
            </a:r>
          </a:p>
          <a:p>
            <a:pPr algn="just"/>
            <a:endParaRPr lang="pt-BR" sz="1000" dirty="0">
              <a:latin typeface="Arial" panose="020B0604020202020204" pitchFamily="34" charset="0"/>
              <a:cs typeface="Arial" panose="020B0604020202020204" pitchFamily="34" charset="0"/>
            </a:endParaRPr>
          </a:p>
          <a:p>
            <a:pPr algn="just"/>
            <a:r>
              <a:rPr lang="pt-BR" sz="1000" dirty="0">
                <a:latin typeface="Arial" panose="020B0604020202020204" pitchFamily="34" charset="0"/>
                <a:cs typeface="Arial" panose="020B0604020202020204" pitchFamily="34" charset="0"/>
              </a:rPr>
              <a:t>Obs.: 1 – Nos locais em que a pureza da água for duvidosa, sugerimos a colocação de filtro externo (Vendido separadamente)</a:t>
            </a:r>
          </a:p>
          <a:p>
            <a:pPr algn="just"/>
            <a:r>
              <a:rPr lang="pt-BR" sz="1000" dirty="0">
                <a:latin typeface="Arial" panose="020B0604020202020204" pitchFamily="34" charset="0"/>
                <a:cs typeface="Arial" panose="020B0604020202020204" pitchFamily="34" charset="0"/>
              </a:rPr>
              <a:t>Obs.: 2 – Feita todas as conexões, retire imediata e obrigatoriamente o filme plástico de proteção para que não aja aderência permanente. </a:t>
            </a:r>
          </a:p>
          <a:p>
            <a:pPr algn="just"/>
            <a:endParaRPr lang="pt-BR" sz="1000" dirty="0">
              <a:latin typeface="Arial" panose="020B0604020202020204" pitchFamily="34" charset="0"/>
              <a:cs typeface="Arial" panose="020B0604020202020204" pitchFamily="34" charset="0"/>
            </a:endParaRP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Descartar toda a água utilizada para encher o tanque do bebedouro na primeira vez que ligar o aparelho.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Verifique a voltagem do produto e utilize uma tomada exclusiva para ele.</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Não utilize extensões ou conectores.</a:t>
            </a:r>
          </a:p>
          <a:p>
            <a:pPr algn="just"/>
            <a:endParaRPr lang="pt-BR" sz="1000" dirty="0">
              <a:latin typeface="Arial" panose="020B0604020202020204" pitchFamily="34" charset="0"/>
              <a:cs typeface="Arial" panose="020B0604020202020204" pitchFamily="34" charset="0"/>
            </a:endParaRPr>
          </a:p>
          <a:p>
            <a:pPr algn="just"/>
            <a:r>
              <a:rPr lang="pt-BR" sz="1000" b="1" dirty="0">
                <a:latin typeface="Arial" panose="020B0604020202020204" pitchFamily="34" charset="0"/>
                <a:cs typeface="Arial" panose="020B0604020202020204" pitchFamily="34" charset="0"/>
              </a:rPr>
              <a:t>Grau de Proteção: IPX0 – Classe I</a:t>
            </a:r>
          </a:p>
          <a:p>
            <a:pPr algn="just"/>
            <a:endParaRPr lang="pt-BR" sz="1000" b="1" dirty="0">
              <a:latin typeface="Arial" panose="020B0604020202020204" pitchFamily="34" charset="0"/>
              <a:cs typeface="Arial" panose="020B0604020202020204" pitchFamily="34" charset="0"/>
            </a:endParaRPr>
          </a:p>
          <a:p>
            <a:pPr algn="just"/>
            <a:r>
              <a:rPr lang="pt-BR" sz="1000" b="1" dirty="0">
                <a:latin typeface="Arial" panose="020B0604020202020204" pitchFamily="34" charset="0"/>
                <a:cs typeface="Arial" panose="020B0604020202020204" pitchFamily="34" charset="0"/>
              </a:rPr>
              <a:t>CUIDADO:</a:t>
            </a:r>
          </a:p>
          <a:p>
            <a:pPr algn="just"/>
            <a:r>
              <a:rPr lang="pt-BR" sz="1000" dirty="0">
                <a:latin typeface="Arial" panose="020B0604020202020204" pitchFamily="34" charset="0"/>
                <a:cs typeface="Arial" panose="020B0604020202020204" pitchFamily="34" charset="0"/>
              </a:rPr>
              <a:t>6.4  Se o cordão de alimentação estiver danificado, ele deve  ser substituído pelo fabricante ou agente autorizado ou pessoa qualificada a fim de evitar risco.</a:t>
            </a:r>
          </a:p>
          <a:p>
            <a:pPr algn="just"/>
            <a:endParaRPr lang="pt-BR" sz="1000" dirty="0">
              <a:latin typeface="Arial" panose="020B0604020202020204" pitchFamily="34" charset="0"/>
              <a:cs typeface="Arial" panose="020B0604020202020204" pitchFamily="34" charset="0"/>
            </a:endParaRPr>
          </a:p>
          <a:p>
            <a:pPr marL="342900" indent="-342900" algn="just">
              <a:buFont typeface="Arial" pitchFamily="34" charset="0"/>
              <a:buChar char="•"/>
            </a:pPr>
            <a:endParaRPr lang="pt-BR" sz="2000" dirty="0">
              <a:latin typeface="Arial" panose="020B0604020202020204" pitchFamily="34" charset="0"/>
              <a:cs typeface="Arial" panose="020B0604020202020204" pitchFamily="34" charset="0"/>
            </a:endParaRPr>
          </a:p>
        </p:txBody>
      </p:sp>
      <p:sp>
        <p:nvSpPr>
          <p:cNvPr id="2" name="Espaço Reservado para Número de Slide 1">
            <a:extLst>
              <a:ext uri="{FF2B5EF4-FFF2-40B4-BE49-F238E27FC236}">
                <a16:creationId xmlns:a16="http://schemas.microsoft.com/office/drawing/2014/main" id="{81CE32DE-9896-4D51-8B78-B1B82888A31C}"/>
              </a:ext>
            </a:extLst>
          </p:cNvPr>
          <p:cNvSpPr>
            <a:spLocks noGrp="1"/>
          </p:cNvSpPr>
          <p:nvPr>
            <p:ph type="sldNum" sz="quarter" idx="12"/>
          </p:nvPr>
        </p:nvSpPr>
        <p:spPr/>
        <p:txBody>
          <a:bodyPr/>
          <a:lstStyle/>
          <a:p>
            <a:r>
              <a:rPr lang="pt-BR" dirty="0"/>
              <a:t>2</a:t>
            </a:r>
          </a:p>
        </p:txBody>
      </p:sp>
    </p:spTree>
    <p:extLst>
      <p:ext uri="{BB962C8B-B14F-4D97-AF65-F5344CB8AC3E}">
        <p14:creationId xmlns:p14="http://schemas.microsoft.com/office/powerpoint/2010/main" val="830138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71CBC30F-0131-4D4F-858C-94D3F58C7319}"/>
              </a:ext>
            </a:extLst>
          </p:cNvPr>
          <p:cNvSpPr/>
          <p:nvPr/>
        </p:nvSpPr>
        <p:spPr>
          <a:xfrm>
            <a:off x="161801" y="108223"/>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7. APÓS INSTALADO O BEBEDOURO: </a:t>
            </a:r>
          </a:p>
        </p:txBody>
      </p:sp>
      <p:sp>
        <p:nvSpPr>
          <p:cNvPr id="12" name="CaixaDeTexto 11"/>
          <p:cNvSpPr txBox="1"/>
          <p:nvPr/>
        </p:nvSpPr>
        <p:spPr>
          <a:xfrm>
            <a:off x="161801" y="396255"/>
            <a:ext cx="4982997" cy="769441"/>
          </a:xfrm>
          <a:prstGeom prst="rect">
            <a:avLst/>
          </a:prstGeom>
          <a:noFill/>
        </p:spPr>
        <p:txBody>
          <a:bodyPr wrap="square" rtlCol="0">
            <a:spAutoFit/>
          </a:bodyPr>
          <a:lstStyle/>
          <a:p>
            <a:pPr algn="just"/>
            <a:r>
              <a:rPr lang="pt-BR" sz="1100" dirty="0"/>
              <a:t>7.1 Temperatura da água de entrada no bebedouro deverá ser de no mínimo 10°C e no máximo de 20°C.</a:t>
            </a:r>
          </a:p>
          <a:p>
            <a:pPr algn="just"/>
            <a:r>
              <a:rPr lang="pt-BR" sz="1100" dirty="0"/>
              <a:t>7.2 Ligue o bebedouro a rede elétrica e aguarde aproximadamente 3 horas para obter água gelada.</a:t>
            </a:r>
          </a:p>
        </p:txBody>
      </p:sp>
      <p:graphicFrame>
        <p:nvGraphicFramePr>
          <p:cNvPr id="13" name="Tabela 12"/>
          <p:cNvGraphicFramePr>
            <a:graphicFrameLocks noGrp="1"/>
          </p:cNvGraphicFramePr>
          <p:nvPr>
            <p:extLst>
              <p:ext uri="{D42A27DB-BD31-4B8C-83A1-F6EECF244321}">
                <p14:modId xmlns:p14="http://schemas.microsoft.com/office/powerpoint/2010/main" val="2246083419"/>
              </p:ext>
            </p:extLst>
          </p:nvPr>
        </p:nvGraphicFramePr>
        <p:xfrm>
          <a:off x="233809" y="1260351"/>
          <a:ext cx="4824536" cy="426720"/>
        </p:xfrm>
        <a:graphic>
          <a:graphicData uri="http://schemas.openxmlformats.org/drawingml/2006/table">
            <a:tbl>
              <a:tblPr firstRow="1" bandRow="1">
                <a:tableStyleId>{5940675A-B579-460E-94D1-54222C63F5DA}</a:tableStyleId>
              </a:tblPr>
              <a:tblGrid>
                <a:gridCol w="4824536">
                  <a:extLst>
                    <a:ext uri="{9D8B030D-6E8A-4147-A177-3AD203B41FA5}">
                      <a16:colId xmlns:a16="http://schemas.microsoft.com/office/drawing/2014/main" val="20000"/>
                    </a:ext>
                  </a:extLst>
                </a:gridCol>
              </a:tblGrid>
              <a:tr h="370840">
                <a:tc>
                  <a:txBody>
                    <a:bodyPr/>
                    <a:lstStyle/>
                    <a:p>
                      <a:r>
                        <a:rPr lang="pt-BR" sz="1100" b="1" dirty="0"/>
                        <a:t>7.3</a:t>
                      </a:r>
                      <a:r>
                        <a:rPr lang="pt-BR" sz="1100" b="1" baseline="0" dirty="0"/>
                        <a:t> Descarta toda a água utilizada para encher o tanque do bebedouro na primeira vez que ligar o aparelho.</a:t>
                      </a:r>
                      <a:endParaRPr lang="pt-BR" sz="1100" b="1" dirty="0"/>
                    </a:p>
                  </a:txBody>
                  <a:tcPr/>
                </a:tc>
                <a:extLst>
                  <a:ext uri="{0D108BD9-81ED-4DB2-BD59-A6C34878D82A}">
                    <a16:rowId xmlns:a16="http://schemas.microsoft.com/office/drawing/2014/main" val="10000"/>
                  </a:ext>
                </a:extLst>
              </a:tr>
            </a:tbl>
          </a:graphicData>
        </a:graphic>
      </p:graphicFrame>
      <p:sp>
        <p:nvSpPr>
          <p:cNvPr id="14" name="CaixaDeTexto 13"/>
          <p:cNvSpPr txBox="1"/>
          <p:nvPr/>
        </p:nvSpPr>
        <p:spPr>
          <a:xfrm>
            <a:off x="149761" y="1694331"/>
            <a:ext cx="4978942" cy="1615827"/>
          </a:xfrm>
          <a:prstGeom prst="rect">
            <a:avLst/>
          </a:prstGeom>
          <a:noFill/>
        </p:spPr>
        <p:txBody>
          <a:bodyPr wrap="square" rtlCol="0">
            <a:spAutoFit/>
          </a:bodyPr>
          <a:lstStyle/>
          <a:p>
            <a:pPr algn="just"/>
            <a:r>
              <a:rPr lang="pt-BR" sz="1100" dirty="0"/>
              <a:t>7.4  O controle de temperatura é automático, não é necessário desliga-lo nunca.</a:t>
            </a:r>
          </a:p>
          <a:p>
            <a:pPr algn="just"/>
            <a:r>
              <a:rPr lang="pt-BR" sz="1100" dirty="0"/>
              <a:t>7.5 Os bebedouros não possuem filtro interno, por isso é fundamental utilizar apenas água potável e de boa qualidade. (temos filtro opcional )</a:t>
            </a:r>
          </a:p>
          <a:p>
            <a:pPr algn="just"/>
            <a:r>
              <a:rPr lang="pt-BR" sz="1100" dirty="0"/>
              <a:t>7.6 Seu bebedouro foi projetado para gelar água. Sucos, refrigerantes e outros líquidos podem deixar resíduos e desenvolver micro organismos nocivos a saúde nas partes internas do aparelho.</a:t>
            </a:r>
          </a:p>
          <a:p>
            <a:endParaRPr lang="pt-BR" sz="1100" dirty="0"/>
          </a:p>
          <a:p>
            <a:r>
              <a:rPr lang="pt-BR" sz="1100" dirty="0"/>
              <a:t> </a:t>
            </a:r>
          </a:p>
          <a:p>
            <a:r>
              <a:rPr lang="pt-BR" sz="1100" dirty="0"/>
              <a:t> </a:t>
            </a:r>
          </a:p>
        </p:txBody>
      </p:sp>
      <p:graphicFrame>
        <p:nvGraphicFramePr>
          <p:cNvPr id="15" name="Tabela 14"/>
          <p:cNvGraphicFramePr>
            <a:graphicFrameLocks noGrp="1"/>
          </p:cNvGraphicFramePr>
          <p:nvPr>
            <p:extLst>
              <p:ext uri="{D42A27DB-BD31-4B8C-83A1-F6EECF244321}">
                <p14:modId xmlns:p14="http://schemas.microsoft.com/office/powerpoint/2010/main" val="829039883"/>
              </p:ext>
            </p:extLst>
          </p:nvPr>
        </p:nvGraphicFramePr>
        <p:xfrm>
          <a:off x="233809" y="3066690"/>
          <a:ext cx="4824536" cy="1329933"/>
        </p:xfrm>
        <a:graphic>
          <a:graphicData uri="http://schemas.openxmlformats.org/drawingml/2006/table">
            <a:tbl>
              <a:tblPr firstRow="1" bandRow="1">
                <a:tableStyleId>{5940675A-B579-460E-94D1-54222C63F5DA}</a:tableStyleId>
              </a:tblPr>
              <a:tblGrid>
                <a:gridCol w="825971">
                  <a:extLst>
                    <a:ext uri="{9D8B030D-6E8A-4147-A177-3AD203B41FA5}">
                      <a16:colId xmlns:a16="http://schemas.microsoft.com/office/drawing/2014/main" val="20000"/>
                    </a:ext>
                  </a:extLst>
                </a:gridCol>
                <a:gridCol w="2813312">
                  <a:extLst>
                    <a:ext uri="{9D8B030D-6E8A-4147-A177-3AD203B41FA5}">
                      <a16:colId xmlns:a16="http://schemas.microsoft.com/office/drawing/2014/main" val="20001"/>
                    </a:ext>
                  </a:extLst>
                </a:gridCol>
                <a:gridCol w="1185253">
                  <a:extLst>
                    <a:ext uri="{9D8B030D-6E8A-4147-A177-3AD203B41FA5}">
                      <a16:colId xmlns:a16="http://schemas.microsoft.com/office/drawing/2014/main" val="20002"/>
                    </a:ext>
                  </a:extLst>
                </a:gridCol>
              </a:tblGrid>
              <a:tr h="234392">
                <a:tc>
                  <a:txBody>
                    <a:bodyPr/>
                    <a:lstStyle/>
                    <a:p>
                      <a:pPr algn="ctr"/>
                      <a:r>
                        <a:rPr lang="pt-BR" sz="1200" dirty="0"/>
                        <a:t>MODELO</a:t>
                      </a:r>
                    </a:p>
                  </a:txBody>
                  <a:tcPr/>
                </a:tc>
                <a:tc>
                  <a:txBody>
                    <a:bodyPr/>
                    <a:lstStyle/>
                    <a:p>
                      <a:pPr algn="ctr"/>
                      <a:r>
                        <a:rPr lang="pt-BR" sz="1200" dirty="0"/>
                        <a:t>DESCRIÇÃO DO PRODUTO</a:t>
                      </a:r>
                    </a:p>
                  </a:txBody>
                  <a:tcPr/>
                </a:tc>
                <a:tc>
                  <a:txBody>
                    <a:bodyPr/>
                    <a:lstStyle/>
                    <a:p>
                      <a:pPr algn="l"/>
                      <a:r>
                        <a:rPr lang="pt-BR" sz="1200" dirty="0"/>
                        <a:t>VAZÃO (l/h)</a:t>
                      </a:r>
                    </a:p>
                  </a:txBody>
                  <a:tcPr/>
                </a:tc>
                <a:extLst>
                  <a:ext uri="{0D108BD9-81ED-4DB2-BD59-A6C34878D82A}">
                    <a16:rowId xmlns:a16="http://schemas.microsoft.com/office/drawing/2014/main" val="10000"/>
                  </a:ext>
                </a:extLst>
              </a:tr>
              <a:tr h="1055613">
                <a:tc>
                  <a:txBody>
                    <a:bodyPr/>
                    <a:lstStyle/>
                    <a:p>
                      <a:pPr algn="ctr"/>
                      <a:r>
                        <a:rPr lang="pt-BR" sz="1200" b="0" dirty="0"/>
                        <a:t>BI02T</a:t>
                      </a:r>
                    </a:p>
                    <a:p>
                      <a:pPr algn="ctr"/>
                      <a:r>
                        <a:rPr lang="pt-BR" sz="1200" b="0" dirty="0"/>
                        <a:t>BI03T</a:t>
                      </a:r>
                    </a:p>
                    <a:p>
                      <a:pPr algn="ctr"/>
                      <a:r>
                        <a:rPr lang="pt-BR" sz="1200" b="0" dirty="0"/>
                        <a:t>BI04T</a:t>
                      </a:r>
                    </a:p>
                    <a:p>
                      <a:pPr algn="ctr"/>
                      <a:r>
                        <a:rPr lang="pt-BR" sz="1200" b="0" dirty="0"/>
                        <a:t>BI05T</a:t>
                      </a:r>
                    </a:p>
                    <a:p>
                      <a:pPr algn="ctr"/>
                      <a:r>
                        <a:rPr lang="pt-BR" sz="1200" b="0" dirty="0"/>
                        <a:t>BI06T</a:t>
                      </a:r>
                    </a:p>
                  </a:txBody>
                  <a:tcPr/>
                </a:tc>
                <a:tc>
                  <a:txBody>
                    <a:bodyPr/>
                    <a:lstStyle/>
                    <a:p>
                      <a:pPr algn="ctr"/>
                      <a:r>
                        <a:rPr lang="pt-BR" sz="1200" dirty="0"/>
                        <a:t>Bebedouro</a:t>
                      </a:r>
                      <a:r>
                        <a:rPr lang="pt-BR" sz="1200" baseline="0" dirty="0"/>
                        <a:t> industrial de 2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3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4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5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6 torneiras</a:t>
                      </a:r>
                    </a:p>
                  </a:txBody>
                  <a:tcPr/>
                </a:tc>
                <a:tc>
                  <a:txBody>
                    <a:bodyPr/>
                    <a:lstStyle/>
                    <a:p>
                      <a:pPr algn="ctr"/>
                      <a:r>
                        <a:rPr lang="pt-BR" sz="1200" dirty="0"/>
                        <a:t>402,60</a:t>
                      </a:r>
                    </a:p>
                    <a:p>
                      <a:pPr algn="ctr"/>
                      <a:r>
                        <a:rPr lang="pt-BR" sz="1200" dirty="0"/>
                        <a:t>646,20</a:t>
                      </a:r>
                    </a:p>
                    <a:p>
                      <a:pPr algn="ctr"/>
                      <a:r>
                        <a:rPr lang="pt-BR" sz="1200" dirty="0"/>
                        <a:t>961,20</a:t>
                      </a:r>
                    </a:p>
                    <a:p>
                      <a:pPr algn="ctr"/>
                      <a:r>
                        <a:rPr lang="pt-BR" sz="1200" dirty="0"/>
                        <a:t>1263,80</a:t>
                      </a:r>
                    </a:p>
                    <a:p>
                      <a:pPr algn="ctr"/>
                      <a:r>
                        <a:rPr lang="pt-BR" sz="1200" dirty="0"/>
                        <a:t>1591,20</a:t>
                      </a:r>
                    </a:p>
                  </a:txBody>
                  <a:tcPr/>
                </a:tc>
                <a:extLst>
                  <a:ext uri="{0D108BD9-81ED-4DB2-BD59-A6C34878D82A}">
                    <a16:rowId xmlns:a16="http://schemas.microsoft.com/office/drawing/2014/main" val="10001"/>
                  </a:ext>
                </a:extLst>
              </a:tr>
            </a:tbl>
          </a:graphicData>
        </a:graphic>
      </p:graphicFrame>
      <p:sp>
        <p:nvSpPr>
          <p:cNvPr id="16" name="CaixaDeTexto 15"/>
          <p:cNvSpPr txBox="1"/>
          <p:nvPr/>
        </p:nvSpPr>
        <p:spPr>
          <a:xfrm>
            <a:off x="174715" y="2795704"/>
            <a:ext cx="4929034" cy="261610"/>
          </a:xfrm>
          <a:prstGeom prst="rect">
            <a:avLst/>
          </a:prstGeom>
          <a:noFill/>
        </p:spPr>
        <p:txBody>
          <a:bodyPr wrap="square" rtlCol="0">
            <a:spAutoFit/>
          </a:bodyPr>
          <a:lstStyle/>
          <a:p>
            <a:r>
              <a:rPr lang="pt-BR" sz="1100" b="1" dirty="0"/>
              <a:t>VAZÕES MÁXIMAS:</a:t>
            </a:r>
          </a:p>
        </p:txBody>
      </p:sp>
      <p:sp>
        <p:nvSpPr>
          <p:cNvPr id="17" name="Retângulo 16">
            <a:extLst>
              <a:ext uri="{FF2B5EF4-FFF2-40B4-BE49-F238E27FC236}">
                <a16:creationId xmlns:a16="http://schemas.microsoft.com/office/drawing/2014/main" id="{7F697C50-059A-45AA-8F44-F40FF464DE38}"/>
              </a:ext>
            </a:extLst>
          </p:cNvPr>
          <p:cNvSpPr/>
          <p:nvPr/>
        </p:nvSpPr>
        <p:spPr>
          <a:xfrm>
            <a:off x="165978" y="4666875"/>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8. SEGURANÇA:</a:t>
            </a:r>
          </a:p>
        </p:txBody>
      </p:sp>
      <p:sp>
        <p:nvSpPr>
          <p:cNvPr id="21" name="CaixaDeTexto 20"/>
          <p:cNvSpPr txBox="1"/>
          <p:nvPr/>
        </p:nvSpPr>
        <p:spPr>
          <a:xfrm>
            <a:off x="165978" y="4896266"/>
            <a:ext cx="5001042" cy="1446550"/>
          </a:xfrm>
          <a:prstGeom prst="rect">
            <a:avLst/>
          </a:prstGeom>
          <a:noFill/>
        </p:spPr>
        <p:txBody>
          <a:bodyPr wrap="square" rtlCol="0">
            <a:spAutoFit/>
          </a:bodyPr>
          <a:lstStyle/>
          <a:p>
            <a:pPr algn="just"/>
            <a:r>
              <a:rPr lang="pt-BR" sz="1100" dirty="0"/>
              <a:t>8.1 Crianças devem ser supervisionadas para que não brinquem com o aparelho.</a:t>
            </a:r>
          </a:p>
          <a:p>
            <a:pPr algn="just"/>
            <a:r>
              <a:rPr lang="pt-BR" sz="1100" dirty="0"/>
              <a:t>8.2 Nunca coloque  o aparelho perto de produtos inflamáveis, nem obstrua as  entradas de ar que ficam nas laterais ou no fundo do aparelho. </a:t>
            </a:r>
          </a:p>
          <a:p>
            <a:pPr algn="just"/>
            <a:r>
              <a:rPr lang="pt-BR" sz="1100" dirty="0"/>
              <a:t>8.3 Na parte do circuito refrigerante não fure os tubos de cobre ou de inox pois é por ele que o gás refrigerante chega até a serpentina que está  dentro do tanque.</a:t>
            </a:r>
          </a:p>
          <a:p>
            <a:pPr algn="just"/>
            <a:r>
              <a:rPr lang="pt-BR" sz="1100" dirty="0"/>
              <a:t>8.4 Para evitar danos ao aparelho, nunca desligue-o puxando pelo cordão elétrico.</a:t>
            </a:r>
          </a:p>
          <a:p>
            <a:pPr algn="just"/>
            <a:r>
              <a:rPr lang="pt-BR" sz="1100" dirty="0"/>
              <a:t>8.5 O uso de acessórios não recomendados para este aparelho, poderá causar acidentes e/ou mau funcionamento do aparelho.</a:t>
            </a:r>
          </a:p>
        </p:txBody>
      </p:sp>
      <p:sp>
        <p:nvSpPr>
          <p:cNvPr id="2" name="Espaço Reservado para Número de Slide 1">
            <a:extLst>
              <a:ext uri="{FF2B5EF4-FFF2-40B4-BE49-F238E27FC236}">
                <a16:creationId xmlns:a16="http://schemas.microsoft.com/office/drawing/2014/main" id="{8DF1C6A3-B642-4763-8595-96146CD3A05B}"/>
              </a:ext>
            </a:extLst>
          </p:cNvPr>
          <p:cNvSpPr>
            <a:spLocks noGrp="1"/>
          </p:cNvSpPr>
          <p:nvPr>
            <p:ph type="sldNum" sz="quarter" idx="12"/>
          </p:nvPr>
        </p:nvSpPr>
        <p:spPr/>
        <p:txBody>
          <a:bodyPr/>
          <a:lstStyle/>
          <a:p>
            <a:r>
              <a:rPr lang="pt-BR" dirty="0"/>
              <a:t>3</a:t>
            </a:r>
          </a:p>
        </p:txBody>
      </p:sp>
    </p:spTree>
    <p:extLst>
      <p:ext uri="{BB962C8B-B14F-4D97-AF65-F5344CB8AC3E}">
        <p14:creationId xmlns:p14="http://schemas.microsoft.com/office/powerpoint/2010/main" val="2852820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E0FF72BE-3DAB-45B8-8B8A-7D78F162DA1A}"/>
              </a:ext>
            </a:extLst>
          </p:cNvPr>
          <p:cNvSpPr/>
          <p:nvPr/>
        </p:nvSpPr>
        <p:spPr>
          <a:xfrm>
            <a:off x="177577" y="17569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9. </a:t>
            </a:r>
            <a:r>
              <a:rPr lang="pt-BR" sz="1100" b="1">
                <a:solidFill>
                  <a:schemeClr val="tx1"/>
                </a:solidFill>
              </a:rPr>
              <a:t>FUNCIONAMENTO E UTILIZAÇÃO</a:t>
            </a:r>
            <a:endParaRPr lang="pt-BR" sz="1100" b="1" dirty="0">
              <a:solidFill>
                <a:schemeClr val="tx1"/>
              </a:solidFill>
            </a:endParaRPr>
          </a:p>
        </p:txBody>
      </p:sp>
      <p:sp>
        <p:nvSpPr>
          <p:cNvPr id="14" name="Retângulo 13">
            <a:extLst>
              <a:ext uri="{FF2B5EF4-FFF2-40B4-BE49-F238E27FC236}">
                <a16:creationId xmlns:a16="http://schemas.microsoft.com/office/drawing/2014/main" id="{B660E073-58AC-4A27-8256-33C951299F94}"/>
              </a:ext>
            </a:extLst>
          </p:cNvPr>
          <p:cNvSpPr/>
          <p:nvPr/>
        </p:nvSpPr>
        <p:spPr>
          <a:xfrm>
            <a:off x="161801" y="225336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10. ATERAMENTO </a:t>
            </a:r>
            <a:endParaRPr lang="pt-BR" sz="1100" b="1" i="1" dirty="0">
              <a:solidFill>
                <a:schemeClr val="tx1"/>
              </a:solidFill>
            </a:endParaRPr>
          </a:p>
        </p:txBody>
      </p:sp>
      <p:sp>
        <p:nvSpPr>
          <p:cNvPr id="15" name="CaixaDeTexto 14"/>
          <p:cNvSpPr txBox="1"/>
          <p:nvPr/>
        </p:nvSpPr>
        <p:spPr>
          <a:xfrm>
            <a:off x="177578" y="468262"/>
            <a:ext cx="5001042" cy="1785104"/>
          </a:xfrm>
          <a:prstGeom prst="rect">
            <a:avLst/>
          </a:prstGeom>
          <a:noFill/>
        </p:spPr>
        <p:txBody>
          <a:bodyPr wrap="square" rtlCol="0">
            <a:spAutoFit/>
          </a:bodyPr>
          <a:lstStyle/>
          <a:p>
            <a:pPr algn="just"/>
            <a:r>
              <a:rPr lang="pt-BR" sz="1100" b="1" dirty="0"/>
              <a:t>9.1 Como ligar seu equipamento</a:t>
            </a:r>
            <a:endParaRPr lang="pt-BR" sz="1100" dirty="0"/>
          </a:p>
          <a:p>
            <a:pPr algn="just"/>
            <a:endParaRPr lang="pt-BR" sz="1100" b="1" dirty="0"/>
          </a:p>
          <a:p>
            <a:pPr marL="171450" indent="-171450" algn="just">
              <a:buFont typeface="Arial" pitchFamily="34" charset="0"/>
              <a:buChar char="•"/>
            </a:pPr>
            <a:r>
              <a:rPr lang="pt-BR" sz="1100" b="1" dirty="0"/>
              <a:t>Para ligar, coloque o plugue na tomada. Em uso normal funciona na faixa de temperatura de 5°C a 10°C.</a:t>
            </a:r>
          </a:p>
          <a:p>
            <a:pPr marL="171450" indent="-171450" algn="just">
              <a:buFont typeface="Arial" pitchFamily="34" charset="0"/>
              <a:buChar char="•"/>
            </a:pPr>
            <a:endParaRPr lang="pt-BR" sz="1100" b="1" dirty="0"/>
          </a:p>
          <a:p>
            <a:pPr marL="171450" indent="-171450" algn="just">
              <a:buFont typeface="Arial" pitchFamily="34" charset="0"/>
              <a:buChar char="•"/>
            </a:pPr>
            <a:r>
              <a:rPr lang="pt-BR" sz="1100" b="1" dirty="0"/>
              <a:t>O termostato sai regulado de fábrica, objetivando melhor desempenho e economia.</a:t>
            </a:r>
          </a:p>
          <a:p>
            <a:pPr marL="171450" indent="-171450" algn="just">
              <a:buFont typeface="Arial" pitchFamily="34" charset="0"/>
              <a:buChar char="•"/>
            </a:pPr>
            <a:endParaRPr lang="pt-BR" sz="1100" b="1" dirty="0"/>
          </a:p>
          <a:p>
            <a:pPr marL="171450" indent="-171450" algn="just">
              <a:buFont typeface="Arial" pitchFamily="34" charset="0"/>
              <a:buChar char="•"/>
            </a:pPr>
            <a:r>
              <a:rPr lang="pt-BR" sz="1100" b="1" dirty="0"/>
              <a:t>No caso de defeito ou nova regulagem do termostato, é necessário chamar a Assistência técnica Autorizada.  </a:t>
            </a:r>
          </a:p>
        </p:txBody>
      </p:sp>
      <p:sp>
        <p:nvSpPr>
          <p:cNvPr id="16" name="CaixaDeTexto 15"/>
          <p:cNvSpPr txBox="1"/>
          <p:nvPr/>
        </p:nvSpPr>
        <p:spPr>
          <a:xfrm>
            <a:off x="161802" y="2556494"/>
            <a:ext cx="5001042" cy="938719"/>
          </a:xfrm>
          <a:prstGeom prst="rect">
            <a:avLst/>
          </a:prstGeom>
          <a:noFill/>
        </p:spPr>
        <p:txBody>
          <a:bodyPr wrap="square" rtlCol="0">
            <a:spAutoFit/>
          </a:bodyPr>
          <a:lstStyle/>
          <a:p>
            <a:pPr algn="just"/>
            <a:r>
              <a:rPr lang="pt-BR" sz="1100" dirty="0"/>
              <a:t>10.1 O pino central do plugue do cordão de alimentação elétrica do bebedouro, corresponde a ligação do fio terra, seguindo a norma de segurança padrão.</a:t>
            </a:r>
          </a:p>
          <a:p>
            <a:pPr algn="just"/>
            <a:r>
              <a:rPr lang="pt-BR" sz="1100" dirty="0"/>
              <a:t>10.2 O aterramento é necessário  independente da voltagem da rede elétrica e não deve ser feita ao fio neutro da rede elétrica. Para fazer um aterramento correto siga as normas de segurança adequada.</a:t>
            </a:r>
          </a:p>
        </p:txBody>
      </p:sp>
      <p:sp>
        <p:nvSpPr>
          <p:cNvPr id="17" name="CaixaDeTexto 16"/>
          <p:cNvSpPr txBox="1"/>
          <p:nvPr/>
        </p:nvSpPr>
        <p:spPr>
          <a:xfrm>
            <a:off x="177578" y="3509148"/>
            <a:ext cx="4985265" cy="261610"/>
          </a:xfrm>
          <a:prstGeom prst="rect">
            <a:avLst/>
          </a:prstGeom>
          <a:noFill/>
        </p:spPr>
        <p:txBody>
          <a:bodyPr wrap="square" rtlCol="0">
            <a:spAutoFit/>
          </a:bodyPr>
          <a:lstStyle/>
          <a:p>
            <a:r>
              <a:rPr lang="pt-BR" sz="1100" b="1" dirty="0"/>
              <a:t>Estabilizador de Voltagem</a:t>
            </a:r>
          </a:p>
        </p:txBody>
      </p:sp>
      <p:sp>
        <p:nvSpPr>
          <p:cNvPr id="18" name="CaixaDeTexto 17"/>
          <p:cNvSpPr txBox="1"/>
          <p:nvPr/>
        </p:nvSpPr>
        <p:spPr>
          <a:xfrm>
            <a:off x="177578" y="3684523"/>
            <a:ext cx="4985266" cy="769441"/>
          </a:xfrm>
          <a:prstGeom prst="rect">
            <a:avLst/>
          </a:prstGeom>
          <a:noFill/>
        </p:spPr>
        <p:txBody>
          <a:bodyPr wrap="square" rtlCol="0">
            <a:spAutoFit/>
          </a:bodyPr>
          <a:lstStyle/>
          <a:p>
            <a:pPr algn="just"/>
            <a:r>
              <a:rPr lang="pt-BR" sz="1100" dirty="0"/>
              <a:t>10.3  Caso a tensão da rede local apresente oscilações de energia, é necessário a instalação de um estabilizador automático de voltagem de capacidade compatível com o consumo de seu equipamento, de forma a não causar qualquer dano ao mesmo.</a:t>
            </a:r>
          </a:p>
        </p:txBody>
      </p:sp>
      <p:sp>
        <p:nvSpPr>
          <p:cNvPr id="20" name="CaixaDeTexto 19"/>
          <p:cNvSpPr txBox="1"/>
          <p:nvPr/>
        </p:nvSpPr>
        <p:spPr>
          <a:xfrm>
            <a:off x="177578" y="4716734"/>
            <a:ext cx="4985265" cy="1615827"/>
          </a:xfrm>
          <a:prstGeom prst="rect">
            <a:avLst/>
          </a:prstGeom>
          <a:noFill/>
        </p:spPr>
        <p:txBody>
          <a:bodyPr wrap="square" rtlCol="0">
            <a:spAutoFit/>
          </a:bodyPr>
          <a:lstStyle/>
          <a:p>
            <a:pPr marL="171450" indent="-171450" algn="just">
              <a:buFont typeface="Arial" pitchFamily="34" charset="0"/>
              <a:buChar char="•"/>
            </a:pPr>
            <a:r>
              <a:rPr lang="pt-BR" sz="1100" dirty="0"/>
              <a:t>Para a limpeza externa, primeiro desligue o plugue da tomada, depois utilize um pano umedecido com água.</a:t>
            </a:r>
          </a:p>
          <a:p>
            <a:pPr marL="171450" indent="-171450" algn="just">
              <a:buFont typeface="Arial" pitchFamily="34" charset="0"/>
              <a:buChar char="•"/>
            </a:pPr>
            <a:r>
              <a:rPr lang="pt-BR" sz="1100" dirty="0"/>
              <a:t>Nunca utilize esguicho da mangueira de água, pois poderá infiltrar no isolamento do seu equipamento, o que provoca um desgaste precoce, encurtando o seu tempo de vida útil.</a:t>
            </a:r>
          </a:p>
          <a:p>
            <a:pPr marL="171450" indent="-171450" algn="just">
              <a:buFont typeface="Arial" pitchFamily="34" charset="0"/>
              <a:buChar char="•"/>
            </a:pPr>
            <a:r>
              <a:rPr lang="pt-BR" sz="1100" dirty="0"/>
              <a:t>A higienização do reservatório deve ser feita a cada três meses.</a:t>
            </a:r>
          </a:p>
          <a:p>
            <a:pPr marL="171450" indent="-171450" algn="just">
              <a:buFont typeface="Arial" pitchFamily="34" charset="0"/>
              <a:buChar char="•"/>
            </a:pPr>
            <a:r>
              <a:rPr lang="pt-BR" sz="1100" dirty="0"/>
              <a:t>Para higienização do condensador, contatar a Assistência Autorizada.</a:t>
            </a:r>
          </a:p>
          <a:p>
            <a:pPr algn="just"/>
            <a:endParaRPr lang="pt-BR" sz="1100" dirty="0"/>
          </a:p>
          <a:p>
            <a:pPr algn="just"/>
            <a:r>
              <a:rPr lang="pt-BR" sz="1100" b="1" dirty="0"/>
              <a:t>Nota: A garantia do equipamento não cobre este serviço de higienização.</a:t>
            </a:r>
            <a:r>
              <a:rPr lang="pt-BR" sz="1100" dirty="0"/>
              <a:t>  </a:t>
            </a:r>
          </a:p>
        </p:txBody>
      </p:sp>
      <p:sp>
        <p:nvSpPr>
          <p:cNvPr id="10" name="Retângulo 9">
            <a:extLst>
              <a:ext uri="{FF2B5EF4-FFF2-40B4-BE49-F238E27FC236}">
                <a16:creationId xmlns:a16="http://schemas.microsoft.com/office/drawing/2014/main" id="{1A804FA5-A5D0-4907-8515-14EF87382AF2}"/>
              </a:ext>
            </a:extLst>
          </p:cNvPr>
          <p:cNvSpPr/>
          <p:nvPr/>
        </p:nvSpPr>
        <p:spPr>
          <a:xfrm>
            <a:off x="177577" y="4470653"/>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11. LIMPEZA </a:t>
            </a:r>
            <a:endParaRPr lang="pt-BR" sz="1100" b="1" i="1" dirty="0">
              <a:solidFill>
                <a:schemeClr val="tx1"/>
              </a:solidFill>
            </a:endParaRPr>
          </a:p>
        </p:txBody>
      </p:sp>
      <p:sp>
        <p:nvSpPr>
          <p:cNvPr id="2" name="Espaço Reservado para Número de Slide 1">
            <a:extLst>
              <a:ext uri="{FF2B5EF4-FFF2-40B4-BE49-F238E27FC236}">
                <a16:creationId xmlns:a16="http://schemas.microsoft.com/office/drawing/2014/main" id="{C92935AF-5D4D-4D96-8728-FACFD37C4434}"/>
              </a:ext>
            </a:extLst>
          </p:cNvPr>
          <p:cNvSpPr>
            <a:spLocks noGrp="1"/>
          </p:cNvSpPr>
          <p:nvPr>
            <p:ph type="sldNum" sz="quarter" idx="12"/>
          </p:nvPr>
        </p:nvSpPr>
        <p:spPr/>
        <p:txBody>
          <a:bodyPr/>
          <a:lstStyle/>
          <a:p>
            <a:r>
              <a:rPr lang="pt-BR" dirty="0"/>
              <a:t>4</a:t>
            </a:r>
          </a:p>
        </p:txBody>
      </p:sp>
    </p:spTree>
    <p:extLst>
      <p:ext uri="{BB962C8B-B14F-4D97-AF65-F5344CB8AC3E}">
        <p14:creationId xmlns:p14="http://schemas.microsoft.com/office/powerpoint/2010/main" val="916170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E0FF72BE-3DAB-45B8-8B8A-7D78F162DA1A}"/>
              </a:ext>
            </a:extLst>
          </p:cNvPr>
          <p:cNvSpPr/>
          <p:nvPr/>
        </p:nvSpPr>
        <p:spPr>
          <a:xfrm>
            <a:off x="177577" y="17569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12. POSSÍVEIS DEFEITOS E SOLUÇÕES </a:t>
            </a:r>
          </a:p>
        </p:txBody>
      </p:sp>
      <p:graphicFrame>
        <p:nvGraphicFramePr>
          <p:cNvPr id="2" name="Tabela 1">
            <a:extLst>
              <a:ext uri="{FF2B5EF4-FFF2-40B4-BE49-F238E27FC236}">
                <a16:creationId xmlns:a16="http://schemas.microsoft.com/office/drawing/2014/main" id="{28BC093C-9B8F-4740-8EAE-DDB613B592A1}"/>
              </a:ext>
            </a:extLst>
          </p:cNvPr>
          <p:cNvGraphicFramePr>
            <a:graphicFrameLocks noGrp="1"/>
          </p:cNvGraphicFramePr>
          <p:nvPr>
            <p:extLst>
              <p:ext uri="{D42A27DB-BD31-4B8C-83A1-F6EECF244321}">
                <p14:modId xmlns:p14="http://schemas.microsoft.com/office/powerpoint/2010/main" val="775039039"/>
              </p:ext>
            </p:extLst>
          </p:nvPr>
        </p:nvGraphicFramePr>
        <p:xfrm>
          <a:off x="177577" y="540271"/>
          <a:ext cx="4880769" cy="5582920"/>
        </p:xfrm>
        <a:graphic>
          <a:graphicData uri="http://schemas.openxmlformats.org/drawingml/2006/table">
            <a:tbl>
              <a:tblPr firstRow="1" bandRow="1">
                <a:tableStyleId>{073A0DAA-6AF3-43AB-8588-CEC1D06C72B9}</a:tableStyleId>
              </a:tblPr>
              <a:tblGrid>
                <a:gridCol w="1626923">
                  <a:extLst>
                    <a:ext uri="{9D8B030D-6E8A-4147-A177-3AD203B41FA5}">
                      <a16:colId xmlns:a16="http://schemas.microsoft.com/office/drawing/2014/main" val="610563252"/>
                    </a:ext>
                  </a:extLst>
                </a:gridCol>
                <a:gridCol w="1237621">
                  <a:extLst>
                    <a:ext uri="{9D8B030D-6E8A-4147-A177-3AD203B41FA5}">
                      <a16:colId xmlns:a16="http://schemas.microsoft.com/office/drawing/2014/main" val="287491551"/>
                    </a:ext>
                  </a:extLst>
                </a:gridCol>
                <a:gridCol w="2016225">
                  <a:extLst>
                    <a:ext uri="{9D8B030D-6E8A-4147-A177-3AD203B41FA5}">
                      <a16:colId xmlns:a16="http://schemas.microsoft.com/office/drawing/2014/main" val="1186598102"/>
                    </a:ext>
                  </a:extLst>
                </a:gridCol>
              </a:tblGrid>
              <a:tr h="216000">
                <a:tc>
                  <a:txBody>
                    <a:bodyPr/>
                    <a:lstStyle/>
                    <a:p>
                      <a:r>
                        <a:rPr lang="pt-BR" sz="900" dirty="0"/>
                        <a:t>Problema</a:t>
                      </a:r>
                    </a:p>
                  </a:txBody>
                  <a:tcPr/>
                </a:tc>
                <a:tc>
                  <a:txBody>
                    <a:bodyPr/>
                    <a:lstStyle/>
                    <a:p>
                      <a:r>
                        <a:rPr lang="pt-BR" sz="900" dirty="0"/>
                        <a:t>Provável causa</a:t>
                      </a:r>
                    </a:p>
                  </a:txBody>
                  <a:tcPr/>
                </a:tc>
                <a:tc>
                  <a:txBody>
                    <a:bodyPr/>
                    <a:lstStyle/>
                    <a:p>
                      <a:r>
                        <a:rPr lang="pt-BR" sz="900" dirty="0"/>
                        <a:t>Possível solução</a:t>
                      </a:r>
                    </a:p>
                  </a:txBody>
                  <a:tcPr/>
                </a:tc>
                <a:extLst>
                  <a:ext uri="{0D108BD9-81ED-4DB2-BD59-A6C34878D82A}">
                    <a16:rowId xmlns:a16="http://schemas.microsoft.com/office/drawing/2014/main" val="2339907438"/>
                  </a:ext>
                </a:extLst>
              </a:tr>
              <a:tr h="370840">
                <a:tc rowSpan="6">
                  <a:txBody>
                    <a:bodyPr/>
                    <a:lstStyle/>
                    <a:p>
                      <a:pPr algn="l"/>
                      <a:r>
                        <a:rPr lang="pt-BR" sz="900" dirty="0"/>
                        <a:t>Não refrigera</a:t>
                      </a:r>
                    </a:p>
                  </a:txBody>
                  <a:tcPr anchor="ctr"/>
                </a:tc>
                <a:tc>
                  <a:txBody>
                    <a:bodyPr/>
                    <a:lstStyle/>
                    <a:p>
                      <a:r>
                        <a:rPr lang="pt-BR" sz="900" dirty="0"/>
                        <a:t>Alta demanda</a:t>
                      </a:r>
                    </a:p>
                  </a:txBody>
                  <a:tcPr/>
                </a:tc>
                <a:tc>
                  <a:txBody>
                    <a:bodyPr/>
                    <a:lstStyle/>
                    <a:p>
                      <a:r>
                        <a:rPr lang="pt-BR" sz="900" dirty="0"/>
                        <a:t>Verificar especificações técnica do produto. </a:t>
                      </a:r>
                    </a:p>
                  </a:txBody>
                  <a:tcPr/>
                </a:tc>
                <a:extLst>
                  <a:ext uri="{0D108BD9-81ED-4DB2-BD59-A6C34878D82A}">
                    <a16:rowId xmlns:a16="http://schemas.microsoft.com/office/drawing/2014/main" val="427458727"/>
                  </a:ext>
                </a:extLst>
              </a:tr>
              <a:tr h="370840">
                <a:tc vMerge="1">
                  <a:txBody>
                    <a:bodyPr/>
                    <a:lstStyle/>
                    <a:p>
                      <a:endParaRPr lang="pt-BR" sz="900" dirty="0"/>
                    </a:p>
                  </a:txBody>
                  <a:tcPr/>
                </a:tc>
                <a:tc>
                  <a:txBody>
                    <a:bodyPr/>
                    <a:lstStyle/>
                    <a:p>
                      <a:r>
                        <a:rPr lang="pt-BR" sz="900" dirty="0"/>
                        <a:t>Temperatura ambiente elevada</a:t>
                      </a:r>
                    </a:p>
                  </a:txBody>
                  <a:tcPr/>
                </a:tc>
                <a:tc>
                  <a:txBody>
                    <a:bodyPr/>
                    <a:lstStyle/>
                    <a:p>
                      <a:r>
                        <a:rPr lang="pt-BR" sz="900" dirty="0"/>
                        <a:t>Instalar o produto em um local arejado com temperaturas abaixo de 38 °C</a:t>
                      </a:r>
                    </a:p>
                  </a:txBody>
                  <a:tcPr/>
                </a:tc>
                <a:extLst>
                  <a:ext uri="{0D108BD9-81ED-4DB2-BD59-A6C34878D82A}">
                    <a16:rowId xmlns:a16="http://schemas.microsoft.com/office/drawing/2014/main" val="3365563480"/>
                  </a:ext>
                </a:extLst>
              </a:tr>
              <a:tr h="370840">
                <a:tc vMerge="1">
                  <a:txBody>
                    <a:bodyPr/>
                    <a:lstStyle/>
                    <a:p>
                      <a:endParaRPr lang="pt-BR" sz="900" dirty="0"/>
                    </a:p>
                  </a:txBody>
                  <a:tcPr/>
                </a:tc>
                <a:tc>
                  <a:txBody>
                    <a:bodyPr/>
                    <a:lstStyle/>
                    <a:p>
                      <a:r>
                        <a:rPr lang="pt-BR" sz="900" dirty="0"/>
                        <a:t>Sem energia de alimentação</a:t>
                      </a:r>
                    </a:p>
                  </a:txBody>
                  <a:tcPr/>
                </a:tc>
                <a:tc>
                  <a:txBody>
                    <a:bodyPr/>
                    <a:lstStyle/>
                    <a:p>
                      <a:pPr marL="0" algn="l" defTabSz="914400" rtl="0" eaLnBrk="1" latinLnBrk="0" hangingPunct="1"/>
                      <a:r>
                        <a:rPr lang="pt-BR" sz="900" kern="1200" dirty="0">
                          <a:solidFill>
                            <a:schemeClr val="dk1"/>
                          </a:solidFill>
                          <a:latin typeface="+mn-lt"/>
                          <a:ea typeface="+mn-ea"/>
                          <a:cs typeface="+mn-cs"/>
                        </a:rPr>
                        <a:t>Verifique se a tomada elétrica está conectada e se o termostato está ligado na posição 4.</a:t>
                      </a:r>
                    </a:p>
                  </a:txBody>
                  <a:tcPr/>
                </a:tc>
                <a:extLst>
                  <a:ext uri="{0D108BD9-81ED-4DB2-BD59-A6C34878D82A}">
                    <a16:rowId xmlns:a16="http://schemas.microsoft.com/office/drawing/2014/main" val="1067662144"/>
                  </a:ext>
                </a:extLst>
              </a:tr>
              <a:tr h="370840">
                <a:tc vMerge="1">
                  <a:txBody>
                    <a:bodyPr/>
                    <a:lstStyle/>
                    <a:p>
                      <a:endParaRPr lang="pt-BR" sz="900" dirty="0"/>
                    </a:p>
                  </a:txBody>
                  <a:tcPr/>
                </a:tc>
                <a:tc>
                  <a:txBody>
                    <a:bodyPr/>
                    <a:lstStyle/>
                    <a:p>
                      <a:r>
                        <a:rPr lang="pt-BR" sz="900" dirty="0"/>
                        <a:t>Sujeira no condensador</a:t>
                      </a:r>
                    </a:p>
                  </a:txBody>
                  <a:tcPr/>
                </a:tc>
                <a:tc>
                  <a:txBody>
                    <a:bodyPr/>
                    <a:lstStyle/>
                    <a:p>
                      <a:r>
                        <a:rPr lang="pt-BR" sz="900" dirty="0"/>
                        <a:t>Entre em contato com a assistência técnica</a:t>
                      </a:r>
                    </a:p>
                  </a:txBody>
                  <a:tcPr/>
                </a:tc>
                <a:extLst>
                  <a:ext uri="{0D108BD9-81ED-4DB2-BD59-A6C34878D82A}">
                    <a16:rowId xmlns:a16="http://schemas.microsoft.com/office/drawing/2014/main" val="3641234357"/>
                  </a:ext>
                </a:extLst>
              </a:tr>
              <a:tr h="370840">
                <a:tc vMerge="1">
                  <a:txBody>
                    <a:bodyPr/>
                    <a:lstStyle/>
                    <a:p>
                      <a:endParaRPr lang="pt-BR" sz="900" dirty="0"/>
                    </a:p>
                  </a:txBody>
                  <a:tcPr/>
                </a:tc>
                <a:tc>
                  <a:txBody>
                    <a:bodyPr/>
                    <a:lstStyle/>
                    <a:p>
                      <a:r>
                        <a:rPr lang="pt-BR" sz="900" dirty="0"/>
                        <a:t>Botão do termostato na posição desligado</a:t>
                      </a:r>
                    </a:p>
                  </a:txBody>
                  <a:tcPr/>
                </a:tc>
                <a:tc>
                  <a:txBody>
                    <a:bodyPr/>
                    <a:lstStyle/>
                    <a:p>
                      <a:r>
                        <a:rPr lang="pt-BR" sz="900" dirty="0"/>
                        <a:t>Posicionar termostato no nível 4. (Padrão de fábrica)</a:t>
                      </a:r>
                    </a:p>
                  </a:txBody>
                  <a:tcPr/>
                </a:tc>
                <a:extLst>
                  <a:ext uri="{0D108BD9-81ED-4DB2-BD59-A6C34878D82A}">
                    <a16:rowId xmlns:a16="http://schemas.microsoft.com/office/drawing/2014/main" val="3567776147"/>
                  </a:ext>
                </a:extLst>
              </a:tr>
              <a:tr h="370840">
                <a:tc vMerge="1">
                  <a:txBody>
                    <a:bodyPr/>
                    <a:lstStyle/>
                    <a:p>
                      <a:endParaRPr lang="pt-BR" sz="900" dirty="0"/>
                    </a:p>
                  </a:txBody>
                  <a:tcPr/>
                </a:tc>
                <a:tc>
                  <a:txBody>
                    <a:bodyPr/>
                    <a:lstStyle/>
                    <a:p>
                      <a:r>
                        <a:rPr lang="pt-BR" sz="900" dirty="0"/>
                        <a:t>Saídas de ar obstruídas </a:t>
                      </a:r>
                    </a:p>
                  </a:txBody>
                  <a:tcPr/>
                </a:tc>
                <a:tc>
                  <a:txBody>
                    <a:bodyPr/>
                    <a:lstStyle/>
                    <a:p>
                      <a:r>
                        <a:rPr lang="pt-BR" sz="900" dirty="0"/>
                        <a:t>Instalar o bebedouros em locais com mais de 25 cm de distância dos locais de ventilação (Lateral e traseira do produto)</a:t>
                      </a:r>
                    </a:p>
                  </a:txBody>
                  <a:tcPr/>
                </a:tc>
                <a:extLst>
                  <a:ext uri="{0D108BD9-81ED-4DB2-BD59-A6C34878D82A}">
                    <a16:rowId xmlns:a16="http://schemas.microsoft.com/office/drawing/2014/main" val="526893900"/>
                  </a:ext>
                </a:extLst>
              </a:tr>
              <a:tr h="370840">
                <a:tc>
                  <a:txBody>
                    <a:bodyPr/>
                    <a:lstStyle/>
                    <a:p>
                      <a:pPr algn="l"/>
                      <a:r>
                        <a:rPr lang="pt-BR" sz="900" dirty="0"/>
                        <a:t>Água congelando</a:t>
                      </a:r>
                    </a:p>
                  </a:txBody>
                  <a:tcPr anchor="ctr"/>
                </a:tc>
                <a:tc>
                  <a:txBody>
                    <a:bodyPr/>
                    <a:lstStyle/>
                    <a:p>
                      <a:r>
                        <a:rPr lang="pt-BR" sz="900" dirty="0"/>
                        <a:t>Termostato com defeito</a:t>
                      </a:r>
                    </a:p>
                  </a:txBody>
                  <a:tcPr/>
                </a:tc>
                <a:tc>
                  <a:txBody>
                    <a:bodyPr/>
                    <a:lstStyle/>
                    <a:p>
                      <a:r>
                        <a:rPr lang="pt-BR" sz="900" dirty="0"/>
                        <a:t>Entrar em contato com a assistência técnica</a:t>
                      </a:r>
                    </a:p>
                  </a:txBody>
                  <a:tcPr/>
                </a:tc>
                <a:extLst>
                  <a:ext uri="{0D108BD9-81ED-4DB2-BD59-A6C34878D82A}">
                    <a16:rowId xmlns:a16="http://schemas.microsoft.com/office/drawing/2014/main" val="3292434872"/>
                  </a:ext>
                </a:extLst>
              </a:tr>
              <a:tr h="370840">
                <a:tc rowSpan="2">
                  <a:txBody>
                    <a:bodyPr/>
                    <a:lstStyle/>
                    <a:p>
                      <a:pPr algn="l"/>
                      <a:r>
                        <a:rPr lang="pt-BR" sz="900" dirty="0"/>
                        <a:t>Vazamento de água</a:t>
                      </a:r>
                    </a:p>
                  </a:txBody>
                  <a:tcPr anchor="ctr"/>
                </a:tc>
                <a:tc>
                  <a:txBody>
                    <a:bodyPr/>
                    <a:lstStyle/>
                    <a:p>
                      <a:r>
                        <a:rPr lang="pt-BR" sz="900" dirty="0"/>
                        <a:t>Excesso de pressão na entrada de água</a:t>
                      </a:r>
                    </a:p>
                  </a:txBody>
                  <a:tcPr/>
                </a:tc>
                <a:tc>
                  <a:txBody>
                    <a:bodyPr/>
                    <a:lstStyle/>
                    <a:p>
                      <a:r>
                        <a:rPr lang="pt-BR" sz="900" dirty="0"/>
                        <a:t>Utilizar redutor de pressão</a:t>
                      </a:r>
                    </a:p>
                  </a:txBody>
                  <a:tcPr/>
                </a:tc>
                <a:extLst>
                  <a:ext uri="{0D108BD9-81ED-4DB2-BD59-A6C34878D82A}">
                    <a16:rowId xmlns:a16="http://schemas.microsoft.com/office/drawing/2014/main" val="2536280003"/>
                  </a:ext>
                </a:extLst>
              </a:tr>
              <a:tr h="370840">
                <a:tc vMerge="1">
                  <a:txBody>
                    <a:bodyPr/>
                    <a:lstStyle/>
                    <a:p>
                      <a:endParaRPr lang="pt-BR" sz="900" dirty="0"/>
                    </a:p>
                  </a:txBody>
                  <a:tcPr/>
                </a:tc>
                <a:tc>
                  <a:txBody>
                    <a:bodyPr/>
                    <a:lstStyle/>
                    <a:p>
                      <a:r>
                        <a:rPr lang="pt-BR" sz="900" dirty="0"/>
                        <a:t>Transbordar água pela tampa</a:t>
                      </a:r>
                    </a:p>
                  </a:txBody>
                  <a:tcPr/>
                </a:tc>
                <a:tc>
                  <a:txBody>
                    <a:bodyPr/>
                    <a:lstStyle/>
                    <a:p>
                      <a:r>
                        <a:rPr lang="pt-BR" sz="900" dirty="0"/>
                        <a:t>Verificar boia interna do reservatório do produto</a:t>
                      </a:r>
                    </a:p>
                  </a:txBody>
                  <a:tcPr/>
                </a:tc>
                <a:extLst>
                  <a:ext uri="{0D108BD9-81ED-4DB2-BD59-A6C34878D82A}">
                    <a16:rowId xmlns:a16="http://schemas.microsoft.com/office/drawing/2014/main" val="1410756513"/>
                  </a:ext>
                </a:extLst>
              </a:tr>
              <a:tr h="370840">
                <a:tc rowSpan="4">
                  <a:txBody>
                    <a:bodyPr/>
                    <a:lstStyle/>
                    <a:p>
                      <a:pPr algn="l"/>
                      <a:r>
                        <a:rPr lang="pt-BR" sz="900" dirty="0"/>
                        <a:t>Compressor não dispara</a:t>
                      </a:r>
                    </a:p>
                  </a:txBody>
                  <a:tcPr anchor="ctr"/>
                </a:tc>
                <a:tc>
                  <a:txBody>
                    <a:bodyPr/>
                    <a:lstStyle/>
                    <a:p>
                      <a:r>
                        <a:rPr lang="pt-BR" sz="900" dirty="0"/>
                        <a:t>Baixa tensão de alimentação </a:t>
                      </a:r>
                    </a:p>
                  </a:txBody>
                  <a:tcPr/>
                </a:tc>
                <a:tc>
                  <a:txBody>
                    <a:bodyPr/>
                    <a:lstStyle/>
                    <a:p>
                      <a:r>
                        <a:rPr lang="pt-BR" sz="900" dirty="0"/>
                        <a:t>Verificar a tensão de entrada da tomada elétrica.</a:t>
                      </a:r>
                    </a:p>
                  </a:txBody>
                  <a:tcPr/>
                </a:tc>
                <a:extLst>
                  <a:ext uri="{0D108BD9-81ED-4DB2-BD59-A6C34878D82A}">
                    <a16:rowId xmlns:a16="http://schemas.microsoft.com/office/drawing/2014/main" val="2273431646"/>
                  </a:ext>
                </a:extLst>
              </a:tr>
              <a:tr h="370840">
                <a:tc vMerge="1">
                  <a:txBody>
                    <a:bodyPr/>
                    <a:lstStyle/>
                    <a:p>
                      <a:endParaRPr lang="pt-BR" sz="900" dirty="0"/>
                    </a:p>
                  </a:txBody>
                  <a:tcPr/>
                </a:tc>
                <a:tc>
                  <a:txBody>
                    <a:bodyPr/>
                    <a:lstStyle/>
                    <a:p>
                      <a:r>
                        <a:rPr lang="pt-BR" sz="900" dirty="0"/>
                        <a:t>Rede elétrica de abastecimento sem energia elétrica</a:t>
                      </a:r>
                    </a:p>
                  </a:txBody>
                  <a:tcPr/>
                </a:tc>
                <a:tc>
                  <a:txBody>
                    <a:bodyPr/>
                    <a:lstStyle/>
                    <a:p>
                      <a:r>
                        <a:rPr lang="pt-BR" sz="900" dirty="0"/>
                        <a:t>Aguardar retorno do reabastecimento de energia.</a:t>
                      </a:r>
                    </a:p>
                  </a:txBody>
                  <a:tcPr/>
                </a:tc>
                <a:extLst>
                  <a:ext uri="{0D108BD9-81ED-4DB2-BD59-A6C34878D82A}">
                    <a16:rowId xmlns:a16="http://schemas.microsoft.com/office/drawing/2014/main" val="2018843150"/>
                  </a:ext>
                </a:extLst>
              </a:tr>
              <a:tr h="370840">
                <a:tc vMerge="1">
                  <a:txBody>
                    <a:bodyPr/>
                    <a:lstStyle/>
                    <a:p>
                      <a:endParaRPr lang="pt-BR" sz="900" dirty="0"/>
                    </a:p>
                  </a:txBody>
                  <a:tcPr/>
                </a:tc>
                <a:tc>
                  <a:txBody>
                    <a:bodyPr/>
                    <a:lstStyle/>
                    <a:p>
                      <a:r>
                        <a:rPr lang="pt-BR" sz="900" dirty="0"/>
                        <a:t>Tomada com mau contato</a:t>
                      </a:r>
                    </a:p>
                  </a:txBody>
                  <a:tcPr/>
                </a:tc>
                <a:tc>
                  <a:txBody>
                    <a:bodyPr/>
                    <a:lstStyle/>
                    <a:p>
                      <a:r>
                        <a:rPr lang="pt-BR" sz="900" dirty="0"/>
                        <a:t>Corrigir defeito da tomada.</a:t>
                      </a:r>
                    </a:p>
                  </a:txBody>
                  <a:tcPr/>
                </a:tc>
                <a:extLst>
                  <a:ext uri="{0D108BD9-81ED-4DB2-BD59-A6C34878D82A}">
                    <a16:rowId xmlns:a16="http://schemas.microsoft.com/office/drawing/2014/main" val="455352422"/>
                  </a:ext>
                </a:extLst>
              </a:tr>
              <a:tr h="370840">
                <a:tc vMerge="1">
                  <a:txBody>
                    <a:bodyPr/>
                    <a:lstStyle/>
                    <a:p>
                      <a:endParaRPr lang="pt-BR" sz="900" dirty="0"/>
                    </a:p>
                  </a:txBody>
                  <a:tcPr/>
                </a:tc>
                <a:tc>
                  <a:txBody>
                    <a:bodyPr/>
                    <a:lstStyle/>
                    <a:p>
                      <a:r>
                        <a:rPr lang="pt-BR" sz="900" dirty="0"/>
                        <a:t>Termostato com defeito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dirty="0"/>
                        <a:t>Entrar em contato com a assistência técnica</a:t>
                      </a:r>
                    </a:p>
                  </a:txBody>
                  <a:tcPr/>
                </a:tc>
                <a:extLst>
                  <a:ext uri="{0D108BD9-81ED-4DB2-BD59-A6C34878D82A}">
                    <a16:rowId xmlns:a16="http://schemas.microsoft.com/office/drawing/2014/main" val="2689896530"/>
                  </a:ext>
                </a:extLst>
              </a:tr>
            </a:tbl>
          </a:graphicData>
        </a:graphic>
      </p:graphicFrame>
      <p:sp>
        <p:nvSpPr>
          <p:cNvPr id="3" name="Espaço Reservado para Número de Slide 2">
            <a:extLst>
              <a:ext uri="{FF2B5EF4-FFF2-40B4-BE49-F238E27FC236}">
                <a16:creationId xmlns:a16="http://schemas.microsoft.com/office/drawing/2014/main" id="{936A672F-820D-4CBC-8EC0-C7752689D925}"/>
              </a:ext>
            </a:extLst>
          </p:cNvPr>
          <p:cNvSpPr>
            <a:spLocks noGrp="1"/>
          </p:cNvSpPr>
          <p:nvPr>
            <p:ph type="sldNum" sz="quarter" idx="12"/>
          </p:nvPr>
        </p:nvSpPr>
        <p:spPr/>
        <p:txBody>
          <a:bodyPr/>
          <a:lstStyle/>
          <a:p>
            <a:r>
              <a:rPr lang="pt-BR" dirty="0"/>
              <a:t>5</a:t>
            </a:r>
          </a:p>
        </p:txBody>
      </p:sp>
    </p:spTree>
    <p:extLst>
      <p:ext uri="{BB962C8B-B14F-4D97-AF65-F5344CB8AC3E}">
        <p14:creationId xmlns:p14="http://schemas.microsoft.com/office/powerpoint/2010/main" val="346461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21ABFF39-0C37-4D4D-B48E-991694E1CC3A}"/>
              </a:ext>
            </a:extLst>
          </p:cNvPr>
          <p:cNvSpPr>
            <a:spLocks noGrp="1"/>
          </p:cNvSpPr>
          <p:nvPr>
            <p:ph type="sldNum" sz="quarter" idx="12"/>
          </p:nvPr>
        </p:nvSpPr>
        <p:spPr>
          <a:xfrm>
            <a:off x="3844317" y="7050472"/>
            <a:ext cx="1251638" cy="402567"/>
          </a:xfrm>
        </p:spPr>
        <p:txBody>
          <a:bodyPr/>
          <a:lstStyle/>
          <a:p>
            <a:r>
              <a:rPr lang="pt-BR" dirty="0"/>
              <a:t>6</a:t>
            </a:r>
          </a:p>
        </p:txBody>
      </p:sp>
      <p:sp>
        <p:nvSpPr>
          <p:cNvPr id="5" name="Retângulo 4">
            <a:extLst>
              <a:ext uri="{FF2B5EF4-FFF2-40B4-BE49-F238E27FC236}">
                <a16:creationId xmlns:a16="http://schemas.microsoft.com/office/drawing/2014/main" id="{DDF56F94-5FAA-403D-ADD3-1501684633BE}"/>
              </a:ext>
            </a:extLst>
          </p:cNvPr>
          <p:cNvSpPr/>
          <p:nvPr/>
        </p:nvSpPr>
        <p:spPr>
          <a:xfrm>
            <a:off x="82827" y="127205"/>
            <a:ext cx="5191233" cy="276999"/>
          </a:xfrm>
          <a:prstGeom prst="rect">
            <a:avLst/>
          </a:prstGeom>
          <a:solidFill>
            <a:schemeClr val="bg1">
              <a:lumMod val="85000"/>
            </a:schemeClr>
          </a:solidFill>
        </p:spPr>
        <p:txBody>
          <a:bodyPr wrap="square" rtlCol="0" anchor="ctr">
            <a:spAutoFit/>
          </a:bodyPr>
          <a:lstStyle/>
          <a:p>
            <a:pPr algn="ctr"/>
            <a:r>
              <a:rPr lang="pt-BR" sz="1200" b="1" dirty="0">
                <a:latin typeface="Arial" panose="020B0604020202020204" pitchFamily="34" charset="0"/>
                <a:cs typeface="Arial" panose="020B0604020202020204" pitchFamily="34" charset="0"/>
              </a:rPr>
              <a:t>TERMO DE GARANTIA</a:t>
            </a:r>
          </a:p>
        </p:txBody>
      </p:sp>
      <p:sp>
        <p:nvSpPr>
          <p:cNvPr id="8" name="CaixaDeTexto 7">
            <a:extLst>
              <a:ext uri="{FF2B5EF4-FFF2-40B4-BE49-F238E27FC236}">
                <a16:creationId xmlns:a16="http://schemas.microsoft.com/office/drawing/2014/main" id="{C03A4C52-64D4-4FA5-9EFC-2AACF4C3B1B3}"/>
              </a:ext>
            </a:extLst>
          </p:cNvPr>
          <p:cNvSpPr txBox="1"/>
          <p:nvPr/>
        </p:nvSpPr>
        <p:spPr>
          <a:xfrm>
            <a:off x="82827" y="400312"/>
            <a:ext cx="5191233" cy="5586145"/>
          </a:xfrm>
          <a:prstGeom prst="rect">
            <a:avLst/>
          </a:prstGeom>
          <a:noFill/>
        </p:spPr>
        <p:txBody>
          <a:bodyPr wrap="square" rtlCol="0">
            <a:spAutoFit/>
          </a:bodyPr>
          <a:lstStyle/>
          <a:p>
            <a:pPr algn="just"/>
            <a:r>
              <a:rPr lang="pt-BR" sz="850" dirty="0">
                <a:latin typeface="Arial" panose="020B0604020202020204" pitchFamily="34" charset="0"/>
                <a:cs typeface="Arial" panose="020B0604020202020204" pitchFamily="34" charset="0"/>
              </a:rPr>
              <a:t>Os produtos Só Aço são garantidos pela Só Aço, na forma estabelecida:</a:t>
            </a:r>
          </a:p>
          <a:p>
            <a:pPr algn="just"/>
            <a:endParaRPr lang="pt-BR" sz="850" dirty="0">
              <a:latin typeface="Arial" panose="020B0604020202020204" pitchFamily="34" charset="0"/>
              <a:cs typeface="Arial" panose="020B0604020202020204" pitchFamily="34" charset="0"/>
            </a:endParaRPr>
          </a:p>
          <a:p>
            <a:pPr marL="176213" indent="-176213" algn="just">
              <a:buAutoNum type="arabicPeriod"/>
            </a:pPr>
            <a:r>
              <a:rPr lang="pt-BR" sz="850" b="1" i="1" dirty="0">
                <a:latin typeface="Arial" panose="020B0604020202020204" pitchFamily="34" charset="0"/>
                <a:cs typeface="Arial" panose="020B0604020202020204" pitchFamily="34" charset="0"/>
              </a:rPr>
              <a:t>Condições gerais de garantia:</a:t>
            </a:r>
          </a:p>
          <a:p>
            <a:pPr marL="176213" indent="-176213" algn="just">
              <a:buAutoNum type="alphaLcParenR"/>
            </a:pPr>
            <a:r>
              <a:rPr lang="pt-BR" sz="850" dirty="0">
                <a:latin typeface="Arial" panose="020B0604020202020204" pitchFamily="34" charset="0"/>
                <a:cs typeface="Arial" panose="020B0604020202020204" pitchFamily="34" charset="0"/>
              </a:rPr>
              <a:t>Os produtos Só Aço são garantidos por 06 (seis) meses a partir da data de emissão da nota fiscal de compra do primeiro comprador contra defeitos de fabricação, sendo 3 (três) meses de garantia legal e mais 3 (três) meses de garantia especial concedida pela Só Aço Industrial</a:t>
            </a:r>
          </a:p>
          <a:p>
            <a:pPr marL="176213" indent="-176213" algn="just">
              <a:buAutoNum type="alphaLcParenR"/>
            </a:pPr>
            <a:r>
              <a:rPr lang="pt-BR" sz="85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176213" indent="-176213" algn="just">
              <a:buAutoNum type="alphaLcParenR"/>
            </a:pPr>
            <a:r>
              <a:rPr lang="pt-BR" sz="850" dirty="0">
                <a:latin typeface="Arial" panose="020B0604020202020204" pitchFamily="34" charset="0"/>
                <a:cs typeface="Arial" panose="020B0604020202020204" pitchFamily="34" charset="0"/>
              </a:rPr>
              <a:t>Os seguintes componentes: rolamentos, rodízios, retentores, correias, vidros, lâmpadas, fusíveis, chaves-contadoras, resistências, termostatos, relés, borrachas de vedação e outros componentes que não são produzidos pela Só Aço, estão excluídos totalmente da garantia.</a:t>
            </a:r>
          </a:p>
          <a:p>
            <a:pPr marL="176213" indent="-176213" algn="just">
              <a:buAutoNum type="alphaLcParenR"/>
            </a:pPr>
            <a:r>
              <a:rPr lang="pt-BR" sz="85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176213" indent="-176213" algn="just">
              <a:buAutoNum type="alphaLcParenR"/>
            </a:pPr>
            <a:r>
              <a:rPr lang="pt-BR" sz="85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850" b="1" dirty="0">
                <a:latin typeface="Arial" panose="020B0604020202020204" pitchFamily="34" charset="0"/>
                <a:cs typeface="Arial" panose="020B0604020202020204" pitchFamily="34" charset="0"/>
              </a:rPr>
              <a:t>Observação:</a:t>
            </a:r>
            <a:r>
              <a:rPr lang="pt-BR" sz="850" dirty="0">
                <a:latin typeface="Arial" panose="020B0604020202020204" pitchFamily="34" charset="0"/>
                <a:cs typeface="Arial" panose="020B0604020202020204" pitchFamily="34" charset="0"/>
              </a:rPr>
              <a:t> Fica, desde já, eleito o Foro da Comarca da Capital do Estado do Piauí para dirimir quaisquer dúvidas oriundas do cumprimento deste Termo de Garantia</a:t>
            </a:r>
          </a:p>
          <a:p>
            <a:pPr algn="just"/>
            <a:endParaRPr lang="pt-BR" sz="850" dirty="0">
              <a:latin typeface="Arial" panose="020B0604020202020204" pitchFamily="34" charset="0"/>
              <a:cs typeface="Arial" panose="020B0604020202020204" pitchFamily="34" charset="0"/>
            </a:endParaRPr>
          </a:p>
          <a:p>
            <a:pPr algn="just"/>
            <a:r>
              <a:rPr lang="pt-BR" sz="850" b="1" i="1" dirty="0">
                <a:latin typeface="Arial" panose="020B0604020202020204" pitchFamily="34" charset="0"/>
                <a:cs typeface="Arial" panose="020B0604020202020204" pitchFamily="34" charset="0"/>
              </a:rPr>
              <a:t>2. Serviços de Garantia</a:t>
            </a:r>
          </a:p>
          <a:p>
            <a:pPr algn="just"/>
            <a:r>
              <a:rPr lang="pt-BR" sz="85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85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850" b="1" dirty="0">
              <a:latin typeface="Arial" panose="020B0604020202020204" pitchFamily="34" charset="0"/>
              <a:cs typeface="Arial" panose="020B0604020202020204" pitchFamily="34" charset="0"/>
            </a:endParaRPr>
          </a:p>
          <a:p>
            <a:pPr algn="just"/>
            <a:r>
              <a:rPr lang="pt-BR" sz="850" b="1" dirty="0">
                <a:latin typeface="Arial" panose="020B0604020202020204" pitchFamily="34" charset="0"/>
                <a:cs typeface="Arial" panose="020B0604020202020204" pitchFamily="34" charset="0"/>
              </a:rPr>
              <a:t>3. Extinção da garantia</a:t>
            </a:r>
          </a:p>
          <a:p>
            <a:pPr algn="just"/>
            <a:r>
              <a:rPr lang="pt-BR" sz="85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r>
              <a:rPr lang="pt-BR" sz="850" dirty="0">
                <a:latin typeface="Arial" panose="020B0604020202020204" pitchFamily="34" charset="0"/>
                <a:cs typeface="Arial" panose="020B0604020202020204" pitchFamily="34" charset="0"/>
              </a:rPr>
              <a:t>ATENÇÃO</a:t>
            </a:r>
          </a:p>
          <a:p>
            <a:pPr marL="176213" indent="-176213" algn="just">
              <a:buAutoNum type="alphaLcParenR"/>
            </a:pPr>
            <a:r>
              <a:rPr lang="pt-BR" sz="85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176213" indent="-176213" algn="just">
              <a:buAutoNum type="alphaLcParenR"/>
            </a:pPr>
            <a:r>
              <a:rPr lang="pt-BR" sz="85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176213" indent="-176213" algn="just">
              <a:buAutoNum type="alphaLcParenR"/>
            </a:pPr>
            <a:r>
              <a:rPr lang="pt-BR" sz="850" dirty="0">
                <a:latin typeface="Arial" panose="020B0604020202020204" pitchFamily="34" charset="0"/>
                <a:cs typeface="Arial" panose="020B0604020202020204" pitchFamily="34" charset="0"/>
              </a:rPr>
              <a:t>A Só Aço se reserva do direito de alterar as características dos seus produtos sem aviso prévio. </a:t>
            </a:r>
          </a:p>
        </p:txBody>
      </p:sp>
      <p:graphicFrame>
        <p:nvGraphicFramePr>
          <p:cNvPr id="9" name="Tabela 8">
            <a:extLst>
              <a:ext uri="{FF2B5EF4-FFF2-40B4-BE49-F238E27FC236}">
                <a16:creationId xmlns:a16="http://schemas.microsoft.com/office/drawing/2014/main" id="{9F71FC5F-E437-44B6-9C80-EE24E0B986F3}"/>
              </a:ext>
            </a:extLst>
          </p:cNvPr>
          <p:cNvGraphicFramePr>
            <a:graphicFrameLocks noGrp="1"/>
          </p:cNvGraphicFramePr>
          <p:nvPr>
            <p:extLst>
              <p:ext uri="{D42A27DB-BD31-4B8C-83A1-F6EECF244321}">
                <p14:modId xmlns:p14="http://schemas.microsoft.com/office/powerpoint/2010/main" val="2356573657"/>
              </p:ext>
            </p:extLst>
          </p:nvPr>
        </p:nvGraphicFramePr>
        <p:xfrm>
          <a:off x="90103" y="5897945"/>
          <a:ext cx="5183958" cy="1195054"/>
        </p:xfrm>
        <a:graphic>
          <a:graphicData uri="http://schemas.openxmlformats.org/drawingml/2006/table">
            <a:tbl>
              <a:tblPr firstRow="1" bandRow="1">
                <a:tableStyleId>{2D5ABB26-0587-4C30-8999-92F81FD0307C}</a:tableStyleId>
              </a:tblPr>
              <a:tblGrid>
                <a:gridCol w="863993">
                  <a:extLst>
                    <a:ext uri="{9D8B030D-6E8A-4147-A177-3AD203B41FA5}">
                      <a16:colId xmlns:a16="http://schemas.microsoft.com/office/drawing/2014/main" val="1713468828"/>
                    </a:ext>
                  </a:extLst>
                </a:gridCol>
                <a:gridCol w="863993">
                  <a:extLst>
                    <a:ext uri="{9D8B030D-6E8A-4147-A177-3AD203B41FA5}">
                      <a16:colId xmlns:a16="http://schemas.microsoft.com/office/drawing/2014/main" val="2269615378"/>
                    </a:ext>
                  </a:extLst>
                </a:gridCol>
                <a:gridCol w="863993">
                  <a:extLst>
                    <a:ext uri="{9D8B030D-6E8A-4147-A177-3AD203B41FA5}">
                      <a16:colId xmlns:a16="http://schemas.microsoft.com/office/drawing/2014/main" val="3517463195"/>
                    </a:ext>
                  </a:extLst>
                </a:gridCol>
                <a:gridCol w="863993">
                  <a:extLst>
                    <a:ext uri="{9D8B030D-6E8A-4147-A177-3AD203B41FA5}">
                      <a16:colId xmlns:a16="http://schemas.microsoft.com/office/drawing/2014/main" val="3012284916"/>
                    </a:ext>
                  </a:extLst>
                </a:gridCol>
                <a:gridCol w="863993">
                  <a:extLst>
                    <a:ext uri="{9D8B030D-6E8A-4147-A177-3AD203B41FA5}">
                      <a16:colId xmlns:a16="http://schemas.microsoft.com/office/drawing/2014/main" val="3103919278"/>
                    </a:ext>
                  </a:extLst>
                </a:gridCol>
                <a:gridCol w="863993">
                  <a:extLst>
                    <a:ext uri="{9D8B030D-6E8A-4147-A177-3AD203B41FA5}">
                      <a16:colId xmlns:a16="http://schemas.microsoft.com/office/drawing/2014/main" val="2449578342"/>
                    </a:ext>
                  </a:extLst>
                </a:gridCol>
              </a:tblGrid>
              <a:tr h="263974">
                <a:tc gridSpan="6">
                  <a:txBody>
                    <a:bodyPr/>
                    <a:lstStyle/>
                    <a:p>
                      <a:pPr algn="ctr"/>
                      <a:r>
                        <a:rPr lang="pt-BR" sz="1050" b="1" dirty="0">
                          <a:latin typeface="Arial" panose="020B0604020202020204" pitchFamily="34" charset="0"/>
                          <a:cs typeface="Arial" panose="020B0604020202020204" pitchFamily="34" charset="0"/>
                        </a:rPr>
                        <a:t>Dados necessários para abertura do atendimento</a:t>
                      </a:r>
                      <a:endParaRPr lang="pt-BR" sz="11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352479">
                <a:tc>
                  <a:txBody>
                    <a:bodyPr/>
                    <a:lstStyle/>
                    <a:p>
                      <a:r>
                        <a:rPr lang="pt-BR" sz="900" dirty="0">
                          <a:latin typeface="Arial" panose="020B0604020202020204" pitchFamily="34" charset="0"/>
                          <a:cs typeface="Arial" panose="020B0604020202020204" pitchFamily="34" charset="0"/>
                        </a:rPr>
                        <a:t>Data de Compra</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Cliente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Estado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260561">
                <a:tc>
                  <a:txBody>
                    <a:bodyPr/>
                    <a:lstStyle/>
                    <a:p>
                      <a:r>
                        <a:rPr lang="pt-BR" sz="900" dirty="0">
                          <a:latin typeface="Arial" panose="020B0604020202020204" pitchFamily="34" charset="0"/>
                          <a:cs typeface="Arial" panose="020B0604020202020204" pitchFamily="34" charset="0"/>
                        </a:rPr>
                        <a:t>Nota Fiscal</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900" dirty="0">
                          <a:latin typeface="Arial" panose="020B0604020202020204" pitchFamily="34" charset="0"/>
                          <a:cs typeface="Arial" panose="020B0604020202020204" pitchFamily="34" charset="0"/>
                        </a:rPr>
                        <a:t>Telefone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dirty="0">
                          <a:latin typeface="Arial" panose="020B0604020202020204" pitchFamily="34" charset="0"/>
                          <a:cs typeface="Arial" panose="020B0604020202020204" pitchFamily="34" charset="0"/>
                        </a:rPr>
                        <a:t>Endereço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260561">
                <a:tc>
                  <a:txBody>
                    <a:bodyPr/>
                    <a:lstStyle/>
                    <a:p>
                      <a:r>
                        <a:rPr lang="pt-BR" sz="900" dirty="0">
                          <a:latin typeface="Arial" panose="020B0604020202020204" pitchFamily="34" charset="0"/>
                          <a:cs typeface="Arial" panose="020B0604020202020204" pitchFamily="34" charset="0"/>
                        </a:rPr>
                        <a:t>Revendedor</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Cidade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Série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610482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972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9072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Imagem 114">
            <a:extLst>
              <a:ext uri="{FF2B5EF4-FFF2-40B4-BE49-F238E27FC236}">
                <a16:creationId xmlns:a16="http://schemas.microsoft.com/office/drawing/2014/main" id="{61640DCB-FA00-4275-B787-43BB39C305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81" y="532767"/>
            <a:ext cx="1181203" cy="366728"/>
          </a:xfrm>
          <a:prstGeom prst="rect">
            <a:avLst/>
          </a:prstGeom>
        </p:spPr>
      </p:pic>
      <p:pic>
        <p:nvPicPr>
          <p:cNvPr id="128" name="Imagem 127">
            <a:extLst>
              <a:ext uri="{FF2B5EF4-FFF2-40B4-BE49-F238E27FC236}">
                <a16:creationId xmlns:a16="http://schemas.microsoft.com/office/drawing/2014/main" id="{C31F6B25-FF63-496D-B554-EAAA05C182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80" y="887754"/>
            <a:ext cx="1181203" cy="366728"/>
          </a:xfrm>
          <a:prstGeom prst="rect">
            <a:avLst/>
          </a:prstGeom>
        </p:spPr>
      </p:pic>
      <p:pic>
        <p:nvPicPr>
          <p:cNvPr id="272" name="Imagem 271">
            <a:extLst>
              <a:ext uri="{FF2B5EF4-FFF2-40B4-BE49-F238E27FC236}">
                <a16:creationId xmlns:a16="http://schemas.microsoft.com/office/drawing/2014/main" id="{D14CC622-87B8-4797-877F-0492C719BC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301" y="532767"/>
            <a:ext cx="1181203" cy="366728"/>
          </a:xfrm>
          <a:prstGeom prst="rect">
            <a:avLst/>
          </a:prstGeom>
        </p:spPr>
      </p:pic>
      <p:pic>
        <p:nvPicPr>
          <p:cNvPr id="273" name="Imagem 272">
            <a:extLst>
              <a:ext uri="{FF2B5EF4-FFF2-40B4-BE49-F238E27FC236}">
                <a16:creationId xmlns:a16="http://schemas.microsoft.com/office/drawing/2014/main" id="{4D0CC321-36CB-4A06-B7F9-40C67EDDA5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300" y="887754"/>
            <a:ext cx="1181203" cy="366728"/>
          </a:xfrm>
          <a:prstGeom prst="rect">
            <a:avLst/>
          </a:prstGeom>
        </p:spPr>
      </p:pic>
      <p:pic>
        <p:nvPicPr>
          <p:cNvPr id="288" name="Imagem 287">
            <a:extLst>
              <a:ext uri="{FF2B5EF4-FFF2-40B4-BE49-F238E27FC236}">
                <a16:creationId xmlns:a16="http://schemas.microsoft.com/office/drawing/2014/main" id="{2C22A76E-081C-4BF9-9D97-C19E18B9B4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21" y="532767"/>
            <a:ext cx="1181203" cy="366728"/>
          </a:xfrm>
          <a:prstGeom prst="rect">
            <a:avLst/>
          </a:prstGeom>
        </p:spPr>
      </p:pic>
      <p:pic>
        <p:nvPicPr>
          <p:cNvPr id="289" name="Imagem 288">
            <a:extLst>
              <a:ext uri="{FF2B5EF4-FFF2-40B4-BE49-F238E27FC236}">
                <a16:creationId xmlns:a16="http://schemas.microsoft.com/office/drawing/2014/main" id="{CC52C7E8-9DE3-4410-B968-E3FF39BB74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700" y="887754"/>
            <a:ext cx="1181203" cy="366728"/>
          </a:xfrm>
          <a:prstGeom prst="rect">
            <a:avLst/>
          </a:prstGeom>
        </p:spPr>
      </p:pic>
      <p:pic>
        <p:nvPicPr>
          <p:cNvPr id="304" name="Imagem 303">
            <a:extLst>
              <a:ext uri="{FF2B5EF4-FFF2-40B4-BE49-F238E27FC236}">
                <a16:creationId xmlns:a16="http://schemas.microsoft.com/office/drawing/2014/main" id="{E8D91AE0-5D05-46A8-AA74-BB3BA5E065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42" y="532767"/>
            <a:ext cx="1181203" cy="366728"/>
          </a:xfrm>
          <a:prstGeom prst="rect">
            <a:avLst/>
          </a:prstGeom>
        </p:spPr>
      </p:pic>
      <p:pic>
        <p:nvPicPr>
          <p:cNvPr id="305" name="Imagem 304">
            <a:extLst>
              <a:ext uri="{FF2B5EF4-FFF2-40B4-BE49-F238E27FC236}">
                <a16:creationId xmlns:a16="http://schemas.microsoft.com/office/drawing/2014/main" id="{3CF9FBA1-5647-462E-BBDE-5DF826534C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21" y="887754"/>
            <a:ext cx="1181203" cy="366728"/>
          </a:xfrm>
          <a:prstGeom prst="rect">
            <a:avLst/>
          </a:prstGeom>
        </p:spPr>
      </p:pic>
      <p:sp>
        <p:nvSpPr>
          <p:cNvPr id="75" name="CaixaDeTexto 74">
            <a:extLst>
              <a:ext uri="{FF2B5EF4-FFF2-40B4-BE49-F238E27FC236}">
                <a16:creationId xmlns:a16="http://schemas.microsoft.com/office/drawing/2014/main" id="{E11945A9-A5DE-4DB9-9083-D45F8A4A4573}"/>
              </a:ext>
            </a:extLst>
          </p:cNvPr>
          <p:cNvSpPr txBox="1"/>
          <p:nvPr/>
        </p:nvSpPr>
        <p:spPr>
          <a:xfrm>
            <a:off x="305817" y="163878"/>
            <a:ext cx="4752528"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a:ln>
                  <a:noFill/>
                </a:ln>
                <a:solidFill>
                  <a:prstClr val="black"/>
                </a:solidFill>
                <a:effectLst/>
                <a:uLnTx/>
                <a:uFillTx/>
                <a:latin typeface="Monda" pitchFamily="2" charset="0"/>
              </a:rPr>
              <a:t>BEBEDOURO INDUSTRIAL</a:t>
            </a:r>
          </a:p>
        </p:txBody>
      </p:sp>
      <p:cxnSp>
        <p:nvCxnSpPr>
          <p:cNvPr id="76" name="Conector reto 75">
            <a:extLst>
              <a:ext uri="{FF2B5EF4-FFF2-40B4-BE49-F238E27FC236}">
                <a16:creationId xmlns:a16="http://schemas.microsoft.com/office/drawing/2014/main" id="{7DF30A47-A7C7-4D61-9C7C-B6E81B91BB49}"/>
              </a:ext>
            </a:extLst>
          </p:cNvPr>
          <p:cNvCxnSpPr>
            <a:cxnSpLocks/>
          </p:cNvCxnSpPr>
          <p:nvPr/>
        </p:nvCxnSpPr>
        <p:spPr>
          <a:xfrm>
            <a:off x="72081" y="133091"/>
            <a:ext cx="5220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7" name="Conector reto 76">
            <a:extLst>
              <a:ext uri="{FF2B5EF4-FFF2-40B4-BE49-F238E27FC236}">
                <a16:creationId xmlns:a16="http://schemas.microsoft.com/office/drawing/2014/main" id="{6BF227F8-9BF7-42B1-A405-B15D9F8B2A43}"/>
              </a:ext>
            </a:extLst>
          </p:cNvPr>
          <p:cNvCxnSpPr>
            <a:cxnSpLocks/>
          </p:cNvCxnSpPr>
          <p:nvPr/>
        </p:nvCxnSpPr>
        <p:spPr>
          <a:xfrm>
            <a:off x="72081" y="463397"/>
            <a:ext cx="5220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86" name="Imagem 85">
            <a:extLst>
              <a:ext uri="{FF2B5EF4-FFF2-40B4-BE49-F238E27FC236}">
                <a16:creationId xmlns:a16="http://schemas.microsoft.com/office/drawing/2014/main" id="{75843FDF-58CC-4F00-92E5-D87C1C9515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80" y="1254682"/>
            <a:ext cx="1181203" cy="366728"/>
          </a:xfrm>
          <a:prstGeom prst="rect">
            <a:avLst/>
          </a:prstGeom>
        </p:spPr>
      </p:pic>
      <p:pic>
        <p:nvPicPr>
          <p:cNvPr id="87" name="Imagem 86">
            <a:extLst>
              <a:ext uri="{FF2B5EF4-FFF2-40B4-BE49-F238E27FC236}">
                <a16:creationId xmlns:a16="http://schemas.microsoft.com/office/drawing/2014/main" id="{A40D8425-C132-40A9-8675-FC05643A94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9" y="1609669"/>
            <a:ext cx="1181203" cy="366728"/>
          </a:xfrm>
          <a:prstGeom prst="rect">
            <a:avLst/>
          </a:prstGeom>
        </p:spPr>
      </p:pic>
      <p:pic>
        <p:nvPicPr>
          <p:cNvPr id="88" name="Imagem 87">
            <a:extLst>
              <a:ext uri="{FF2B5EF4-FFF2-40B4-BE49-F238E27FC236}">
                <a16:creationId xmlns:a16="http://schemas.microsoft.com/office/drawing/2014/main" id="{972E8EC7-780A-4AE5-B9FD-27E3CE6F1B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300" y="1254682"/>
            <a:ext cx="1181203" cy="366728"/>
          </a:xfrm>
          <a:prstGeom prst="rect">
            <a:avLst/>
          </a:prstGeom>
        </p:spPr>
      </p:pic>
      <p:pic>
        <p:nvPicPr>
          <p:cNvPr id="89" name="Imagem 88">
            <a:extLst>
              <a:ext uri="{FF2B5EF4-FFF2-40B4-BE49-F238E27FC236}">
                <a16:creationId xmlns:a16="http://schemas.microsoft.com/office/drawing/2014/main" id="{ED438795-556E-4DAF-8EDF-4579ADEBDB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9" y="1609669"/>
            <a:ext cx="1181203" cy="366728"/>
          </a:xfrm>
          <a:prstGeom prst="rect">
            <a:avLst/>
          </a:prstGeom>
        </p:spPr>
      </p:pic>
      <p:pic>
        <p:nvPicPr>
          <p:cNvPr id="90" name="Imagem 89">
            <a:extLst>
              <a:ext uri="{FF2B5EF4-FFF2-40B4-BE49-F238E27FC236}">
                <a16:creationId xmlns:a16="http://schemas.microsoft.com/office/drawing/2014/main" id="{637BB85D-6E7D-4F90-B9F1-2502A0D969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20" y="1254682"/>
            <a:ext cx="1181203" cy="366728"/>
          </a:xfrm>
          <a:prstGeom prst="rect">
            <a:avLst/>
          </a:prstGeom>
        </p:spPr>
      </p:pic>
      <p:pic>
        <p:nvPicPr>
          <p:cNvPr id="91" name="Imagem 90">
            <a:extLst>
              <a:ext uri="{FF2B5EF4-FFF2-40B4-BE49-F238E27FC236}">
                <a16:creationId xmlns:a16="http://schemas.microsoft.com/office/drawing/2014/main" id="{D580A61A-BF4E-4C38-98E4-A3FB2D121C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9" y="1609669"/>
            <a:ext cx="1181203" cy="366728"/>
          </a:xfrm>
          <a:prstGeom prst="rect">
            <a:avLst/>
          </a:prstGeom>
        </p:spPr>
      </p:pic>
      <p:pic>
        <p:nvPicPr>
          <p:cNvPr id="92" name="Imagem 91">
            <a:extLst>
              <a:ext uri="{FF2B5EF4-FFF2-40B4-BE49-F238E27FC236}">
                <a16:creationId xmlns:a16="http://schemas.microsoft.com/office/drawing/2014/main" id="{33589937-844C-4AD3-AD97-5A711C97D5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41" y="1254682"/>
            <a:ext cx="1181203" cy="366728"/>
          </a:xfrm>
          <a:prstGeom prst="rect">
            <a:avLst/>
          </a:prstGeom>
        </p:spPr>
      </p:pic>
      <p:pic>
        <p:nvPicPr>
          <p:cNvPr id="93" name="Imagem 92">
            <a:extLst>
              <a:ext uri="{FF2B5EF4-FFF2-40B4-BE49-F238E27FC236}">
                <a16:creationId xmlns:a16="http://schemas.microsoft.com/office/drawing/2014/main" id="{782B7F6F-A58B-40EC-B379-159D16386F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20" y="1609669"/>
            <a:ext cx="1181203" cy="366728"/>
          </a:xfrm>
          <a:prstGeom prst="rect">
            <a:avLst/>
          </a:prstGeom>
        </p:spPr>
      </p:pic>
      <p:pic>
        <p:nvPicPr>
          <p:cNvPr id="94" name="Imagem 93">
            <a:extLst>
              <a:ext uri="{FF2B5EF4-FFF2-40B4-BE49-F238E27FC236}">
                <a16:creationId xmlns:a16="http://schemas.microsoft.com/office/drawing/2014/main" id="{6CD0227A-A0B2-4006-958A-16CE4ACDEA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9" y="1958691"/>
            <a:ext cx="1181203" cy="366728"/>
          </a:xfrm>
          <a:prstGeom prst="rect">
            <a:avLst/>
          </a:prstGeom>
        </p:spPr>
      </p:pic>
      <p:pic>
        <p:nvPicPr>
          <p:cNvPr id="95" name="Imagem 94">
            <a:extLst>
              <a:ext uri="{FF2B5EF4-FFF2-40B4-BE49-F238E27FC236}">
                <a16:creationId xmlns:a16="http://schemas.microsoft.com/office/drawing/2014/main" id="{F696B211-2D5B-4CBF-9421-2BA190979A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8" y="2313678"/>
            <a:ext cx="1181203" cy="366728"/>
          </a:xfrm>
          <a:prstGeom prst="rect">
            <a:avLst/>
          </a:prstGeom>
        </p:spPr>
      </p:pic>
      <p:pic>
        <p:nvPicPr>
          <p:cNvPr id="96" name="Imagem 95">
            <a:extLst>
              <a:ext uri="{FF2B5EF4-FFF2-40B4-BE49-F238E27FC236}">
                <a16:creationId xmlns:a16="http://schemas.microsoft.com/office/drawing/2014/main" id="{22EAC0FE-814B-49F1-9625-BAC9E00BAB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9" y="1958691"/>
            <a:ext cx="1181203" cy="366728"/>
          </a:xfrm>
          <a:prstGeom prst="rect">
            <a:avLst/>
          </a:prstGeom>
        </p:spPr>
      </p:pic>
      <p:pic>
        <p:nvPicPr>
          <p:cNvPr id="97" name="Imagem 96">
            <a:extLst>
              <a:ext uri="{FF2B5EF4-FFF2-40B4-BE49-F238E27FC236}">
                <a16:creationId xmlns:a16="http://schemas.microsoft.com/office/drawing/2014/main" id="{BBDAEFC7-2443-4D01-8F19-2313B5BE85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8" y="2313678"/>
            <a:ext cx="1181203" cy="366728"/>
          </a:xfrm>
          <a:prstGeom prst="rect">
            <a:avLst/>
          </a:prstGeom>
        </p:spPr>
      </p:pic>
      <p:pic>
        <p:nvPicPr>
          <p:cNvPr id="98" name="Imagem 97">
            <a:extLst>
              <a:ext uri="{FF2B5EF4-FFF2-40B4-BE49-F238E27FC236}">
                <a16:creationId xmlns:a16="http://schemas.microsoft.com/office/drawing/2014/main" id="{5FF1F2BA-FA4E-4671-857A-C32DA4F1EF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9" y="1958691"/>
            <a:ext cx="1181203" cy="366728"/>
          </a:xfrm>
          <a:prstGeom prst="rect">
            <a:avLst/>
          </a:prstGeom>
        </p:spPr>
      </p:pic>
      <p:pic>
        <p:nvPicPr>
          <p:cNvPr id="99" name="Imagem 98">
            <a:extLst>
              <a:ext uri="{FF2B5EF4-FFF2-40B4-BE49-F238E27FC236}">
                <a16:creationId xmlns:a16="http://schemas.microsoft.com/office/drawing/2014/main" id="{A95F9F3D-D1B0-48BB-88B9-8E51489CFF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8" y="2313678"/>
            <a:ext cx="1181203" cy="366728"/>
          </a:xfrm>
          <a:prstGeom prst="rect">
            <a:avLst/>
          </a:prstGeom>
        </p:spPr>
      </p:pic>
      <p:pic>
        <p:nvPicPr>
          <p:cNvPr id="100" name="Imagem 99">
            <a:extLst>
              <a:ext uri="{FF2B5EF4-FFF2-40B4-BE49-F238E27FC236}">
                <a16:creationId xmlns:a16="http://schemas.microsoft.com/office/drawing/2014/main" id="{057A9B8D-15EE-479D-BEA5-34A26BE844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40" y="1958691"/>
            <a:ext cx="1181203" cy="366728"/>
          </a:xfrm>
          <a:prstGeom prst="rect">
            <a:avLst/>
          </a:prstGeom>
        </p:spPr>
      </p:pic>
      <p:pic>
        <p:nvPicPr>
          <p:cNvPr id="101" name="Imagem 100">
            <a:extLst>
              <a:ext uri="{FF2B5EF4-FFF2-40B4-BE49-F238E27FC236}">
                <a16:creationId xmlns:a16="http://schemas.microsoft.com/office/drawing/2014/main" id="{24E47D2D-AC8D-4700-AE30-49659E0AC2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9" y="2313678"/>
            <a:ext cx="1181203" cy="366728"/>
          </a:xfrm>
          <a:prstGeom prst="rect">
            <a:avLst/>
          </a:prstGeom>
        </p:spPr>
      </p:pic>
      <p:pic>
        <p:nvPicPr>
          <p:cNvPr id="102" name="Imagem 101">
            <a:extLst>
              <a:ext uri="{FF2B5EF4-FFF2-40B4-BE49-F238E27FC236}">
                <a16:creationId xmlns:a16="http://schemas.microsoft.com/office/drawing/2014/main" id="{94957FAD-3395-4587-A392-CE45AFB22B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8" y="2680606"/>
            <a:ext cx="1181203" cy="366728"/>
          </a:xfrm>
          <a:prstGeom prst="rect">
            <a:avLst/>
          </a:prstGeom>
        </p:spPr>
      </p:pic>
      <p:pic>
        <p:nvPicPr>
          <p:cNvPr id="103" name="Imagem 102">
            <a:extLst>
              <a:ext uri="{FF2B5EF4-FFF2-40B4-BE49-F238E27FC236}">
                <a16:creationId xmlns:a16="http://schemas.microsoft.com/office/drawing/2014/main" id="{03B9EE8C-16DD-4AB8-92C8-6278F5D4BD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7" y="3035593"/>
            <a:ext cx="1181203" cy="366728"/>
          </a:xfrm>
          <a:prstGeom prst="rect">
            <a:avLst/>
          </a:prstGeom>
        </p:spPr>
      </p:pic>
      <p:pic>
        <p:nvPicPr>
          <p:cNvPr id="104" name="Imagem 103">
            <a:extLst>
              <a:ext uri="{FF2B5EF4-FFF2-40B4-BE49-F238E27FC236}">
                <a16:creationId xmlns:a16="http://schemas.microsoft.com/office/drawing/2014/main" id="{088F6201-B92B-4B86-A86D-1FF0452A27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8" y="2680606"/>
            <a:ext cx="1181203" cy="366728"/>
          </a:xfrm>
          <a:prstGeom prst="rect">
            <a:avLst/>
          </a:prstGeom>
        </p:spPr>
      </p:pic>
      <p:pic>
        <p:nvPicPr>
          <p:cNvPr id="105" name="Imagem 104">
            <a:extLst>
              <a:ext uri="{FF2B5EF4-FFF2-40B4-BE49-F238E27FC236}">
                <a16:creationId xmlns:a16="http://schemas.microsoft.com/office/drawing/2014/main" id="{93A89DF8-1250-4734-82F1-9A0B9D205A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7" y="3035593"/>
            <a:ext cx="1181203" cy="366728"/>
          </a:xfrm>
          <a:prstGeom prst="rect">
            <a:avLst/>
          </a:prstGeom>
        </p:spPr>
      </p:pic>
      <p:pic>
        <p:nvPicPr>
          <p:cNvPr id="106" name="Imagem 105">
            <a:extLst>
              <a:ext uri="{FF2B5EF4-FFF2-40B4-BE49-F238E27FC236}">
                <a16:creationId xmlns:a16="http://schemas.microsoft.com/office/drawing/2014/main" id="{2BB49A08-C38A-403A-895C-4EE31916F7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8" y="2680606"/>
            <a:ext cx="1181203" cy="366728"/>
          </a:xfrm>
          <a:prstGeom prst="rect">
            <a:avLst/>
          </a:prstGeom>
        </p:spPr>
      </p:pic>
      <p:pic>
        <p:nvPicPr>
          <p:cNvPr id="107" name="Imagem 106">
            <a:extLst>
              <a:ext uri="{FF2B5EF4-FFF2-40B4-BE49-F238E27FC236}">
                <a16:creationId xmlns:a16="http://schemas.microsoft.com/office/drawing/2014/main" id="{F662999D-9863-4915-9FD8-F5FC414F61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7" y="3035593"/>
            <a:ext cx="1181203" cy="366728"/>
          </a:xfrm>
          <a:prstGeom prst="rect">
            <a:avLst/>
          </a:prstGeom>
        </p:spPr>
      </p:pic>
      <p:pic>
        <p:nvPicPr>
          <p:cNvPr id="108" name="Imagem 107">
            <a:extLst>
              <a:ext uri="{FF2B5EF4-FFF2-40B4-BE49-F238E27FC236}">
                <a16:creationId xmlns:a16="http://schemas.microsoft.com/office/drawing/2014/main" id="{DD0193BA-BFF0-401F-9F8F-AB48D85A37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9" y="2680606"/>
            <a:ext cx="1181203" cy="366728"/>
          </a:xfrm>
          <a:prstGeom prst="rect">
            <a:avLst/>
          </a:prstGeom>
        </p:spPr>
      </p:pic>
      <p:pic>
        <p:nvPicPr>
          <p:cNvPr id="109" name="Imagem 108">
            <a:extLst>
              <a:ext uri="{FF2B5EF4-FFF2-40B4-BE49-F238E27FC236}">
                <a16:creationId xmlns:a16="http://schemas.microsoft.com/office/drawing/2014/main" id="{1219EAE5-60E1-4BFB-A12E-B7D983B86D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8" y="3035593"/>
            <a:ext cx="1181203" cy="366728"/>
          </a:xfrm>
          <a:prstGeom prst="rect">
            <a:avLst/>
          </a:prstGeom>
        </p:spPr>
      </p:pic>
      <p:pic>
        <p:nvPicPr>
          <p:cNvPr id="110" name="Imagem 109">
            <a:extLst>
              <a:ext uri="{FF2B5EF4-FFF2-40B4-BE49-F238E27FC236}">
                <a16:creationId xmlns:a16="http://schemas.microsoft.com/office/drawing/2014/main" id="{80187C4E-CB5D-45E8-95D2-66B7B12C11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7" y="3400147"/>
            <a:ext cx="1181203" cy="366728"/>
          </a:xfrm>
          <a:prstGeom prst="rect">
            <a:avLst/>
          </a:prstGeom>
        </p:spPr>
      </p:pic>
      <p:pic>
        <p:nvPicPr>
          <p:cNvPr id="111" name="Imagem 110">
            <a:extLst>
              <a:ext uri="{FF2B5EF4-FFF2-40B4-BE49-F238E27FC236}">
                <a16:creationId xmlns:a16="http://schemas.microsoft.com/office/drawing/2014/main" id="{3014E3E4-2C0F-4A1A-B6C0-9CCF8B1E95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6" y="3755134"/>
            <a:ext cx="1181203" cy="366728"/>
          </a:xfrm>
          <a:prstGeom prst="rect">
            <a:avLst/>
          </a:prstGeom>
        </p:spPr>
      </p:pic>
      <p:pic>
        <p:nvPicPr>
          <p:cNvPr id="112" name="Imagem 111">
            <a:extLst>
              <a:ext uri="{FF2B5EF4-FFF2-40B4-BE49-F238E27FC236}">
                <a16:creationId xmlns:a16="http://schemas.microsoft.com/office/drawing/2014/main" id="{B909E40E-69E5-425B-B426-085021C57B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7" y="3400147"/>
            <a:ext cx="1181203" cy="366728"/>
          </a:xfrm>
          <a:prstGeom prst="rect">
            <a:avLst/>
          </a:prstGeom>
        </p:spPr>
      </p:pic>
      <p:pic>
        <p:nvPicPr>
          <p:cNvPr id="113" name="Imagem 112">
            <a:extLst>
              <a:ext uri="{FF2B5EF4-FFF2-40B4-BE49-F238E27FC236}">
                <a16:creationId xmlns:a16="http://schemas.microsoft.com/office/drawing/2014/main" id="{623C6048-FB5B-4775-A72E-974E300FDB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6" y="3755134"/>
            <a:ext cx="1181203" cy="366728"/>
          </a:xfrm>
          <a:prstGeom prst="rect">
            <a:avLst/>
          </a:prstGeom>
        </p:spPr>
      </p:pic>
      <p:pic>
        <p:nvPicPr>
          <p:cNvPr id="114" name="Imagem 113">
            <a:extLst>
              <a:ext uri="{FF2B5EF4-FFF2-40B4-BE49-F238E27FC236}">
                <a16:creationId xmlns:a16="http://schemas.microsoft.com/office/drawing/2014/main" id="{2158F8E5-5997-4639-9C18-67DD7D010A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7" y="3400147"/>
            <a:ext cx="1181203" cy="366728"/>
          </a:xfrm>
          <a:prstGeom prst="rect">
            <a:avLst/>
          </a:prstGeom>
        </p:spPr>
      </p:pic>
      <p:pic>
        <p:nvPicPr>
          <p:cNvPr id="116" name="Imagem 115">
            <a:extLst>
              <a:ext uri="{FF2B5EF4-FFF2-40B4-BE49-F238E27FC236}">
                <a16:creationId xmlns:a16="http://schemas.microsoft.com/office/drawing/2014/main" id="{4A2DCE9A-E3D4-415D-BC0E-357813786F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6" y="3755134"/>
            <a:ext cx="1181203" cy="366728"/>
          </a:xfrm>
          <a:prstGeom prst="rect">
            <a:avLst/>
          </a:prstGeom>
        </p:spPr>
      </p:pic>
      <p:pic>
        <p:nvPicPr>
          <p:cNvPr id="117" name="Imagem 116">
            <a:extLst>
              <a:ext uri="{FF2B5EF4-FFF2-40B4-BE49-F238E27FC236}">
                <a16:creationId xmlns:a16="http://schemas.microsoft.com/office/drawing/2014/main" id="{9F2058A6-483B-49F6-9EE9-2E9A862DF3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8" y="3400147"/>
            <a:ext cx="1181203" cy="366728"/>
          </a:xfrm>
          <a:prstGeom prst="rect">
            <a:avLst/>
          </a:prstGeom>
        </p:spPr>
      </p:pic>
      <p:pic>
        <p:nvPicPr>
          <p:cNvPr id="118" name="Imagem 117">
            <a:extLst>
              <a:ext uri="{FF2B5EF4-FFF2-40B4-BE49-F238E27FC236}">
                <a16:creationId xmlns:a16="http://schemas.microsoft.com/office/drawing/2014/main" id="{AD561DC7-341B-40E6-9B4D-1B60EF57B8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7" y="3755134"/>
            <a:ext cx="1181203" cy="366728"/>
          </a:xfrm>
          <a:prstGeom prst="rect">
            <a:avLst/>
          </a:prstGeom>
        </p:spPr>
      </p:pic>
      <p:pic>
        <p:nvPicPr>
          <p:cNvPr id="119" name="Imagem 118">
            <a:extLst>
              <a:ext uri="{FF2B5EF4-FFF2-40B4-BE49-F238E27FC236}">
                <a16:creationId xmlns:a16="http://schemas.microsoft.com/office/drawing/2014/main" id="{186EA18C-554E-4D20-8BA9-55F6C42098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6" y="4122062"/>
            <a:ext cx="1181203" cy="366728"/>
          </a:xfrm>
          <a:prstGeom prst="rect">
            <a:avLst/>
          </a:prstGeom>
        </p:spPr>
      </p:pic>
      <p:pic>
        <p:nvPicPr>
          <p:cNvPr id="120" name="Imagem 119">
            <a:extLst>
              <a:ext uri="{FF2B5EF4-FFF2-40B4-BE49-F238E27FC236}">
                <a16:creationId xmlns:a16="http://schemas.microsoft.com/office/drawing/2014/main" id="{998ED5F7-8194-4E9C-952C-BCF21E0A2D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5" y="4477049"/>
            <a:ext cx="1181203" cy="366728"/>
          </a:xfrm>
          <a:prstGeom prst="rect">
            <a:avLst/>
          </a:prstGeom>
        </p:spPr>
      </p:pic>
      <p:pic>
        <p:nvPicPr>
          <p:cNvPr id="121" name="Imagem 120">
            <a:extLst>
              <a:ext uri="{FF2B5EF4-FFF2-40B4-BE49-F238E27FC236}">
                <a16:creationId xmlns:a16="http://schemas.microsoft.com/office/drawing/2014/main" id="{82893639-D409-4463-9B0C-3909195AD3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6" y="4122062"/>
            <a:ext cx="1181203" cy="366728"/>
          </a:xfrm>
          <a:prstGeom prst="rect">
            <a:avLst/>
          </a:prstGeom>
        </p:spPr>
      </p:pic>
      <p:pic>
        <p:nvPicPr>
          <p:cNvPr id="124" name="Imagem 123">
            <a:extLst>
              <a:ext uri="{FF2B5EF4-FFF2-40B4-BE49-F238E27FC236}">
                <a16:creationId xmlns:a16="http://schemas.microsoft.com/office/drawing/2014/main" id="{237B691D-B9BD-4D0B-B5DC-48B0E3082C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5" y="4477049"/>
            <a:ext cx="1181203" cy="366728"/>
          </a:xfrm>
          <a:prstGeom prst="rect">
            <a:avLst/>
          </a:prstGeom>
        </p:spPr>
      </p:pic>
      <p:pic>
        <p:nvPicPr>
          <p:cNvPr id="125" name="Imagem 124">
            <a:extLst>
              <a:ext uri="{FF2B5EF4-FFF2-40B4-BE49-F238E27FC236}">
                <a16:creationId xmlns:a16="http://schemas.microsoft.com/office/drawing/2014/main" id="{2D1C2F5F-7F86-4E3A-AFC6-7787A38BA9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6" y="4122062"/>
            <a:ext cx="1181203" cy="366728"/>
          </a:xfrm>
          <a:prstGeom prst="rect">
            <a:avLst/>
          </a:prstGeom>
        </p:spPr>
      </p:pic>
      <p:pic>
        <p:nvPicPr>
          <p:cNvPr id="126" name="Imagem 125">
            <a:extLst>
              <a:ext uri="{FF2B5EF4-FFF2-40B4-BE49-F238E27FC236}">
                <a16:creationId xmlns:a16="http://schemas.microsoft.com/office/drawing/2014/main" id="{5B4FD78B-5833-4243-AC54-27A89A52AD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5" y="4477049"/>
            <a:ext cx="1181203" cy="366728"/>
          </a:xfrm>
          <a:prstGeom prst="rect">
            <a:avLst/>
          </a:prstGeom>
        </p:spPr>
      </p:pic>
      <p:pic>
        <p:nvPicPr>
          <p:cNvPr id="127" name="Imagem 126">
            <a:extLst>
              <a:ext uri="{FF2B5EF4-FFF2-40B4-BE49-F238E27FC236}">
                <a16:creationId xmlns:a16="http://schemas.microsoft.com/office/drawing/2014/main" id="{0D3D72FB-92FD-454E-9182-57E7DA7A29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7" y="4122062"/>
            <a:ext cx="1181203" cy="366728"/>
          </a:xfrm>
          <a:prstGeom prst="rect">
            <a:avLst/>
          </a:prstGeom>
        </p:spPr>
      </p:pic>
      <p:pic>
        <p:nvPicPr>
          <p:cNvPr id="143" name="Imagem 142">
            <a:extLst>
              <a:ext uri="{FF2B5EF4-FFF2-40B4-BE49-F238E27FC236}">
                <a16:creationId xmlns:a16="http://schemas.microsoft.com/office/drawing/2014/main" id="{A983D95E-F7EA-4BBF-9540-6E230C7189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6" y="4477049"/>
            <a:ext cx="1181203" cy="366728"/>
          </a:xfrm>
          <a:prstGeom prst="rect">
            <a:avLst/>
          </a:prstGeom>
        </p:spPr>
      </p:pic>
      <p:pic>
        <p:nvPicPr>
          <p:cNvPr id="144" name="Imagem 143">
            <a:extLst>
              <a:ext uri="{FF2B5EF4-FFF2-40B4-BE49-F238E27FC236}">
                <a16:creationId xmlns:a16="http://schemas.microsoft.com/office/drawing/2014/main" id="{7C2FB0DD-3F5B-4D94-8724-FCBDF4CCFD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5" y="4826071"/>
            <a:ext cx="1181203" cy="366728"/>
          </a:xfrm>
          <a:prstGeom prst="rect">
            <a:avLst/>
          </a:prstGeom>
        </p:spPr>
      </p:pic>
      <p:pic>
        <p:nvPicPr>
          <p:cNvPr id="145" name="Imagem 144">
            <a:extLst>
              <a:ext uri="{FF2B5EF4-FFF2-40B4-BE49-F238E27FC236}">
                <a16:creationId xmlns:a16="http://schemas.microsoft.com/office/drawing/2014/main" id="{8C20FADF-7A45-4F60-A6FE-435D52226D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4" y="5181058"/>
            <a:ext cx="1181203" cy="366728"/>
          </a:xfrm>
          <a:prstGeom prst="rect">
            <a:avLst/>
          </a:prstGeom>
        </p:spPr>
      </p:pic>
      <p:pic>
        <p:nvPicPr>
          <p:cNvPr id="146" name="Imagem 145">
            <a:extLst>
              <a:ext uri="{FF2B5EF4-FFF2-40B4-BE49-F238E27FC236}">
                <a16:creationId xmlns:a16="http://schemas.microsoft.com/office/drawing/2014/main" id="{B9568987-4A51-4026-897C-7CF4AAC70C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5" y="4826071"/>
            <a:ext cx="1181203" cy="366728"/>
          </a:xfrm>
          <a:prstGeom prst="rect">
            <a:avLst/>
          </a:prstGeom>
        </p:spPr>
      </p:pic>
      <p:pic>
        <p:nvPicPr>
          <p:cNvPr id="147" name="Imagem 146">
            <a:extLst>
              <a:ext uri="{FF2B5EF4-FFF2-40B4-BE49-F238E27FC236}">
                <a16:creationId xmlns:a16="http://schemas.microsoft.com/office/drawing/2014/main" id="{C6381784-F203-43FF-826D-AE8B8D6443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4" y="5181058"/>
            <a:ext cx="1181203" cy="366728"/>
          </a:xfrm>
          <a:prstGeom prst="rect">
            <a:avLst/>
          </a:prstGeom>
        </p:spPr>
      </p:pic>
      <p:pic>
        <p:nvPicPr>
          <p:cNvPr id="148" name="Imagem 147">
            <a:extLst>
              <a:ext uri="{FF2B5EF4-FFF2-40B4-BE49-F238E27FC236}">
                <a16:creationId xmlns:a16="http://schemas.microsoft.com/office/drawing/2014/main" id="{855B150B-B594-4CC6-A160-9C34CB1A5F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5" y="4826071"/>
            <a:ext cx="1181203" cy="366728"/>
          </a:xfrm>
          <a:prstGeom prst="rect">
            <a:avLst/>
          </a:prstGeom>
        </p:spPr>
      </p:pic>
      <p:pic>
        <p:nvPicPr>
          <p:cNvPr id="149" name="Imagem 148">
            <a:extLst>
              <a:ext uri="{FF2B5EF4-FFF2-40B4-BE49-F238E27FC236}">
                <a16:creationId xmlns:a16="http://schemas.microsoft.com/office/drawing/2014/main" id="{200A451D-0016-4163-A384-BA44652E1A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4" y="5181058"/>
            <a:ext cx="1181203" cy="366728"/>
          </a:xfrm>
          <a:prstGeom prst="rect">
            <a:avLst/>
          </a:prstGeom>
        </p:spPr>
      </p:pic>
      <p:pic>
        <p:nvPicPr>
          <p:cNvPr id="150" name="Imagem 149">
            <a:extLst>
              <a:ext uri="{FF2B5EF4-FFF2-40B4-BE49-F238E27FC236}">
                <a16:creationId xmlns:a16="http://schemas.microsoft.com/office/drawing/2014/main" id="{1DB821CB-CB55-4B8E-84D7-64B843905D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6" y="4826071"/>
            <a:ext cx="1181203" cy="366728"/>
          </a:xfrm>
          <a:prstGeom prst="rect">
            <a:avLst/>
          </a:prstGeom>
        </p:spPr>
      </p:pic>
      <p:pic>
        <p:nvPicPr>
          <p:cNvPr id="151" name="Imagem 150">
            <a:extLst>
              <a:ext uri="{FF2B5EF4-FFF2-40B4-BE49-F238E27FC236}">
                <a16:creationId xmlns:a16="http://schemas.microsoft.com/office/drawing/2014/main" id="{1D95712D-8286-484D-BF11-9610A1DE5A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5" y="5181058"/>
            <a:ext cx="1181203" cy="366728"/>
          </a:xfrm>
          <a:prstGeom prst="rect">
            <a:avLst/>
          </a:prstGeom>
        </p:spPr>
      </p:pic>
      <p:pic>
        <p:nvPicPr>
          <p:cNvPr id="152" name="Imagem 151">
            <a:extLst>
              <a:ext uri="{FF2B5EF4-FFF2-40B4-BE49-F238E27FC236}">
                <a16:creationId xmlns:a16="http://schemas.microsoft.com/office/drawing/2014/main" id="{DD763A7C-AFBB-4104-8343-4DCA4F1E49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4" y="5547986"/>
            <a:ext cx="1181203" cy="366728"/>
          </a:xfrm>
          <a:prstGeom prst="rect">
            <a:avLst/>
          </a:prstGeom>
        </p:spPr>
      </p:pic>
      <p:pic>
        <p:nvPicPr>
          <p:cNvPr id="153" name="Imagem 152">
            <a:extLst>
              <a:ext uri="{FF2B5EF4-FFF2-40B4-BE49-F238E27FC236}">
                <a16:creationId xmlns:a16="http://schemas.microsoft.com/office/drawing/2014/main" id="{742ABCD2-9BC2-4F2D-BC63-F724E1C607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3" y="5902973"/>
            <a:ext cx="1181203" cy="366728"/>
          </a:xfrm>
          <a:prstGeom prst="rect">
            <a:avLst/>
          </a:prstGeom>
        </p:spPr>
      </p:pic>
      <p:pic>
        <p:nvPicPr>
          <p:cNvPr id="154" name="Imagem 153">
            <a:extLst>
              <a:ext uri="{FF2B5EF4-FFF2-40B4-BE49-F238E27FC236}">
                <a16:creationId xmlns:a16="http://schemas.microsoft.com/office/drawing/2014/main" id="{DEB41945-9D17-471C-A395-41C3ACBBF6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4" y="5547986"/>
            <a:ext cx="1181203" cy="366728"/>
          </a:xfrm>
          <a:prstGeom prst="rect">
            <a:avLst/>
          </a:prstGeom>
        </p:spPr>
      </p:pic>
      <p:pic>
        <p:nvPicPr>
          <p:cNvPr id="155" name="Imagem 154">
            <a:extLst>
              <a:ext uri="{FF2B5EF4-FFF2-40B4-BE49-F238E27FC236}">
                <a16:creationId xmlns:a16="http://schemas.microsoft.com/office/drawing/2014/main" id="{D342A445-CAEA-4095-AEB8-00676900BD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3" y="5902973"/>
            <a:ext cx="1181203" cy="366728"/>
          </a:xfrm>
          <a:prstGeom prst="rect">
            <a:avLst/>
          </a:prstGeom>
        </p:spPr>
      </p:pic>
      <p:pic>
        <p:nvPicPr>
          <p:cNvPr id="156" name="Imagem 155">
            <a:extLst>
              <a:ext uri="{FF2B5EF4-FFF2-40B4-BE49-F238E27FC236}">
                <a16:creationId xmlns:a16="http://schemas.microsoft.com/office/drawing/2014/main" id="{47E0549B-671D-482C-B130-AD86188CB0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4" y="5547986"/>
            <a:ext cx="1181203" cy="366728"/>
          </a:xfrm>
          <a:prstGeom prst="rect">
            <a:avLst/>
          </a:prstGeom>
        </p:spPr>
      </p:pic>
      <p:pic>
        <p:nvPicPr>
          <p:cNvPr id="157" name="Imagem 156">
            <a:extLst>
              <a:ext uri="{FF2B5EF4-FFF2-40B4-BE49-F238E27FC236}">
                <a16:creationId xmlns:a16="http://schemas.microsoft.com/office/drawing/2014/main" id="{E606852D-0A0C-48E0-A06C-AD8C365DDC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3" y="5902973"/>
            <a:ext cx="1181203" cy="366728"/>
          </a:xfrm>
          <a:prstGeom prst="rect">
            <a:avLst/>
          </a:prstGeom>
        </p:spPr>
      </p:pic>
      <p:pic>
        <p:nvPicPr>
          <p:cNvPr id="158" name="Imagem 157">
            <a:extLst>
              <a:ext uri="{FF2B5EF4-FFF2-40B4-BE49-F238E27FC236}">
                <a16:creationId xmlns:a16="http://schemas.microsoft.com/office/drawing/2014/main" id="{D2B092A5-E17F-4FD6-82F7-D22DB7A22D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5" y="5547986"/>
            <a:ext cx="1181203" cy="366728"/>
          </a:xfrm>
          <a:prstGeom prst="rect">
            <a:avLst/>
          </a:prstGeom>
        </p:spPr>
      </p:pic>
      <p:pic>
        <p:nvPicPr>
          <p:cNvPr id="159" name="Imagem 158">
            <a:extLst>
              <a:ext uri="{FF2B5EF4-FFF2-40B4-BE49-F238E27FC236}">
                <a16:creationId xmlns:a16="http://schemas.microsoft.com/office/drawing/2014/main" id="{0FC622CD-8FAD-4E6A-B4EC-923161E304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4" y="5902973"/>
            <a:ext cx="1181203" cy="366728"/>
          </a:xfrm>
          <a:prstGeom prst="rect">
            <a:avLst/>
          </a:prstGeom>
        </p:spPr>
      </p:pic>
      <p:pic>
        <p:nvPicPr>
          <p:cNvPr id="160" name="Imagem 159">
            <a:extLst>
              <a:ext uri="{FF2B5EF4-FFF2-40B4-BE49-F238E27FC236}">
                <a16:creationId xmlns:a16="http://schemas.microsoft.com/office/drawing/2014/main" id="{DAE4B36B-992B-4058-85CB-9558F8BB17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3" y="6285085"/>
            <a:ext cx="1181203" cy="366728"/>
          </a:xfrm>
          <a:prstGeom prst="rect">
            <a:avLst/>
          </a:prstGeom>
        </p:spPr>
      </p:pic>
      <p:pic>
        <p:nvPicPr>
          <p:cNvPr id="161" name="Imagem 160">
            <a:extLst>
              <a:ext uri="{FF2B5EF4-FFF2-40B4-BE49-F238E27FC236}">
                <a16:creationId xmlns:a16="http://schemas.microsoft.com/office/drawing/2014/main" id="{3CFC9B23-8B3C-4FC1-B77F-6F70E023A7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3" y="6285085"/>
            <a:ext cx="1181203" cy="366728"/>
          </a:xfrm>
          <a:prstGeom prst="rect">
            <a:avLst/>
          </a:prstGeom>
        </p:spPr>
      </p:pic>
      <p:pic>
        <p:nvPicPr>
          <p:cNvPr id="162" name="Imagem 161">
            <a:extLst>
              <a:ext uri="{FF2B5EF4-FFF2-40B4-BE49-F238E27FC236}">
                <a16:creationId xmlns:a16="http://schemas.microsoft.com/office/drawing/2014/main" id="{86F32660-7D94-4623-A846-5610E5C26D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3" y="6285085"/>
            <a:ext cx="1181203" cy="366728"/>
          </a:xfrm>
          <a:prstGeom prst="rect">
            <a:avLst/>
          </a:prstGeom>
        </p:spPr>
      </p:pic>
      <p:pic>
        <p:nvPicPr>
          <p:cNvPr id="163" name="Imagem 162">
            <a:extLst>
              <a:ext uri="{FF2B5EF4-FFF2-40B4-BE49-F238E27FC236}">
                <a16:creationId xmlns:a16="http://schemas.microsoft.com/office/drawing/2014/main" id="{AD8DAB4C-E759-4BC9-BCDC-62938F21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4" y="6285085"/>
            <a:ext cx="1181203" cy="366728"/>
          </a:xfrm>
          <a:prstGeom prst="rect">
            <a:avLst/>
          </a:prstGeom>
        </p:spPr>
      </p:pic>
      <p:pic>
        <p:nvPicPr>
          <p:cNvPr id="164" name="Imagem 163">
            <a:extLst>
              <a:ext uri="{FF2B5EF4-FFF2-40B4-BE49-F238E27FC236}">
                <a16:creationId xmlns:a16="http://schemas.microsoft.com/office/drawing/2014/main" id="{A8DBB8D4-8949-4204-8646-DB34FBA445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3" y="6652013"/>
            <a:ext cx="1181203" cy="366728"/>
          </a:xfrm>
          <a:prstGeom prst="rect">
            <a:avLst/>
          </a:prstGeom>
        </p:spPr>
      </p:pic>
      <p:pic>
        <p:nvPicPr>
          <p:cNvPr id="166" name="Imagem 165">
            <a:extLst>
              <a:ext uri="{FF2B5EF4-FFF2-40B4-BE49-F238E27FC236}">
                <a16:creationId xmlns:a16="http://schemas.microsoft.com/office/drawing/2014/main" id="{4713CB12-8337-4A84-AD25-62869A3F37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3" y="6652013"/>
            <a:ext cx="1181203" cy="366728"/>
          </a:xfrm>
          <a:prstGeom prst="rect">
            <a:avLst/>
          </a:prstGeom>
        </p:spPr>
      </p:pic>
      <p:pic>
        <p:nvPicPr>
          <p:cNvPr id="168" name="Imagem 167">
            <a:extLst>
              <a:ext uri="{FF2B5EF4-FFF2-40B4-BE49-F238E27FC236}">
                <a16:creationId xmlns:a16="http://schemas.microsoft.com/office/drawing/2014/main" id="{3334B6C3-8BEA-4020-81CB-8E6589C86A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3" y="6652013"/>
            <a:ext cx="1181203" cy="366728"/>
          </a:xfrm>
          <a:prstGeom prst="rect">
            <a:avLst/>
          </a:prstGeom>
        </p:spPr>
      </p:pic>
      <p:pic>
        <p:nvPicPr>
          <p:cNvPr id="170" name="Imagem 169">
            <a:extLst>
              <a:ext uri="{FF2B5EF4-FFF2-40B4-BE49-F238E27FC236}">
                <a16:creationId xmlns:a16="http://schemas.microsoft.com/office/drawing/2014/main" id="{B5D7C2AD-FBFB-4E0F-AAB6-300D79D7F5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4" y="6652013"/>
            <a:ext cx="1181203" cy="366728"/>
          </a:xfrm>
          <a:prstGeom prst="rect">
            <a:avLst/>
          </a:prstGeom>
        </p:spPr>
      </p:pic>
      <p:sp>
        <p:nvSpPr>
          <p:cNvPr id="172" name="CaixaDeTexto 171">
            <a:extLst>
              <a:ext uri="{FF2B5EF4-FFF2-40B4-BE49-F238E27FC236}">
                <a16:creationId xmlns:a16="http://schemas.microsoft.com/office/drawing/2014/main" id="{61209D1E-4277-4D2C-BA91-53BB110929A4}"/>
              </a:ext>
            </a:extLst>
          </p:cNvPr>
          <p:cNvSpPr txBox="1"/>
          <p:nvPr/>
        </p:nvSpPr>
        <p:spPr>
          <a:xfrm>
            <a:off x="305817" y="5101886"/>
            <a:ext cx="4752528" cy="1600438"/>
          </a:xfrm>
          <a:prstGeom prst="rect">
            <a:avLst/>
          </a:prstGeom>
          <a:solidFill>
            <a:schemeClr val="bg1"/>
          </a:solidFill>
          <a:ln>
            <a:noFill/>
          </a:ln>
        </p:spPr>
        <p:txBody>
          <a:bodyPr wrap="square" rtlCol="0">
            <a:spAutoFit/>
          </a:bodyPr>
          <a:lstStyle/>
          <a:p>
            <a:pPr algn="ctr"/>
            <a:r>
              <a:rPr lang="pt-BR" sz="1600" dirty="0">
                <a:ln>
                  <a:solidFill>
                    <a:srgbClr val="002060"/>
                  </a:solidFill>
                </a:ln>
                <a:solidFill>
                  <a:srgbClr val="002060"/>
                </a:solidFill>
                <a:latin typeface="Monda" pitchFamily="2" charset="0"/>
              </a:rPr>
              <a:t>Só Aço Industrial Ltda</a:t>
            </a:r>
            <a:endParaRPr lang="pt-BR" sz="1000" dirty="0">
              <a:ln>
                <a:solidFill>
                  <a:srgbClr val="002060"/>
                </a:solidFill>
              </a:ln>
              <a:solidFill>
                <a:srgbClr val="002060"/>
              </a:solidFill>
              <a:latin typeface="Monda" pitchFamily="2" charset="0"/>
            </a:endParaRPr>
          </a:p>
          <a:p>
            <a:pPr algn="ctr"/>
            <a:r>
              <a:rPr lang="pt-BR" sz="1000" dirty="0">
                <a:ln>
                  <a:solidFill>
                    <a:srgbClr val="002060"/>
                  </a:solidFill>
                </a:ln>
                <a:solidFill>
                  <a:srgbClr val="002060"/>
                </a:solidFill>
                <a:latin typeface="Monda" pitchFamily="2" charset="0"/>
              </a:rPr>
              <a:t>CNPJ: 04.041.754/0001-40</a:t>
            </a:r>
          </a:p>
          <a:p>
            <a:pPr algn="ctr"/>
            <a:r>
              <a:rPr lang="pt-BR" sz="1000" dirty="0">
                <a:ln>
                  <a:solidFill>
                    <a:srgbClr val="002060"/>
                  </a:solidFill>
                </a:ln>
                <a:solidFill>
                  <a:srgbClr val="002060"/>
                </a:solidFill>
                <a:latin typeface="Monda" pitchFamily="2" charset="0"/>
              </a:rPr>
              <a:t>Av. Coletora Secundária III, Nº 9519 Complemento Quadra C/E Lote 000001 CEP: 64.038-250 Bairro Pedra Miúda  </a:t>
            </a:r>
          </a:p>
          <a:p>
            <a:pPr algn="ctr"/>
            <a:r>
              <a:rPr lang="pt-BR" sz="1000" dirty="0">
                <a:ln>
                  <a:solidFill>
                    <a:srgbClr val="002060"/>
                  </a:solidFill>
                </a:ln>
                <a:solidFill>
                  <a:srgbClr val="002060"/>
                </a:solidFill>
                <a:latin typeface="Monda" pitchFamily="2" charset="0"/>
              </a:rPr>
              <a:t>Telefones: (86) 3219 1200/1300</a:t>
            </a:r>
          </a:p>
          <a:p>
            <a:pPr algn="ctr"/>
            <a:r>
              <a:rPr lang="pt-BR" sz="1000" dirty="0">
                <a:ln>
                  <a:solidFill>
                    <a:srgbClr val="002060"/>
                  </a:solidFill>
                </a:ln>
                <a:solidFill>
                  <a:srgbClr val="002060"/>
                </a:solidFill>
                <a:latin typeface="Monda" pitchFamily="2" charset="0"/>
              </a:rPr>
              <a:t>Teresina – Piauí</a:t>
            </a:r>
          </a:p>
          <a:p>
            <a:pPr algn="ctr"/>
            <a:r>
              <a:rPr lang="pt-BR" sz="1000" dirty="0">
                <a:ln>
                  <a:solidFill>
                    <a:srgbClr val="002060"/>
                  </a:solidFill>
                </a:ln>
                <a:solidFill>
                  <a:srgbClr val="002060"/>
                </a:solidFill>
                <a:latin typeface="Monda" pitchFamily="2" charset="0"/>
              </a:rPr>
              <a:t>Site: </a:t>
            </a:r>
            <a:r>
              <a:rPr lang="pt-BR" sz="1000" dirty="0">
                <a:ln>
                  <a:solidFill>
                    <a:srgbClr val="002060"/>
                  </a:solidFill>
                </a:ln>
                <a:solidFill>
                  <a:srgbClr val="002060"/>
                </a:solidFill>
                <a:latin typeface="Monda" pitchFamily="2" charset="0"/>
                <a:hlinkClick r:id="rId4"/>
              </a:rPr>
              <a:t>www.soacoindustrial.com.br</a:t>
            </a:r>
            <a:endParaRPr lang="pt-BR" sz="1000" dirty="0">
              <a:ln>
                <a:solidFill>
                  <a:srgbClr val="002060"/>
                </a:solidFill>
              </a:ln>
              <a:solidFill>
                <a:srgbClr val="002060"/>
              </a:solidFill>
              <a:latin typeface="Monda" panose="02000503000000000000" pitchFamily="2" charset="0"/>
            </a:endParaRPr>
          </a:p>
          <a:p>
            <a:pPr algn="ctr"/>
            <a:r>
              <a:rPr lang="pt-BR" sz="1000" dirty="0">
                <a:ln>
                  <a:solidFill>
                    <a:srgbClr val="002060"/>
                  </a:solidFill>
                </a:ln>
                <a:solidFill>
                  <a:srgbClr val="002060"/>
                </a:solidFill>
                <a:latin typeface="Monda" panose="02000503000000000000" pitchFamily="2" charset="0"/>
              </a:rPr>
              <a:t>Ouvidoria/SAC: </a:t>
            </a:r>
            <a:r>
              <a:rPr lang="pt-BR" sz="1000" dirty="0">
                <a:ln>
                  <a:solidFill>
                    <a:srgbClr val="002060"/>
                  </a:solidFill>
                </a:ln>
                <a:solidFill>
                  <a:srgbClr val="002060"/>
                </a:solidFill>
                <a:latin typeface="Monda" pitchFamily="2" charset="0"/>
                <a:hlinkClick r:id="rId5"/>
              </a:rPr>
              <a:t>sac@soacoindustrial.com.br</a:t>
            </a:r>
            <a:endParaRPr lang="pt-BR" sz="1000" dirty="0">
              <a:ln>
                <a:solidFill>
                  <a:srgbClr val="002060"/>
                </a:solidFill>
              </a:ln>
              <a:solidFill>
                <a:srgbClr val="002060"/>
              </a:solidFill>
              <a:latin typeface="Monda" pitchFamily="2" charset="0"/>
            </a:endParaRPr>
          </a:p>
          <a:p>
            <a:pPr algn="ctr"/>
            <a:r>
              <a:rPr lang="pt-BR" sz="1000" dirty="0">
                <a:ln>
                  <a:solidFill>
                    <a:srgbClr val="002060"/>
                  </a:solidFill>
                </a:ln>
                <a:solidFill>
                  <a:srgbClr val="002060"/>
                </a:solidFill>
                <a:latin typeface="Monda" pitchFamily="2" charset="0"/>
              </a:rPr>
              <a:t>MP-SA-0009.Rev.1</a:t>
            </a:r>
          </a:p>
        </p:txBody>
      </p:sp>
      <p:cxnSp>
        <p:nvCxnSpPr>
          <p:cNvPr id="173" name="Conector reto 172">
            <a:extLst>
              <a:ext uri="{FF2B5EF4-FFF2-40B4-BE49-F238E27FC236}">
                <a16:creationId xmlns:a16="http://schemas.microsoft.com/office/drawing/2014/main" id="{AB15D20E-1F04-433E-AFC7-6E9E3157FA20}"/>
              </a:ext>
            </a:extLst>
          </p:cNvPr>
          <p:cNvCxnSpPr>
            <a:cxnSpLocks/>
          </p:cNvCxnSpPr>
          <p:nvPr/>
        </p:nvCxnSpPr>
        <p:spPr>
          <a:xfrm>
            <a:off x="72081" y="7106950"/>
            <a:ext cx="522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4" name="Conector reto 173">
            <a:extLst>
              <a:ext uri="{FF2B5EF4-FFF2-40B4-BE49-F238E27FC236}">
                <a16:creationId xmlns:a16="http://schemas.microsoft.com/office/drawing/2014/main" id="{6F51986B-3B81-4722-A71B-D5B844FA79EF}"/>
              </a:ext>
            </a:extLst>
          </p:cNvPr>
          <p:cNvCxnSpPr>
            <a:cxnSpLocks/>
          </p:cNvCxnSpPr>
          <p:nvPr/>
        </p:nvCxnSpPr>
        <p:spPr>
          <a:xfrm>
            <a:off x="72081" y="7436686"/>
            <a:ext cx="522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175" name="Imagem 174">
            <a:extLst>
              <a:ext uri="{FF2B5EF4-FFF2-40B4-BE49-F238E27FC236}">
                <a16:creationId xmlns:a16="http://schemas.microsoft.com/office/drawing/2014/main" id="{C03F4BF6-9255-40C8-B931-50C7160EC88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82281" y="7167528"/>
            <a:ext cx="789062" cy="236459"/>
          </a:xfrm>
          <a:prstGeom prst="rect">
            <a:avLst/>
          </a:prstGeom>
        </p:spPr>
      </p:pic>
      <p:pic>
        <p:nvPicPr>
          <p:cNvPr id="176" name="Imagem 175">
            <a:extLst>
              <a:ext uri="{FF2B5EF4-FFF2-40B4-BE49-F238E27FC236}">
                <a16:creationId xmlns:a16="http://schemas.microsoft.com/office/drawing/2014/main" id="{EA602ADA-E4F0-4405-B374-23AA477A2BD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00743" y="7167528"/>
            <a:ext cx="789062" cy="236459"/>
          </a:xfrm>
          <a:prstGeom prst="rect">
            <a:avLst/>
          </a:prstGeom>
        </p:spPr>
      </p:pic>
      <p:pic>
        <p:nvPicPr>
          <p:cNvPr id="177" name="Imagem 176">
            <a:extLst>
              <a:ext uri="{FF2B5EF4-FFF2-40B4-BE49-F238E27FC236}">
                <a16:creationId xmlns:a16="http://schemas.microsoft.com/office/drawing/2014/main" id="{5E2B8EBF-CA0B-40B9-AEAE-AFD4398E7CC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591" y="7167528"/>
            <a:ext cx="789062" cy="236459"/>
          </a:xfrm>
          <a:prstGeom prst="rect">
            <a:avLst/>
          </a:prstGeom>
        </p:spPr>
      </p:pic>
      <p:pic>
        <p:nvPicPr>
          <p:cNvPr id="178" name="Imagem 177">
            <a:extLst>
              <a:ext uri="{FF2B5EF4-FFF2-40B4-BE49-F238E27FC236}">
                <a16:creationId xmlns:a16="http://schemas.microsoft.com/office/drawing/2014/main" id="{D1E123A1-15E9-45C6-9A13-8D28A286F2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9205" y="7167528"/>
            <a:ext cx="789062" cy="236459"/>
          </a:xfrm>
          <a:prstGeom prst="rect">
            <a:avLst/>
          </a:prstGeom>
        </p:spPr>
      </p:pic>
      <p:pic>
        <p:nvPicPr>
          <p:cNvPr id="179" name="Imagem 178">
            <a:extLst>
              <a:ext uri="{FF2B5EF4-FFF2-40B4-BE49-F238E27FC236}">
                <a16:creationId xmlns:a16="http://schemas.microsoft.com/office/drawing/2014/main" id="{F6CA3506-7BAB-4AF3-B6A6-1452585FB27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37667" y="7167528"/>
            <a:ext cx="789062" cy="236459"/>
          </a:xfrm>
          <a:prstGeom prst="rect">
            <a:avLst/>
          </a:prstGeom>
        </p:spPr>
      </p:pic>
      <p:pic>
        <p:nvPicPr>
          <p:cNvPr id="180" name="Imagem 179">
            <a:extLst>
              <a:ext uri="{FF2B5EF4-FFF2-40B4-BE49-F238E27FC236}">
                <a16:creationId xmlns:a16="http://schemas.microsoft.com/office/drawing/2014/main" id="{EF81692D-D983-4B23-8D2C-5FC07748821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6129" y="7167528"/>
            <a:ext cx="789062" cy="236459"/>
          </a:xfrm>
          <a:prstGeom prst="rect">
            <a:avLst/>
          </a:prstGeom>
        </p:spPr>
      </p:pic>
      <p:sp>
        <p:nvSpPr>
          <p:cNvPr id="2" name="Espaço Reservado para Número de Slide 1">
            <a:extLst>
              <a:ext uri="{FF2B5EF4-FFF2-40B4-BE49-F238E27FC236}">
                <a16:creationId xmlns:a16="http://schemas.microsoft.com/office/drawing/2014/main" id="{CB1D1844-74ED-453E-B928-2E590631632E}"/>
              </a:ext>
            </a:extLst>
          </p:cNvPr>
          <p:cNvSpPr>
            <a:spLocks noGrp="1"/>
          </p:cNvSpPr>
          <p:nvPr>
            <p:ph type="sldNum" sz="quarter" idx="12"/>
          </p:nvPr>
        </p:nvSpPr>
        <p:spPr/>
        <p:txBody>
          <a:bodyPr/>
          <a:lstStyle/>
          <a:p>
            <a:fld id="{5583268C-60FE-4333-B092-1A38FFBDC3D2}" type="slidenum">
              <a:rPr lang="pt-BR" smtClean="0"/>
              <a:t>12</a:t>
            </a:fld>
            <a:endParaRPr lang="pt-BR"/>
          </a:p>
        </p:txBody>
      </p:sp>
    </p:spTree>
    <p:extLst>
      <p:ext uri="{BB962C8B-B14F-4D97-AF65-F5344CB8AC3E}">
        <p14:creationId xmlns:p14="http://schemas.microsoft.com/office/powerpoint/2010/main" val="219102905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1787</TotalTime>
  <Words>2280</Words>
  <Application>Microsoft Office PowerPoint</Application>
  <PresentationFormat>Personalizar</PresentationFormat>
  <Paragraphs>240</Paragraphs>
  <Slides>12</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vt:i4>
      </vt:variant>
    </vt:vector>
  </HeadingPairs>
  <TitlesOfParts>
    <vt:vector size="17" baseType="lpstr">
      <vt:lpstr>Arial</vt:lpstr>
      <vt:lpstr>Calibri</vt:lpstr>
      <vt:lpstr>Monda</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producaosoaco</dc:creator>
  <cp:lastModifiedBy>Eliel Lima</cp:lastModifiedBy>
  <cp:revision>106</cp:revision>
  <dcterms:created xsi:type="dcterms:W3CDTF">2018-12-03T13:41:48Z</dcterms:created>
  <dcterms:modified xsi:type="dcterms:W3CDTF">2021-12-16T13:53:45Z</dcterms:modified>
</cp:coreProperties>
</file>