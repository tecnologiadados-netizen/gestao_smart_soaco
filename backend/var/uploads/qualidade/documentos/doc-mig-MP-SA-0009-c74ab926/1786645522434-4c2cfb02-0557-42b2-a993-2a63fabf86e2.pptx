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3" r:id="rId2"/>
    <p:sldId id="282" r:id="rId3"/>
    <p:sldId id="256" r:id="rId4"/>
    <p:sldId id="257" r:id="rId5"/>
    <p:sldId id="258" r:id="rId6"/>
    <p:sldId id="259" r:id="rId7"/>
    <p:sldId id="260" r:id="rId8"/>
    <p:sldId id="264" r:id="rId9"/>
    <p:sldId id="261" r:id="rId10"/>
    <p:sldId id="284" r:id="rId11"/>
    <p:sldId id="283" r:id="rId12"/>
    <p:sldId id="281" r:id="rId13"/>
  </p:sldIdLst>
  <p:sldSz cx="5364163" cy="756126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2">
          <p15:clr>
            <a:srgbClr val="A4A3A4"/>
          </p15:clr>
        </p15:guide>
        <p15:guide id="2" pos="169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p:cViewPr varScale="1">
        <p:scale>
          <a:sx n="101" d="100"/>
          <a:sy n="101" d="100"/>
        </p:scale>
        <p:origin x="3072" y="102"/>
      </p:cViewPr>
      <p:guideLst>
        <p:guide orient="horz" pos="2382"/>
        <p:guide pos="169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06E57C-08D1-4570-AE96-6A5B42D6AF6F}" type="datetimeFigureOut">
              <a:rPr lang="pt-BR" smtClean="0"/>
              <a:t>04/05/2022</a:t>
            </a:fld>
            <a:endParaRPr lang="pt-BR"/>
          </a:p>
        </p:txBody>
      </p:sp>
      <p:sp>
        <p:nvSpPr>
          <p:cNvPr id="4" name="Espaço Reservado para Imagem de Slide 3"/>
          <p:cNvSpPr>
            <a:spLocks noGrp="1" noRot="1" noChangeAspect="1"/>
          </p:cNvSpPr>
          <p:nvPr>
            <p:ph type="sldImg" idx="2"/>
          </p:nvPr>
        </p:nvSpPr>
        <p:spPr>
          <a:xfrm>
            <a:off x="2333625" y="1143000"/>
            <a:ext cx="219075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140256-97A5-4D1E-A1B2-2DA962A9F564}" type="slidenum">
              <a:rPr lang="pt-BR" smtClean="0"/>
              <a:t>‹nº›</a:t>
            </a:fld>
            <a:endParaRPr lang="pt-BR"/>
          </a:p>
        </p:txBody>
      </p:sp>
    </p:spTree>
    <p:extLst>
      <p:ext uri="{BB962C8B-B14F-4D97-AF65-F5344CB8AC3E}">
        <p14:creationId xmlns:p14="http://schemas.microsoft.com/office/powerpoint/2010/main" val="2372487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11375" y="750888"/>
            <a:ext cx="26654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pPr marL="0" marR="0" lvl="0" indent="0" algn="r" defTabSz="1043056" rtl="0" eaLnBrk="1" fontAlgn="auto" latinLnBrk="0" hangingPunct="1">
              <a:lnSpc>
                <a:spcPct val="100000"/>
              </a:lnSpc>
              <a:spcBef>
                <a:spcPts val="0"/>
              </a:spcBef>
              <a:spcAft>
                <a:spcPts val="0"/>
              </a:spcAft>
              <a:buClrTx/>
              <a:buSzTx/>
              <a:buFontTx/>
              <a:buNone/>
              <a:tabLst/>
              <a:defRPr/>
            </a:pPr>
            <a:fld id="{DAD5CC9F-21B8-43E0-9ED1-B2EDFE01E557}" type="slidenum">
              <a:rPr kumimoji="0" lang="pt-B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3056" rtl="0" eaLnBrk="1" fontAlgn="auto" latinLnBrk="0" hangingPunct="1">
                <a:lnSpc>
                  <a:spcPct val="100000"/>
                </a:lnSpc>
                <a:spcBef>
                  <a:spcPts val="0"/>
                </a:spcBef>
                <a:spcAft>
                  <a:spcPts val="0"/>
                </a:spcAft>
                <a:buClrTx/>
                <a:buSzTx/>
                <a:buFontTx/>
                <a:buNone/>
                <a:tabLst/>
                <a:defRPr/>
              </a:pPr>
              <a:t>12</a:t>
            </a:fld>
            <a:endParaRPr kumimoji="0" lang="pt-B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71675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402312" y="2348893"/>
            <a:ext cx="4559539" cy="1620771"/>
          </a:xfrm>
        </p:spPr>
        <p:txBody>
          <a:bodyPr/>
          <a:lstStyle/>
          <a:p>
            <a:r>
              <a:rPr lang="pt-BR"/>
              <a:t>Clique para editar o título mestre</a:t>
            </a:r>
          </a:p>
        </p:txBody>
      </p:sp>
      <p:sp>
        <p:nvSpPr>
          <p:cNvPr id="3" name="Subtítulo 2"/>
          <p:cNvSpPr>
            <a:spLocks noGrp="1"/>
          </p:cNvSpPr>
          <p:nvPr>
            <p:ph type="subTitle" idx="1"/>
          </p:nvPr>
        </p:nvSpPr>
        <p:spPr>
          <a:xfrm>
            <a:off x="804625" y="4284716"/>
            <a:ext cx="3754914" cy="193232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E7E0A0EA-4E62-4CAB-95EC-3C994C61BD6A}" type="datetime1">
              <a:rPr lang="pt-BR" smtClean="0"/>
              <a:t>04/05/2022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250190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5F71AA61-A871-4C64-BD42-656A807765DF}" type="datetime1">
              <a:rPr lang="pt-BR" smtClean="0"/>
              <a:t>04/05/2022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4194087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423732" y="4858812"/>
            <a:ext cx="4559539" cy="1501751"/>
          </a:xfrm>
        </p:spPr>
        <p:txBody>
          <a:bodyPr anchor="t"/>
          <a:lstStyle>
            <a:lvl1pPr algn="l">
              <a:defRPr sz="4000" b="1" cap="all"/>
            </a:lvl1pPr>
          </a:lstStyle>
          <a:p>
            <a:r>
              <a:rPr lang="pt-BR"/>
              <a:t>Clique para editar o título mestre</a:t>
            </a:r>
          </a:p>
        </p:txBody>
      </p:sp>
      <p:sp>
        <p:nvSpPr>
          <p:cNvPr id="3" name="Espaço Reservado para Texto 2"/>
          <p:cNvSpPr>
            <a:spLocks noGrp="1"/>
          </p:cNvSpPr>
          <p:nvPr>
            <p:ph type="body" idx="1"/>
          </p:nvPr>
        </p:nvSpPr>
        <p:spPr>
          <a:xfrm>
            <a:off x="423732" y="3204786"/>
            <a:ext cx="4559539" cy="165402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B7E9AE3F-3213-4B67-AA71-49664A567617}" type="datetime1">
              <a:rPr lang="pt-BR" smtClean="0"/>
              <a:t>04/05/2022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747319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268208" y="1764295"/>
            <a:ext cx="2369172" cy="49900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2726783" y="1764295"/>
            <a:ext cx="2369172" cy="49900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B4671AC4-F8A4-4F50-A0D2-511966B1F395}" type="datetime1">
              <a:rPr lang="pt-BR" smtClean="0"/>
              <a:t>04/05/2022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77033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268208" y="1692533"/>
            <a:ext cx="2370104" cy="70536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268208" y="2397901"/>
            <a:ext cx="2370104" cy="435647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2724920" y="1692533"/>
            <a:ext cx="2371035" cy="70536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2724920" y="2397901"/>
            <a:ext cx="2371035" cy="435647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6869EE89-0B11-409C-99D9-BEB8FA18E7DE}" type="datetime1">
              <a:rPr lang="pt-BR" smtClean="0"/>
              <a:t>04/05/2022</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40547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62291E3B-8BC2-484B-B0C7-23BC0FC8759B}" type="datetime1">
              <a:rPr lang="pt-BR" smtClean="0"/>
              <a:t>04/05/2022</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534050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0E10B7F4-DBF1-4097-B8CB-90D188522339}" type="datetime1">
              <a:rPr lang="pt-BR" smtClean="0"/>
              <a:t>04/05/2022</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207221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268208" y="301050"/>
            <a:ext cx="1764773" cy="1281214"/>
          </a:xfrm>
        </p:spPr>
        <p:txBody>
          <a:bodyPr anchor="b"/>
          <a:lstStyle>
            <a:lvl1pPr algn="l">
              <a:defRPr sz="2000" b="1"/>
            </a:lvl1pPr>
          </a:lstStyle>
          <a:p>
            <a:r>
              <a:rPr lang="pt-BR"/>
              <a:t>Clique para editar o título mestre</a:t>
            </a:r>
          </a:p>
        </p:txBody>
      </p:sp>
      <p:sp>
        <p:nvSpPr>
          <p:cNvPr id="3" name="Espaço Reservado para Conteúdo 2"/>
          <p:cNvSpPr>
            <a:spLocks noGrp="1"/>
          </p:cNvSpPr>
          <p:nvPr>
            <p:ph idx="1"/>
          </p:nvPr>
        </p:nvSpPr>
        <p:spPr>
          <a:xfrm>
            <a:off x="2097239" y="301051"/>
            <a:ext cx="2998716" cy="645332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268208" y="1582265"/>
            <a:ext cx="1764773" cy="517211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F0DAF26F-800D-4818-AAE8-F108D74814A5}" type="datetime1">
              <a:rPr lang="pt-BR" smtClean="0"/>
              <a:t>04/05/2022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76338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051413" y="5292884"/>
            <a:ext cx="3218498" cy="624855"/>
          </a:xfrm>
        </p:spPr>
        <p:txBody>
          <a:bodyPr anchor="b"/>
          <a:lstStyle>
            <a:lvl1pPr algn="l">
              <a:defRPr sz="2000" b="1"/>
            </a:lvl1pPr>
          </a:lstStyle>
          <a:p>
            <a:r>
              <a:rPr lang="pt-BR"/>
              <a:t>Clique para editar o título mestre</a:t>
            </a:r>
          </a:p>
        </p:txBody>
      </p:sp>
      <p:sp>
        <p:nvSpPr>
          <p:cNvPr id="3" name="Espaço Reservado para Imagem 2"/>
          <p:cNvSpPr>
            <a:spLocks noGrp="1"/>
          </p:cNvSpPr>
          <p:nvPr>
            <p:ph type="pic" idx="1"/>
          </p:nvPr>
        </p:nvSpPr>
        <p:spPr>
          <a:xfrm>
            <a:off x="1051413" y="675613"/>
            <a:ext cx="3218498" cy="453675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051413" y="5917739"/>
            <a:ext cx="3218498" cy="88739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5FB37F2B-5EBC-4080-B03E-F239C942DD4A}" type="datetime1">
              <a:rPr lang="pt-BR" smtClean="0"/>
              <a:t>04/05/2022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62866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B086009A-5956-4BFF-BDC1-9811A6F69B56}" type="datetime1">
              <a:rPr lang="pt-BR" smtClean="0"/>
              <a:t>04/05/2022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37972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3889018" y="302802"/>
            <a:ext cx="1206937" cy="645157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268208" y="302802"/>
            <a:ext cx="3531407" cy="645157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8D794F49-FD96-4E34-B6A3-9A93ACAB91C5}" type="datetime1">
              <a:rPr lang="pt-BR" smtClean="0"/>
              <a:t>04/05/2022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894740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268208" y="302801"/>
            <a:ext cx="4827747" cy="1260211"/>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268208" y="1764295"/>
            <a:ext cx="4827747" cy="4990084"/>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268208" y="7008171"/>
            <a:ext cx="1251638" cy="402567"/>
          </a:xfrm>
          <a:prstGeom prst="rect">
            <a:avLst/>
          </a:prstGeom>
        </p:spPr>
        <p:txBody>
          <a:bodyPr vert="horz" lIns="91440" tIns="45720" rIns="91440" bIns="45720" rtlCol="0" anchor="ctr"/>
          <a:lstStyle>
            <a:lvl1pPr algn="l">
              <a:defRPr sz="1200">
                <a:solidFill>
                  <a:schemeClr val="tx1">
                    <a:tint val="75000"/>
                  </a:schemeClr>
                </a:solidFill>
              </a:defRPr>
            </a:lvl1pPr>
          </a:lstStyle>
          <a:p>
            <a:fld id="{4A404D44-9808-474E-BBC1-2116F0AAAFF4}" type="datetime1">
              <a:rPr lang="pt-BR" smtClean="0"/>
              <a:t>04/05/2022</a:t>
            </a:fld>
            <a:endParaRPr lang="pt-BR"/>
          </a:p>
        </p:txBody>
      </p:sp>
      <p:sp>
        <p:nvSpPr>
          <p:cNvPr id="5" name="Espaço Reservado para Rodapé 4"/>
          <p:cNvSpPr>
            <a:spLocks noGrp="1"/>
          </p:cNvSpPr>
          <p:nvPr>
            <p:ph type="ftr" sz="quarter" idx="3"/>
          </p:nvPr>
        </p:nvSpPr>
        <p:spPr>
          <a:xfrm>
            <a:off x="1832756" y="7008171"/>
            <a:ext cx="1698652" cy="40256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3844317" y="7008171"/>
            <a:ext cx="1251638" cy="402567"/>
          </a:xfrm>
          <a:prstGeom prst="rect">
            <a:avLst/>
          </a:prstGeom>
        </p:spPr>
        <p:txBody>
          <a:bodyPr vert="horz" lIns="91440" tIns="45720" rIns="91440" bIns="45720" rtlCol="0" anchor="ctr"/>
          <a:lstStyle>
            <a:lvl1pPr algn="r">
              <a:defRPr sz="1200">
                <a:solidFill>
                  <a:schemeClr val="tx1">
                    <a:tint val="75000"/>
                  </a:schemeClr>
                </a:solidFill>
              </a:defRPr>
            </a:lvl1pPr>
          </a:lstStyle>
          <a:p>
            <a:fld id="{5583268C-60FE-4333-B092-1A38FFBDC3D2}" type="slidenum">
              <a:rPr lang="pt-BR" smtClean="0"/>
              <a:t>‹nº›</a:t>
            </a:fld>
            <a:endParaRPr lang="pt-BR"/>
          </a:p>
        </p:txBody>
      </p:sp>
    </p:spTree>
    <p:extLst>
      <p:ext uri="{BB962C8B-B14F-4D97-AF65-F5344CB8AC3E}">
        <p14:creationId xmlns:p14="http://schemas.microsoft.com/office/powerpoint/2010/main" val="2449934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hyperlink" Target="mailto:sac@soacoindustrial.com.br" TargetMode="External"/><Relationship Id="rId4" Type="http://schemas.openxmlformats.org/officeDocument/2006/relationships/hyperlink" Target="http://www.soacoindustrial.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aixaDeTexto 21">
            <a:extLst>
              <a:ext uri="{FF2B5EF4-FFF2-40B4-BE49-F238E27FC236}">
                <a16:creationId xmlns:a16="http://schemas.microsoft.com/office/drawing/2014/main" id="{8ABC8E75-CF25-4C71-A645-636D81179D6B}"/>
              </a:ext>
            </a:extLst>
          </p:cNvPr>
          <p:cNvSpPr txBox="1"/>
          <p:nvPr/>
        </p:nvSpPr>
        <p:spPr>
          <a:xfrm>
            <a:off x="305817" y="163878"/>
            <a:ext cx="4752528" cy="30777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marL="0" marR="0" lvl="0" indent="0" algn="ctr" defTabSz="1043056"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dirty="0">
                <a:ln>
                  <a:noFill/>
                </a:ln>
                <a:solidFill>
                  <a:prstClr val="black"/>
                </a:solidFill>
                <a:effectLst/>
                <a:uLnTx/>
                <a:uFillTx/>
                <a:latin typeface="Monda" pitchFamily="2" charset="0"/>
              </a:rPr>
              <a:t>BEBEDOURO INDUSTRIAL</a:t>
            </a:r>
          </a:p>
        </p:txBody>
      </p:sp>
      <p:cxnSp>
        <p:nvCxnSpPr>
          <p:cNvPr id="24" name="Conector reto 23">
            <a:extLst>
              <a:ext uri="{FF2B5EF4-FFF2-40B4-BE49-F238E27FC236}">
                <a16:creationId xmlns:a16="http://schemas.microsoft.com/office/drawing/2014/main" id="{BBE67A95-AE29-4944-AA64-BDB665B83E47}"/>
              </a:ext>
            </a:extLst>
          </p:cNvPr>
          <p:cNvCxnSpPr>
            <a:cxnSpLocks/>
          </p:cNvCxnSpPr>
          <p:nvPr/>
        </p:nvCxnSpPr>
        <p:spPr>
          <a:xfrm>
            <a:off x="72081" y="133091"/>
            <a:ext cx="5220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5" name="Conector reto 24">
            <a:extLst>
              <a:ext uri="{FF2B5EF4-FFF2-40B4-BE49-F238E27FC236}">
                <a16:creationId xmlns:a16="http://schemas.microsoft.com/office/drawing/2014/main" id="{A8BA4762-4289-4BD1-A4C9-7AA34A5E7F82}"/>
              </a:ext>
            </a:extLst>
          </p:cNvPr>
          <p:cNvCxnSpPr>
            <a:cxnSpLocks/>
          </p:cNvCxnSpPr>
          <p:nvPr/>
        </p:nvCxnSpPr>
        <p:spPr>
          <a:xfrm>
            <a:off x="72081" y="463397"/>
            <a:ext cx="5220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35" name="CaixaDeTexto 34">
            <a:extLst>
              <a:ext uri="{FF2B5EF4-FFF2-40B4-BE49-F238E27FC236}">
                <a16:creationId xmlns:a16="http://schemas.microsoft.com/office/drawing/2014/main" id="{3DA44E89-8ADC-405B-BC43-7805133F2208}"/>
              </a:ext>
            </a:extLst>
          </p:cNvPr>
          <p:cNvSpPr txBox="1"/>
          <p:nvPr/>
        </p:nvSpPr>
        <p:spPr>
          <a:xfrm>
            <a:off x="2713295" y="6060983"/>
            <a:ext cx="2635893" cy="1015663"/>
          </a:xfrm>
          <a:prstGeom prst="rect">
            <a:avLst/>
          </a:prstGeom>
          <a:noFill/>
        </p:spPr>
        <p:txBody>
          <a:bodyPr wrap="square" rtlCol="0">
            <a:spAutoFit/>
          </a:bodyPr>
          <a:lstStyle/>
          <a:p>
            <a:pPr marL="0" marR="0" lvl="0" indent="0" algn="just" defTabSz="1043056" rtl="0" eaLnBrk="1" fontAlgn="auto" latinLnBrk="0" hangingPunct="1">
              <a:lnSpc>
                <a:spcPct val="100000"/>
              </a:lnSpc>
              <a:spcBef>
                <a:spcPts val="0"/>
              </a:spcBef>
              <a:spcAft>
                <a:spcPts val="0"/>
              </a:spcAft>
              <a:buClrTx/>
              <a:buSzTx/>
              <a:buFontTx/>
              <a:buNone/>
              <a:tabLst/>
              <a:defRPr/>
            </a:pPr>
            <a:r>
              <a:rPr kumimoji="0" lang="pt-BR" sz="1200" b="0" u="none" strike="noStrike" kern="1200" cap="none" spc="0" normalizeH="0" baseline="0" noProof="0" dirty="0">
                <a:ln>
                  <a:noFill/>
                </a:ln>
                <a:solidFill>
                  <a:prstClr val="black"/>
                </a:solidFill>
                <a:effectLst/>
                <a:uLnTx/>
                <a:uFillTx/>
                <a:latin typeface="Monda" pitchFamily="2" charset="0"/>
                <a:cs typeface="Arial" panose="020B0604020202020204" pitchFamily="34" charset="0"/>
              </a:rPr>
              <a:t>Parabéns pela sua nova aquisição! Para obter o máximo desempenho e garantir o perfeito funcionamento do seu produto, leia atentamente este manual. </a:t>
            </a:r>
          </a:p>
        </p:txBody>
      </p:sp>
      <p:sp>
        <p:nvSpPr>
          <p:cNvPr id="38" name="CaixaDeTexto 37">
            <a:extLst>
              <a:ext uri="{FF2B5EF4-FFF2-40B4-BE49-F238E27FC236}">
                <a16:creationId xmlns:a16="http://schemas.microsoft.com/office/drawing/2014/main" id="{C2BA3E30-13DD-4F4E-A031-13E6899E223B}"/>
              </a:ext>
            </a:extLst>
          </p:cNvPr>
          <p:cNvSpPr txBox="1"/>
          <p:nvPr/>
        </p:nvSpPr>
        <p:spPr>
          <a:xfrm>
            <a:off x="2974818" y="4788580"/>
            <a:ext cx="2374371" cy="1061829"/>
          </a:xfrm>
          <a:prstGeom prst="rect">
            <a:avLst/>
          </a:prstGeom>
          <a:noFill/>
        </p:spPr>
        <p:txBody>
          <a:bodyPr wrap="square" rtlCol="0">
            <a:spAutoFit/>
          </a:bodyPr>
          <a:lstStyle/>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Monda" pitchFamily="2" charset="0"/>
                <a:cs typeface="Arial" panose="020B0604020202020204" pitchFamily="34" charset="0"/>
              </a:rPr>
              <a:t>Instruções</a:t>
            </a:r>
          </a:p>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Monda" pitchFamily="2" charset="0"/>
                <a:cs typeface="Arial" panose="020B0604020202020204" pitchFamily="34" charset="0"/>
              </a:rPr>
              <a:t>Especificações</a:t>
            </a:r>
          </a:p>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Monda" pitchFamily="2" charset="0"/>
                <a:cs typeface="Arial" panose="020B0604020202020204" pitchFamily="34" charset="0"/>
              </a:rPr>
              <a:t>Garantia</a:t>
            </a:r>
          </a:p>
        </p:txBody>
      </p:sp>
      <p:cxnSp>
        <p:nvCxnSpPr>
          <p:cNvPr id="39" name="Conector reto 38">
            <a:extLst>
              <a:ext uri="{FF2B5EF4-FFF2-40B4-BE49-F238E27FC236}">
                <a16:creationId xmlns:a16="http://schemas.microsoft.com/office/drawing/2014/main" id="{4AEE42CB-E904-4AC5-AA3E-D7782FA2737D}"/>
              </a:ext>
            </a:extLst>
          </p:cNvPr>
          <p:cNvCxnSpPr>
            <a:cxnSpLocks/>
          </p:cNvCxnSpPr>
          <p:nvPr/>
        </p:nvCxnSpPr>
        <p:spPr>
          <a:xfrm>
            <a:off x="72081" y="7106950"/>
            <a:ext cx="5220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0" name="Conector reto 39">
            <a:extLst>
              <a:ext uri="{FF2B5EF4-FFF2-40B4-BE49-F238E27FC236}">
                <a16:creationId xmlns:a16="http://schemas.microsoft.com/office/drawing/2014/main" id="{D1A94368-DA36-4C81-BE02-0EE994E17007}"/>
              </a:ext>
            </a:extLst>
          </p:cNvPr>
          <p:cNvCxnSpPr>
            <a:cxnSpLocks/>
          </p:cNvCxnSpPr>
          <p:nvPr/>
        </p:nvCxnSpPr>
        <p:spPr>
          <a:xfrm>
            <a:off x="72081" y="7436686"/>
            <a:ext cx="5220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54" name="Imagem 53">
            <a:extLst>
              <a:ext uri="{FF2B5EF4-FFF2-40B4-BE49-F238E27FC236}">
                <a16:creationId xmlns:a16="http://schemas.microsoft.com/office/drawing/2014/main" id="{C310DF7F-5AAA-4841-9730-442723F761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82281" y="7167528"/>
            <a:ext cx="789062" cy="236459"/>
          </a:xfrm>
          <a:prstGeom prst="rect">
            <a:avLst/>
          </a:prstGeom>
        </p:spPr>
      </p:pic>
      <p:pic>
        <p:nvPicPr>
          <p:cNvPr id="55" name="Imagem 54">
            <a:extLst>
              <a:ext uri="{FF2B5EF4-FFF2-40B4-BE49-F238E27FC236}">
                <a16:creationId xmlns:a16="http://schemas.microsoft.com/office/drawing/2014/main" id="{DE432F4C-EDB6-489D-A07F-A5780873522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00743" y="7167528"/>
            <a:ext cx="789062" cy="236459"/>
          </a:xfrm>
          <a:prstGeom prst="rect">
            <a:avLst/>
          </a:prstGeom>
        </p:spPr>
      </p:pic>
      <p:pic>
        <p:nvPicPr>
          <p:cNvPr id="56" name="Imagem 55">
            <a:extLst>
              <a:ext uri="{FF2B5EF4-FFF2-40B4-BE49-F238E27FC236}">
                <a16:creationId xmlns:a16="http://schemas.microsoft.com/office/drawing/2014/main" id="{D65D22BD-B446-485D-9BF6-4B906EBAFB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591" y="7167528"/>
            <a:ext cx="789062" cy="236459"/>
          </a:xfrm>
          <a:prstGeom prst="rect">
            <a:avLst/>
          </a:prstGeom>
        </p:spPr>
      </p:pic>
      <p:pic>
        <p:nvPicPr>
          <p:cNvPr id="57" name="Imagem 56">
            <a:extLst>
              <a:ext uri="{FF2B5EF4-FFF2-40B4-BE49-F238E27FC236}">
                <a16:creationId xmlns:a16="http://schemas.microsoft.com/office/drawing/2014/main" id="{8EC9181D-9B38-4323-9B84-403F482B53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19205" y="7167528"/>
            <a:ext cx="789062" cy="236459"/>
          </a:xfrm>
          <a:prstGeom prst="rect">
            <a:avLst/>
          </a:prstGeom>
        </p:spPr>
      </p:pic>
      <p:pic>
        <p:nvPicPr>
          <p:cNvPr id="58" name="Imagem 57">
            <a:extLst>
              <a:ext uri="{FF2B5EF4-FFF2-40B4-BE49-F238E27FC236}">
                <a16:creationId xmlns:a16="http://schemas.microsoft.com/office/drawing/2014/main" id="{BBD56B89-F2FD-4E89-A7B7-CD312F17A9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37667" y="7167528"/>
            <a:ext cx="789062" cy="236459"/>
          </a:xfrm>
          <a:prstGeom prst="rect">
            <a:avLst/>
          </a:prstGeom>
        </p:spPr>
      </p:pic>
      <p:pic>
        <p:nvPicPr>
          <p:cNvPr id="59" name="Imagem 58">
            <a:extLst>
              <a:ext uri="{FF2B5EF4-FFF2-40B4-BE49-F238E27FC236}">
                <a16:creationId xmlns:a16="http://schemas.microsoft.com/office/drawing/2014/main" id="{419FF40A-8159-4477-8071-05182C0357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6129" y="7167528"/>
            <a:ext cx="789062" cy="236459"/>
          </a:xfrm>
          <a:prstGeom prst="rect">
            <a:avLst/>
          </a:prstGeom>
        </p:spPr>
      </p:pic>
      <p:sp>
        <p:nvSpPr>
          <p:cNvPr id="61" name="CaixaDeTexto 60">
            <a:extLst>
              <a:ext uri="{FF2B5EF4-FFF2-40B4-BE49-F238E27FC236}">
                <a16:creationId xmlns:a16="http://schemas.microsoft.com/office/drawing/2014/main" id="{4A831029-E456-4D28-A9AB-1A7FF62BB406}"/>
              </a:ext>
            </a:extLst>
          </p:cNvPr>
          <p:cNvSpPr txBox="1"/>
          <p:nvPr/>
        </p:nvSpPr>
        <p:spPr>
          <a:xfrm>
            <a:off x="1075066" y="1333560"/>
            <a:ext cx="3214031" cy="1323439"/>
          </a:xfrm>
          <a:prstGeom prst="rect">
            <a:avLst/>
          </a:prstGeom>
          <a:noFill/>
        </p:spPr>
        <p:txBody>
          <a:bodyPr wrap="square" rtlCol="0">
            <a:spAutoFit/>
          </a:bodyPr>
          <a:lstStyle/>
          <a:p>
            <a:pPr algn="ctr"/>
            <a:r>
              <a:rPr lang="pt-BR" sz="400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Manual </a:t>
            </a:r>
          </a:p>
          <a:p>
            <a:pPr algn="ctr"/>
            <a:r>
              <a:rPr lang="pt-BR" sz="400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do usuário</a:t>
            </a:r>
          </a:p>
        </p:txBody>
      </p:sp>
      <p:pic>
        <p:nvPicPr>
          <p:cNvPr id="3" name="Imagem 2">
            <a:extLst>
              <a:ext uri="{FF2B5EF4-FFF2-40B4-BE49-F238E27FC236}">
                <a16:creationId xmlns:a16="http://schemas.microsoft.com/office/drawing/2014/main" id="{92FC89CF-61A5-4A20-A6D8-740F4C6B57F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494" t="8272" r="2789" b="4163"/>
          <a:stretch/>
        </p:blipFill>
        <p:spPr>
          <a:xfrm>
            <a:off x="655659" y="2737292"/>
            <a:ext cx="2374371" cy="2989892"/>
          </a:xfrm>
          <a:prstGeom prst="rect">
            <a:avLst/>
          </a:prstGeom>
        </p:spPr>
      </p:pic>
    </p:spTree>
    <p:extLst>
      <p:ext uri="{BB962C8B-B14F-4D97-AF65-F5344CB8AC3E}">
        <p14:creationId xmlns:p14="http://schemas.microsoft.com/office/powerpoint/2010/main" val="41770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1604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830B509D-C0C4-4160-83FA-DA2F0DBDECAD}"/>
              </a:ext>
            </a:extLst>
          </p:cNvPr>
          <p:cNvSpPr txBox="1"/>
          <p:nvPr/>
        </p:nvSpPr>
        <p:spPr>
          <a:xfrm>
            <a:off x="161801" y="544949"/>
            <a:ext cx="5040560" cy="1600438"/>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Caro Cliente,</a:t>
            </a:r>
          </a:p>
          <a:p>
            <a:pPr algn="just"/>
            <a:r>
              <a:rPr lang="pt-BR" sz="1000" dirty="0">
                <a:latin typeface="Arial" panose="020B0604020202020204" pitchFamily="34" charset="0"/>
                <a:cs typeface="Arial" panose="020B0604020202020204" pitchFamily="34" charset="0"/>
              </a:rPr>
              <a:t>Parabéns por sua escolha</a:t>
            </a:r>
          </a:p>
          <a:p>
            <a:pPr algn="just"/>
            <a:endParaRPr lang="pt-BR" sz="1000" dirty="0">
              <a:latin typeface="Arial" panose="020B0604020202020204" pitchFamily="34" charset="0"/>
              <a:cs typeface="Arial" panose="020B0604020202020204" pitchFamily="34" charset="0"/>
            </a:endParaRPr>
          </a:p>
          <a:p>
            <a:pPr algn="just"/>
            <a:r>
              <a:rPr lang="pt-BR" sz="1000" dirty="0">
                <a:latin typeface="Arial" panose="020B0604020202020204" pitchFamily="34" charset="0"/>
                <a:cs typeface="Arial" panose="020B0604020202020204" pitchFamily="34" charset="0"/>
              </a:rPr>
              <a:t>O produto que você comprou leva a marca de um dos maiores fabricantes de equipamentos para lanchonetes, bares, restaurante, industrias, etc., e é a melhor garantia que você tem de estar adquirindo um produto moderno e que vai satisfazer plenamente as suas necessidades. Os produtos SÒ AÇO são fabricados utilizando se dos melhores materiais existentes no mercado e conta com a tecnologia mais avançada no ramo de refrigeração comercial do pais. </a:t>
            </a:r>
            <a:endParaRPr lang="pt-BR" sz="1000" dirty="0"/>
          </a:p>
          <a:p>
            <a:pPr algn="just"/>
            <a:r>
              <a:rPr lang="pt-BR" sz="800" dirty="0"/>
              <a:t> </a:t>
            </a:r>
          </a:p>
        </p:txBody>
      </p:sp>
      <p:sp>
        <p:nvSpPr>
          <p:cNvPr id="8" name="CaixaDeTexto 7">
            <a:extLst>
              <a:ext uri="{FF2B5EF4-FFF2-40B4-BE49-F238E27FC236}">
                <a16:creationId xmlns:a16="http://schemas.microsoft.com/office/drawing/2014/main" id="{68D55697-2B46-4B29-B96B-8BE932CFF598}"/>
              </a:ext>
            </a:extLst>
          </p:cNvPr>
          <p:cNvSpPr txBox="1"/>
          <p:nvPr/>
        </p:nvSpPr>
        <p:spPr>
          <a:xfrm>
            <a:off x="161801" y="2313857"/>
            <a:ext cx="5040560" cy="715581"/>
          </a:xfrm>
          <a:prstGeom prst="rect">
            <a:avLst/>
          </a:prstGeom>
          <a:noFill/>
        </p:spPr>
        <p:txBody>
          <a:bodyPr wrap="square" rtlCol="0">
            <a:spAutoFit/>
          </a:bodyPr>
          <a:lstStyle/>
          <a:p>
            <a:pPr algn="just"/>
            <a:r>
              <a:rPr lang="pt-BR" sz="1050" b="1" dirty="0"/>
              <a:t>NOTA: </a:t>
            </a:r>
            <a:r>
              <a:rPr lang="pt-BR" sz="1000" i="1" dirty="0"/>
              <a:t>Guarde a </a:t>
            </a:r>
            <a:r>
              <a:rPr lang="pt-BR" sz="1000" i="1" u="sng" dirty="0"/>
              <a:t>nota fiscal </a:t>
            </a:r>
            <a:r>
              <a:rPr lang="pt-BR" sz="1000" i="1" dirty="0"/>
              <a:t>de compra; ela será necessária caso precise utilizar os serviços da Assistência Técnica Só Aço no período de garantia. Também não remova a etiqueta de identificação do produto. Nela constam informações imprescindíveis em caso de necessidade de reparos. </a:t>
            </a:r>
          </a:p>
        </p:txBody>
      </p:sp>
      <p:sp>
        <p:nvSpPr>
          <p:cNvPr id="9" name="Retângulo 8">
            <a:extLst>
              <a:ext uri="{FF2B5EF4-FFF2-40B4-BE49-F238E27FC236}">
                <a16:creationId xmlns:a16="http://schemas.microsoft.com/office/drawing/2014/main" id="{CD107282-333D-4746-982F-87E1388086CA}"/>
              </a:ext>
            </a:extLst>
          </p:cNvPr>
          <p:cNvSpPr/>
          <p:nvPr/>
        </p:nvSpPr>
        <p:spPr>
          <a:xfrm>
            <a:off x="144089" y="3564607"/>
            <a:ext cx="513028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Índice</a:t>
            </a:r>
          </a:p>
        </p:txBody>
      </p:sp>
      <p:graphicFrame>
        <p:nvGraphicFramePr>
          <p:cNvPr id="10" name="Tabela 9"/>
          <p:cNvGraphicFramePr>
            <a:graphicFrameLocks noGrp="1"/>
          </p:cNvGraphicFramePr>
          <p:nvPr>
            <p:extLst>
              <p:ext uri="{D42A27DB-BD31-4B8C-83A1-F6EECF244321}">
                <p14:modId xmlns:p14="http://schemas.microsoft.com/office/powerpoint/2010/main" val="3934774307"/>
              </p:ext>
            </p:extLst>
          </p:nvPr>
        </p:nvGraphicFramePr>
        <p:xfrm>
          <a:off x="89793" y="3852639"/>
          <a:ext cx="5130280" cy="1478280"/>
        </p:xfrm>
        <a:graphic>
          <a:graphicData uri="http://schemas.openxmlformats.org/drawingml/2006/table">
            <a:tbl>
              <a:tblPr firstRow="1" bandRow="1">
                <a:tableStyleId>{5940675A-B579-460E-94D1-54222C63F5DA}</a:tableStyleId>
              </a:tblPr>
              <a:tblGrid>
                <a:gridCol w="4770240">
                  <a:extLst>
                    <a:ext uri="{9D8B030D-6E8A-4147-A177-3AD203B41FA5}">
                      <a16:colId xmlns:a16="http://schemas.microsoft.com/office/drawing/2014/main" val="20000"/>
                    </a:ext>
                  </a:extLst>
                </a:gridCol>
                <a:gridCol w="360040">
                  <a:extLst>
                    <a:ext uri="{9D8B030D-6E8A-4147-A177-3AD203B41FA5}">
                      <a16:colId xmlns:a16="http://schemas.microsoft.com/office/drawing/2014/main" val="20001"/>
                    </a:ext>
                  </a:extLst>
                </a:gridCol>
              </a:tblGrid>
              <a:tr h="370840">
                <a:tc>
                  <a:txBody>
                    <a:bodyPr/>
                    <a:lstStyle/>
                    <a:p>
                      <a:r>
                        <a:rPr lang="pt-BR" sz="700" dirty="0">
                          <a:latin typeface="Arial" panose="020B0604020202020204" pitchFamily="34" charset="0"/>
                          <a:cs typeface="Arial" panose="020B0604020202020204" pitchFamily="34" charset="0"/>
                        </a:rPr>
                        <a:t>INSTRUÇÃO</a:t>
                      </a:r>
                      <a:r>
                        <a:rPr lang="pt-BR" sz="700" baseline="0" dirty="0">
                          <a:latin typeface="Arial" panose="020B0604020202020204" pitchFamily="34" charset="0"/>
                          <a:cs typeface="Arial" panose="020B0604020202020204" pitchFamily="34" charset="0"/>
                        </a:rPr>
                        <a:t> DE SEGURAÇA.....................................................................................................................................</a:t>
                      </a:r>
                    </a:p>
                    <a:p>
                      <a:r>
                        <a:rPr lang="pt-BR" sz="700" baseline="0" dirty="0">
                          <a:latin typeface="Arial" panose="020B0604020202020204" pitchFamily="34" charset="0"/>
                          <a:cs typeface="Arial" panose="020B0604020202020204" pitchFamily="34" charset="0"/>
                        </a:rPr>
                        <a:t>BEBEDOURO.............................................................................................................................................................</a:t>
                      </a:r>
                    </a:p>
                    <a:p>
                      <a:r>
                        <a:rPr lang="pt-BR" sz="700" baseline="0" dirty="0">
                          <a:latin typeface="Arial" panose="020B0604020202020204" pitchFamily="34" charset="0"/>
                          <a:cs typeface="Arial" panose="020B0604020202020204" pitchFamily="34" charset="0"/>
                        </a:rPr>
                        <a:t>EMBALAGEM..............................................................................................................................................................</a:t>
                      </a:r>
                    </a:p>
                    <a:p>
                      <a:r>
                        <a:rPr lang="pt-BR" sz="700" baseline="0" dirty="0">
                          <a:latin typeface="Arial" panose="020B0604020202020204" pitchFamily="34" charset="0"/>
                          <a:cs typeface="Arial" panose="020B0604020202020204" pitchFamily="34" charset="0"/>
                        </a:rPr>
                        <a:t>PRÉ-INSTALAÇÃO......................................................................................................................................................</a:t>
                      </a:r>
                    </a:p>
                    <a:p>
                      <a:r>
                        <a:rPr lang="pt-BR" sz="700" baseline="0" dirty="0">
                          <a:latin typeface="Arial" panose="020B0604020202020204" pitchFamily="34" charset="0"/>
                          <a:cs typeface="Arial" panose="020B0604020202020204" pitchFamily="34" charset="0"/>
                        </a:rPr>
                        <a:t>INSTALAÇÃO..............................................................................................................................................................</a:t>
                      </a:r>
                    </a:p>
                    <a:p>
                      <a:r>
                        <a:rPr lang="pt-BR" sz="700" baseline="0" dirty="0">
                          <a:latin typeface="Arial" panose="020B0604020202020204" pitchFamily="34" charset="0"/>
                          <a:cs typeface="Arial" panose="020B0604020202020204" pitchFamily="34" charset="0"/>
                        </a:rPr>
                        <a:t>APÓS INSTALADO O BEBEDOURO...........................................................................................................................</a:t>
                      </a:r>
                    </a:p>
                    <a:p>
                      <a:r>
                        <a:rPr lang="pt-BR" sz="700" baseline="0" dirty="0">
                          <a:latin typeface="Arial" panose="020B0604020202020204" pitchFamily="34" charset="0"/>
                          <a:cs typeface="Arial" panose="020B0604020202020204" pitchFamily="34" charset="0"/>
                        </a:rPr>
                        <a:t>SEGURANÇA..............................................................................................................................................................</a:t>
                      </a:r>
                    </a:p>
                    <a:p>
                      <a:r>
                        <a:rPr lang="pt-BR" sz="700" baseline="0" dirty="0">
                          <a:latin typeface="Arial" panose="020B0604020202020204" pitchFamily="34" charset="0"/>
                          <a:cs typeface="Arial" panose="020B0604020202020204" pitchFamily="34" charset="0"/>
                        </a:rPr>
                        <a:t>FUNCIONAMENTO E UTILIZAÇÃO............................................................................................................................</a:t>
                      </a:r>
                    </a:p>
                    <a:p>
                      <a:r>
                        <a:rPr lang="pt-BR" sz="700" baseline="0" dirty="0">
                          <a:latin typeface="Arial" panose="020B0604020202020204" pitchFamily="34" charset="0"/>
                          <a:cs typeface="Arial" panose="020B0604020202020204" pitchFamily="34" charset="0"/>
                        </a:rPr>
                        <a:t>ATERRAMENTO.........................................................................................................................................................</a:t>
                      </a:r>
                    </a:p>
                    <a:p>
                      <a:r>
                        <a:rPr lang="pt-BR" sz="700" baseline="0" dirty="0">
                          <a:latin typeface="Arial" panose="020B0604020202020204" pitchFamily="34" charset="0"/>
                          <a:cs typeface="Arial" panose="020B0604020202020204" pitchFamily="34" charset="0"/>
                        </a:rPr>
                        <a:t>LIMPEZA.....................................................................................................................................................................</a:t>
                      </a:r>
                    </a:p>
                    <a:p>
                      <a:r>
                        <a:rPr lang="pt-BR" sz="700" baseline="0" dirty="0">
                          <a:latin typeface="Arial" panose="020B0604020202020204" pitchFamily="34" charset="0"/>
                          <a:cs typeface="Arial" panose="020B0604020202020204" pitchFamily="34" charset="0"/>
                        </a:rPr>
                        <a:t>POSSIVEIS DEFEITOS E SOLUÇÕES.......................................................................................................................</a:t>
                      </a:r>
                    </a:p>
                    <a:p>
                      <a:r>
                        <a:rPr lang="pt-BR" sz="700" baseline="0" dirty="0">
                          <a:latin typeface="Arial" panose="020B0604020202020204" pitchFamily="34" charset="0"/>
                          <a:cs typeface="Arial" panose="020B0604020202020204" pitchFamily="34" charset="0"/>
                        </a:rPr>
                        <a:t>TERMO DE GARANTIA...............................................................................................................................................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pt-BR" sz="700" dirty="0">
                          <a:latin typeface="Arial" panose="020B0604020202020204" pitchFamily="34" charset="0"/>
                          <a:cs typeface="Arial" panose="020B0604020202020204" pitchFamily="34" charset="0"/>
                        </a:rPr>
                        <a:t>01</a:t>
                      </a:r>
                    </a:p>
                    <a:p>
                      <a:r>
                        <a:rPr lang="pt-BR" sz="700" dirty="0">
                          <a:latin typeface="Arial" panose="020B0604020202020204" pitchFamily="34" charset="0"/>
                          <a:cs typeface="Arial" panose="020B0604020202020204" pitchFamily="34" charset="0"/>
                        </a:rPr>
                        <a:t>01</a:t>
                      </a:r>
                    </a:p>
                    <a:p>
                      <a:r>
                        <a:rPr lang="pt-BR" sz="700" dirty="0">
                          <a:latin typeface="Arial" panose="020B0604020202020204" pitchFamily="34" charset="0"/>
                          <a:cs typeface="Arial" panose="020B0604020202020204" pitchFamily="34" charset="0"/>
                        </a:rPr>
                        <a:t>01</a:t>
                      </a:r>
                    </a:p>
                    <a:p>
                      <a:r>
                        <a:rPr lang="pt-BR" sz="700" dirty="0">
                          <a:latin typeface="Arial" panose="020B0604020202020204" pitchFamily="34" charset="0"/>
                          <a:cs typeface="Arial" panose="020B0604020202020204" pitchFamily="34" charset="0"/>
                        </a:rPr>
                        <a:t>01</a:t>
                      </a:r>
                    </a:p>
                    <a:p>
                      <a:r>
                        <a:rPr lang="pt-BR" sz="700" dirty="0">
                          <a:latin typeface="Arial" panose="020B0604020202020204" pitchFamily="34" charset="0"/>
                          <a:cs typeface="Arial" panose="020B0604020202020204" pitchFamily="34" charset="0"/>
                        </a:rPr>
                        <a:t>02</a:t>
                      </a:r>
                    </a:p>
                    <a:p>
                      <a:r>
                        <a:rPr lang="pt-BR" sz="700" dirty="0">
                          <a:latin typeface="Arial" panose="020B0604020202020204" pitchFamily="34" charset="0"/>
                          <a:cs typeface="Arial" panose="020B0604020202020204" pitchFamily="34" charset="0"/>
                        </a:rPr>
                        <a:t>03</a:t>
                      </a:r>
                    </a:p>
                    <a:p>
                      <a:r>
                        <a:rPr lang="pt-BR" sz="700" dirty="0">
                          <a:latin typeface="Arial" panose="020B0604020202020204" pitchFamily="34" charset="0"/>
                          <a:cs typeface="Arial" panose="020B0604020202020204" pitchFamily="34" charset="0"/>
                        </a:rPr>
                        <a:t>03</a:t>
                      </a:r>
                    </a:p>
                    <a:p>
                      <a:r>
                        <a:rPr lang="pt-BR" sz="700" dirty="0">
                          <a:latin typeface="Arial" panose="020B0604020202020204" pitchFamily="34" charset="0"/>
                          <a:cs typeface="Arial" panose="020B0604020202020204" pitchFamily="34" charset="0"/>
                        </a:rPr>
                        <a:t>04</a:t>
                      </a:r>
                    </a:p>
                    <a:p>
                      <a:r>
                        <a:rPr lang="pt-BR" sz="700" dirty="0">
                          <a:latin typeface="Arial" panose="020B0604020202020204" pitchFamily="34" charset="0"/>
                          <a:cs typeface="Arial" panose="020B0604020202020204" pitchFamily="34" charset="0"/>
                        </a:rPr>
                        <a:t>04</a:t>
                      </a:r>
                    </a:p>
                    <a:p>
                      <a:r>
                        <a:rPr lang="pt-BR" sz="700" dirty="0">
                          <a:latin typeface="Arial" panose="020B0604020202020204" pitchFamily="34" charset="0"/>
                          <a:cs typeface="Arial" panose="020B0604020202020204" pitchFamily="34" charset="0"/>
                        </a:rPr>
                        <a:t>04</a:t>
                      </a:r>
                    </a:p>
                    <a:p>
                      <a:r>
                        <a:rPr lang="pt-BR" sz="700" dirty="0">
                          <a:latin typeface="Arial" panose="020B0604020202020204" pitchFamily="34" charset="0"/>
                          <a:cs typeface="Arial" panose="020B0604020202020204" pitchFamily="34" charset="0"/>
                        </a:rPr>
                        <a:t>05</a:t>
                      </a:r>
                    </a:p>
                    <a:p>
                      <a:r>
                        <a:rPr lang="pt-BR" sz="700" dirty="0">
                          <a:latin typeface="Arial" panose="020B0604020202020204" pitchFamily="34" charset="0"/>
                          <a:cs typeface="Arial" panose="020B0604020202020204" pitchFamily="34" charset="0"/>
                        </a:rPr>
                        <a:t>06</a:t>
                      </a:r>
                    </a:p>
                    <a:p>
                      <a:endParaRPr lang="pt-BR" sz="7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05505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tângulo 16">
            <a:extLst>
              <a:ext uri="{FF2B5EF4-FFF2-40B4-BE49-F238E27FC236}">
                <a16:creationId xmlns:a16="http://schemas.microsoft.com/office/drawing/2014/main" id="{82323E52-BACF-48AD-B8FA-8F60F81D68A0}"/>
              </a:ext>
            </a:extLst>
          </p:cNvPr>
          <p:cNvSpPr/>
          <p:nvPr/>
        </p:nvSpPr>
        <p:spPr>
          <a:xfrm>
            <a:off x="201319" y="143302"/>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 Instruções de  segurança</a:t>
            </a:r>
          </a:p>
        </p:txBody>
      </p:sp>
      <p:sp>
        <p:nvSpPr>
          <p:cNvPr id="18" name="CaixaDeTexto 17">
            <a:extLst>
              <a:ext uri="{FF2B5EF4-FFF2-40B4-BE49-F238E27FC236}">
                <a16:creationId xmlns:a16="http://schemas.microsoft.com/office/drawing/2014/main" id="{D020CBAE-9A36-4705-8C13-3EB891B71474}"/>
              </a:ext>
            </a:extLst>
          </p:cNvPr>
          <p:cNvSpPr txBox="1"/>
          <p:nvPr/>
        </p:nvSpPr>
        <p:spPr>
          <a:xfrm>
            <a:off x="213817" y="396255"/>
            <a:ext cx="4988544" cy="1015663"/>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1.1 Esse manual traz todas as informações necessárias para a instalação  e a boa utilização deste produto. Leia com atenção, pois desta forma você poderá evitar danos, preservando seu produto e a garantia de  segurança de fábrica que ele possui.  </a:t>
            </a:r>
            <a:endParaRPr lang="pt-BR" sz="1000" dirty="0"/>
          </a:p>
          <a:p>
            <a:pPr algn="just"/>
            <a:r>
              <a:rPr lang="pt-BR" sz="1000" dirty="0">
                <a:latin typeface="Arial" panose="020B0604020202020204" pitchFamily="34" charset="0"/>
                <a:cs typeface="Arial" panose="020B0604020202020204" pitchFamily="34" charset="0"/>
              </a:rPr>
              <a:t>1.2 Não permita que o equipamento seja manuseado por crianças, ou por pessoas que não tenham noção das normas de segurança.</a:t>
            </a:r>
          </a:p>
        </p:txBody>
      </p:sp>
      <p:sp>
        <p:nvSpPr>
          <p:cNvPr id="19" name="Retângulo 18">
            <a:extLst>
              <a:ext uri="{FF2B5EF4-FFF2-40B4-BE49-F238E27FC236}">
                <a16:creationId xmlns:a16="http://schemas.microsoft.com/office/drawing/2014/main" id="{57800981-84E5-4AE5-954D-E3152E965CC4}"/>
              </a:ext>
            </a:extLst>
          </p:cNvPr>
          <p:cNvSpPr/>
          <p:nvPr/>
        </p:nvSpPr>
        <p:spPr>
          <a:xfrm>
            <a:off x="201319" y="1495968"/>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2. BEBEDOURO</a:t>
            </a:r>
          </a:p>
        </p:txBody>
      </p:sp>
      <p:sp>
        <p:nvSpPr>
          <p:cNvPr id="20" name="CaixaDeTexto 19">
            <a:extLst>
              <a:ext uri="{FF2B5EF4-FFF2-40B4-BE49-F238E27FC236}">
                <a16:creationId xmlns:a16="http://schemas.microsoft.com/office/drawing/2014/main" id="{3090799C-3C07-4C6D-A68C-F3F0A9F2BABB}"/>
              </a:ext>
            </a:extLst>
          </p:cNvPr>
          <p:cNvSpPr txBox="1"/>
          <p:nvPr/>
        </p:nvSpPr>
        <p:spPr>
          <a:xfrm>
            <a:off x="185044" y="1790829"/>
            <a:ext cx="5017317" cy="26161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a:defRPr sz="11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dirty="0">
                <a:solidFill>
                  <a:schemeClr val="tx1"/>
                </a:solidFill>
              </a:rPr>
              <a:t>2.1 Modelos:</a:t>
            </a:r>
          </a:p>
        </p:txBody>
      </p:sp>
      <p:sp>
        <p:nvSpPr>
          <p:cNvPr id="21" name="Retângulo 20">
            <a:extLst>
              <a:ext uri="{FF2B5EF4-FFF2-40B4-BE49-F238E27FC236}">
                <a16:creationId xmlns:a16="http://schemas.microsoft.com/office/drawing/2014/main" id="{951473B9-A093-4245-A653-752CBC42B771}"/>
              </a:ext>
            </a:extLst>
          </p:cNvPr>
          <p:cNvSpPr/>
          <p:nvPr/>
        </p:nvSpPr>
        <p:spPr>
          <a:xfrm>
            <a:off x="201319" y="369525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3. ANTES DE ABRIR A EMBALAGEM:</a:t>
            </a:r>
          </a:p>
        </p:txBody>
      </p:sp>
      <p:sp>
        <p:nvSpPr>
          <p:cNvPr id="22" name="CaixaDeTexto 21">
            <a:extLst>
              <a:ext uri="{FF2B5EF4-FFF2-40B4-BE49-F238E27FC236}">
                <a16:creationId xmlns:a16="http://schemas.microsoft.com/office/drawing/2014/main" id="{B3294B49-949E-44C0-B10A-B9C56C40BE50}"/>
              </a:ext>
            </a:extLst>
          </p:cNvPr>
          <p:cNvSpPr txBox="1"/>
          <p:nvPr/>
        </p:nvSpPr>
        <p:spPr>
          <a:xfrm>
            <a:off x="144915" y="3917096"/>
            <a:ext cx="5017317" cy="1015663"/>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3.1 Verifique cuidadosamente se a embalagem está violada ou se o produto apresenta algum problema em sua estrutura (como por exemplo, alguma parte amassada ou danificada). Caso isso aconteça, por gentileza, devolva a mercadoria e não assine o recebimento pois o transportador é responsável pela entrega. Caso note o defeito posteriormente, entre em contato com a SÒ AÇO para as devidas providências.  </a:t>
            </a:r>
            <a:endParaRPr lang="pt-BR" sz="1000" dirty="0">
              <a:solidFill>
                <a:srgbClr val="FF0000"/>
              </a:solidFill>
              <a:latin typeface="Arial" panose="020B0604020202020204" pitchFamily="34" charset="0"/>
              <a:cs typeface="Arial" panose="020B0604020202020204" pitchFamily="34" charset="0"/>
            </a:endParaRPr>
          </a:p>
        </p:txBody>
      </p:sp>
      <p:sp>
        <p:nvSpPr>
          <p:cNvPr id="23" name="CaixaDeTexto 22">
            <a:extLst>
              <a:ext uri="{FF2B5EF4-FFF2-40B4-BE49-F238E27FC236}">
                <a16:creationId xmlns:a16="http://schemas.microsoft.com/office/drawing/2014/main" id="{22DCA115-2EFE-4207-A16D-65475D16E527}"/>
              </a:ext>
            </a:extLst>
          </p:cNvPr>
          <p:cNvSpPr txBox="1"/>
          <p:nvPr/>
        </p:nvSpPr>
        <p:spPr>
          <a:xfrm>
            <a:off x="161801" y="5841568"/>
            <a:ext cx="5040560" cy="1323439"/>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A instalação do seu aparelho é simples, mas algumas instruções são necessárias.</a:t>
            </a:r>
          </a:p>
          <a:p>
            <a:pPr algn="just"/>
            <a:r>
              <a:rPr lang="pt-BR" sz="1000" dirty="0">
                <a:latin typeface="Arial" panose="020B0604020202020204" pitchFamily="34" charset="0"/>
                <a:cs typeface="Arial" panose="020B0604020202020204" pitchFamily="34" charset="0"/>
              </a:rPr>
              <a:t>4.1- Escolha um local seco, arejado, plano e principalmente, longe do  sol</a:t>
            </a:r>
          </a:p>
          <a:p>
            <a:pPr algn="just"/>
            <a:r>
              <a:rPr lang="pt-BR" sz="1000" dirty="0">
                <a:latin typeface="Arial" panose="020B0604020202020204" pitchFamily="34" charset="0"/>
                <a:cs typeface="Arial" panose="020B0604020202020204" pitchFamily="34" charset="0"/>
              </a:rPr>
              <a:t>4.2- A cabine onde fica o conjunto de refrigeração deve ter a entrada e saída de ar livres, sem bloqueio de paredes ou objetos.</a:t>
            </a:r>
          </a:p>
          <a:p>
            <a:pPr algn="just"/>
            <a:r>
              <a:rPr lang="pt-BR" sz="1000" dirty="0">
                <a:latin typeface="Arial" panose="020B0604020202020204" pitchFamily="34" charset="0"/>
                <a:cs typeface="Arial" panose="020B0604020202020204" pitchFamily="34" charset="0"/>
              </a:rPr>
              <a:t>4.3- Antes de ligar o aparelho, instale as torneiras e a pingadeira que estão dentro do bebedouro na parte traseira inferior.</a:t>
            </a:r>
          </a:p>
          <a:p>
            <a:pPr algn="just"/>
            <a:r>
              <a:rPr lang="pt-BR" sz="1000" dirty="0">
                <a:latin typeface="Arial" panose="020B0604020202020204" pitchFamily="34" charset="0"/>
                <a:cs typeface="Arial" panose="020B0604020202020204" pitchFamily="34" charset="0"/>
              </a:rPr>
              <a:t>4.4- A pingadeira deve ser parafusada na furação existente.</a:t>
            </a:r>
          </a:p>
          <a:p>
            <a:pPr algn="just"/>
            <a:r>
              <a:rPr lang="pt-BR" sz="1000" dirty="0">
                <a:latin typeface="Arial" panose="020B0604020202020204" pitchFamily="34" charset="0"/>
                <a:cs typeface="Arial" panose="020B0604020202020204" pitchFamily="34" charset="0"/>
              </a:rPr>
              <a:t>5.5- Limpe bem o tanque interno, removendo todo material usado na embalagem.</a:t>
            </a:r>
          </a:p>
        </p:txBody>
      </p:sp>
      <p:sp>
        <p:nvSpPr>
          <p:cNvPr id="24" name="Retângulo 23">
            <a:extLst>
              <a:ext uri="{FF2B5EF4-FFF2-40B4-BE49-F238E27FC236}">
                <a16:creationId xmlns:a16="http://schemas.microsoft.com/office/drawing/2014/main" id="{C873559A-6CA5-4EA6-86E8-186D5613D3E3}"/>
              </a:ext>
            </a:extLst>
          </p:cNvPr>
          <p:cNvSpPr/>
          <p:nvPr/>
        </p:nvSpPr>
        <p:spPr>
          <a:xfrm>
            <a:off x="201319" y="5605054"/>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4. PRÉ-INSTALAÇÃO:</a:t>
            </a:r>
            <a:endParaRPr lang="pt-BR" sz="1100" b="1" i="1" dirty="0">
              <a:solidFill>
                <a:schemeClr val="tx1"/>
              </a:solidFill>
            </a:endParaRPr>
          </a:p>
        </p:txBody>
      </p:sp>
      <p:graphicFrame>
        <p:nvGraphicFramePr>
          <p:cNvPr id="25" name="Tabela 24"/>
          <p:cNvGraphicFramePr>
            <a:graphicFrameLocks noGrp="1"/>
          </p:cNvGraphicFramePr>
          <p:nvPr>
            <p:extLst>
              <p:ext uri="{D42A27DB-BD31-4B8C-83A1-F6EECF244321}">
                <p14:modId xmlns:p14="http://schemas.microsoft.com/office/powerpoint/2010/main" val="2880297571"/>
              </p:ext>
            </p:extLst>
          </p:nvPr>
        </p:nvGraphicFramePr>
        <p:xfrm>
          <a:off x="190505" y="2281060"/>
          <a:ext cx="4991696" cy="1195688"/>
        </p:xfrm>
        <a:graphic>
          <a:graphicData uri="http://schemas.openxmlformats.org/drawingml/2006/table">
            <a:tbl>
              <a:tblPr firstRow="1" bandRow="1">
                <a:tableStyleId>{9D7B26C5-4107-4FEC-AEDC-1716B250A1EF}</a:tableStyleId>
              </a:tblPr>
              <a:tblGrid>
                <a:gridCol w="1656406">
                  <a:extLst>
                    <a:ext uri="{9D8B030D-6E8A-4147-A177-3AD203B41FA5}">
                      <a16:colId xmlns:a16="http://schemas.microsoft.com/office/drawing/2014/main" val="20000"/>
                    </a:ext>
                  </a:extLst>
                </a:gridCol>
                <a:gridCol w="1667645">
                  <a:extLst>
                    <a:ext uri="{9D8B030D-6E8A-4147-A177-3AD203B41FA5}">
                      <a16:colId xmlns:a16="http://schemas.microsoft.com/office/drawing/2014/main" val="20001"/>
                    </a:ext>
                  </a:extLst>
                </a:gridCol>
                <a:gridCol w="1667645">
                  <a:extLst>
                    <a:ext uri="{9D8B030D-6E8A-4147-A177-3AD203B41FA5}">
                      <a16:colId xmlns:a16="http://schemas.microsoft.com/office/drawing/2014/main" val="20002"/>
                    </a:ext>
                  </a:extLst>
                </a:gridCol>
              </a:tblGrid>
              <a:tr h="251392">
                <a:tc>
                  <a:txBody>
                    <a:bodyPr/>
                    <a:lstStyle/>
                    <a:p>
                      <a:pPr algn="ctr"/>
                      <a:r>
                        <a:rPr lang="pt-BR" sz="1100" dirty="0"/>
                        <a:t>MODELO</a:t>
                      </a:r>
                      <a:endParaRPr lang="pt-BR" sz="1100" dirty="0">
                        <a:solidFill>
                          <a:schemeClr val="tx1"/>
                        </a:solidFill>
                      </a:endParaRPr>
                    </a:p>
                  </a:txBody>
                  <a:tcPr/>
                </a:tc>
                <a:tc>
                  <a:txBody>
                    <a:bodyPr/>
                    <a:lstStyle/>
                    <a:p>
                      <a:pPr algn="ctr"/>
                      <a:r>
                        <a:rPr lang="pt-BR" sz="1100" dirty="0"/>
                        <a:t>TIPO DE CHAPA</a:t>
                      </a:r>
                      <a:endParaRPr lang="pt-BR" sz="1100" dirty="0">
                        <a:solidFill>
                          <a:schemeClr val="tx1"/>
                        </a:solidFill>
                      </a:endParaRPr>
                    </a:p>
                  </a:txBody>
                  <a:tcPr/>
                </a:tc>
                <a:tc>
                  <a:txBody>
                    <a:bodyPr/>
                    <a:lstStyle/>
                    <a:p>
                      <a:pPr algn="ctr"/>
                      <a:r>
                        <a:rPr lang="pt-BR" sz="1100" dirty="0"/>
                        <a:t>TENSÃO</a:t>
                      </a:r>
                      <a:r>
                        <a:rPr lang="pt-BR" sz="1100" baseline="0" dirty="0"/>
                        <a:t> (V~)</a:t>
                      </a:r>
                      <a:endParaRPr lang="pt-BR" sz="1100" dirty="0">
                        <a:solidFill>
                          <a:schemeClr val="tx1"/>
                        </a:solidFill>
                      </a:endParaRPr>
                    </a:p>
                  </a:txBody>
                  <a:tcPr/>
                </a:tc>
                <a:extLst>
                  <a:ext uri="{0D108BD9-81ED-4DB2-BD59-A6C34878D82A}">
                    <a16:rowId xmlns:a16="http://schemas.microsoft.com/office/drawing/2014/main" val="10000"/>
                  </a:ext>
                </a:extLst>
              </a:tr>
              <a:tr h="936608">
                <a:tc>
                  <a:txBody>
                    <a:bodyPr/>
                    <a:lstStyle/>
                    <a:p>
                      <a:pPr algn="ctr"/>
                      <a:r>
                        <a:rPr lang="pt-BR" sz="1100" dirty="0"/>
                        <a:t>BI02T</a:t>
                      </a:r>
                    </a:p>
                    <a:p>
                      <a:pPr algn="ctr"/>
                      <a:r>
                        <a:rPr lang="pt-BR" sz="1100" dirty="0"/>
                        <a:t>BI03T</a:t>
                      </a:r>
                    </a:p>
                    <a:p>
                      <a:pPr algn="ctr"/>
                      <a:r>
                        <a:rPr lang="pt-BR" sz="1100" dirty="0"/>
                        <a:t>BI04T</a:t>
                      </a:r>
                    </a:p>
                    <a:p>
                      <a:pPr algn="ctr"/>
                      <a:r>
                        <a:rPr lang="pt-BR" sz="1100" dirty="0"/>
                        <a:t>BI05T</a:t>
                      </a:r>
                    </a:p>
                    <a:p>
                      <a:pPr algn="ctr"/>
                      <a:r>
                        <a:rPr lang="pt-BR" sz="1100" dirty="0"/>
                        <a:t>BI06T</a:t>
                      </a:r>
                    </a:p>
                  </a:txBody>
                  <a:tcPr/>
                </a:tc>
                <a:tc>
                  <a:txBody>
                    <a:bodyPr/>
                    <a:lstStyle/>
                    <a:p>
                      <a:pPr algn="ctr"/>
                      <a:r>
                        <a:rPr lang="pt-BR" sz="1100" dirty="0"/>
                        <a:t>INOX/PRÉ-PINTADA</a:t>
                      </a:r>
                    </a:p>
                    <a:p>
                      <a:pPr algn="ctr"/>
                      <a:r>
                        <a:rPr lang="pt-BR" sz="1100" dirty="0"/>
                        <a:t>INOX/PRÉ-PINTADA</a:t>
                      </a:r>
                    </a:p>
                    <a:p>
                      <a:pPr algn="ctr"/>
                      <a:r>
                        <a:rPr lang="pt-BR" sz="1100" dirty="0"/>
                        <a:t>INOX/PRÉ-PINTADA</a:t>
                      </a:r>
                    </a:p>
                    <a:p>
                      <a:pPr algn="ctr"/>
                      <a:r>
                        <a:rPr lang="pt-BR" sz="1100" dirty="0"/>
                        <a:t>INOX/PRÉ-PINTADA</a:t>
                      </a:r>
                    </a:p>
                    <a:p>
                      <a:pPr algn="ctr"/>
                      <a:r>
                        <a:rPr lang="pt-BR" sz="1100" dirty="0"/>
                        <a:t>INOX/PRÉ-PINTADA</a:t>
                      </a:r>
                    </a:p>
                  </a:txBody>
                  <a:tcPr/>
                </a:tc>
                <a:tc>
                  <a:txBody>
                    <a:bodyPr/>
                    <a:lstStyle/>
                    <a:p>
                      <a:pPr algn="ctr"/>
                      <a:r>
                        <a:rPr lang="pt-BR" sz="1100" dirty="0"/>
                        <a:t>127/220</a:t>
                      </a:r>
                    </a:p>
                    <a:p>
                      <a:pPr algn="ctr"/>
                      <a:r>
                        <a:rPr lang="pt-BR" sz="1100" dirty="0"/>
                        <a:t>127/220</a:t>
                      </a:r>
                    </a:p>
                    <a:p>
                      <a:pPr algn="ctr"/>
                      <a:r>
                        <a:rPr lang="pt-BR" sz="1100" dirty="0"/>
                        <a:t>127/220</a:t>
                      </a:r>
                    </a:p>
                    <a:p>
                      <a:pPr algn="ctr"/>
                      <a:r>
                        <a:rPr lang="pt-BR" sz="1100" dirty="0"/>
                        <a:t>127/220</a:t>
                      </a:r>
                    </a:p>
                    <a:p>
                      <a:pPr algn="ctr"/>
                      <a:r>
                        <a:rPr lang="pt-BR" sz="1100" dirty="0"/>
                        <a:t>127/220</a:t>
                      </a:r>
                    </a:p>
                  </a:txBody>
                  <a:tcPr/>
                </a:tc>
                <a:extLst>
                  <a:ext uri="{0D108BD9-81ED-4DB2-BD59-A6C34878D82A}">
                    <a16:rowId xmlns:a16="http://schemas.microsoft.com/office/drawing/2014/main" val="10001"/>
                  </a:ext>
                </a:extLst>
              </a:tr>
            </a:tbl>
          </a:graphicData>
        </a:graphic>
      </p:graphicFrame>
      <p:sp>
        <p:nvSpPr>
          <p:cNvPr id="26" name="CaixaDeTexto 25"/>
          <p:cNvSpPr txBox="1"/>
          <p:nvPr/>
        </p:nvSpPr>
        <p:spPr>
          <a:xfrm>
            <a:off x="214810" y="4898179"/>
            <a:ext cx="4967391" cy="646331"/>
          </a:xfrm>
          <a:prstGeom prst="rect">
            <a:avLst/>
          </a:prstGeom>
          <a:noFill/>
          <a:ln>
            <a:solidFill>
              <a:schemeClr val="tx1"/>
            </a:solidFill>
          </a:ln>
        </p:spPr>
        <p:txBody>
          <a:bodyPr wrap="square" rtlCol="0">
            <a:spAutoFit/>
          </a:bodyPr>
          <a:lstStyle/>
          <a:p>
            <a:pPr algn="ctr"/>
            <a:r>
              <a:rPr lang="pt-BR" sz="1200" b="1" dirty="0">
                <a:latin typeface="Arial" panose="020B0604020202020204" pitchFamily="34" charset="0"/>
                <a:cs typeface="Arial" panose="020B0604020202020204" pitchFamily="34" charset="0"/>
              </a:rPr>
              <a:t>IMPORTANTE: </a:t>
            </a:r>
            <a:r>
              <a:rPr lang="pt-BR" sz="1200" dirty="0">
                <a:latin typeface="Arial" panose="020B0604020202020204" pitchFamily="34" charset="0"/>
                <a:cs typeface="Arial" panose="020B0604020202020204" pitchFamily="34" charset="0"/>
              </a:rPr>
              <a:t>Este produto destina-se ao uso com água para consumo humano, atende a Portaria N° 2.914, de 12/12/2011 do Ministério da Saúde</a:t>
            </a:r>
            <a:r>
              <a:rPr lang="pt-BR" sz="1200" dirty="0"/>
              <a:t>.</a:t>
            </a:r>
          </a:p>
        </p:txBody>
      </p:sp>
      <p:sp>
        <p:nvSpPr>
          <p:cNvPr id="2" name="Espaço Reservado para Número de Slide 1">
            <a:extLst>
              <a:ext uri="{FF2B5EF4-FFF2-40B4-BE49-F238E27FC236}">
                <a16:creationId xmlns:a16="http://schemas.microsoft.com/office/drawing/2014/main" id="{AE5A7FBE-644A-497B-A40C-F884D4B69820}"/>
              </a:ext>
            </a:extLst>
          </p:cNvPr>
          <p:cNvSpPr>
            <a:spLocks noGrp="1"/>
          </p:cNvSpPr>
          <p:nvPr>
            <p:ph type="sldNum" sz="quarter" idx="12"/>
          </p:nvPr>
        </p:nvSpPr>
        <p:spPr/>
        <p:txBody>
          <a:bodyPr/>
          <a:lstStyle/>
          <a:p>
            <a:r>
              <a:rPr lang="pt-BR" dirty="0"/>
              <a:t>1</a:t>
            </a:r>
          </a:p>
        </p:txBody>
      </p:sp>
    </p:spTree>
    <p:extLst>
      <p:ext uri="{BB962C8B-B14F-4D97-AF65-F5344CB8AC3E}">
        <p14:creationId xmlns:p14="http://schemas.microsoft.com/office/powerpoint/2010/main" val="2943905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6EDA3D4A-1057-4962-81F6-3347ECCC4230}"/>
              </a:ext>
            </a:extLst>
          </p:cNvPr>
          <p:cNvSpPr/>
          <p:nvPr/>
        </p:nvSpPr>
        <p:spPr>
          <a:xfrm>
            <a:off x="161801" y="141917"/>
            <a:ext cx="5005770" cy="21125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5. PROVIDENCIE:</a:t>
            </a:r>
          </a:p>
        </p:txBody>
      </p:sp>
      <p:sp>
        <p:nvSpPr>
          <p:cNvPr id="10" name="Retângulo 9">
            <a:extLst>
              <a:ext uri="{FF2B5EF4-FFF2-40B4-BE49-F238E27FC236}">
                <a16:creationId xmlns:a16="http://schemas.microsoft.com/office/drawing/2014/main" id="{DC2363D6-D018-4AF1-9452-A44DB2FDC255}"/>
              </a:ext>
            </a:extLst>
          </p:cNvPr>
          <p:cNvSpPr/>
          <p:nvPr/>
        </p:nvSpPr>
        <p:spPr>
          <a:xfrm>
            <a:off x="161801" y="495515"/>
            <a:ext cx="5040560" cy="1169551"/>
          </a:xfrm>
          <a:prstGeom prst="rect">
            <a:avLst/>
          </a:prstGeom>
        </p:spPr>
        <p:txBody>
          <a:bodyPr wrap="square">
            <a:spAutoFit/>
          </a:bodyPr>
          <a:lstStyle/>
          <a:p>
            <a:pPr algn="just"/>
            <a:r>
              <a:rPr lang="pt-BR" sz="1000" dirty="0">
                <a:latin typeface="Arial" panose="020B0604020202020204" pitchFamily="34" charset="0"/>
                <a:cs typeface="Arial" panose="020B0604020202020204" pitchFamily="34" charset="0"/>
              </a:rPr>
              <a:t>5.1 Tomada exclusiva de energia elétrica com aterramento, voltagem e potência equivalentes á do seu aparelho.</a:t>
            </a:r>
          </a:p>
          <a:p>
            <a:pPr algn="just"/>
            <a:r>
              <a:rPr lang="pt-BR" sz="1000" dirty="0">
                <a:latin typeface="Arial" panose="020B0604020202020204" pitchFamily="34" charset="0"/>
                <a:cs typeface="Arial" panose="020B0604020202020204" pitchFamily="34" charset="0"/>
              </a:rPr>
              <a:t>5.2  Ponto exclusivo de água com registro de ½ ;</a:t>
            </a:r>
          </a:p>
          <a:p>
            <a:pPr algn="just"/>
            <a:r>
              <a:rPr lang="pt-BR" sz="1000" dirty="0">
                <a:latin typeface="Arial" panose="020B0604020202020204" pitchFamily="34" charset="0"/>
                <a:cs typeface="Arial" panose="020B0604020202020204" pitchFamily="34" charset="0"/>
              </a:rPr>
              <a:t>5.3  Ponto de esgoto no piso ou na parede, desde que esteja no máximo á 30 cm do piso.</a:t>
            </a:r>
          </a:p>
          <a:p>
            <a:pPr algn="just"/>
            <a:r>
              <a:rPr lang="pt-BR" sz="1000" dirty="0">
                <a:latin typeface="Arial" panose="020B0604020202020204" pitchFamily="34" charset="0"/>
                <a:cs typeface="Arial" panose="020B0604020202020204" pitchFamily="34" charset="0"/>
              </a:rPr>
              <a:t>5.5  Utilize apenas veda – rosca de teflon na conexões com rosca, a fim de evitar sabor desagradável na água. Não utilize mangueira de jardim.  </a:t>
            </a:r>
          </a:p>
        </p:txBody>
      </p:sp>
      <p:sp>
        <p:nvSpPr>
          <p:cNvPr id="11" name="Retângulo 10">
            <a:extLst>
              <a:ext uri="{FF2B5EF4-FFF2-40B4-BE49-F238E27FC236}">
                <a16:creationId xmlns:a16="http://schemas.microsoft.com/office/drawing/2014/main" id="{C0BDA508-251E-4B70-8A44-56B55638CB4C}"/>
              </a:ext>
            </a:extLst>
          </p:cNvPr>
          <p:cNvSpPr/>
          <p:nvPr/>
        </p:nvSpPr>
        <p:spPr>
          <a:xfrm>
            <a:off x="184894" y="166506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6. INSTALAÇÃO:</a:t>
            </a:r>
          </a:p>
        </p:txBody>
      </p:sp>
      <p:sp>
        <p:nvSpPr>
          <p:cNvPr id="12" name="CaixaDeTexto 11">
            <a:extLst>
              <a:ext uri="{FF2B5EF4-FFF2-40B4-BE49-F238E27FC236}">
                <a16:creationId xmlns:a16="http://schemas.microsoft.com/office/drawing/2014/main" id="{05080610-7126-4554-AF5F-CECC8D1AA513}"/>
              </a:ext>
            </a:extLst>
          </p:cNvPr>
          <p:cNvSpPr txBox="1"/>
          <p:nvPr/>
        </p:nvSpPr>
        <p:spPr>
          <a:xfrm>
            <a:off x="161801" y="1980431"/>
            <a:ext cx="5001042" cy="5016758"/>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6.1 A instalação do aparelho fica sob responsabilidade do consumidor. Em caso de dúvidas, consulte uma mão de obra qualificada para o serviço.</a:t>
            </a:r>
          </a:p>
          <a:p>
            <a:pPr algn="just"/>
            <a:endParaRPr lang="pt-BR" sz="1000" dirty="0">
              <a:latin typeface="Arial" panose="020B0604020202020204" pitchFamily="34" charset="0"/>
              <a:cs typeface="Arial" panose="020B0604020202020204" pitchFamily="34" charset="0"/>
            </a:endParaRP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Condição de uso: Interno</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Os bebedouros tipo industrial Só Aço, devem ser instalados somente onde a pressão de água da rede hidráulica </a:t>
            </a:r>
            <a:r>
              <a:rPr lang="pt-BR" sz="1000" b="1" dirty="0">
                <a:latin typeface="Arial" panose="020B0604020202020204" pitchFamily="34" charset="0"/>
                <a:cs typeface="Arial" panose="020B0604020202020204" pitchFamily="34" charset="0"/>
              </a:rPr>
              <a:t>seja de no máximo 500.000 </a:t>
            </a:r>
            <a:r>
              <a:rPr lang="pt-BR" sz="1000" b="1" dirty="0" err="1">
                <a:latin typeface="Arial" panose="020B0604020202020204" pitchFamily="34" charset="0"/>
                <a:cs typeface="Arial" panose="020B0604020202020204" pitchFamily="34" charset="0"/>
              </a:rPr>
              <a:t>Pa</a:t>
            </a:r>
            <a:r>
              <a:rPr lang="pt-BR" sz="1000" b="1" dirty="0">
                <a:latin typeface="Arial" panose="020B0604020202020204" pitchFamily="34" charset="0"/>
                <a:cs typeface="Arial" panose="020B0604020202020204" pitchFamily="34" charset="0"/>
              </a:rPr>
              <a:t>, </a:t>
            </a:r>
            <a:r>
              <a:rPr lang="pt-BR" sz="1000" dirty="0">
                <a:latin typeface="Arial" panose="020B0604020202020204" pitchFamily="34" charset="0"/>
                <a:cs typeface="Arial" panose="020B0604020202020204" pitchFamily="34" charset="0"/>
              </a:rPr>
              <a:t>para pressões superiores é necessário instalar o redutor de pressão adequado.  </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Utilize canos e conexões hidráulicas adequadas, atóxicos e de boa qualidade, de ½’’ para a entrada de água e ¾’’ para saída. Dê preferência a canos e conexões e certifique-se que não existe vazamento na rede hidráulica após a instalação.</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Rosqueie o cotovelo de ½ na rede hidráulica;</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Conecte sua ponta de engate rápida á mangueira de 6 ou 8 mm;</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Conecte em seguida  a outra ponta no bebedouro.</a:t>
            </a:r>
          </a:p>
          <a:p>
            <a:pPr algn="just"/>
            <a:endParaRPr lang="pt-BR" sz="1000" dirty="0">
              <a:latin typeface="Arial" panose="020B0604020202020204" pitchFamily="34" charset="0"/>
              <a:cs typeface="Arial" panose="020B0604020202020204" pitchFamily="34" charset="0"/>
            </a:endParaRPr>
          </a:p>
          <a:p>
            <a:pPr algn="just"/>
            <a:r>
              <a:rPr lang="pt-BR" sz="1000" dirty="0">
                <a:latin typeface="Arial" panose="020B0604020202020204" pitchFamily="34" charset="0"/>
                <a:cs typeface="Arial" panose="020B0604020202020204" pitchFamily="34" charset="0"/>
              </a:rPr>
              <a:t>Obs.: 1 – Nos locais em que a pureza da água for duvidosa, sugerimos a colocação de filtro externo (Vendido separadamente)</a:t>
            </a:r>
          </a:p>
          <a:p>
            <a:pPr algn="just"/>
            <a:r>
              <a:rPr lang="pt-BR" sz="1000" dirty="0">
                <a:latin typeface="Arial" panose="020B0604020202020204" pitchFamily="34" charset="0"/>
                <a:cs typeface="Arial" panose="020B0604020202020204" pitchFamily="34" charset="0"/>
              </a:rPr>
              <a:t>Obs.: 2 – Feita todas as conexões, retire imediata e obrigatoriamente o filme plástico de proteção para que não aja aderência permanente. </a:t>
            </a:r>
          </a:p>
          <a:p>
            <a:pPr algn="just"/>
            <a:endParaRPr lang="pt-BR" sz="1000" dirty="0">
              <a:latin typeface="Arial" panose="020B0604020202020204" pitchFamily="34" charset="0"/>
              <a:cs typeface="Arial" panose="020B0604020202020204" pitchFamily="34" charset="0"/>
            </a:endParaRP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Descartar toda a água utilizada para encher o tanque do bebedouro na primeira vez que ligar o aparelho.</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Verifique a voltagem do produto e utilize uma tomada exclusiva para ele.</a:t>
            </a:r>
          </a:p>
          <a:p>
            <a:pPr marL="171450" indent="-171450" algn="just">
              <a:buFont typeface="Arial" pitchFamily="34" charset="0"/>
              <a:buChar char="•"/>
            </a:pPr>
            <a:r>
              <a:rPr lang="pt-BR" sz="1000" dirty="0">
                <a:latin typeface="Arial" panose="020B0604020202020204" pitchFamily="34" charset="0"/>
                <a:cs typeface="Arial" panose="020B0604020202020204" pitchFamily="34" charset="0"/>
              </a:rPr>
              <a:t>Não utilize extensões ou conectores.</a:t>
            </a:r>
          </a:p>
          <a:p>
            <a:pPr algn="just"/>
            <a:endParaRPr lang="pt-BR" sz="1000" dirty="0">
              <a:latin typeface="Arial" panose="020B0604020202020204" pitchFamily="34" charset="0"/>
              <a:cs typeface="Arial" panose="020B0604020202020204" pitchFamily="34" charset="0"/>
            </a:endParaRPr>
          </a:p>
          <a:p>
            <a:pPr algn="just"/>
            <a:r>
              <a:rPr lang="pt-BR" sz="1000" b="1" dirty="0">
                <a:latin typeface="Arial" panose="020B0604020202020204" pitchFamily="34" charset="0"/>
                <a:cs typeface="Arial" panose="020B0604020202020204" pitchFamily="34" charset="0"/>
              </a:rPr>
              <a:t>Grau de Proteção: IPX0 – Classe I</a:t>
            </a:r>
          </a:p>
          <a:p>
            <a:pPr algn="just"/>
            <a:endParaRPr lang="pt-BR" sz="1000" b="1" dirty="0">
              <a:latin typeface="Arial" panose="020B0604020202020204" pitchFamily="34" charset="0"/>
              <a:cs typeface="Arial" panose="020B0604020202020204" pitchFamily="34" charset="0"/>
            </a:endParaRPr>
          </a:p>
          <a:p>
            <a:pPr algn="just"/>
            <a:r>
              <a:rPr lang="pt-BR" sz="1000" b="1" dirty="0">
                <a:latin typeface="Arial" panose="020B0604020202020204" pitchFamily="34" charset="0"/>
                <a:cs typeface="Arial" panose="020B0604020202020204" pitchFamily="34" charset="0"/>
              </a:rPr>
              <a:t>CUIDADO:</a:t>
            </a:r>
          </a:p>
          <a:p>
            <a:pPr algn="just"/>
            <a:r>
              <a:rPr lang="pt-BR" sz="1000" dirty="0">
                <a:latin typeface="Arial" panose="020B0604020202020204" pitchFamily="34" charset="0"/>
                <a:cs typeface="Arial" panose="020B0604020202020204" pitchFamily="34" charset="0"/>
              </a:rPr>
              <a:t>6.4  Se o cordão de alimentação estiver danificado, ele deve  ser substituído pelo fabricante ou agente autorizado ou pessoa qualificada a fim de evitar risco.</a:t>
            </a:r>
          </a:p>
          <a:p>
            <a:pPr algn="just"/>
            <a:endParaRPr lang="pt-BR" sz="1000" dirty="0">
              <a:latin typeface="Arial" panose="020B0604020202020204" pitchFamily="34" charset="0"/>
              <a:cs typeface="Arial" panose="020B0604020202020204" pitchFamily="34" charset="0"/>
            </a:endParaRPr>
          </a:p>
          <a:p>
            <a:pPr marL="342900" indent="-342900" algn="just">
              <a:buFont typeface="Arial" pitchFamily="34" charset="0"/>
              <a:buChar char="•"/>
            </a:pPr>
            <a:endParaRPr lang="pt-BR" sz="2000" dirty="0">
              <a:latin typeface="Arial" panose="020B0604020202020204" pitchFamily="34" charset="0"/>
              <a:cs typeface="Arial" panose="020B0604020202020204" pitchFamily="34" charset="0"/>
            </a:endParaRPr>
          </a:p>
        </p:txBody>
      </p:sp>
      <p:sp>
        <p:nvSpPr>
          <p:cNvPr id="2" name="Espaço Reservado para Número de Slide 1">
            <a:extLst>
              <a:ext uri="{FF2B5EF4-FFF2-40B4-BE49-F238E27FC236}">
                <a16:creationId xmlns:a16="http://schemas.microsoft.com/office/drawing/2014/main" id="{81CE32DE-9896-4D51-8B78-B1B82888A31C}"/>
              </a:ext>
            </a:extLst>
          </p:cNvPr>
          <p:cNvSpPr>
            <a:spLocks noGrp="1"/>
          </p:cNvSpPr>
          <p:nvPr>
            <p:ph type="sldNum" sz="quarter" idx="12"/>
          </p:nvPr>
        </p:nvSpPr>
        <p:spPr/>
        <p:txBody>
          <a:bodyPr/>
          <a:lstStyle/>
          <a:p>
            <a:r>
              <a:rPr lang="pt-BR" dirty="0"/>
              <a:t>2</a:t>
            </a:r>
          </a:p>
        </p:txBody>
      </p:sp>
    </p:spTree>
    <p:extLst>
      <p:ext uri="{BB962C8B-B14F-4D97-AF65-F5344CB8AC3E}">
        <p14:creationId xmlns:p14="http://schemas.microsoft.com/office/powerpoint/2010/main" val="830138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71CBC30F-0131-4D4F-858C-94D3F58C7319}"/>
              </a:ext>
            </a:extLst>
          </p:cNvPr>
          <p:cNvSpPr/>
          <p:nvPr/>
        </p:nvSpPr>
        <p:spPr>
          <a:xfrm>
            <a:off x="161801" y="108223"/>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7. APÓS INSTALADO O BEBEDOURO: </a:t>
            </a:r>
          </a:p>
        </p:txBody>
      </p:sp>
      <p:sp>
        <p:nvSpPr>
          <p:cNvPr id="12" name="CaixaDeTexto 11"/>
          <p:cNvSpPr txBox="1"/>
          <p:nvPr/>
        </p:nvSpPr>
        <p:spPr>
          <a:xfrm>
            <a:off x="161801" y="396255"/>
            <a:ext cx="4982997" cy="769441"/>
          </a:xfrm>
          <a:prstGeom prst="rect">
            <a:avLst/>
          </a:prstGeom>
          <a:noFill/>
        </p:spPr>
        <p:txBody>
          <a:bodyPr wrap="square" rtlCol="0">
            <a:spAutoFit/>
          </a:bodyPr>
          <a:lstStyle/>
          <a:p>
            <a:pPr algn="just"/>
            <a:r>
              <a:rPr lang="pt-BR" sz="1100" dirty="0"/>
              <a:t>7.1 Temperatura da água de entrada no bebedouro deverá ser de no mínimo 10°C e no máximo de 20°C.</a:t>
            </a:r>
          </a:p>
          <a:p>
            <a:pPr algn="just"/>
            <a:r>
              <a:rPr lang="pt-BR" sz="1100" dirty="0"/>
              <a:t>7.2 Ligue o bebedouro a rede elétrica e aguarde aproximadamente 3 horas para obter água gelada.</a:t>
            </a:r>
          </a:p>
        </p:txBody>
      </p:sp>
      <p:graphicFrame>
        <p:nvGraphicFramePr>
          <p:cNvPr id="13" name="Tabela 12"/>
          <p:cNvGraphicFramePr>
            <a:graphicFrameLocks noGrp="1"/>
          </p:cNvGraphicFramePr>
          <p:nvPr>
            <p:extLst>
              <p:ext uri="{D42A27DB-BD31-4B8C-83A1-F6EECF244321}">
                <p14:modId xmlns:p14="http://schemas.microsoft.com/office/powerpoint/2010/main" val="2246083419"/>
              </p:ext>
            </p:extLst>
          </p:nvPr>
        </p:nvGraphicFramePr>
        <p:xfrm>
          <a:off x="233809" y="1260351"/>
          <a:ext cx="4824536" cy="426720"/>
        </p:xfrm>
        <a:graphic>
          <a:graphicData uri="http://schemas.openxmlformats.org/drawingml/2006/table">
            <a:tbl>
              <a:tblPr firstRow="1" bandRow="1">
                <a:tableStyleId>{5940675A-B579-460E-94D1-54222C63F5DA}</a:tableStyleId>
              </a:tblPr>
              <a:tblGrid>
                <a:gridCol w="4824536">
                  <a:extLst>
                    <a:ext uri="{9D8B030D-6E8A-4147-A177-3AD203B41FA5}">
                      <a16:colId xmlns:a16="http://schemas.microsoft.com/office/drawing/2014/main" val="20000"/>
                    </a:ext>
                  </a:extLst>
                </a:gridCol>
              </a:tblGrid>
              <a:tr h="370840">
                <a:tc>
                  <a:txBody>
                    <a:bodyPr/>
                    <a:lstStyle/>
                    <a:p>
                      <a:r>
                        <a:rPr lang="pt-BR" sz="1100" b="1" dirty="0"/>
                        <a:t>7.3</a:t>
                      </a:r>
                      <a:r>
                        <a:rPr lang="pt-BR" sz="1100" b="1" baseline="0" dirty="0"/>
                        <a:t> Descarta toda a água utilizada para encher o tanque do bebedouro na primeira vez que ligar o aparelho.</a:t>
                      </a:r>
                      <a:endParaRPr lang="pt-BR" sz="1100" b="1" dirty="0"/>
                    </a:p>
                  </a:txBody>
                  <a:tcPr/>
                </a:tc>
                <a:extLst>
                  <a:ext uri="{0D108BD9-81ED-4DB2-BD59-A6C34878D82A}">
                    <a16:rowId xmlns:a16="http://schemas.microsoft.com/office/drawing/2014/main" val="10000"/>
                  </a:ext>
                </a:extLst>
              </a:tr>
            </a:tbl>
          </a:graphicData>
        </a:graphic>
      </p:graphicFrame>
      <p:sp>
        <p:nvSpPr>
          <p:cNvPr id="14" name="CaixaDeTexto 13"/>
          <p:cNvSpPr txBox="1"/>
          <p:nvPr/>
        </p:nvSpPr>
        <p:spPr>
          <a:xfrm>
            <a:off x="149761" y="1694331"/>
            <a:ext cx="4978942" cy="1615827"/>
          </a:xfrm>
          <a:prstGeom prst="rect">
            <a:avLst/>
          </a:prstGeom>
          <a:noFill/>
        </p:spPr>
        <p:txBody>
          <a:bodyPr wrap="square" rtlCol="0">
            <a:spAutoFit/>
          </a:bodyPr>
          <a:lstStyle/>
          <a:p>
            <a:pPr algn="just"/>
            <a:r>
              <a:rPr lang="pt-BR" sz="1100" dirty="0"/>
              <a:t>7.4  O controle de temperatura é automático, não é necessário desliga-lo nunca.</a:t>
            </a:r>
          </a:p>
          <a:p>
            <a:pPr algn="just"/>
            <a:r>
              <a:rPr lang="pt-BR" sz="1100" dirty="0"/>
              <a:t>7.5 Os bebedouros não possuem filtro interno, por isso é fundamental utilizar apenas água potável e de boa qualidade. (temos filtro opcional )</a:t>
            </a:r>
          </a:p>
          <a:p>
            <a:pPr algn="just"/>
            <a:r>
              <a:rPr lang="pt-BR" sz="1100" dirty="0"/>
              <a:t>7.6 Seu bebedouro foi projetado para gelar água. Sucos, refrigerantes e outros líquidos podem deixar resíduos e desenvolver micro organismos nocivos a saúde nas partes internas do aparelho.</a:t>
            </a:r>
          </a:p>
          <a:p>
            <a:endParaRPr lang="pt-BR" sz="1100" dirty="0"/>
          </a:p>
          <a:p>
            <a:r>
              <a:rPr lang="pt-BR" sz="1100" dirty="0"/>
              <a:t> </a:t>
            </a:r>
          </a:p>
          <a:p>
            <a:r>
              <a:rPr lang="pt-BR" sz="1100" dirty="0"/>
              <a:t> </a:t>
            </a:r>
          </a:p>
        </p:txBody>
      </p:sp>
      <p:graphicFrame>
        <p:nvGraphicFramePr>
          <p:cNvPr id="15" name="Tabela 14"/>
          <p:cNvGraphicFramePr>
            <a:graphicFrameLocks noGrp="1"/>
          </p:cNvGraphicFramePr>
          <p:nvPr>
            <p:extLst>
              <p:ext uri="{D42A27DB-BD31-4B8C-83A1-F6EECF244321}">
                <p14:modId xmlns:p14="http://schemas.microsoft.com/office/powerpoint/2010/main" val="2329840663"/>
              </p:ext>
            </p:extLst>
          </p:nvPr>
        </p:nvGraphicFramePr>
        <p:xfrm>
          <a:off x="233809" y="3066690"/>
          <a:ext cx="4824536" cy="1463040"/>
        </p:xfrm>
        <a:graphic>
          <a:graphicData uri="http://schemas.openxmlformats.org/drawingml/2006/table">
            <a:tbl>
              <a:tblPr firstRow="1" bandRow="1">
                <a:tableStyleId>{5940675A-B579-460E-94D1-54222C63F5DA}</a:tableStyleId>
              </a:tblPr>
              <a:tblGrid>
                <a:gridCol w="864096">
                  <a:extLst>
                    <a:ext uri="{9D8B030D-6E8A-4147-A177-3AD203B41FA5}">
                      <a16:colId xmlns:a16="http://schemas.microsoft.com/office/drawing/2014/main" val="20000"/>
                    </a:ext>
                  </a:extLst>
                </a:gridCol>
                <a:gridCol w="2775187">
                  <a:extLst>
                    <a:ext uri="{9D8B030D-6E8A-4147-A177-3AD203B41FA5}">
                      <a16:colId xmlns:a16="http://schemas.microsoft.com/office/drawing/2014/main" val="20001"/>
                    </a:ext>
                  </a:extLst>
                </a:gridCol>
                <a:gridCol w="1185253">
                  <a:extLst>
                    <a:ext uri="{9D8B030D-6E8A-4147-A177-3AD203B41FA5}">
                      <a16:colId xmlns:a16="http://schemas.microsoft.com/office/drawing/2014/main" val="20002"/>
                    </a:ext>
                  </a:extLst>
                </a:gridCol>
              </a:tblGrid>
              <a:tr h="234392">
                <a:tc>
                  <a:txBody>
                    <a:bodyPr/>
                    <a:lstStyle/>
                    <a:p>
                      <a:pPr algn="ctr"/>
                      <a:r>
                        <a:rPr lang="pt-BR" sz="1200" dirty="0"/>
                        <a:t>MODELO</a:t>
                      </a:r>
                    </a:p>
                  </a:txBody>
                  <a:tcPr/>
                </a:tc>
                <a:tc>
                  <a:txBody>
                    <a:bodyPr/>
                    <a:lstStyle/>
                    <a:p>
                      <a:pPr algn="ctr"/>
                      <a:r>
                        <a:rPr lang="pt-BR" sz="1200" dirty="0"/>
                        <a:t>DESCRIÇÃO DO PRODUTO</a:t>
                      </a:r>
                    </a:p>
                  </a:txBody>
                  <a:tcPr/>
                </a:tc>
                <a:tc>
                  <a:txBody>
                    <a:bodyPr/>
                    <a:lstStyle/>
                    <a:p>
                      <a:pPr algn="l"/>
                      <a:r>
                        <a:rPr lang="pt-BR" sz="1200" dirty="0"/>
                        <a:t>VAZÃO (l/h)</a:t>
                      </a:r>
                    </a:p>
                  </a:txBody>
                  <a:tcPr/>
                </a:tc>
                <a:extLst>
                  <a:ext uri="{0D108BD9-81ED-4DB2-BD59-A6C34878D82A}">
                    <a16:rowId xmlns:a16="http://schemas.microsoft.com/office/drawing/2014/main" val="10000"/>
                  </a:ext>
                </a:extLst>
              </a:tr>
              <a:tr h="1055613">
                <a:tc>
                  <a:txBody>
                    <a:bodyPr/>
                    <a:lstStyle/>
                    <a:p>
                      <a:pPr algn="ctr"/>
                      <a:r>
                        <a:rPr lang="pt-BR" sz="1200" b="0" dirty="0"/>
                        <a:t>BI02T</a:t>
                      </a:r>
                    </a:p>
                    <a:p>
                      <a:pPr algn="ctr"/>
                      <a:r>
                        <a:rPr lang="pt-BR" sz="1200" b="0" dirty="0"/>
                        <a:t>BI03T</a:t>
                      </a:r>
                    </a:p>
                    <a:p>
                      <a:pPr algn="ctr"/>
                      <a:r>
                        <a:rPr lang="pt-BR" sz="1200" b="0" dirty="0"/>
                        <a:t>BI04T</a:t>
                      </a:r>
                    </a:p>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0" dirty="0"/>
                        <a:t>BI05T</a:t>
                      </a:r>
                    </a:p>
                    <a:p>
                      <a:pPr algn="ctr"/>
                      <a:r>
                        <a:rPr lang="pt-BR" sz="1200" b="0" dirty="0"/>
                        <a:t>BI05T</a:t>
                      </a:r>
                    </a:p>
                    <a:p>
                      <a:pPr algn="ctr"/>
                      <a:r>
                        <a:rPr lang="pt-BR" sz="1200" b="0" dirty="0"/>
                        <a:t>BI06T</a:t>
                      </a:r>
                    </a:p>
                  </a:txBody>
                  <a:tcPr/>
                </a:tc>
                <a:tc>
                  <a:txBody>
                    <a:bodyPr/>
                    <a:lstStyle/>
                    <a:p>
                      <a:pPr algn="ctr"/>
                      <a:r>
                        <a:rPr lang="pt-BR" sz="1200" dirty="0"/>
                        <a:t>Bebedouro</a:t>
                      </a:r>
                      <a:r>
                        <a:rPr lang="pt-BR" sz="1200" baseline="0" dirty="0"/>
                        <a:t> industrial de 2 torneiras</a:t>
                      </a:r>
                    </a:p>
                    <a:p>
                      <a:pPr marL="0" marR="0" indent="0" algn="ctr" defTabSz="1043056" rtl="0" eaLnBrk="1" fontAlgn="auto" latinLnBrk="0" hangingPunct="1">
                        <a:lnSpc>
                          <a:spcPct val="100000"/>
                        </a:lnSpc>
                        <a:spcBef>
                          <a:spcPts val="0"/>
                        </a:spcBef>
                        <a:spcAft>
                          <a:spcPts val="0"/>
                        </a:spcAft>
                        <a:buClrTx/>
                        <a:buSzTx/>
                        <a:buFontTx/>
                        <a:buNone/>
                        <a:tabLst/>
                        <a:defRPr/>
                      </a:pPr>
                      <a:r>
                        <a:rPr lang="pt-BR" sz="1200" dirty="0"/>
                        <a:t>Bebedouro</a:t>
                      </a:r>
                      <a:r>
                        <a:rPr lang="pt-BR" sz="1200" baseline="0" dirty="0"/>
                        <a:t> industrial de 3 torneiras</a:t>
                      </a:r>
                    </a:p>
                    <a:p>
                      <a:pPr marL="0" marR="0" indent="0" algn="ctr" defTabSz="1043056" rtl="0" eaLnBrk="1" fontAlgn="auto" latinLnBrk="0" hangingPunct="1">
                        <a:lnSpc>
                          <a:spcPct val="100000"/>
                        </a:lnSpc>
                        <a:spcBef>
                          <a:spcPts val="0"/>
                        </a:spcBef>
                        <a:spcAft>
                          <a:spcPts val="0"/>
                        </a:spcAft>
                        <a:buClrTx/>
                        <a:buSzTx/>
                        <a:buFontTx/>
                        <a:buNone/>
                        <a:tabLst/>
                        <a:defRPr/>
                      </a:pPr>
                      <a:r>
                        <a:rPr lang="pt-BR" sz="1200" dirty="0"/>
                        <a:t>Bebedouro</a:t>
                      </a:r>
                      <a:r>
                        <a:rPr lang="pt-BR" sz="1200" baseline="0" dirty="0"/>
                        <a:t> industrial de 4 torneiras</a:t>
                      </a:r>
                    </a:p>
                    <a:p>
                      <a:pPr marL="0" marR="0" lvl="0" indent="0" algn="ctr" defTabSz="1043056" rtl="0" eaLnBrk="1" fontAlgn="auto" latinLnBrk="0" hangingPunct="1">
                        <a:lnSpc>
                          <a:spcPct val="100000"/>
                        </a:lnSpc>
                        <a:spcBef>
                          <a:spcPts val="0"/>
                        </a:spcBef>
                        <a:spcAft>
                          <a:spcPts val="0"/>
                        </a:spcAft>
                        <a:buClrTx/>
                        <a:buSzTx/>
                        <a:buFontTx/>
                        <a:buNone/>
                        <a:tabLst/>
                        <a:defRPr/>
                      </a:pPr>
                      <a:r>
                        <a:rPr lang="pt-BR" sz="1200" dirty="0"/>
                        <a:t>Bebedouro</a:t>
                      </a:r>
                      <a:r>
                        <a:rPr lang="pt-BR" sz="1200" baseline="0" dirty="0"/>
                        <a:t> industrial de 5 torneiras</a:t>
                      </a:r>
                    </a:p>
                    <a:p>
                      <a:pPr marL="0" marR="0" lvl="0" indent="0" algn="ctr" defTabSz="1043056" rtl="0" eaLnBrk="1" fontAlgn="auto" latinLnBrk="0" hangingPunct="1">
                        <a:lnSpc>
                          <a:spcPct val="100000"/>
                        </a:lnSpc>
                        <a:spcBef>
                          <a:spcPts val="0"/>
                        </a:spcBef>
                        <a:spcAft>
                          <a:spcPts val="0"/>
                        </a:spcAft>
                        <a:buClrTx/>
                        <a:buSzTx/>
                        <a:buFontTx/>
                        <a:buNone/>
                        <a:tabLst/>
                        <a:defRPr/>
                      </a:pPr>
                      <a:r>
                        <a:rPr lang="pt-BR" sz="1200" dirty="0"/>
                        <a:t>Bebedouro</a:t>
                      </a:r>
                      <a:r>
                        <a:rPr lang="pt-BR" sz="1200" baseline="0" dirty="0"/>
                        <a:t> industrial de 4 torneiras 200L </a:t>
                      </a:r>
                      <a:endParaRPr lang="pt-BR" sz="1200" dirty="0"/>
                    </a:p>
                    <a:p>
                      <a:pPr marL="0" marR="0" indent="0" algn="ctr" defTabSz="1043056" rtl="0" eaLnBrk="1" fontAlgn="auto" latinLnBrk="0" hangingPunct="1">
                        <a:lnSpc>
                          <a:spcPct val="100000"/>
                        </a:lnSpc>
                        <a:spcBef>
                          <a:spcPts val="0"/>
                        </a:spcBef>
                        <a:spcAft>
                          <a:spcPts val="0"/>
                        </a:spcAft>
                        <a:buClrTx/>
                        <a:buSzTx/>
                        <a:buFontTx/>
                        <a:buNone/>
                        <a:tabLst/>
                        <a:defRPr/>
                      </a:pPr>
                      <a:r>
                        <a:rPr lang="pt-BR" sz="1200" dirty="0"/>
                        <a:t>Bebedouro</a:t>
                      </a:r>
                      <a:r>
                        <a:rPr lang="pt-BR" sz="1200" baseline="0" dirty="0"/>
                        <a:t> industrial de 6 torneiras</a:t>
                      </a:r>
                    </a:p>
                  </a:txBody>
                  <a:tcPr/>
                </a:tc>
                <a:tc>
                  <a:txBody>
                    <a:bodyPr/>
                    <a:lstStyle/>
                    <a:p>
                      <a:pPr algn="ctr"/>
                      <a:r>
                        <a:rPr lang="pt-BR" sz="1200" dirty="0"/>
                        <a:t>402,60</a:t>
                      </a:r>
                    </a:p>
                    <a:p>
                      <a:pPr algn="ctr"/>
                      <a:r>
                        <a:rPr lang="pt-BR" sz="1200" dirty="0"/>
                        <a:t>646,20</a:t>
                      </a:r>
                    </a:p>
                    <a:p>
                      <a:pPr algn="ctr"/>
                      <a:r>
                        <a:rPr lang="pt-BR" sz="1200" dirty="0"/>
                        <a:t>961,20</a:t>
                      </a:r>
                    </a:p>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dirty="0"/>
                        <a:t>1263,80</a:t>
                      </a:r>
                    </a:p>
                    <a:p>
                      <a:pPr algn="ctr"/>
                      <a:r>
                        <a:rPr lang="pt-BR" sz="1200" dirty="0"/>
                        <a:t>1263,80</a:t>
                      </a:r>
                    </a:p>
                    <a:p>
                      <a:pPr algn="ctr"/>
                      <a:r>
                        <a:rPr lang="pt-BR" sz="1200" dirty="0"/>
                        <a:t>1591,20</a:t>
                      </a:r>
                    </a:p>
                  </a:txBody>
                  <a:tcPr/>
                </a:tc>
                <a:extLst>
                  <a:ext uri="{0D108BD9-81ED-4DB2-BD59-A6C34878D82A}">
                    <a16:rowId xmlns:a16="http://schemas.microsoft.com/office/drawing/2014/main" val="10001"/>
                  </a:ext>
                </a:extLst>
              </a:tr>
            </a:tbl>
          </a:graphicData>
        </a:graphic>
      </p:graphicFrame>
      <p:sp>
        <p:nvSpPr>
          <p:cNvPr id="16" name="CaixaDeTexto 15"/>
          <p:cNvSpPr txBox="1"/>
          <p:nvPr/>
        </p:nvSpPr>
        <p:spPr>
          <a:xfrm>
            <a:off x="174715" y="2795704"/>
            <a:ext cx="4929034" cy="261610"/>
          </a:xfrm>
          <a:prstGeom prst="rect">
            <a:avLst/>
          </a:prstGeom>
          <a:noFill/>
        </p:spPr>
        <p:txBody>
          <a:bodyPr wrap="square" rtlCol="0">
            <a:spAutoFit/>
          </a:bodyPr>
          <a:lstStyle/>
          <a:p>
            <a:r>
              <a:rPr lang="pt-BR" sz="1100" b="1" dirty="0"/>
              <a:t>VAZÕES MÁXIMAS:</a:t>
            </a:r>
          </a:p>
        </p:txBody>
      </p:sp>
      <p:sp>
        <p:nvSpPr>
          <p:cNvPr id="17" name="Retângulo 16">
            <a:extLst>
              <a:ext uri="{FF2B5EF4-FFF2-40B4-BE49-F238E27FC236}">
                <a16:creationId xmlns:a16="http://schemas.microsoft.com/office/drawing/2014/main" id="{7F697C50-059A-45AA-8F44-F40FF464DE38}"/>
              </a:ext>
            </a:extLst>
          </p:cNvPr>
          <p:cNvSpPr/>
          <p:nvPr/>
        </p:nvSpPr>
        <p:spPr>
          <a:xfrm>
            <a:off x="165978" y="4666875"/>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8. SEGURANÇA:</a:t>
            </a:r>
          </a:p>
        </p:txBody>
      </p:sp>
      <p:sp>
        <p:nvSpPr>
          <p:cNvPr id="21" name="CaixaDeTexto 20"/>
          <p:cNvSpPr txBox="1"/>
          <p:nvPr/>
        </p:nvSpPr>
        <p:spPr>
          <a:xfrm>
            <a:off x="165978" y="4896266"/>
            <a:ext cx="5001042" cy="1446550"/>
          </a:xfrm>
          <a:prstGeom prst="rect">
            <a:avLst/>
          </a:prstGeom>
          <a:noFill/>
        </p:spPr>
        <p:txBody>
          <a:bodyPr wrap="square" rtlCol="0">
            <a:spAutoFit/>
          </a:bodyPr>
          <a:lstStyle/>
          <a:p>
            <a:pPr algn="just"/>
            <a:r>
              <a:rPr lang="pt-BR" sz="1100" dirty="0"/>
              <a:t>8.1 Crianças devem ser supervisionadas para que não brinquem com o aparelho.</a:t>
            </a:r>
          </a:p>
          <a:p>
            <a:pPr algn="just"/>
            <a:r>
              <a:rPr lang="pt-BR" sz="1100" dirty="0"/>
              <a:t>8.2 Nunca coloque  o aparelho perto de produtos inflamáveis, nem obstrua as  entradas de ar que ficam nas laterais ou no fundo do aparelho. </a:t>
            </a:r>
          </a:p>
          <a:p>
            <a:pPr algn="just"/>
            <a:r>
              <a:rPr lang="pt-BR" sz="1100" dirty="0"/>
              <a:t>8.3 Na parte do circuito refrigerante não fure os tubos de cobre ou de inox pois é por ele que o gás refrigerante chega até a serpentina que está  dentro do tanque.</a:t>
            </a:r>
          </a:p>
          <a:p>
            <a:pPr algn="just"/>
            <a:r>
              <a:rPr lang="pt-BR" sz="1100" dirty="0"/>
              <a:t>8.4 Para evitar danos ao aparelho, nunca desligue-o puxando pelo cordão elétrico.</a:t>
            </a:r>
          </a:p>
          <a:p>
            <a:pPr algn="just"/>
            <a:r>
              <a:rPr lang="pt-BR" sz="1100" dirty="0"/>
              <a:t>8.5 O uso de acessórios não recomendados para este aparelho, poderá causar acidentes e/ou mau funcionamento do aparelho.</a:t>
            </a:r>
          </a:p>
        </p:txBody>
      </p:sp>
      <p:sp>
        <p:nvSpPr>
          <p:cNvPr id="2" name="Espaço Reservado para Número de Slide 1">
            <a:extLst>
              <a:ext uri="{FF2B5EF4-FFF2-40B4-BE49-F238E27FC236}">
                <a16:creationId xmlns:a16="http://schemas.microsoft.com/office/drawing/2014/main" id="{8DF1C6A3-B642-4763-8595-96146CD3A05B}"/>
              </a:ext>
            </a:extLst>
          </p:cNvPr>
          <p:cNvSpPr>
            <a:spLocks noGrp="1"/>
          </p:cNvSpPr>
          <p:nvPr>
            <p:ph type="sldNum" sz="quarter" idx="12"/>
          </p:nvPr>
        </p:nvSpPr>
        <p:spPr/>
        <p:txBody>
          <a:bodyPr/>
          <a:lstStyle/>
          <a:p>
            <a:r>
              <a:rPr lang="pt-BR" dirty="0"/>
              <a:t>3</a:t>
            </a:r>
          </a:p>
        </p:txBody>
      </p:sp>
    </p:spTree>
    <p:extLst>
      <p:ext uri="{BB962C8B-B14F-4D97-AF65-F5344CB8AC3E}">
        <p14:creationId xmlns:p14="http://schemas.microsoft.com/office/powerpoint/2010/main" val="2852820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tângulo 12">
            <a:extLst>
              <a:ext uri="{FF2B5EF4-FFF2-40B4-BE49-F238E27FC236}">
                <a16:creationId xmlns:a16="http://schemas.microsoft.com/office/drawing/2014/main" id="{E0FF72BE-3DAB-45B8-8B8A-7D78F162DA1A}"/>
              </a:ext>
            </a:extLst>
          </p:cNvPr>
          <p:cNvSpPr/>
          <p:nvPr/>
        </p:nvSpPr>
        <p:spPr>
          <a:xfrm>
            <a:off x="177577" y="17569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9. </a:t>
            </a:r>
            <a:r>
              <a:rPr lang="pt-BR" sz="1100" b="1">
                <a:solidFill>
                  <a:schemeClr val="tx1"/>
                </a:solidFill>
              </a:rPr>
              <a:t>FUNCIONAMENTO E UTILIZAÇÃO</a:t>
            </a:r>
            <a:endParaRPr lang="pt-BR" sz="1100" b="1" dirty="0">
              <a:solidFill>
                <a:schemeClr val="tx1"/>
              </a:solidFill>
            </a:endParaRPr>
          </a:p>
        </p:txBody>
      </p:sp>
      <p:sp>
        <p:nvSpPr>
          <p:cNvPr id="14" name="Retângulo 13">
            <a:extLst>
              <a:ext uri="{FF2B5EF4-FFF2-40B4-BE49-F238E27FC236}">
                <a16:creationId xmlns:a16="http://schemas.microsoft.com/office/drawing/2014/main" id="{B660E073-58AC-4A27-8256-33C951299F94}"/>
              </a:ext>
            </a:extLst>
          </p:cNvPr>
          <p:cNvSpPr/>
          <p:nvPr/>
        </p:nvSpPr>
        <p:spPr>
          <a:xfrm>
            <a:off x="161801" y="225336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10. ATERAMENTO </a:t>
            </a:r>
            <a:endParaRPr lang="pt-BR" sz="1100" b="1" i="1" dirty="0">
              <a:solidFill>
                <a:schemeClr val="tx1"/>
              </a:solidFill>
            </a:endParaRPr>
          </a:p>
        </p:txBody>
      </p:sp>
      <p:sp>
        <p:nvSpPr>
          <p:cNvPr id="15" name="CaixaDeTexto 14"/>
          <p:cNvSpPr txBox="1"/>
          <p:nvPr/>
        </p:nvSpPr>
        <p:spPr>
          <a:xfrm>
            <a:off x="177578" y="468262"/>
            <a:ext cx="5001042" cy="1785104"/>
          </a:xfrm>
          <a:prstGeom prst="rect">
            <a:avLst/>
          </a:prstGeom>
          <a:noFill/>
        </p:spPr>
        <p:txBody>
          <a:bodyPr wrap="square" rtlCol="0">
            <a:spAutoFit/>
          </a:bodyPr>
          <a:lstStyle/>
          <a:p>
            <a:pPr algn="just"/>
            <a:r>
              <a:rPr lang="pt-BR" sz="1100" b="1" dirty="0"/>
              <a:t>9.1 Como ligar seu equipamento</a:t>
            </a:r>
            <a:endParaRPr lang="pt-BR" sz="1100" dirty="0"/>
          </a:p>
          <a:p>
            <a:pPr algn="just"/>
            <a:endParaRPr lang="pt-BR" sz="1100" b="1" dirty="0"/>
          </a:p>
          <a:p>
            <a:pPr marL="171450" indent="-171450" algn="just">
              <a:buFont typeface="Arial" pitchFamily="34" charset="0"/>
              <a:buChar char="•"/>
            </a:pPr>
            <a:r>
              <a:rPr lang="pt-BR" sz="1100" b="1" dirty="0"/>
              <a:t>Para ligar, coloque o plugue na tomada. Em uso normal funciona na faixa de temperatura de 5°C a 10°C.</a:t>
            </a:r>
          </a:p>
          <a:p>
            <a:pPr marL="171450" indent="-171450" algn="just">
              <a:buFont typeface="Arial" pitchFamily="34" charset="0"/>
              <a:buChar char="•"/>
            </a:pPr>
            <a:endParaRPr lang="pt-BR" sz="1100" b="1" dirty="0"/>
          </a:p>
          <a:p>
            <a:pPr marL="171450" indent="-171450" algn="just">
              <a:buFont typeface="Arial" pitchFamily="34" charset="0"/>
              <a:buChar char="•"/>
            </a:pPr>
            <a:r>
              <a:rPr lang="pt-BR" sz="1100" b="1" dirty="0"/>
              <a:t>O termostato sai regulado de fábrica, objetivando melhor desempenho e economia.</a:t>
            </a:r>
          </a:p>
          <a:p>
            <a:pPr marL="171450" indent="-171450" algn="just">
              <a:buFont typeface="Arial" pitchFamily="34" charset="0"/>
              <a:buChar char="•"/>
            </a:pPr>
            <a:endParaRPr lang="pt-BR" sz="1100" b="1" dirty="0"/>
          </a:p>
          <a:p>
            <a:pPr marL="171450" indent="-171450" algn="just">
              <a:buFont typeface="Arial" pitchFamily="34" charset="0"/>
              <a:buChar char="•"/>
            </a:pPr>
            <a:r>
              <a:rPr lang="pt-BR" sz="1100" b="1" dirty="0"/>
              <a:t>No caso de defeito ou nova regulagem do termostato, é necessário chamar a Assistência técnica Autorizada.  </a:t>
            </a:r>
          </a:p>
        </p:txBody>
      </p:sp>
      <p:sp>
        <p:nvSpPr>
          <p:cNvPr id="16" name="CaixaDeTexto 15"/>
          <p:cNvSpPr txBox="1"/>
          <p:nvPr/>
        </p:nvSpPr>
        <p:spPr>
          <a:xfrm>
            <a:off x="161802" y="2556494"/>
            <a:ext cx="5001042" cy="938719"/>
          </a:xfrm>
          <a:prstGeom prst="rect">
            <a:avLst/>
          </a:prstGeom>
          <a:noFill/>
        </p:spPr>
        <p:txBody>
          <a:bodyPr wrap="square" rtlCol="0">
            <a:spAutoFit/>
          </a:bodyPr>
          <a:lstStyle/>
          <a:p>
            <a:pPr algn="just"/>
            <a:r>
              <a:rPr lang="pt-BR" sz="1100" dirty="0"/>
              <a:t>10.1 O pino central do plugue do cordão de alimentação elétrica do bebedouro, corresponde a ligação do fio terra, seguindo a norma de segurança padrão.</a:t>
            </a:r>
          </a:p>
          <a:p>
            <a:pPr algn="just"/>
            <a:r>
              <a:rPr lang="pt-BR" sz="1100" dirty="0"/>
              <a:t>10.2 O aterramento é necessário  independente da voltagem da rede elétrica e não deve ser feita ao fio neutro da rede elétrica. Para fazer um aterramento correto siga as normas de segurança adequada.</a:t>
            </a:r>
          </a:p>
        </p:txBody>
      </p:sp>
      <p:sp>
        <p:nvSpPr>
          <p:cNvPr id="17" name="CaixaDeTexto 16"/>
          <p:cNvSpPr txBox="1"/>
          <p:nvPr/>
        </p:nvSpPr>
        <p:spPr>
          <a:xfrm>
            <a:off x="177578" y="3509148"/>
            <a:ext cx="4985265" cy="261610"/>
          </a:xfrm>
          <a:prstGeom prst="rect">
            <a:avLst/>
          </a:prstGeom>
          <a:noFill/>
        </p:spPr>
        <p:txBody>
          <a:bodyPr wrap="square" rtlCol="0">
            <a:spAutoFit/>
          </a:bodyPr>
          <a:lstStyle/>
          <a:p>
            <a:r>
              <a:rPr lang="pt-BR" sz="1100" b="1" dirty="0"/>
              <a:t>Estabilizador de Voltagem</a:t>
            </a:r>
          </a:p>
        </p:txBody>
      </p:sp>
      <p:sp>
        <p:nvSpPr>
          <p:cNvPr id="18" name="CaixaDeTexto 17"/>
          <p:cNvSpPr txBox="1"/>
          <p:nvPr/>
        </p:nvSpPr>
        <p:spPr>
          <a:xfrm>
            <a:off x="177578" y="3684523"/>
            <a:ext cx="4985266" cy="769441"/>
          </a:xfrm>
          <a:prstGeom prst="rect">
            <a:avLst/>
          </a:prstGeom>
          <a:noFill/>
        </p:spPr>
        <p:txBody>
          <a:bodyPr wrap="square" rtlCol="0">
            <a:spAutoFit/>
          </a:bodyPr>
          <a:lstStyle/>
          <a:p>
            <a:pPr algn="just"/>
            <a:r>
              <a:rPr lang="pt-BR" sz="1100" dirty="0"/>
              <a:t>10.3  Caso a tensão da rede local apresente oscilações de energia, é necessário a instalação de um estabilizador automático de voltagem de capacidade compatível com o consumo de seu equipamento, de forma a não causar qualquer dano ao mesmo.</a:t>
            </a:r>
          </a:p>
        </p:txBody>
      </p:sp>
      <p:sp>
        <p:nvSpPr>
          <p:cNvPr id="20" name="CaixaDeTexto 19"/>
          <p:cNvSpPr txBox="1"/>
          <p:nvPr/>
        </p:nvSpPr>
        <p:spPr>
          <a:xfrm>
            <a:off x="177578" y="4716734"/>
            <a:ext cx="4985265" cy="1615827"/>
          </a:xfrm>
          <a:prstGeom prst="rect">
            <a:avLst/>
          </a:prstGeom>
          <a:noFill/>
        </p:spPr>
        <p:txBody>
          <a:bodyPr wrap="square" rtlCol="0">
            <a:spAutoFit/>
          </a:bodyPr>
          <a:lstStyle/>
          <a:p>
            <a:pPr marL="171450" indent="-171450" algn="just">
              <a:buFont typeface="Arial" pitchFamily="34" charset="0"/>
              <a:buChar char="•"/>
            </a:pPr>
            <a:r>
              <a:rPr lang="pt-BR" sz="1100" dirty="0"/>
              <a:t>Para a limpeza externa, primeiro desligue o plugue da tomada, depois utilize um pano umedecido com água.</a:t>
            </a:r>
          </a:p>
          <a:p>
            <a:pPr marL="171450" indent="-171450" algn="just">
              <a:buFont typeface="Arial" pitchFamily="34" charset="0"/>
              <a:buChar char="•"/>
            </a:pPr>
            <a:r>
              <a:rPr lang="pt-BR" sz="1100" dirty="0"/>
              <a:t>Nunca utilize esguicho da mangueira de água, pois poderá infiltrar no isolamento do seu equipamento, o que provoca um desgaste precoce, encurtando o seu tempo de vida útil.</a:t>
            </a:r>
          </a:p>
          <a:p>
            <a:pPr marL="171450" indent="-171450" algn="just">
              <a:buFont typeface="Arial" pitchFamily="34" charset="0"/>
              <a:buChar char="•"/>
            </a:pPr>
            <a:r>
              <a:rPr lang="pt-BR" sz="1100" dirty="0"/>
              <a:t>A higienização do reservatório deve ser feita a cada três meses.</a:t>
            </a:r>
          </a:p>
          <a:p>
            <a:pPr marL="171450" indent="-171450" algn="just">
              <a:buFont typeface="Arial" pitchFamily="34" charset="0"/>
              <a:buChar char="•"/>
            </a:pPr>
            <a:r>
              <a:rPr lang="pt-BR" sz="1100" dirty="0"/>
              <a:t>Para higienização do condensador, contatar a Assistência Autorizada.</a:t>
            </a:r>
          </a:p>
          <a:p>
            <a:pPr algn="just"/>
            <a:endParaRPr lang="pt-BR" sz="1100" dirty="0"/>
          </a:p>
          <a:p>
            <a:pPr algn="just"/>
            <a:r>
              <a:rPr lang="pt-BR" sz="1100" b="1" dirty="0"/>
              <a:t>Nota: A garantia do equipamento não cobre este serviço de higienização.</a:t>
            </a:r>
            <a:r>
              <a:rPr lang="pt-BR" sz="1100" dirty="0"/>
              <a:t>  </a:t>
            </a:r>
          </a:p>
        </p:txBody>
      </p:sp>
      <p:sp>
        <p:nvSpPr>
          <p:cNvPr id="10" name="Retângulo 9">
            <a:extLst>
              <a:ext uri="{FF2B5EF4-FFF2-40B4-BE49-F238E27FC236}">
                <a16:creationId xmlns:a16="http://schemas.microsoft.com/office/drawing/2014/main" id="{1A804FA5-A5D0-4907-8515-14EF87382AF2}"/>
              </a:ext>
            </a:extLst>
          </p:cNvPr>
          <p:cNvSpPr/>
          <p:nvPr/>
        </p:nvSpPr>
        <p:spPr>
          <a:xfrm>
            <a:off x="177577" y="4470653"/>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11. LIMPEZA </a:t>
            </a:r>
            <a:endParaRPr lang="pt-BR" sz="1100" b="1" i="1" dirty="0">
              <a:solidFill>
                <a:schemeClr val="tx1"/>
              </a:solidFill>
            </a:endParaRPr>
          </a:p>
        </p:txBody>
      </p:sp>
      <p:sp>
        <p:nvSpPr>
          <p:cNvPr id="2" name="Espaço Reservado para Número de Slide 1">
            <a:extLst>
              <a:ext uri="{FF2B5EF4-FFF2-40B4-BE49-F238E27FC236}">
                <a16:creationId xmlns:a16="http://schemas.microsoft.com/office/drawing/2014/main" id="{C92935AF-5D4D-4D96-8728-FACFD37C4434}"/>
              </a:ext>
            </a:extLst>
          </p:cNvPr>
          <p:cNvSpPr>
            <a:spLocks noGrp="1"/>
          </p:cNvSpPr>
          <p:nvPr>
            <p:ph type="sldNum" sz="quarter" idx="12"/>
          </p:nvPr>
        </p:nvSpPr>
        <p:spPr/>
        <p:txBody>
          <a:bodyPr/>
          <a:lstStyle/>
          <a:p>
            <a:r>
              <a:rPr lang="pt-BR" dirty="0"/>
              <a:t>4</a:t>
            </a:r>
          </a:p>
        </p:txBody>
      </p:sp>
    </p:spTree>
    <p:extLst>
      <p:ext uri="{BB962C8B-B14F-4D97-AF65-F5344CB8AC3E}">
        <p14:creationId xmlns:p14="http://schemas.microsoft.com/office/powerpoint/2010/main" val="916170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tângulo 12">
            <a:extLst>
              <a:ext uri="{FF2B5EF4-FFF2-40B4-BE49-F238E27FC236}">
                <a16:creationId xmlns:a16="http://schemas.microsoft.com/office/drawing/2014/main" id="{E0FF72BE-3DAB-45B8-8B8A-7D78F162DA1A}"/>
              </a:ext>
            </a:extLst>
          </p:cNvPr>
          <p:cNvSpPr/>
          <p:nvPr/>
        </p:nvSpPr>
        <p:spPr>
          <a:xfrm>
            <a:off x="177577" y="17569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12. POSSÍVEIS DEFEITOS E SOLUÇÕES </a:t>
            </a:r>
          </a:p>
        </p:txBody>
      </p:sp>
      <p:graphicFrame>
        <p:nvGraphicFramePr>
          <p:cNvPr id="2" name="Tabela 1">
            <a:extLst>
              <a:ext uri="{FF2B5EF4-FFF2-40B4-BE49-F238E27FC236}">
                <a16:creationId xmlns:a16="http://schemas.microsoft.com/office/drawing/2014/main" id="{28BC093C-9B8F-4740-8EAE-DDB613B592A1}"/>
              </a:ext>
            </a:extLst>
          </p:cNvPr>
          <p:cNvGraphicFramePr>
            <a:graphicFrameLocks noGrp="1"/>
          </p:cNvGraphicFramePr>
          <p:nvPr>
            <p:extLst>
              <p:ext uri="{D42A27DB-BD31-4B8C-83A1-F6EECF244321}">
                <p14:modId xmlns:p14="http://schemas.microsoft.com/office/powerpoint/2010/main" val="775039039"/>
              </p:ext>
            </p:extLst>
          </p:nvPr>
        </p:nvGraphicFramePr>
        <p:xfrm>
          <a:off x="177577" y="540271"/>
          <a:ext cx="4880769" cy="5582920"/>
        </p:xfrm>
        <a:graphic>
          <a:graphicData uri="http://schemas.openxmlformats.org/drawingml/2006/table">
            <a:tbl>
              <a:tblPr firstRow="1" bandRow="1">
                <a:tableStyleId>{073A0DAA-6AF3-43AB-8588-CEC1D06C72B9}</a:tableStyleId>
              </a:tblPr>
              <a:tblGrid>
                <a:gridCol w="1626923">
                  <a:extLst>
                    <a:ext uri="{9D8B030D-6E8A-4147-A177-3AD203B41FA5}">
                      <a16:colId xmlns:a16="http://schemas.microsoft.com/office/drawing/2014/main" val="610563252"/>
                    </a:ext>
                  </a:extLst>
                </a:gridCol>
                <a:gridCol w="1237621">
                  <a:extLst>
                    <a:ext uri="{9D8B030D-6E8A-4147-A177-3AD203B41FA5}">
                      <a16:colId xmlns:a16="http://schemas.microsoft.com/office/drawing/2014/main" val="287491551"/>
                    </a:ext>
                  </a:extLst>
                </a:gridCol>
                <a:gridCol w="2016225">
                  <a:extLst>
                    <a:ext uri="{9D8B030D-6E8A-4147-A177-3AD203B41FA5}">
                      <a16:colId xmlns:a16="http://schemas.microsoft.com/office/drawing/2014/main" val="1186598102"/>
                    </a:ext>
                  </a:extLst>
                </a:gridCol>
              </a:tblGrid>
              <a:tr h="216000">
                <a:tc>
                  <a:txBody>
                    <a:bodyPr/>
                    <a:lstStyle/>
                    <a:p>
                      <a:r>
                        <a:rPr lang="pt-BR" sz="900" dirty="0"/>
                        <a:t>Problema</a:t>
                      </a:r>
                    </a:p>
                  </a:txBody>
                  <a:tcPr/>
                </a:tc>
                <a:tc>
                  <a:txBody>
                    <a:bodyPr/>
                    <a:lstStyle/>
                    <a:p>
                      <a:r>
                        <a:rPr lang="pt-BR" sz="900" dirty="0"/>
                        <a:t>Provável causa</a:t>
                      </a:r>
                    </a:p>
                  </a:txBody>
                  <a:tcPr/>
                </a:tc>
                <a:tc>
                  <a:txBody>
                    <a:bodyPr/>
                    <a:lstStyle/>
                    <a:p>
                      <a:r>
                        <a:rPr lang="pt-BR" sz="900" dirty="0"/>
                        <a:t>Possível solução</a:t>
                      </a:r>
                    </a:p>
                  </a:txBody>
                  <a:tcPr/>
                </a:tc>
                <a:extLst>
                  <a:ext uri="{0D108BD9-81ED-4DB2-BD59-A6C34878D82A}">
                    <a16:rowId xmlns:a16="http://schemas.microsoft.com/office/drawing/2014/main" val="2339907438"/>
                  </a:ext>
                </a:extLst>
              </a:tr>
              <a:tr h="370840">
                <a:tc rowSpan="6">
                  <a:txBody>
                    <a:bodyPr/>
                    <a:lstStyle/>
                    <a:p>
                      <a:pPr algn="l"/>
                      <a:r>
                        <a:rPr lang="pt-BR" sz="900" dirty="0"/>
                        <a:t>Não refrigera</a:t>
                      </a:r>
                    </a:p>
                  </a:txBody>
                  <a:tcPr anchor="ctr"/>
                </a:tc>
                <a:tc>
                  <a:txBody>
                    <a:bodyPr/>
                    <a:lstStyle/>
                    <a:p>
                      <a:r>
                        <a:rPr lang="pt-BR" sz="900" dirty="0"/>
                        <a:t>Alta demanda</a:t>
                      </a:r>
                    </a:p>
                  </a:txBody>
                  <a:tcPr/>
                </a:tc>
                <a:tc>
                  <a:txBody>
                    <a:bodyPr/>
                    <a:lstStyle/>
                    <a:p>
                      <a:r>
                        <a:rPr lang="pt-BR" sz="900" dirty="0"/>
                        <a:t>Verificar especificações técnica do produto. </a:t>
                      </a:r>
                    </a:p>
                  </a:txBody>
                  <a:tcPr/>
                </a:tc>
                <a:extLst>
                  <a:ext uri="{0D108BD9-81ED-4DB2-BD59-A6C34878D82A}">
                    <a16:rowId xmlns:a16="http://schemas.microsoft.com/office/drawing/2014/main" val="427458727"/>
                  </a:ext>
                </a:extLst>
              </a:tr>
              <a:tr h="370840">
                <a:tc vMerge="1">
                  <a:txBody>
                    <a:bodyPr/>
                    <a:lstStyle/>
                    <a:p>
                      <a:endParaRPr lang="pt-BR" sz="900" dirty="0"/>
                    </a:p>
                  </a:txBody>
                  <a:tcPr/>
                </a:tc>
                <a:tc>
                  <a:txBody>
                    <a:bodyPr/>
                    <a:lstStyle/>
                    <a:p>
                      <a:r>
                        <a:rPr lang="pt-BR" sz="900" dirty="0"/>
                        <a:t>Temperatura ambiente elevada</a:t>
                      </a:r>
                    </a:p>
                  </a:txBody>
                  <a:tcPr/>
                </a:tc>
                <a:tc>
                  <a:txBody>
                    <a:bodyPr/>
                    <a:lstStyle/>
                    <a:p>
                      <a:r>
                        <a:rPr lang="pt-BR" sz="900" dirty="0"/>
                        <a:t>Instalar o produto em um local arejado com temperaturas abaixo de 38 °C</a:t>
                      </a:r>
                    </a:p>
                  </a:txBody>
                  <a:tcPr/>
                </a:tc>
                <a:extLst>
                  <a:ext uri="{0D108BD9-81ED-4DB2-BD59-A6C34878D82A}">
                    <a16:rowId xmlns:a16="http://schemas.microsoft.com/office/drawing/2014/main" val="3365563480"/>
                  </a:ext>
                </a:extLst>
              </a:tr>
              <a:tr h="370840">
                <a:tc vMerge="1">
                  <a:txBody>
                    <a:bodyPr/>
                    <a:lstStyle/>
                    <a:p>
                      <a:endParaRPr lang="pt-BR" sz="900" dirty="0"/>
                    </a:p>
                  </a:txBody>
                  <a:tcPr/>
                </a:tc>
                <a:tc>
                  <a:txBody>
                    <a:bodyPr/>
                    <a:lstStyle/>
                    <a:p>
                      <a:r>
                        <a:rPr lang="pt-BR" sz="900" dirty="0"/>
                        <a:t>Sem energia de alimentação</a:t>
                      </a:r>
                    </a:p>
                  </a:txBody>
                  <a:tcPr/>
                </a:tc>
                <a:tc>
                  <a:txBody>
                    <a:bodyPr/>
                    <a:lstStyle/>
                    <a:p>
                      <a:pPr marL="0" algn="l" defTabSz="914400" rtl="0" eaLnBrk="1" latinLnBrk="0" hangingPunct="1"/>
                      <a:r>
                        <a:rPr lang="pt-BR" sz="900" kern="1200" dirty="0">
                          <a:solidFill>
                            <a:schemeClr val="dk1"/>
                          </a:solidFill>
                          <a:latin typeface="+mn-lt"/>
                          <a:ea typeface="+mn-ea"/>
                          <a:cs typeface="+mn-cs"/>
                        </a:rPr>
                        <a:t>Verifique se a tomada elétrica está conectada e se o termostato está ligado na posição 4.</a:t>
                      </a:r>
                    </a:p>
                  </a:txBody>
                  <a:tcPr/>
                </a:tc>
                <a:extLst>
                  <a:ext uri="{0D108BD9-81ED-4DB2-BD59-A6C34878D82A}">
                    <a16:rowId xmlns:a16="http://schemas.microsoft.com/office/drawing/2014/main" val="1067662144"/>
                  </a:ext>
                </a:extLst>
              </a:tr>
              <a:tr h="370840">
                <a:tc vMerge="1">
                  <a:txBody>
                    <a:bodyPr/>
                    <a:lstStyle/>
                    <a:p>
                      <a:endParaRPr lang="pt-BR" sz="900" dirty="0"/>
                    </a:p>
                  </a:txBody>
                  <a:tcPr/>
                </a:tc>
                <a:tc>
                  <a:txBody>
                    <a:bodyPr/>
                    <a:lstStyle/>
                    <a:p>
                      <a:r>
                        <a:rPr lang="pt-BR" sz="900" dirty="0"/>
                        <a:t>Sujeira no condensador</a:t>
                      </a:r>
                    </a:p>
                  </a:txBody>
                  <a:tcPr/>
                </a:tc>
                <a:tc>
                  <a:txBody>
                    <a:bodyPr/>
                    <a:lstStyle/>
                    <a:p>
                      <a:r>
                        <a:rPr lang="pt-BR" sz="900" dirty="0"/>
                        <a:t>Entre em contato com a assistência técnica</a:t>
                      </a:r>
                    </a:p>
                  </a:txBody>
                  <a:tcPr/>
                </a:tc>
                <a:extLst>
                  <a:ext uri="{0D108BD9-81ED-4DB2-BD59-A6C34878D82A}">
                    <a16:rowId xmlns:a16="http://schemas.microsoft.com/office/drawing/2014/main" val="3641234357"/>
                  </a:ext>
                </a:extLst>
              </a:tr>
              <a:tr h="370840">
                <a:tc vMerge="1">
                  <a:txBody>
                    <a:bodyPr/>
                    <a:lstStyle/>
                    <a:p>
                      <a:endParaRPr lang="pt-BR" sz="900" dirty="0"/>
                    </a:p>
                  </a:txBody>
                  <a:tcPr/>
                </a:tc>
                <a:tc>
                  <a:txBody>
                    <a:bodyPr/>
                    <a:lstStyle/>
                    <a:p>
                      <a:r>
                        <a:rPr lang="pt-BR" sz="900" dirty="0"/>
                        <a:t>Botão do termostato na posição desligado</a:t>
                      </a:r>
                    </a:p>
                  </a:txBody>
                  <a:tcPr/>
                </a:tc>
                <a:tc>
                  <a:txBody>
                    <a:bodyPr/>
                    <a:lstStyle/>
                    <a:p>
                      <a:r>
                        <a:rPr lang="pt-BR" sz="900" dirty="0"/>
                        <a:t>Posicionar termostato no nível 4. (Padrão de fábrica)</a:t>
                      </a:r>
                    </a:p>
                  </a:txBody>
                  <a:tcPr/>
                </a:tc>
                <a:extLst>
                  <a:ext uri="{0D108BD9-81ED-4DB2-BD59-A6C34878D82A}">
                    <a16:rowId xmlns:a16="http://schemas.microsoft.com/office/drawing/2014/main" val="3567776147"/>
                  </a:ext>
                </a:extLst>
              </a:tr>
              <a:tr h="370840">
                <a:tc vMerge="1">
                  <a:txBody>
                    <a:bodyPr/>
                    <a:lstStyle/>
                    <a:p>
                      <a:endParaRPr lang="pt-BR" sz="900" dirty="0"/>
                    </a:p>
                  </a:txBody>
                  <a:tcPr/>
                </a:tc>
                <a:tc>
                  <a:txBody>
                    <a:bodyPr/>
                    <a:lstStyle/>
                    <a:p>
                      <a:r>
                        <a:rPr lang="pt-BR" sz="900" dirty="0"/>
                        <a:t>Saídas de ar obstruídas </a:t>
                      </a:r>
                    </a:p>
                  </a:txBody>
                  <a:tcPr/>
                </a:tc>
                <a:tc>
                  <a:txBody>
                    <a:bodyPr/>
                    <a:lstStyle/>
                    <a:p>
                      <a:r>
                        <a:rPr lang="pt-BR" sz="900" dirty="0"/>
                        <a:t>Instalar o bebedouros em locais com mais de 25 cm de distância dos locais de ventilação (Lateral e traseira do produto)</a:t>
                      </a:r>
                    </a:p>
                  </a:txBody>
                  <a:tcPr/>
                </a:tc>
                <a:extLst>
                  <a:ext uri="{0D108BD9-81ED-4DB2-BD59-A6C34878D82A}">
                    <a16:rowId xmlns:a16="http://schemas.microsoft.com/office/drawing/2014/main" val="526893900"/>
                  </a:ext>
                </a:extLst>
              </a:tr>
              <a:tr h="370840">
                <a:tc>
                  <a:txBody>
                    <a:bodyPr/>
                    <a:lstStyle/>
                    <a:p>
                      <a:pPr algn="l"/>
                      <a:r>
                        <a:rPr lang="pt-BR" sz="900" dirty="0"/>
                        <a:t>Água congelando</a:t>
                      </a:r>
                    </a:p>
                  </a:txBody>
                  <a:tcPr anchor="ctr"/>
                </a:tc>
                <a:tc>
                  <a:txBody>
                    <a:bodyPr/>
                    <a:lstStyle/>
                    <a:p>
                      <a:r>
                        <a:rPr lang="pt-BR" sz="900" dirty="0"/>
                        <a:t>Termostato com defeito</a:t>
                      </a:r>
                    </a:p>
                  </a:txBody>
                  <a:tcPr/>
                </a:tc>
                <a:tc>
                  <a:txBody>
                    <a:bodyPr/>
                    <a:lstStyle/>
                    <a:p>
                      <a:r>
                        <a:rPr lang="pt-BR" sz="900" dirty="0"/>
                        <a:t>Entrar em contato com a assistência técnica</a:t>
                      </a:r>
                    </a:p>
                  </a:txBody>
                  <a:tcPr/>
                </a:tc>
                <a:extLst>
                  <a:ext uri="{0D108BD9-81ED-4DB2-BD59-A6C34878D82A}">
                    <a16:rowId xmlns:a16="http://schemas.microsoft.com/office/drawing/2014/main" val="3292434872"/>
                  </a:ext>
                </a:extLst>
              </a:tr>
              <a:tr h="370840">
                <a:tc rowSpan="2">
                  <a:txBody>
                    <a:bodyPr/>
                    <a:lstStyle/>
                    <a:p>
                      <a:pPr algn="l"/>
                      <a:r>
                        <a:rPr lang="pt-BR" sz="900" dirty="0"/>
                        <a:t>Vazamento de água</a:t>
                      </a:r>
                    </a:p>
                  </a:txBody>
                  <a:tcPr anchor="ctr"/>
                </a:tc>
                <a:tc>
                  <a:txBody>
                    <a:bodyPr/>
                    <a:lstStyle/>
                    <a:p>
                      <a:r>
                        <a:rPr lang="pt-BR" sz="900" dirty="0"/>
                        <a:t>Excesso de pressão na entrada de água</a:t>
                      </a:r>
                    </a:p>
                  </a:txBody>
                  <a:tcPr/>
                </a:tc>
                <a:tc>
                  <a:txBody>
                    <a:bodyPr/>
                    <a:lstStyle/>
                    <a:p>
                      <a:r>
                        <a:rPr lang="pt-BR" sz="900" dirty="0"/>
                        <a:t>Utilizar redutor de pressão</a:t>
                      </a:r>
                    </a:p>
                  </a:txBody>
                  <a:tcPr/>
                </a:tc>
                <a:extLst>
                  <a:ext uri="{0D108BD9-81ED-4DB2-BD59-A6C34878D82A}">
                    <a16:rowId xmlns:a16="http://schemas.microsoft.com/office/drawing/2014/main" val="2536280003"/>
                  </a:ext>
                </a:extLst>
              </a:tr>
              <a:tr h="370840">
                <a:tc vMerge="1">
                  <a:txBody>
                    <a:bodyPr/>
                    <a:lstStyle/>
                    <a:p>
                      <a:endParaRPr lang="pt-BR" sz="900" dirty="0"/>
                    </a:p>
                  </a:txBody>
                  <a:tcPr/>
                </a:tc>
                <a:tc>
                  <a:txBody>
                    <a:bodyPr/>
                    <a:lstStyle/>
                    <a:p>
                      <a:r>
                        <a:rPr lang="pt-BR" sz="900" dirty="0"/>
                        <a:t>Transbordar água pela tampa</a:t>
                      </a:r>
                    </a:p>
                  </a:txBody>
                  <a:tcPr/>
                </a:tc>
                <a:tc>
                  <a:txBody>
                    <a:bodyPr/>
                    <a:lstStyle/>
                    <a:p>
                      <a:r>
                        <a:rPr lang="pt-BR" sz="900" dirty="0"/>
                        <a:t>Verificar boia interna do reservatório do produto</a:t>
                      </a:r>
                    </a:p>
                  </a:txBody>
                  <a:tcPr/>
                </a:tc>
                <a:extLst>
                  <a:ext uri="{0D108BD9-81ED-4DB2-BD59-A6C34878D82A}">
                    <a16:rowId xmlns:a16="http://schemas.microsoft.com/office/drawing/2014/main" val="1410756513"/>
                  </a:ext>
                </a:extLst>
              </a:tr>
              <a:tr h="370840">
                <a:tc rowSpan="4">
                  <a:txBody>
                    <a:bodyPr/>
                    <a:lstStyle/>
                    <a:p>
                      <a:pPr algn="l"/>
                      <a:r>
                        <a:rPr lang="pt-BR" sz="900" dirty="0"/>
                        <a:t>Compressor não dispara</a:t>
                      </a:r>
                    </a:p>
                  </a:txBody>
                  <a:tcPr anchor="ctr"/>
                </a:tc>
                <a:tc>
                  <a:txBody>
                    <a:bodyPr/>
                    <a:lstStyle/>
                    <a:p>
                      <a:r>
                        <a:rPr lang="pt-BR" sz="900" dirty="0"/>
                        <a:t>Baixa tensão de alimentação </a:t>
                      </a:r>
                    </a:p>
                  </a:txBody>
                  <a:tcPr/>
                </a:tc>
                <a:tc>
                  <a:txBody>
                    <a:bodyPr/>
                    <a:lstStyle/>
                    <a:p>
                      <a:r>
                        <a:rPr lang="pt-BR" sz="900" dirty="0"/>
                        <a:t>Verificar a tensão de entrada da tomada elétrica.</a:t>
                      </a:r>
                    </a:p>
                  </a:txBody>
                  <a:tcPr/>
                </a:tc>
                <a:extLst>
                  <a:ext uri="{0D108BD9-81ED-4DB2-BD59-A6C34878D82A}">
                    <a16:rowId xmlns:a16="http://schemas.microsoft.com/office/drawing/2014/main" val="2273431646"/>
                  </a:ext>
                </a:extLst>
              </a:tr>
              <a:tr h="370840">
                <a:tc vMerge="1">
                  <a:txBody>
                    <a:bodyPr/>
                    <a:lstStyle/>
                    <a:p>
                      <a:endParaRPr lang="pt-BR" sz="900" dirty="0"/>
                    </a:p>
                  </a:txBody>
                  <a:tcPr/>
                </a:tc>
                <a:tc>
                  <a:txBody>
                    <a:bodyPr/>
                    <a:lstStyle/>
                    <a:p>
                      <a:r>
                        <a:rPr lang="pt-BR" sz="900" dirty="0"/>
                        <a:t>Rede elétrica de abastecimento sem energia elétrica</a:t>
                      </a:r>
                    </a:p>
                  </a:txBody>
                  <a:tcPr/>
                </a:tc>
                <a:tc>
                  <a:txBody>
                    <a:bodyPr/>
                    <a:lstStyle/>
                    <a:p>
                      <a:r>
                        <a:rPr lang="pt-BR" sz="900" dirty="0"/>
                        <a:t>Aguardar retorno do reabastecimento de energia.</a:t>
                      </a:r>
                    </a:p>
                  </a:txBody>
                  <a:tcPr/>
                </a:tc>
                <a:extLst>
                  <a:ext uri="{0D108BD9-81ED-4DB2-BD59-A6C34878D82A}">
                    <a16:rowId xmlns:a16="http://schemas.microsoft.com/office/drawing/2014/main" val="2018843150"/>
                  </a:ext>
                </a:extLst>
              </a:tr>
              <a:tr h="370840">
                <a:tc vMerge="1">
                  <a:txBody>
                    <a:bodyPr/>
                    <a:lstStyle/>
                    <a:p>
                      <a:endParaRPr lang="pt-BR" sz="900" dirty="0"/>
                    </a:p>
                  </a:txBody>
                  <a:tcPr/>
                </a:tc>
                <a:tc>
                  <a:txBody>
                    <a:bodyPr/>
                    <a:lstStyle/>
                    <a:p>
                      <a:r>
                        <a:rPr lang="pt-BR" sz="900" dirty="0"/>
                        <a:t>Tomada com mau contato</a:t>
                      </a:r>
                    </a:p>
                  </a:txBody>
                  <a:tcPr/>
                </a:tc>
                <a:tc>
                  <a:txBody>
                    <a:bodyPr/>
                    <a:lstStyle/>
                    <a:p>
                      <a:r>
                        <a:rPr lang="pt-BR" sz="900" dirty="0"/>
                        <a:t>Corrigir defeito da tomada.</a:t>
                      </a:r>
                    </a:p>
                  </a:txBody>
                  <a:tcPr/>
                </a:tc>
                <a:extLst>
                  <a:ext uri="{0D108BD9-81ED-4DB2-BD59-A6C34878D82A}">
                    <a16:rowId xmlns:a16="http://schemas.microsoft.com/office/drawing/2014/main" val="455352422"/>
                  </a:ext>
                </a:extLst>
              </a:tr>
              <a:tr h="370840">
                <a:tc vMerge="1">
                  <a:txBody>
                    <a:bodyPr/>
                    <a:lstStyle/>
                    <a:p>
                      <a:endParaRPr lang="pt-BR" sz="900" dirty="0"/>
                    </a:p>
                  </a:txBody>
                  <a:tcPr/>
                </a:tc>
                <a:tc>
                  <a:txBody>
                    <a:bodyPr/>
                    <a:lstStyle/>
                    <a:p>
                      <a:r>
                        <a:rPr lang="pt-BR" sz="900" dirty="0"/>
                        <a:t>Termostato com defeito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900" dirty="0"/>
                        <a:t>Entrar em contato com a assistência técnica</a:t>
                      </a:r>
                    </a:p>
                  </a:txBody>
                  <a:tcPr/>
                </a:tc>
                <a:extLst>
                  <a:ext uri="{0D108BD9-81ED-4DB2-BD59-A6C34878D82A}">
                    <a16:rowId xmlns:a16="http://schemas.microsoft.com/office/drawing/2014/main" val="2689896530"/>
                  </a:ext>
                </a:extLst>
              </a:tr>
            </a:tbl>
          </a:graphicData>
        </a:graphic>
      </p:graphicFrame>
      <p:sp>
        <p:nvSpPr>
          <p:cNvPr id="3" name="Espaço Reservado para Número de Slide 2">
            <a:extLst>
              <a:ext uri="{FF2B5EF4-FFF2-40B4-BE49-F238E27FC236}">
                <a16:creationId xmlns:a16="http://schemas.microsoft.com/office/drawing/2014/main" id="{936A672F-820D-4CBC-8EC0-C7752689D925}"/>
              </a:ext>
            </a:extLst>
          </p:cNvPr>
          <p:cNvSpPr>
            <a:spLocks noGrp="1"/>
          </p:cNvSpPr>
          <p:nvPr>
            <p:ph type="sldNum" sz="quarter" idx="12"/>
          </p:nvPr>
        </p:nvSpPr>
        <p:spPr/>
        <p:txBody>
          <a:bodyPr/>
          <a:lstStyle/>
          <a:p>
            <a:r>
              <a:rPr lang="pt-BR" dirty="0"/>
              <a:t>5</a:t>
            </a:r>
          </a:p>
        </p:txBody>
      </p:sp>
    </p:spTree>
    <p:extLst>
      <p:ext uri="{BB962C8B-B14F-4D97-AF65-F5344CB8AC3E}">
        <p14:creationId xmlns:p14="http://schemas.microsoft.com/office/powerpoint/2010/main" val="346461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a:extLst>
              <a:ext uri="{FF2B5EF4-FFF2-40B4-BE49-F238E27FC236}">
                <a16:creationId xmlns:a16="http://schemas.microsoft.com/office/drawing/2014/main" id="{21ABFF39-0C37-4D4D-B48E-991694E1CC3A}"/>
              </a:ext>
            </a:extLst>
          </p:cNvPr>
          <p:cNvSpPr>
            <a:spLocks noGrp="1"/>
          </p:cNvSpPr>
          <p:nvPr>
            <p:ph type="sldNum" sz="quarter" idx="12"/>
          </p:nvPr>
        </p:nvSpPr>
        <p:spPr>
          <a:xfrm>
            <a:off x="3844317" y="7050472"/>
            <a:ext cx="1251638" cy="402567"/>
          </a:xfrm>
        </p:spPr>
        <p:txBody>
          <a:bodyPr/>
          <a:lstStyle/>
          <a:p>
            <a:r>
              <a:rPr lang="pt-BR" dirty="0"/>
              <a:t>6</a:t>
            </a:r>
          </a:p>
        </p:txBody>
      </p:sp>
      <p:sp>
        <p:nvSpPr>
          <p:cNvPr id="5" name="Retângulo 4">
            <a:extLst>
              <a:ext uri="{FF2B5EF4-FFF2-40B4-BE49-F238E27FC236}">
                <a16:creationId xmlns:a16="http://schemas.microsoft.com/office/drawing/2014/main" id="{DDF56F94-5FAA-403D-ADD3-1501684633BE}"/>
              </a:ext>
            </a:extLst>
          </p:cNvPr>
          <p:cNvSpPr/>
          <p:nvPr/>
        </p:nvSpPr>
        <p:spPr>
          <a:xfrm>
            <a:off x="82827" y="127205"/>
            <a:ext cx="5191233" cy="276999"/>
          </a:xfrm>
          <a:prstGeom prst="rect">
            <a:avLst/>
          </a:prstGeom>
          <a:solidFill>
            <a:schemeClr val="bg1">
              <a:lumMod val="85000"/>
            </a:schemeClr>
          </a:solidFill>
        </p:spPr>
        <p:txBody>
          <a:bodyPr wrap="square" rtlCol="0" anchor="ctr">
            <a:spAutoFit/>
          </a:bodyPr>
          <a:lstStyle/>
          <a:p>
            <a:pPr algn="ctr"/>
            <a:r>
              <a:rPr lang="pt-BR" sz="1200" b="1" dirty="0">
                <a:latin typeface="Arial" panose="020B0604020202020204" pitchFamily="34" charset="0"/>
                <a:cs typeface="Arial" panose="020B0604020202020204" pitchFamily="34" charset="0"/>
              </a:rPr>
              <a:t>TERMO DE GARANTIA</a:t>
            </a:r>
          </a:p>
        </p:txBody>
      </p:sp>
      <p:sp>
        <p:nvSpPr>
          <p:cNvPr id="8" name="CaixaDeTexto 7">
            <a:extLst>
              <a:ext uri="{FF2B5EF4-FFF2-40B4-BE49-F238E27FC236}">
                <a16:creationId xmlns:a16="http://schemas.microsoft.com/office/drawing/2014/main" id="{C03A4C52-64D4-4FA5-9EFC-2AACF4C3B1B3}"/>
              </a:ext>
            </a:extLst>
          </p:cNvPr>
          <p:cNvSpPr txBox="1"/>
          <p:nvPr/>
        </p:nvSpPr>
        <p:spPr>
          <a:xfrm>
            <a:off x="82827" y="400312"/>
            <a:ext cx="5191233" cy="5586145"/>
          </a:xfrm>
          <a:prstGeom prst="rect">
            <a:avLst/>
          </a:prstGeom>
          <a:noFill/>
        </p:spPr>
        <p:txBody>
          <a:bodyPr wrap="square" rtlCol="0">
            <a:spAutoFit/>
          </a:bodyPr>
          <a:lstStyle/>
          <a:p>
            <a:pPr algn="just"/>
            <a:r>
              <a:rPr lang="pt-BR" sz="850" dirty="0">
                <a:latin typeface="Arial" panose="020B0604020202020204" pitchFamily="34" charset="0"/>
                <a:cs typeface="Arial" panose="020B0604020202020204" pitchFamily="34" charset="0"/>
              </a:rPr>
              <a:t>Os produtos Só Aço são garantidos pela Só Aço, na forma estabelecida:</a:t>
            </a:r>
          </a:p>
          <a:p>
            <a:pPr algn="just"/>
            <a:endParaRPr lang="pt-BR" sz="850" dirty="0">
              <a:latin typeface="Arial" panose="020B0604020202020204" pitchFamily="34" charset="0"/>
              <a:cs typeface="Arial" panose="020B0604020202020204" pitchFamily="34" charset="0"/>
            </a:endParaRPr>
          </a:p>
          <a:p>
            <a:pPr marL="176213" indent="-176213" algn="just">
              <a:buAutoNum type="arabicPeriod"/>
            </a:pPr>
            <a:r>
              <a:rPr lang="pt-BR" sz="850" b="1" i="1" dirty="0">
                <a:latin typeface="Arial" panose="020B0604020202020204" pitchFamily="34" charset="0"/>
                <a:cs typeface="Arial" panose="020B0604020202020204" pitchFamily="34" charset="0"/>
              </a:rPr>
              <a:t>Condições gerais de garantia:</a:t>
            </a:r>
          </a:p>
          <a:p>
            <a:pPr marL="176213" indent="-176213" algn="just">
              <a:buAutoNum type="alphaLcParenR"/>
            </a:pPr>
            <a:r>
              <a:rPr lang="pt-BR" sz="850" dirty="0">
                <a:latin typeface="Arial" panose="020B0604020202020204" pitchFamily="34" charset="0"/>
                <a:cs typeface="Arial" panose="020B0604020202020204" pitchFamily="34" charset="0"/>
              </a:rPr>
              <a:t>Os produtos Só Aço são garantidos por 06 (seis) meses a partir da data de emissão da nota fiscal de compra do primeiro comprador contra defeitos de fabricação, sendo 3 (três) meses de garantia legal e mais 3 (três) meses de garantia especial concedida pela Só Aço Industrial</a:t>
            </a:r>
          </a:p>
          <a:p>
            <a:pPr marL="176213" indent="-176213" algn="just">
              <a:buAutoNum type="alphaLcParenR"/>
            </a:pPr>
            <a:r>
              <a:rPr lang="pt-BR" sz="850" dirty="0">
                <a:latin typeface="Arial" panose="020B0604020202020204" pitchFamily="34" charset="0"/>
                <a:cs typeface="Arial" panose="020B0604020202020204" pitchFamily="34" charset="0"/>
              </a:rPr>
              <a:t>Apenas para compressores e motores elétricos a garantia se estende por mais 6 meses além da garantia legal e da garantia especial, totalizando assim 12 meses de garantia para o compressores e motores elétricos. </a:t>
            </a:r>
          </a:p>
          <a:p>
            <a:pPr marL="176213" indent="-176213" algn="just">
              <a:buAutoNum type="alphaLcParenR"/>
            </a:pPr>
            <a:r>
              <a:rPr lang="pt-BR" sz="850" dirty="0">
                <a:latin typeface="Arial" panose="020B0604020202020204" pitchFamily="34" charset="0"/>
                <a:cs typeface="Arial" panose="020B0604020202020204" pitchFamily="34" charset="0"/>
              </a:rPr>
              <a:t>Os seguintes componentes: rolamentos, rodízios, retentores, correias, vidros, lâmpadas, fusíveis, chaves-contadoras, resistências, termostatos, relés, borrachas de vedação e outros componentes que não são produzidos pela Só Aço, estão excluídos totalmente da garantia.</a:t>
            </a:r>
          </a:p>
          <a:p>
            <a:pPr marL="176213" indent="-176213" algn="just">
              <a:buAutoNum type="alphaLcParenR"/>
            </a:pPr>
            <a:r>
              <a:rPr lang="pt-BR" sz="850" dirty="0">
                <a:latin typeface="Arial" panose="020B0604020202020204" pitchFamily="34" charset="0"/>
                <a:cs typeface="Arial" panose="020B0604020202020204" pitchFamily="34" charset="0"/>
              </a:rPr>
              <a:t>Em caso de transferência de prioridade, o período de garantia automaticamente ficará transferido até a expiração do prazo contido na data da Nota fiscal de compra.</a:t>
            </a:r>
          </a:p>
          <a:p>
            <a:pPr marL="176213" indent="-176213" algn="just">
              <a:buAutoNum type="alphaLcParenR"/>
            </a:pPr>
            <a:r>
              <a:rPr lang="pt-BR" sz="850" dirty="0">
                <a:latin typeface="Arial" panose="020B0604020202020204" pitchFamily="34" charset="0"/>
                <a:cs typeface="Arial" panose="020B0604020202020204" pitchFamily="34" charset="0"/>
              </a:rPr>
              <a:t>A substituição de peças e a prestação de serviços deverão ser executados através da rede de Serviços Autorizados Só Aço. Para comprovação da garantia, o cliente deverá apresentar esse termo de garantia devidamente preenchido e nota fiscal do produto.</a:t>
            </a:r>
          </a:p>
          <a:p>
            <a:pPr algn="just"/>
            <a:r>
              <a:rPr lang="pt-BR" sz="850" b="1" dirty="0">
                <a:latin typeface="Arial" panose="020B0604020202020204" pitchFamily="34" charset="0"/>
                <a:cs typeface="Arial" panose="020B0604020202020204" pitchFamily="34" charset="0"/>
              </a:rPr>
              <a:t>Observação:</a:t>
            </a:r>
            <a:r>
              <a:rPr lang="pt-BR" sz="850" dirty="0">
                <a:latin typeface="Arial" panose="020B0604020202020204" pitchFamily="34" charset="0"/>
                <a:cs typeface="Arial" panose="020B0604020202020204" pitchFamily="34" charset="0"/>
              </a:rPr>
              <a:t> Fica, desde já, eleito o Foro da Comarca da Capital do Estado do Piauí para dirimir quaisquer dúvidas oriundas do cumprimento deste Termo de Garantia</a:t>
            </a:r>
          </a:p>
          <a:p>
            <a:pPr algn="just"/>
            <a:endParaRPr lang="pt-BR" sz="850" dirty="0">
              <a:latin typeface="Arial" panose="020B0604020202020204" pitchFamily="34" charset="0"/>
              <a:cs typeface="Arial" panose="020B0604020202020204" pitchFamily="34" charset="0"/>
            </a:endParaRPr>
          </a:p>
          <a:p>
            <a:pPr algn="just"/>
            <a:r>
              <a:rPr lang="pt-BR" sz="850" b="1" i="1" dirty="0">
                <a:latin typeface="Arial" panose="020B0604020202020204" pitchFamily="34" charset="0"/>
                <a:cs typeface="Arial" panose="020B0604020202020204" pitchFamily="34" charset="0"/>
              </a:rPr>
              <a:t>2. Serviços de Garantia</a:t>
            </a:r>
          </a:p>
          <a:p>
            <a:pPr algn="just"/>
            <a:r>
              <a:rPr lang="pt-BR" sz="850" dirty="0">
                <a:latin typeface="Arial" panose="020B060402020202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p>
          <a:p>
            <a:pPr algn="just"/>
            <a:r>
              <a:rPr lang="pt-BR" sz="850" dirty="0">
                <a:latin typeface="Arial" panose="020B0604020202020204" pitchFamily="34" charset="0"/>
                <a:cs typeface="Arial" panose="020B0604020202020204" pitchFamily="34" charset="0"/>
              </a:rPr>
              <a:t>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p>
          <a:p>
            <a:pPr algn="just"/>
            <a:endParaRPr lang="pt-BR" sz="850" b="1" dirty="0">
              <a:latin typeface="Arial" panose="020B0604020202020204" pitchFamily="34" charset="0"/>
              <a:cs typeface="Arial" panose="020B0604020202020204" pitchFamily="34" charset="0"/>
            </a:endParaRPr>
          </a:p>
          <a:p>
            <a:pPr algn="just"/>
            <a:r>
              <a:rPr lang="pt-BR" sz="850" b="1" dirty="0">
                <a:latin typeface="Arial" panose="020B0604020202020204" pitchFamily="34" charset="0"/>
                <a:cs typeface="Arial" panose="020B0604020202020204" pitchFamily="34" charset="0"/>
              </a:rPr>
              <a:t>3. Extinção da garantia</a:t>
            </a:r>
          </a:p>
          <a:p>
            <a:pPr algn="just"/>
            <a:r>
              <a:rPr lang="pt-BR" sz="850" dirty="0">
                <a:latin typeface="Arial" panose="020B0604020202020204" pitchFamily="34" charset="0"/>
                <a:cs typeface="Arial" panose="020B0604020202020204" pitchFamily="34" charset="0"/>
              </a:rPr>
              <a:t>Esta garantia perderá sua validade antes da expiração do seu prazo, se for constatado qualquer dano provocado por acidente, transporte, agente de limpeza, uso indevido, maus tratos, negligência, incêndio, instalado em rede elétrica imprópria, e ainda, no caso de apresentar sinais de violação, ajuste ou reparo por pessoa não credenciada pela Só Aço.</a:t>
            </a:r>
          </a:p>
          <a:p>
            <a:pPr algn="just"/>
            <a:r>
              <a:rPr lang="pt-BR" sz="850" dirty="0">
                <a:latin typeface="Arial" panose="020B0604020202020204" pitchFamily="34" charset="0"/>
                <a:cs typeface="Arial" panose="020B0604020202020204" pitchFamily="34" charset="0"/>
              </a:rPr>
              <a:t>ATENÇÃO</a:t>
            </a:r>
          </a:p>
          <a:p>
            <a:pPr marL="176213" indent="-176213" algn="just">
              <a:buAutoNum type="alphaLcParenR"/>
            </a:pPr>
            <a:r>
              <a:rPr lang="pt-BR" sz="85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176213" indent="-176213" algn="just">
              <a:buAutoNum type="alphaLcParenR"/>
            </a:pPr>
            <a:r>
              <a:rPr lang="pt-BR" sz="850" dirty="0">
                <a:latin typeface="Arial" panose="020B0604020202020204" pitchFamily="34" charset="0"/>
                <a:cs typeface="Arial" panose="020B0604020202020204" pitchFamily="34" charset="0"/>
              </a:rPr>
              <a:t>Para facilitar o atendimento no período da garantia, conserve a Nota Fiscal de compra junto com o manual de instruções do produto. (Necessário para comprovação da garantia)</a:t>
            </a:r>
          </a:p>
          <a:p>
            <a:pPr marL="176213" indent="-176213" algn="just">
              <a:buAutoNum type="alphaLcParenR"/>
            </a:pPr>
            <a:r>
              <a:rPr lang="pt-BR" sz="850" dirty="0">
                <a:latin typeface="Arial" panose="020B0604020202020204" pitchFamily="34" charset="0"/>
                <a:cs typeface="Arial" panose="020B0604020202020204" pitchFamily="34" charset="0"/>
              </a:rPr>
              <a:t>A Só Aço se reserva do direito de alterar as características dos seus produtos sem aviso prévio. </a:t>
            </a:r>
          </a:p>
        </p:txBody>
      </p:sp>
      <p:graphicFrame>
        <p:nvGraphicFramePr>
          <p:cNvPr id="9" name="Tabela 8">
            <a:extLst>
              <a:ext uri="{FF2B5EF4-FFF2-40B4-BE49-F238E27FC236}">
                <a16:creationId xmlns:a16="http://schemas.microsoft.com/office/drawing/2014/main" id="{9F71FC5F-E437-44B6-9C80-EE24E0B986F3}"/>
              </a:ext>
            </a:extLst>
          </p:cNvPr>
          <p:cNvGraphicFramePr>
            <a:graphicFrameLocks noGrp="1"/>
          </p:cNvGraphicFramePr>
          <p:nvPr>
            <p:extLst>
              <p:ext uri="{D42A27DB-BD31-4B8C-83A1-F6EECF244321}">
                <p14:modId xmlns:p14="http://schemas.microsoft.com/office/powerpoint/2010/main" val="2356573657"/>
              </p:ext>
            </p:extLst>
          </p:nvPr>
        </p:nvGraphicFramePr>
        <p:xfrm>
          <a:off x="90103" y="5897945"/>
          <a:ext cx="5183958" cy="1195054"/>
        </p:xfrm>
        <a:graphic>
          <a:graphicData uri="http://schemas.openxmlformats.org/drawingml/2006/table">
            <a:tbl>
              <a:tblPr firstRow="1" bandRow="1">
                <a:tableStyleId>{2D5ABB26-0587-4C30-8999-92F81FD0307C}</a:tableStyleId>
              </a:tblPr>
              <a:tblGrid>
                <a:gridCol w="863993">
                  <a:extLst>
                    <a:ext uri="{9D8B030D-6E8A-4147-A177-3AD203B41FA5}">
                      <a16:colId xmlns:a16="http://schemas.microsoft.com/office/drawing/2014/main" val="1713468828"/>
                    </a:ext>
                  </a:extLst>
                </a:gridCol>
                <a:gridCol w="863993">
                  <a:extLst>
                    <a:ext uri="{9D8B030D-6E8A-4147-A177-3AD203B41FA5}">
                      <a16:colId xmlns:a16="http://schemas.microsoft.com/office/drawing/2014/main" val="2269615378"/>
                    </a:ext>
                  </a:extLst>
                </a:gridCol>
                <a:gridCol w="863993">
                  <a:extLst>
                    <a:ext uri="{9D8B030D-6E8A-4147-A177-3AD203B41FA5}">
                      <a16:colId xmlns:a16="http://schemas.microsoft.com/office/drawing/2014/main" val="3517463195"/>
                    </a:ext>
                  </a:extLst>
                </a:gridCol>
                <a:gridCol w="863993">
                  <a:extLst>
                    <a:ext uri="{9D8B030D-6E8A-4147-A177-3AD203B41FA5}">
                      <a16:colId xmlns:a16="http://schemas.microsoft.com/office/drawing/2014/main" val="3012284916"/>
                    </a:ext>
                  </a:extLst>
                </a:gridCol>
                <a:gridCol w="863993">
                  <a:extLst>
                    <a:ext uri="{9D8B030D-6E8A-4147-A177-3AD203B41FA5}">
                      <a16:colId xmlns:a16="http://schemas.microsoft.com/office/drawing/2014/main" val="3103919278"/>
                    </a:ext>
                  </a:extLst>
                </a:gridCol>
                <a:gridCol w="863993">
                  <a:extLst>
                    <a:ext uri="{9D8B030D-6E8A-4147-A177-3AD203B41FA5}">
                      <a16:colId xmlns:a16="http://schemas.microsoft.com/office/drawing/2014/main" val="2449578342"/>
                    </a:ext>
                  </a:extLst>
                </a:gridCol>
              </a:tblGrid>
              <a:tr h="263974">
                <a:tc gridSpan="6">
                  <a:txBody>
                    <a:bodyPr/>
                    <a:lstStyle/>
                    <a:p>
                      <a:pPr algn="ctr"/>
                      <a:r>
                        <a:rPr lang="pt-BR" sz="1050" b="1" dirty="0">
                          <a:latin typeface="Arial" panose="020B0604020202020204" pitchFamily="34" charset="0"/>
                          <a:cs typeface="Arial" panose="020B0604020202020204" pitchFamily="34" charset="0"/>
                        </a:rPr>
                        <a:t>Dados necessários para abertura do atendimento</a:t>
                      </a:r>
                      <a:endParaRPr lang="pt-BR" sz="11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2727796499"/>
                  </a:ext>
                </a:extLst>
              </a:tr>
              <a:tr h="352479">
                <a:tc>
                  <a:txBody>
                    <a:bodyPr/>
                    <a:lstStyle/>
                    <a:p>
                      <a:r>
                        <a:rPr lang="pt-BR" sz="900" dirty="0">
                          <a:latin typeface="Arial" panose="020B0604020202020204" pitchFamily="34" charset="0"/>
                          <a:cs typeface="Arial" panose="020B0604020202020204" pitchFamily="34" charset="0"/>
                        </a:rPr>
                        <a:t>Data de Compra</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Cliente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Estado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968675"/>
                  </a:ext>
                </a:extLst>
              </a:tr>
              <a:tr h="260561">
                <a:tc>
                  <a:txBody>
                    <a:bodyPr/>
                    <a:lstStyle/>
                    <a:p>
                      <a:r>
                        <a:rPr lang="pt-BR" sz="900" dirty="0">
                          <a:latin typeface="Arial" panose="020B0604020202020204" pitchFamily="34" charset="0"/>
                          <a:cs typeface="Arial" panose="020B0604020202020204" pitchFamily="34" charset="0"/>
                        </a:rPr>
                        <a:t>Nota Fiscal</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900" dirty="0">
                          <a:latin typeface="Arial" panose="020B0604020202020204" pitchFamily="34" charset="0"/>
                          <a:cs typeface="Arial" panose="020B0604020202020204" pitchFamily="34" charset="0"/>
                        </a:rPr>
                        <a:t>Telefone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900" dirty="0">
                          <a:latin typeface="Arial" panose="020B0604020202020204" pitchFamily="34" charset="0"/>
                          <a:cs typeface="Arial" panose="020B0604020202020204" pitchFamily="34" charset="0"/>
                        </a:rPr>
                        <a:t>Endereço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5479289"/>
                  </a:ext>
                </a:extLst>
              </a:tr>
              <a:tr h="260561">
                <a:tc>
                  <a:txBody>
                    <a:bodyPr/>
                    <a:lstStyle/>
                    <a:p>
                      <a:r>
                        <a:rPr lang="pt-BR" sz="900" dirty="0">
                          <a:latin typeface="Arial" panose="020B0604020202020204" pitchFamily="34" charset="0"/>
                          <a:cs typeface="Arial" panose="020B0604020202020204" pitchFamily="34" charset="0"/>
                        </a:rPr>
                        <a:t>Revendedor</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Cidade</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Série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296662"/>
                  </a:ext>
                </a:extLst>
              </a:tr>
            </a:tbl>
          </a:graphicData>
        </a:graphic>
      </p:graphicFrame>
    </p:spTree>
    <p:extLst>
      <p:ext uri="{BB962C8B-B14F-4D97-AF65-F5344CB8AC3E}">
        <p14:creationId xmlns:p14="http://schemas.microsoft.com/office/powerpoint/2010/main" val="610482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972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90720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 name="Imagem 114">
            <a:extLst>
              <a:ext uri="{FF2B5EF4-FFF2-40B4-BE49-F238E27FC236}">
                <a16:creationId xmlns:a16="http://schemas.microsoft.com/office/drawing/2014/main" id="{61640DCB-FA00-4275-B787-43BB39C305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81" y="532767"/>
            <a:ext cx="1181203" cy="366728"/>
          </a:xfrm>
          <a:prstGeom prst="rect">
            <a:avLst/>
          </a:prstGeom>
        </p:spPr>
      </p:pic>
      <p:pic>
        <p:nvPicPr>
          <p:cNvPr id="128" name="Imagem 127">
            <a:extLst>
              <a:ext uri="{FF2B5EF4-FFF2-40B4-BE49-F238E27FC236}">
                <a16:creationId xmlns:a16="http://schemas.microsoft.com/office/drawing/2014/main" id="{C31F6B25-FF63-496D-B554-EAAA05C182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80" y="887754"/>
            <a:ext cx="1181203" cy="366728"/>
          </a:xfrm>
          <a:prstGeom prst="rect">
            <a:avLst/>
          </a:prstGeom>
        </p:spPr>
      </p:pic>
      <p:pic>
        <p:nvPicPr>
          <p:cNvPr id="272" name="Imagem 271">
            <a:extLst>
              <a:ext uri="{FF2B5EF4-FFF2-40B4-BE49-F238E27FC236}">
                <a16:creationId xmlns:a16="http://schemas.microsoft.com/office/drawing/2014/main" id="{D14CC622-87B8-4797-877F-0492C719BC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301" y="532767"/>
            <a:ext cx="1181203" cy="366728"/>
          </a:xfrm>
          <a:prstGeom prst="rect">
            <a:avLst/>
          </a:prstGeom>
        </p:spPr>
      </p:pic>
      <p:pic>
        <p:nvPicPr>
          <p:cNvPr id="273" name="Imagem 272">
            <a:extLst>
              <a:ext uri="{FF2B5EF4-FFF2-40B4-BE49-F238E27FC236}">
                <a16:creationId xmlns:a16="http://schemas.microsoft.com/office/drawing/2014/main" id="{4D0CC321-36CB-4A06-B7F9-40C67EDDA5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300" y="887754"/>
            <a:ext cx="1181203" cy="366728"/>
          </a:xfrm>
          <a:prstGeom prst="rect">
            <a:avLst/>
          </a:prstGeom>
        </p:spPr>
      </p:pic>
      <p:pic>
        <p:nvPicPr>
          <p:cNvPr id="288" name="Imagem 287">
            <a:extLst>
              <a:ext uri="{FF2B5EF4-FFF2-40B4-BE49-F238E27FC236}">
                <a16:creationId xmlns:a16="http://schemas.microsoft.com/office/drawing/2014/main" id="{2C22A76E-081C-4BF9-9D97-C19E18B9B4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21" y="532767"/>
            <a:ext cx="1181203" cy="366728"/>
          </a:xfrm>
          <a:prstGeom prst="rect">
            <a:avLst/>
          </a:prstGeom>
        </p:spPr>
      </p:pic>
      <p:pic>
        <p:nvPicPr>
          <p:cNvPr id="289" name="Imagem 288">
            <a:extLst>
              <a:ext uri="{FF2B5EF4-FFF2-40B4-BE49-F238E27FC236}">
                <a16:creationId xmlns:a16="http://schemas.microsoft.com/office/drawing/2014/main" id="{CC52C7E8-9DE3-4410-B968-E3FF39BB74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700" y="887754"/>
            <a:ext cx="1181203" cy="366728"/>
          </a:xfrm>
          <a:prstGeom prst="rect">
            <a:avLst/>
          </a:prstGeom>
        </p:spPr>
      </p:pic>
      <p:pic>
        <p:nvPicPr>
          <p:cNvPr id="304" name="Imagem 303">
            <a:extLst>
              <a:ext uri="{FF2B5EF4-FFF2-40B4-BE49-F238E27FC236}">
                <a16:creationId xmlns:a16="http://schemas.microsoft.com/office/drawing/2014/main" id="{E8D91AE0-5D05-46A8-AA74-BB3BA5E065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42" y="532767"/>
            <a:ext cx="1181203" cy="366728"/>
          </a:xfrm>
          <a:prstGeom prst="rect">
            <a:avLst/>
          </a:prstGeom>
        </p:spPr>
      </p:pic>
      <p:pic>
        <p:nvPicPr>
          <p:cNvPr id="305" name="Imagem 304">
            <a:extLst>
              <a:ext uri="{FF2B5EF4-FFF2-40B4-BE49-F238E27FC236}">
                <a16:creationId xmlns:a16="http://schemas.microsoft.com/office/drawing/2014/main" id="{3CF9FBA1-5647-462E-BBDE-5DF826534C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21" y="887754"/>
            <a:ext cx="1181203" cy="366728"/>
          </a:xfrm>
          <a:prstGeom prst="rect">
            <a:avLst/>
          </a:prstGeom>
        </p:spPr>
      </p:pic>
      <p:sp>
        <p:nvSpPr>
          <p:cNvPr id="75" name="CaixaDeTexto 74">
            <a:extLst>
              <a:ext uri="{FF2B5EF4-FFF2-40B4-BE49-F238E27FC236}">
                <a16:creationId xmlns:a16="http://schemas.microsoft.com/office/drawing/2014/main" id="{E11945A9-A5DE-4DB9-9083-D45F8A4A4573}"/>
              </a:ext>
            </a:extLst>
          </p:cNvPr>
          <p:cNvSpPr txBox="1"/>
          <p:nvPr/>
        </p:nvSpPr>
        <p:spPr>
          <a:xfrm>
            <a:off x="305817" y="163878"/>
            <a:ext cx="4752528" cy="30777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marL="0" marR="0" lvl="0" indent="0" algn="ctr" defTabSz="1043056" rtl="0" eaLnBrk="1" fontAlgn="auto" latinLnBrk="0" hangingPunct="1">
              <a:lnSpc>
                <a:spcPct val="100000"/>
              </a:lnSpc>
              <a:spcBef>
                <a:spcPts val="0"/>
              </a:spcBef>
              <a:spcAft>
                <a:spcPts val="0"/>
              </a:spcAft>
              <a:buClrTx/>
              <a:buSzTx/>
              <a:buFontTx/>
              <a:buNone/>
              <a:tabLst/>
              <a:defRPr/>
            </a:pPr>
            <a:r>
              <a:rPr kumimoji="0" lang="pt-BR" sz="1400" b="1" i="0" u="none" strike="noStrike" kern="1200" cap="none" spc="0" normalizeH="0" baseline="0" noProof="0" dirty="0">
                <a:ln>
                  <a:noFill/>
                </a:ln>
                <a:solidFill>
                  <a:prstClr val="black"/>
                </a:solidFill>
                <a:effectLst/>
                <a:uLnTx/>
                <a:uFillTx/>
                <a:latin typeface="Monda" pitchFamily="2" charset="0"/>
              </a:rPr>
              <a:t>BEBEDOURO INDUSTRIAL</a:t>
            </a:r>
          </a:p>
        </p:txBody>
      </p:sp>
      <p:cxnSp>
        <p:nvCxnSpPr>
          <p:cNvPr id="76" name="Conector reto 75">
            <a:extLst>
              <a:ext uri="{FF2B5EF4-FFF2-40B4-BE49-F238E27FC236}">
                <a16:creationId xmlns:a16="http://schemas.microsoft.com/office/drawing/2014/main" id="{7DF30A47-A7C7-4D61-9C7C-B6E81B91BB49}"/>
              </a:ext>
            </a:extLst>
          </p:cNvPr>
          <p:cNvCxnSpPr>
            <a:cxnSpLocks/>
          </p:cNvCxnSpPr>
          <p:nvPr/>
        </p:nvCxnSpPr>
        <p:spPr>
          <a:xfrm>
            <a:off x="72081" y="133091"/>
            <a:ext cx="5220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7" name="Conector reto 76">
            <a:extLst>
              <a:ext uri="{FF2B5EF4-FFF2-40B4-BE49-F238E27FC236}">
                <a16:creationId xmlns:a16="http://schemas.microsoft.com/office/drawing/2014/main" id="{6BF227F8-9BF7-42B1-A405-B15D9F8B2A43}"/>
              </a:ext>
            </a:extLst>
          </p:cNvPr>
          <p:cNvCxnSpPr>
            <a:cxnSpLocks/>
          </p:cNvCxnSpPr>
          <p:nvPr/>
        </p:nvCxnSpPr>
        <p:spPr>
          <a:xfrm>
            <a:off x="72081" y="463397"/>
            <a:ext cx="5220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86" name="Imagem 85">
            <a:extLst>
              <a:ext uri="{FF2B5EF4-FFF2-40B4-BE49-F238E27FC236}">
                <a16:creationId xmlns:a16="http://schemas.microsoft.com/office/drawing/2014/main" id="{75843FDF-58CC-4F00-92E5-D87C1C9515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80" y="1254682"/>
            <a:ext cx="1181203" cy="366728"/>
          </a:xfrm>
          <a:prstGeom prst="rect">
            <a:avLst/>
          </a:prstGeom>
        </p:spPr>
      </p:pic>
      <p:pic>
        <p:nvPicPr>
          <p:cNvPr id="87" name="Imagem 86">
            <a:extLst>
              <a:ext uri="{FF2B5EF4-FFF2-40B4-BE49-F238E27FC236}">
                <a16:creationId xmlns:a16="http://schemas.microsoft.com/office/drawing/2014/main" id="{A40D8425-C132-40A9-8675-FC05643A94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9" y="1609669"/>
            <a:ext cx="1181203" cy="366728"/>
          </a:xfrm>
          <a:prstGeom prst="rect">
            <a:avLst/>
          </a:prstGeom>
        </p:spPr>
      </p:pic>
      <p:pic>
        <p:nvPicPr>
          <p:cNvPr id="88" name="Imagem 87">
            <a:extLst>
              <a:ext uri="{FF2B5EF4-FFF2-40B4-BE49-F238E27FC236}">
                <a16:creationId xmlns:a16="http://schemas.microsoft.com/office/drawing/2014/main" id="{972E8EC7-780A-4AE5-B9FD-27E3CE6F1B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300" y="1254682"/>
            <a:ext cx="1181203" cy="366728"/>
          </a:xfrm>
          <a:prstGeom prst="rect">
            <a:avLst/>
          </a:prstGeom>
        </p:spPr>
      </p:pic>
      <p:pic>
        <p:nvPicPr>
          <p:cNvPr id="89" name="Imagem 88">
            <a:extLst>
              <a:ext uri="{FF2B5EF4-FFF2-40B4-BE49-F238E27FC236}">
                <a16:creationId xmlns:a16="http://schemas.microsoft.com/office/drawing/2014/main" id="{ED438795-556E-4DAF-8EDF-4579ADEBDB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9" y="1609669"/>
            <a:ext cx="1181203" cy="366728"/>
          </a:xfrm>
          <a:prstGeom prst="rect">
            <a:avLst/>
          </a:prstGeom>
        </p:spPr>
      </p:pic>
      <p:pic>
        <p:nvPicPr>
          <p:cNvPr id="90" name="Imagem 89">
            <a:extLst>
              <a:ext uri="{FF2B5EF4-FFF2-40B4-BE49-F238E27FC236}">
                <a16:creationId xmlns:a16="http://schemas.microsoft.com/office/drawing/2014/main" id="{637BB85D-6E7D-4F90-B9F1-2502A0D969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20" y="1254682"/>
            <a:ext cx="1181203" cy="366728"/>
          </a:xfrm>
          <a:prstGeom prst="rect">
            <a:avLst/>
          </a:prstGeom>
        </p:spPr>
      </p:pic>
      <p:pic>
        <p:nvPicPr>
          <p:cNvPr id="91" name="Imagem 90">
            <a:extLst>
              <a:ext uri="{FF2B5EF4-FFF2-40B4-BE49-F238E27FC236}">
                <a16:creationId xmlns:a16="http://schemas.microsoft.com/office/drawing/2014/main" id="{D580A61A-BF4E-4C38-98E4-A3FB2D121C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9" y="1609669"/>
            <a:ext cx="1181203" cy="366728"/>
          </a:xfrm>
          <a:prstGeom prst="rect">
            <a:avLst/>
          </a:prstGeom>
        </p:spPr>
      </p:pic>
      <p:pic>
        <p:nvPicPr>
          <p:cNvPr id="92" name="Imagem 91">
            <a:extLst>
              <a:ext uri="{FF2B5EF4-FFF2-40B4-BE49-F238E27FC236}">
                <a16:creationId xmlns:a16="http://schemas.microsoft.com/office/drawing/2014/main" id="{33589937-844C-4AD3-AD97-5A711C97D5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41" y="1254682"/>
            <a:ext cx="1181203" cy="366728"/>
          </a:xfrm>
          <a:prstGeom prst="rect">
            <a:avLst/>
          </a:prstGeom>
        </p:spPr>
      </p:pic>
      <p:pic>
        <p:nvPicPr>
          <p:cNvPr id="93" name="Imagem 92">
            <a:extLst>
              <a:ext uri="{FF2B5EF4-FFF2-40B4-BE49-F238E27FC236}">
                <a16:creationId xmlns:a16="http://schemas.microsoft.com/office/drawing/2014/main" id="{782B7F6F-A58B-40EC-B379-159D16386F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20" y="1609669"/>
            <a:ext cx="1181203" cy="366728"/>
          </a:xfrm>
          <a:prstGeom prst="rect">
            <a:avLst/>
          </a:prstGeom>
        </p:spPr>
      </p:pic>
      <p:pic>
        <p:nvPicPr>
          <p:cNvPr id="94" name="Imagem 93">
            <a:extLst>
              <a:ext uri="{FF2B5EF4-FFF2-40B4-BE49-F238E27FC236}">
                <a16:creationId xmlns:a16="http://schemas.microsoft.com/office/drawing/2014/main" id="{6CD0227A-A0B2-4006-958A-16CE4ACDEA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9" y="1958691"/>
            <a:ext cx="1181203" cy="366728"/>
          </a:xfrm>
          <a:prstGeom prst="rect">
            <a:avLst/>
          </a:prstGeom>
        </p:spPr>
      </p:pic>
      <p:pic>
        <p:nvPicPr>
          <p:cNvPr id="95" name="Imagem 94">
            <a:extLst>
              <a:ext uri="{FF2B5EF4-FFF2-40B4-BE49-F238E27FC236}">
                <a16:creationId xmlns:a16="http://schemas.microsoft.com/office/drawing/2014/main" id="{F696B211-2D5B-4CBF-9421-2BA190979A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8" y="2313678"/>
            <a:ext cx="1181203" cy="366728"/>
          </a:xfrm>
          <a:prstGeom prst="rect">
            <a:avLst/>
          </a:prstGeom>
        </p:spPr>
      </p:pic>
      <p:pic>
        <p:nvPicPr>
          <p:cNvPr id="96" name="Imagem 95">
            <a:extLst>
              <a:ext uri="{FF2B5EF4-FFF2-40B4-BE49-F238E27FC236}">
                <a16:creationId xmlns:a16="http://schemas.microsoft.com/office/drawing/2014/main" id="{22EAC0FE-814B-49F1-9625-BAC9E00BAB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9" y="1958691"/>
            <a:ext cx="1181203" cy="366728"/>
          </a:xfrm>
          <a:prstGeom prst="rect">
            <a:avLst/>
          </a:prstGeom>
        </p:spPr>
      </p:pic>
      <p:pic>
        <p:nvPicPr>
          <p:cNvPr id="97" name="Imagem 96">
            <a:extLst>
              <a:ext uri="{FF2B5EF4-FFF2-40B4-BE49-F238E27FC236}">
                <a16:creationId xmlns:a16="http://schemas.microsoft.com/office/drawing/2014/main" id="{BBDAEFC7-2443-4D01-8F19-2313B5BE85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8" y="2313678"/>
            <a:ext cx="1181203" cy="366728"/>
          </a:xfrm>
          <a:prstGeom prst="rect">
            <a:avLst/>
          </a:prstGeom>
        </p:spPr>
      </p:pic>
      <p:pic>
        <p:nvPicPr>
          <p:cNvPr id="98" name="Imagem 97">
            <a:extLst>
              <a:ext uri="{FF2B5EF4-FFF2-40B4-BE49-F238E27FC236}">
                <a16:creationId xmlns:a16="http://schemas.microsoft.com/office/drawing/2014/main" id="{5FF1F2BA-FA4E-4671-857A-C32DA4F1EF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9" y="1958691"/>
            <a:ext cx="1181203" cy="366728"/>
          </a:xfrm>
          <a:prstGeom prst="rect">
            <a:avLst/>
          </a:prstGeom>
        </p:spPr>
      </p:pic>
      <p:pic>
        <p:nvPicPr>
          <p:cNvPr id="99" name="Imagem 98">
            <a:extLst>
              <a:ext uri="{FF2B5EF4-FFF2-40B4-BE49-F238E27FC236}">
                <a16:creationId xmlns:a16="http://schemas.microsoft.com/office/drawing/2014/main" id="{A95F9F3D-D1B0-48BB-88B9-8E51489CFF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8" y="2313678"/>
            <a:ext cx="1181203" cy="366728"/>
          </a:xfrm>
          <a:prstGeom prst="rect">
            <a:avLst/>
          </a:prstGeom>
        </p:spPr>
      </p:pic>
      <p:pic>
        <p:nvPicPr>
          <p:cNvPr id="100" name="Imagem 99">
            <a:extLst>
              <a:ext uri="{FF2B5EF4-FFF2-40B4-BE49-F238E27FC236}">
                <a16:creationId xmlns:a16="http://schemas.microsoft.com/office/drawing/2014/main" id="{057A9B8D-15EE-479D-BEA5-34A26BE844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40" y="1958691"/>
            <a:ext cx="1181203" cy="366728"/>
          </a:xfrm>
          <a:prstGeom prst="rect">
            <a:avLst/>
          </a:prstGeom>
        </p:spPr>
      </p:pic>
      <p:pic>
        <p:nvPicPr>
          <p:cNvPr id="101" name="Imagem 100">
            <a:extLst>
              <a:ext uri="{FF2B5EF4-FFF2-40B4-BE49-F238E27FC236}">
                <a16:creationId xmlns:a16="http://schemas.microsoft.com/office/drawing/2014/main" id="{24E47D2D-AC8D-4700-AE30-49659E0AC2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9" y="2313678"/>
            <a:ext cx="1181203" cy="366728"/>
          </a:xfrm>
          <a:prstGeom prst="rect">
            <a:avLst/>
          </a:prstGeom>
        </p:spPr>
      </p:pic>
      <p:pic>
        <p:nvPicPr>
          <p:cNvPr id="102" name="Imagem 101">
            <a:extLst>
              <a:ext uri="{FF2B5EF4-FFF2-40B4-BE49-F238E27FC236}">
                <a16:creationId xmlns:a16="http://schemas.microsoft.com/office/drawing/2014/main" id="{94957FAD-3395-4587-A392-CE45AFB22B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8" y="2680606"/>
            <a:ext cx="1181203" cy="366728"/>
          </a:xfrm>
          <a:prstGeom prst="rect">
            <a:avLst/>
          </a:prstGeom>
        </p:spPr>
      </p:pic>
      <p:pic>
        <p:nvPicPr>
          <p:cNvPr id="103" name="Imagem 102">
            <a:extLst>
              <a:ext uri="{FF2B5EF4-FFF2-40B4-BE49-F238E27FC236}">
                <a16:creationId xmlns:a16="http://schemas.microsoft.com/office/drawing/2014/main" id="{03B9EE8C-16DD-4AB8-92C8-6278F5D4BD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7" y="3035593"/>
            <a:ext cx="1181203" cy="366728"/>
          </a:xfrm>
          <a:prstGeom prst="rect">
            <a:avLst/>
          </a:prstGeom>
        </p:spPr>
      </p:pic>
      <p:pic>
        <p:nvPicPr>
          <p:cNvPr id="104" name="Imagem 103">
            <a:extLst>
              <a:ext uri="{FF2B5EF4-FFF2-40B4-BE49-F238E27FC236}">
                <a16:creationId xmlns:a16="http://schemas.microsoft.com/office/drawing/2014/main" id="{088F6201-B92B-4B86-A86D-1FF0452A27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8" y="2680606"/>
            <a:ext cx="1181203" cy="366728"/>
          </a:xfrm>
          <a:prstGeom prst="rect">
            <a:avLst/>
          </a:prstGeom>
        </p:spPr>
      </p:pic>
      <p:pic>
        <p:nvPicPr>
          <p:cNvPr id="105" name="Imagem 104">
            <a:extLst>
              <a:ext uri="{FF2B5EF4-FFF2-40B4-BE49-F238E27FC236}">
                <a16:creationId xmlns:a16="http://schemas.microsoft.com/office/drawing/2014/main" id="{93A89DF8-1250-4734-82F1-9A0B9D205A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7" y="3035593"/>
            <a:ext cx="1181203" cy="366728"/>
          </a:xfrm>
          <a:prstGeom prst="rect">
            <a:avLst/>
          </a:prstGeom>
        </p:spPr>
      </p:pic>
      <p:pic>
        <p:nvPicPr>
          <p:cNvPr id="106" name="Imagem 105">
            <a:extLst>
              <a:ext uri="{FF2B5EF4-FFF2-40B4-BE49-F238E27FC236}">
                <a16:creationId xmlns:a16="http://schemas.microsoft.com/office/drawing/2014/main" id="{2BB49A08-C38A-403A-895C-4EE31916F7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8" y="2680606"/>
            <a:ext cx="1181203" cy="366728"/>
          </a:xfrm>
          <a:prstGeom prst="rect">
            <a:avLst/>
          </a:prstGeom>
        </p:spPr>
      </p:pic>
      <p:pic>
        <p:nvPicPr>
          <p:cNvPr id="107" name="Imagem 106">
            <a:extLst>
              <a:ext uri="{FF2B5EF4-FFF2-40B4-BE49-F238E27FC236}">
                <a16:creationId xmlns:a16="http://schemas.microsoft.com/office/drawing/2014/main" id="{F662999D-9863-4915-9FD8-F5FC414F61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7" y="3035593"/>
            <a:ext cx="1181203" cy="366728"/>
          </a:xfrm>
          <a:prstGeom prst="rect">
            <a:avLst/>
          </a:prstGeom>
        </p:spPr>
      </p:pic>
      <p:pic>
        <p:nvPicPr>
          <p:cNvPr id="108" name="Imagem 107">
            <a:extLst>
              <a:ext uri="{FF2B5EF4-FFF2-40B4-BE49-F238E27FC236}">
                <a16:creationId xmlns:a16="http://schemas.microsoft.com/office/drawing/2014/main" id="{DD0193BA-BFF0-401F-9F8F-AB48D85A37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39" y="2680606"/>
            <a:ext cx="1181203" cy="366728"/>
          </a:xfrm>
          <a:prstGeom prst="rect">
            <a:avLst/>
          </a:prstGeom>
        </p:spPr>
      </p:pic>
      <p:pic>
        <p:nvPicPr>
          <p:cNvPr id="109" name="Imagem 108">
            <a:extLst>
              <a:ext uri="{FF2B5EF4-FFF2-40B4-BE49-F238E27FC236}">
                <a16:creationId xmlns:a16="http://schemas.microsoft.com/office/drawing/2014/main" id="{1219EAE5-60E1-4BFB-A12E-B7D983B86D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8" y="3035593"/>
            <a:ext cx="1181203" cy="366728"/>
          </a:xfrm>
          <a:prstGeom prst="rect">
            <a:avLst/>
          </a:prstGeom>
        </p:spPr>
      </p:pic>
      <p:pic>
        <p:nvPicPr>
          <p:cNvPr id="110" name="Imagem 109">
            <a:extLst>
              <a:ext uri="{FF2B5EF4-FFF2-40B4-BE49-F238E27FC236}">
                <a16:creationId xmlns:a16="http://schemas.microsoft.com/office/drawing/2014/main" id="{80187C4E-CB5D-45E8-95D2-66B7B12C11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7" y="3400147"/>
            <a:ext cx="1181203" cy="366728"/>
          </a:xfrm>
          <a:prstGeom prst="rect">
            <a:avLst/>
          </a:prstGeom>
        </p:spPr>
      </p:pic>
      <p:pic>
        <p:nvPicPr>
          <p:cNvPr id="111" name="Imagem 110">
            <a:extLst>
              <a:ext uri="{FF2B5EF4-FFF2-40B4-BE49-F238E27FC236}">
                <a16:creationId xmlns:a16="http://schemas.microsoft.com/office/drawing/2014/main" id="{3014E3E4-2C0F-4A1A-B6C0-9CCF8B1E95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6" y="3755134"/>
            <a:ext cx="1181203" cy="366728"/>
          </a:xfrm>
          <a:prstGeom prst="rect">
            <a:avLst/>
          </a:prstGeom>
        </p:spPr>
      </p:pic>
      <p:pic>
        <p:nvPicPr>
          <p:cNvPr id="112" name="Imagem 111">
            <a:extLst>
              <a:ext uri="{FF2B5EF4-FFF2-40B4-BE49-F238E27FC236}">
                <a16:creationId xmlns:a16="http://schemas.microsoft.com/office/drawing/2014/main" id="{B909E40E-69E5-425B-B426-085021C57B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7" y="3400147"/>
            <a:ext cx="1181203" cy="366728"/>
          </a:xfrm>
          <a:prstGeom prst="rect">
            <a:avLst/>
          </a:prstGeom>
        </p:spPr>
      </p:pic>
      <p:pic>
        <p:nvPicPr>
          <p:cNvPr id="113" name="Imagem 112">
            <a:extLst>
              <a:ext uri="{FF2B5EF4-FFF2-40B4-BE49-F238E27FC236}">
                <a16:creationId xmlns:a16="http://schemas.microsoft.com/office/drawing/2014/main" id="{623C6048-FB5B-4775-A72E-974E300FDB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6" y="3755134"/>
            <a:ext cx="1181203" cy="366728"/>
          </a:xfrm>
          <a:prstGeom prst="rect">
            <a:avLst/>
          </a:prstGeom>
        </p:spPr>
      </p:pic>
      <p:pic>
        <p:nvPicPr>
          <p:cNvPr id="114" name="Imagem 113">
            <a:extLst>
              <a:ext uri="{FF2B5EF4-FFF2-40B4-BE49-F238E27FC236}">
                <a16:creationId xmlns:a16="http://schemas.microsoft.com/office/drawing/2014/main" id="{2158F8E5-5997-4639-9C18-67DD7D010A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7" y="3400147"/>
            <a:ext cx="1181203" cy="366728"/>
          </a:xfrm>
          <a:prstGeom prst="rect">
            <a:avLst/>
          </a:prstGeom>
        </p:spPr>
      </p:pic>
      <p:pic>
        <p:nvPicPr>
          <p:cNvPr id="116" name="Imagem 115">
            <a:extLst>
              <a:ext uri="{FF2B5EF4-FFF2-40B4-BE49-F238E27FC236}">
                <a16:creationId xmlns:a16="http://schemas.microsoft.com/office/drawing/2014/main" id="{4A2DCE9A-E3D4-415D-BC0E-357813786F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6" y="3755134"/>
            <a:ext cx="1181203" cy="366728"/>
          </a:xfrm>
          <a:prstGeom prst="rect">
            <a:avLst/>
          </a:prstGeom>
        </p:spPr>
      </p:pic>
      <p:pic>
        <p:nvPicPr>
          <p:cNvPr id="117" name="Imagem 116">
            <a:extLst>
              <a:ext uri="{FF2B5EF4-FFF2-40B4-BE49-F238E27FC236}">
                <a16:creationId xmlns:a16="http://schemas.microsoft.com/office/drawing/2014/main" id="{9F2058A6-483B-49F6-9EE9-2E9A862DF3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38" y="3400147"/>
            <a:ext cx="1181203" cy="366728"/>
          </a:xfrm>
          <a:prstGeom prst="rect">
            <a:avLst/>
          </a:prstGeom>
        </p:spPr>
      </p:pic>
      <p:pic>
        <p:nvPicPr>
          <p:cNvPr id="118" name="Imagem 117">
            <a:extLst>
              <a:ext uri="{FF2B5EF4-FFF2-40B4-BE49-F238E27FC236}">
                <a16:creationId xmlns:a16="http://schemas.microsoft.com/office/drawing/2014/main" id="{AD561DC7-341B-40E6-9B4D-1B60EF57B8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7" y="3755134"/>
            <a:ext cx="1181203" cy="366728"/>
          </a:xfrm>
          <a:prstGeom prst="rect">
            <a:avLst/>
          </a:prstGeom>
        </p:spPr>
      </p:pic>
      <p:pic>
        <p:nvPicPr>
          <p:cNvPr id="119" name="Imagem 118">
            <a:extLst>
              <a:ext uri="{FF2B5EF4-FFF2-40B4-BE49-F238E27FC236}">
                <a16:creationId xmlns:a16="http://schemas.microsoft.com/office/drawing/2014/main" id="{186EA18C-554E-4D20-8BA9-55F6C42098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6" y="4122062"/>
            <a:ext cx="1181203" cy="366728"/>
          </a:xfrm>
          <a:prstGeom prst="rect">
            <a:avLst/>
          </a:prstGeom>
        </p:spPr>
      </p:pic>
      <p:pic>
        <p:nvPicPr>
          <p:cNvPr id="120" name="Imagem 119">
            <a:extLst>
              <a:ext uri="{FF2B5EF4-FFF2-40B4-BE49-F238E27FC236}">
                <a16:creationId xmlns:a16="http://schemas.microsoft.com/office/drawing/2014/main" id="{998ED5F7-8194-4E9C-952C-BCF21E0A2D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5" y="4477049"/>
            <a:ext cx="1181203" cy="366728"/>
          </a:xfrm>
          <a:prstGeom prst="rect">
            <a:avLst/>
          </a:prstGeom>
        </p:spPr>
      </p:pic>
      <p:pic>
        <p:nvPicPr>
          <p:cNvPr id="121" name="Imagem 120">
            <a:extLst>
              <a:ext uri="{FF2B5EF4-FFF2-40B4-BE49-F238E27FC236}">
                <a16:creationId xmlns:a16="http://schemas.microsoft.com/office/drawing/2014/main" id="{82893639-D409-4463-9B0C-3909195AD3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6" y="4122062"/>
            <a:ext cx="1181203" cy="366728"/>
          </a:xfrm>
          <a:prstGeom prst="rect">
            <a:avLst/>
          </a:prstGeom>
        </p:spPr>
      </p:pic>
      <p:pic>
        <p:nvPicPr>
          <p:cNvPr id="124" name="Imagem 123">
            <a:extLst>
              <a:ext uri="{FF2B5EF4-FFF2-40B4-BE49-F238E27FC236}">
                <a16:creationId xmlns:a16="http://schemas.microsoft.com/office/drawing/2014/main" id="{237B691D-B9BD-4D0B-B5DC-48B0E3082C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5" y="4477049"/>
            <a:ext cx="1181203" cy="366728"/>
          </a:xfrm>
          <a:prstGeom prst="rect">
            <a:avLst/>
          </a:prstGeom>
        </p:spPr>
      </p:pic>
      <p:pic>
        <p:nvPicPr>
          <p:cNvPr id="125" name="Imagem 124">
            <a:extLst>
              <a:ext uri="{FF2B5EF4-FFF2-40B4-BE49-F238E27FC236}">
                <a16:creationId xmlns:a16="http://schemas.microsoft.com/office/drawing/2014/main" id="{2D1C2F5F-7F86-4E3A-AFC6-7787A38BA9C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6" y="4122062"/>
            <a:ext cx="1181203" cy="366728"/>
          </a:xfrm>
          <a:prstGeom prst="rect">
            <a:avLst/>
          </a:prstGeom>
        </p:spPr>
      </p:pic>
      <p:pic>
        <p:nvPicPr>
          <p:cNvPr id="126" name="Imagem 125">
            <a:extLst>
              <a:ext uri="{FF2B5EF4-FFF2-40B4-BE49-F238E27FC236}">
                <a16:creationId xmlns:a16="http://schemas.microsoft.com/office/drawing/2014/main" id="{5B4FD78B-5833-4243-AC54-27A89A52AD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5" y="4477049"/>
            <a:ext cx="1181203" cy="366728"/>
          </a:xfrm>
          <a:prstGeom prst="rect">
            <a:avLst/>
          </a:prstGeom>
        </p:spPr>
      </p:pic>
      <p:pic>
        <p:nvPicPr>
          <p:cNvPr id="127" name="Imagem 126">
            <a:extLst>
              <a:ext uri="{FF2B5EF4-FFF2-40B4-BE49-F238E27FC236}">
                <a16:creationId xmlns:a16="http://schemas.microsoft.com/office/drawing/2014/main" id="{0D3D72FB-92FD-454E-9182-57E7DA7A29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37" y="4122062"/>
            <a:ext cx="1181203" cy="366728"/>
          </a:xfrm>
          <a:prstGeom prst="rect">
            <a:avLst/>
          </a:prstGeom>
        </p:spPr>
      </p:pic>
      <p:pic>
        <p:nvPicPr>
          <p:cNvPr id="143" name="Imagem 142">
            <a:extLst>
              <a:ext uri="{FF2B5EF4-FFF2-40B4-BE49-F238E27FC236}">
                <a16:creationId xmlns:a16="http://schemas.microsoft.com/office/drawing/2014/main" id="{A983D95E-F7EA-4BBF-9540-6E230C7189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6" y="4477049"/>
            <a:ext cx="1181203" cy="366728"/>
          </a:xfrm>
          <a:prstGeom prst="rect">
            <a:avLst/>
          </a:prstGeom>
        </p:spPr>
      </p:pic>
      <p:pic>
        <p:nvPicPr>
          <p:cNvPr id="144" name="Imagem 143">
            <a:extLst>
              <a:ext uri="{FF2B5EF4-FFF2-40B4-BE49-F238E27FC236}">
                <a16:creationId xmlns:a16="http://schemas.microsoft.com/office/drawing/2014/main" id="{7C2FB0DD-3F5B-4D94-8724-FCBDF4CCFD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5" y="4826071"/>
            <a:ext cx="1181203" cy="366728"/>
          </a:xfrm>
          <a:prstGeom prst="rect">
            <a:avLst/>
          </a:prstGeom>
        </p:spPr>
      </p:pic>
      <p:pic>
        <p:nvPicPr>
          <p:cNvPr id="145" name="Imagem 144">
            <a:extLst>
              <a:ext uri="{FF2B5EF4-FFF2-40B4-BE49-F238E27FC236}">
                <a16:creationId xmlns:a16="http://schemas.microsoft.com/office/drawing/2014/main" id="{8C20FADF-7A45-4F60-A6FE-435D52226D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4" y="5181058"/>
            <a:ext cx="1181203" cy="366728"/>
          </a:xfrm>
          <a:prstGeom prst="rect">
            <a:avLst/>
          </a:prstGeom>
        </p:spPr>
      </p:pic>
      <p:pic>
        <p:nvPicPr>
          <p:cNvPr id="146" name="Imagem 145">
            <a:extLst>
              <a:ext uri="{FF2B5EF4-FFF2-40B4-BE49-F238E27FC236}">
                <a16:creationId xmlns:a16="http://schemas.microsoft.com/office/drawing/2014/main" id="{B9568987-4A51-4026-897C-7CF4AAC70C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5" y="4826071"/>
            <a:ext cx="1181203" cy="366728"/>
          </a:xfrm>
          <a:prstGeom prst="rect">
            <a:avLst/>
          </a:prstGeom>
        </p:spPr>
      </p:pic>
      <p:pic>
        <p:nvPicPr>
          <p:cNvPr id="147" name="Imagem 146">
            <a:extLst>
              <a:ext uri="{FF2B5EF4-FFF2-40B4-BE49-F238E27FC236}">
                <a16:creationId xmlns:a16="http://schemas.microsoft.com/office/drawing/2014/main" id="{C6381784-F203-43FF-826D-AE8B8D6443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4" y="5181058"/>
            <a:ext cx="1181203" cy="366728"/>
          </a:xfrm>
          <a:prstGeom prst="rect">
            <a:avLst/>
          </a:prstGeom>
        </p:spPr>
      </p:pic>
      <p:pic>
        <p:nvPicPr>
          <p:cNvPr id="148" name="Imagem 147">
            <a:extLst>
              <a:ext uri="{FF2B5EF4-FFF2-40B4-BE49-F238E27FC236}">
                <a16:creationId xmlns:a16="http://schemas.microsoft.com/office/drawing/2014/main" id="{855B150B-B594-4CC6-A160-9C34CB1A5F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5" y="4826071"/>
            <a:ext cx="1181203" cy="366728"/>
          </a:xfrm>
          <a:prstGeom prst="rect">
            <a:avLst/>
          </a:prstGeom>
        </p:spPr>
      </p:pic>
      <p:pic>
        <p:nvPicPr>
          <p:cNvPr id="149" name="Imagem 148">
            <a:extLst>
              <a:ext uri="{FF2B5EF4-FFF2-40B4-BE49-F238E27FC236}">
                <a16:creationId xmlns:a16="http://schemas.microsoft.com/office/drawing/2014/main" id="{200A451D-0016-4163-A384-BA44652E1A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4" y="5181058"/>
            <a:ext cx="1181203" cy="366728"/>
          </a:xfrm>
          <a:prstGeom prst="rect">
            <a:avLst/>
          </a:prstGeom>
        </p:spPr>
      </p:pic>
      <p:pic>
        <p:nvPicPr>
          <p:cNvPr id="150" name="Imagem 149">
            <a:extLst>
              <a:ext uri="{FF2B5EF4-FFF2-40B4-BE49-F238E27FC236}">
                <a16:creationId xmlns:a16="http://schemas.microsoft.com/office/drawing/2014/main" id="{1DB821CB-CB55-4B8E-84D7-64B843905D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36" y="4826071"/>
            <a:ext cx="1181203" cy="366728"/>
          </a:xfrm>
          <a:prstGeom prst="rect">
            <a:avLst/>
          </a:prstGeom>
        </p:spPr>
      </p:pic>
      <p:pic>
        <p:nvPicPr>
          <p:cNvPr id="151" name="Imagem 150">
            <a:extLst>
              <a:ext uri="{FF2B5EF4-FFF2-40B4-BE49-F238E27FC236}">
                <a16:creationId xmlns:a16="http://schemas.microsoft.com/office/drawing/2014/main" id="{1D95712D-8286-484D-BF11-9610A1DE5A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5" y="5181058"/>
            <a:ext cx="1181203" cy="366728"/>
          </a:xfrm>
          <a:prstGeom prst="rect">
            <a:avLst/>
          </a:prstGeom>
        </p:spPr>
      </p:pic>
      <p:pic>
        <p:nvPicPr>
          <p:cNvPr id="152" name="Imagem 151">
            <a:extLst>
              <a:ext uri="{FF2B5EF4-FFF2-40B4-BE49-F238E27FC236}">
                <a16:creationId xmlns:a16="http://schemas.microsoft.com/office/drawing/2014/main" id="{DD763A7C-AFBB-4104-8343-4DCA4F1E49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4" y="5547986"/>
            <a:ext cx="1181203" cy="366728"/>
          </a:xfrm>
          <a:prstGeom prst="rect">
            <a:avLst/>
          </a:prstGeom>
        </p:spPr>
      </p:pic>
      <p:pic>
        <p:nvPicPr>
          <p:cNvPr id="153" name="Imagem 152">
            <a:extLst>
              <a:ext uri="{FF2B5EF4-FFF2-40B4-BE49-F238E27FC236}">
                <a16:creationId xmlns:a16="http://schemas.microsoft.com/office/drawing/2014/main" id="{742ABCD2-9BC2-4F2D-BC63-F724E1C607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3" y="5902973"/>
            <a:ext cx="1181203" cy="366728"/>
          </a:xfrm>
          <a:prstGeom prst="rect">
            <a:avLst/>
          </a:prstGeom>
        </p:spPr>
      </p:pic>
      <p:pic>
        <p:nvPicPr>
          <p:cNvPr id="154" name="Imagem 153">
            <a:extLst>
              <a:ext uri="{FF2B5EF4-FFF2-40B4-BE49-F238E27FC236}">
                <a16:creationId xmlns:a16="http://schemas.microsoft.com/office/drawing/2014/main" id="{DEB41945-9D17-471C-A395-41C3ACBBF6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4" y="5547986"/>
            <a:ext cx="1181203" cy="366728"/>
          </a:xfrm>
          <a:prstGeom prst="rect">
            <a:avLst/>
          </a:prstGeom>
        </p:spPr>
      </p:pic>
      <p:pic>
        <p:nvPicPr>
          <p:cNvPr id="155" name="Imagem 154">
            <a:extLst>
              <a:ext uri="{FF2B5EF4-FFF2-40B4-BE49-F238E27FC236}">
                <a16:creationId xmlns:a16="http://schemas.microsoft.com/office/drawing/2014/main" id="{D342A445-CAEA-4095-AEB8-00676900BD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3" y="5902973"/>
            <a:ext cx="1181203" cy="366728"/>
          </a:xfrm>
          <a:prstGeom prst="rect">
            <a:avLst/>
          </a:prstGeom>
        </p:spPr>
      </p:pic>
      <p:pic>
        <p:nvPicPr>
          <p:cNvPr id="156" name="Imagem 155">
            <a:extLst>
              <a:ext uri="{FF2B5EF4-FFF2-40B4-BE49-F238E27FC236}">
                <a16:creationId xmlns:a16="http://schemas.microsoft.com/office/drawing/2014/main" id="{47E0549B-671D-482C-B130-AD86188CB0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4" y="5547986"/>
            <a:ext cx="1181203" cy="366728"/>
          </a:xfrm>
          <a:prstGeom prst="rect">
            <a:avLst/>
          </a:prstGeom>
        </p:spPr>
      </p:pic>
      <p:pic>
        <p:nvPicPr>
          <p:cNvPr id="157" name="Imagem 156">
            <a:extLst>
              <a:ext uri="{FF2B5EF4-FFF2-40B4-BE49-F238E27FC236}">
                <a16:creationId xmlns:a16="http://schemas.microsoft.com/office/drawing/2014/main" id="{E606852D-0A0C-48E0-A06C-AD8C365DDC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3" y="5902973"/>
            <a:ext cx="1181203" cy="366728"/>
          </a:xfrm>
          <a:prstGeom prst="rect">
            <a:avLst/>
          </a:prstGeom>
        </p:spPr>
      </p:pic>
      <p:pic>
        <p:nvPicPr>
          <p:cNvPr id="158" name="Imagem 157">
            <a:extLst>
              <a:ext uri="{FF2B5EF4-FFF2-40B4-BE49-F238E27FC236}">
                <a16:creationId xmlns:a16="http://schemas.microsoft.com/office/drawing/2014/main" id="{D2B092A5-E17F-4FD6-82F7-D22DB7A22D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35" y="5547986"/>
            <a:ext cx="1181203" cy="366728"/>
          </a:xfrm>
          <a:prstGeom prst="rect">
            <a:avLst/>
          </a:prstGeom>
        </p:spPr>
      </p:pic>
      <p:pic>
        <p:nvPicPr>
          <p:cNvPr id="159" name="Imagem 158">
            <a:extLst>
              <a:ext uri="{FF2B5EF4-FFF2-40B4-BE49-F238E27FC236}">
                <a16:creationId xmlns:a16="http://schemas.microsoft.com/office/drawing/2014/main" id="{0FC622CD-8FAD-4E6A-B4EC-923161E304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4" y="5902973"/>
            <a:ext cx="1181203" cy="366728"/>
          </a:xfrm>
          <a:prstGeom prst="rect">
            <a:avLst/>
          </a:prstGeom>
        </p:spPr>
      </p:pic>
      <p:pic>
        <p:nvPicPr>
          <p:cNvPr id="160" name="Imagem 159">
            <a:extLst>
              <a:ext uri="{FF2B5EF4-FFF2-40B4-BE49-F238E27FC236}">
                <a16:creationId xmlns:a16="http://schemas.microsoft.com/office/drawing/2014/main" id="{DAE4B36B-992B-4058-85CB-9558F8BB17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3" y="6285085"/>
            <a:ext cx="1181203" cy="366728"/>
          </a:xfrm>
          <a:prstGeom prst="rect">
            <a:avLst/>
          </a:prstGeom>
        </p:spPr>
      </p:pic>
      <p:pic>
        <p:nvPicPr>
          <p:cNvPr id="161" name="Imagem 160">
            <a:extLst>
              <a:ext uri="{FF2B5EF4-FFF2-40B4-BE49-F238E27FC236}">
                <a16:creationId xmlns:a16="http://schemas.microsoft.com/office/drawing/2014/main" id="{3CFC9B23-8B3C-4FC1-B77F-6F70E023A7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3" y="6285085"/>
            <a:ext cx="1181203" cy="366728"/>
          </a:xfrm>
          <a:prstGeom prst="rect">
            <a:avLst/>
          </a:prstGeom>
        </p:spPr>
      </p:pic>
      <p:pic>
        <p:nvPicPr>
          <p:cNvPr id="162" name="Imagem 161">
            <a:extLst>
              <a:ext uri="{FF2B5EF4-FFF2-40B4-BE49-F238E27FC236}">
                <a16:creationId xmlns:a16="http://schemas.microsoft.com/office/drawing/2014/main" id="{86F32660-7D94-4623-A846-5610E5C26D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693" y="6285085"/>
            <a:ext cx="1181203" cy="366728"/>
          </a:xfrm>
          <a:prstGeom prst="rect">
            <a:avLst/>
          </a:prstGeom>
        </p:spPr>
      </p:pic>
      <p:pic>
        <p:nvPicPr>
          <p:cNvPr id="163" name="Imagem 162">
            <a:extLst>
              <a:ext uri="{FF2B5EF4-FFF2-40B4-BE49-F238E27FC236}">
                <a16:creationId xmlns:a16="http://schemas.microsoft.com/office/drawing/2014/main" id="{AD8DAB4C-E759-4BC9-BCDC-62938F21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914" y="6285085"/>
            <a:ext cx="1181203" cy="366728"/>
          </a:xfrm>
          <a:prstGeom prst="rect">
            <a:avLst/>
          </a:prstGeom>
        </p:spPr>
      </p:pic>
      <p:pic>
        <p:nvPicPr>
          <p:cNvPr id="164" name="Imagem 163">
            <a:extLst>
              <a:ext uri="{FF2B5EF4-FFF2-40B4-BE49-F238E27FC236}">
                <a16:creationId xmlns:a16="http://schemas.microsoft.com/office/drawing/2014/main" id="{A8DBB8D4-8949-4204-8646-DB34FBA445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73" y="6652013"/>
            <a:ext cx="1181203" cy="366728"/>
          </a:xfrm>
          <a:prstGeom prst="rect">
            <a:avLst/>
          </a:prstGeom>
        </p:spPr>
      </p:pic>
      <p:pic>
        <p:nvPicPr>
          <p:cNvPr id="166" name="Imagem 165">
            <a:extLst>
              <a:ext uri="{FF2B5EF4-FFF2-40B4-BE49-F238E27FC236}">
                <a16:creationId xmlns:a16="http://schemas.microsoft.com/office/drawing/2014/main" id="{4713CB12-8337-4A84-AD25-62869A3F37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8293" y="6652013"/>
            <a:ext cx="1181203" cy="366728"/>
          </a:xfrm>
          <a:prstGeom prst="rect">
            <a:avLst/>
          </a:prstGeom>
        </p:spPr>
      </p:pic>
      <p:pic>
        <p:nvPicPr>
          <p:cNvPr id="168" name="Imagem 167">
            <a:extLst>
              <a:ext uri="{FF2B5EF4-FFF2-40B4-BE49-F238E27FC236}">
                <a16:creationId xmlns:a16="http://schemas.microsoft.com/office/drawing/2014/main" id="{3334B6C3-8BEA-4020-81CB-8E6589C86A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4513" y="6652013"/>
            <a:ext cx="1181203" cy="366728"/>
          </a:xfrm>
          <a:prstGeom prst="rect">
            <a:avLst/>
          </a:prstGeom>
        </p:spPr>
      </p:pic>
      <p:pic>
        <p:nvPicPr>
          <p:cNvPr id="170" name="Imagem 169">
            <a:extLst>
              <a:ext uri="{FF2B5EF4-FFF2-40B4-BE49-F238E27FC236}">
                <a16:creationId xmlns:a16="http://schemas.microsoft.com/office/drawing/2014/main" id="{B5D7C2AD-FBFB-4E0F-AAB6-300D79D7F5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734" y="6652013"/>
            <a:ext cx="1181203" cy="366728"/>
          </a:xfrm>
          <a:prstGeom prst="rect">
            <a:avLst/>
          </a:prstGeom>
        </p:spPr>
      </p:pic>
      <p:sp>
        <p:nvSpPr>
          <p:cNvPr id="172" name="CaixaDeTexto 171">
            <a:extLst>
              <a:ext uri="{FF2B5EF4-FFF2-40B4-BE49-F238E27FC236}">
                <a16:creationId xmlns:a16="http://schemas.microsoft.com/office/drawing/2014/main" id="{61209D1E-4277-4D2C-BA91-53BB110929A4}"/>
              </a:ext>
            </a:extLst>
          </p:cNvPr>
          <p:cNvSpPr txBox="1"/>
          <p:nvPr/>
        </p:nvSpPr>
        <p:spPr>
          <a:xfrm>
            <a:off x="305817" y="5101886"/>
            <a:ext cx="4752528" cy="1600438"/>
          </a:xfrm>
          <a:prstGeom prst="rect">
            <a:avLst/>
          </a:prstGeom>
          <a:solidFill>
            <a:schemeClr val="bg1"/>
          </a:solidFill>
          <a:ln>
            <a:noFill/>
          </a:ln>
        </p:spPr>
        <p:txBody>
          <a:bodyPr wrap="square" rtlCol="0">
            <a:spAutoFit/>
          </a:bodyPr>
          <a:lstStyle/>
          <a:p>
            <a:pPr algn="ctr"/>
            <a:r>
              <a:rPr lang="pt-BR" sz="1600" dirty="0">
                <a:ln>
                  <a:solidFill>
                    <a:srgbClr val="002060"/>
                  </a:solidFill>
                </a:ln>
                <a:solidFill>
                  <a:srgbClr val="002060"/>
                </a:solidFill>
                <a:latin typeface="Monda" pitchFamily="2" charset="0"/>
              </a:rPr>
              <a:t>Só Aço Industrial Ltda</a:t>
            </a:r>
            <a:endParaRPr lang="pt-BR" sz="1000" dirty="0">
              <a:ln>
                <a:solidFill>
                  <a:srgbClr val="002060"/>
                </a:solidFill>
              </a:ln>
              <a:solidFill>
                <a:srgbClr val="002060"/>
              </a:solidFill>
              <a:latin typeface="Monda" pitchFamily="2" charset="0"/>
            </a:endParaRPr>
          </a:p>
          <a:p>
            <a:pPr algn="ctr"/>
            <a:r>
              <a:rPr lang="pt-BR" sz="1000" dirty="0">
                <a:ln>
                  <a:solidFill>
                    <a:srgbClr val="002060"/>
                  </a:solidFill>
                </a:ln>
                <a:solidFill>
                  <a:srgbClr val="002060"/>
                </a:solidFill>
                <a:latin typeface="Monda" pitchFamily="2" charset="0"/>
              </a:rPr>
              <a:t>CNPJ: 04.041.754/0001-40</a:t>
            </a:r>
          </a:p>
          <a:p>
            <a:pPr algn="ctr"/>
            <a:r>
              <a:rPr lang="pt-BR" sz="1000" dirty="0">
                <a:ln>
                  <a:solidFill>
                    <a:srgbClr val="002060"/>
                  </a:solidFill>
                </a:ln>
                <a:solidFill>
                  <a:srgbClr val="002060"/>
                </a:solidFill>
                <a:latin typeface="Monda" pitchFamily="2" charset="0"/>
              </a:rPr>
              <a:t>Av. Coletora Secundária III, Nº 9519 Complemento Quadra C/E Lote 000001 CEP: 64.038-250 Bairro Pedra Miúda  </a:t>
            </a:r>
          </a:p>
          <a:p>
            <a:pPr algn="ctr"/>
            <a:r>
              <a:rPr lang="pt-BR" sz="1000" dirty="0">
                <a:ln>
                  <a:solidFill>
                    <a:srgbClr val="002060"/>
                  </a:solidFill>
                </a:ln>
                <a:solidFill>
                  <a:srgbClr val="002060"/>
                </a:solidFill>
                <a:latin typeface="Monda" pitchFamily="2" charset="0"/>
              </a:rPr>
              <a:t>Telefones: (86) 3219 1200/1300</a:t>
            </a:r>
          </a:p>
          <a:p>
            <a:pPr algn="ctr"/>
            <a:r>
              <a:rPr lang="pt-BR" sz="1000" dirty="0">
                <a:ln>
                  <a:solidFill>
                    <a:srgbClr val="002060"/>
                  </a:solidFill>
                </a:ln>
                <a:solidFill>
                  <a:srgbClr val="002060"/>
                </a:solidFill>
                <a:latin typeface="Monda" pitchFamily="2" charset="0"/>
              </a:rPr>
              <a:t>Teresina – Piauí</a:t>
            </a:r>
          </a:p>
          <a:p>
            <a:pPr algn="ctr"/>
            <a:r>
              <a:rPr lang="pt-BR" sz="1000" dirty="0">
                <a:ln>
                  <a:solidFill>
                    <a:srgbClr val="002060"/>
                  </a:solidFill>
                </a:ln>
                <a:solidFill>
                  <a:srgbClr val="002060"/>
                </a:solidFill>
                <a:latin typeface="Monda" pitchFamily="2" charset="0"/>
              </a:rPr>
              <a:t>Site: </a:t>
            </a:r>
            <a:r>
              <a:rPr lang="pt-BR" sz="1000" dirty="0">
                <a:ln>
                  <a:solidFill>
                    <a:srgbClr val="002060"/>
                  </a:solidFill>
                </a:ln>
                <a:solidFill>
                  <a:srgbClr val="002060"/>
                </a:solidFill>
                <a:latin typeface="Monda" pitchFamily="2" charset="0"/>
                <a:hlinkClick r:id="rId4"/>
              </a:rPr>
              <a:t>www.soacoindustrial.com.br</a:t>
            </a:r>
            <a:endParaRPr lang="pt-BR" sz="1000" dirty="0">
              <a:ln>
                <a:solidFill>
                  <a:srgbClr val="002060"/>
                </a:solidFill>
              </a:ln>
              <a:solidFill>
                <a:srgbClr val="002060"/>
              </a:solidFill>
              <a:latin typeface="Monda" panose="02000503000000000000" pitchFamily="2" charset="0"/>
            </a:endParaRPr>
          </a:p>
          <a:p>
            <a:pPr algn="ctr"/>
            <a:r>
              <a:rPr lang="pt-BR" sz="1000" dirty="0">
                <a:ln>
                  <a:solidFill>
                    <a:srgbClr val="002060"/>
                  </a:solidFill>
                </a:ln>
                <a:solidFill>
                  <a:srgbClr val="002060"/>
                </a:solidFill>
                <a:latin typeface="Monda" panose="02000503000000000000" pitchFamily="2" charset="0"/>
              </a:rPr>
              <a:t>Ouvidoria/SAC: </a:t>
            </a:r>
            <a:r>
              <a:rPr lang="pt-BR" sz="1000" dirty="0">
                <a:ln>
                  <a:solidFill>
                    <a:srgbClr val="002060"/>
                  </a:solidFill>
                </a:ln>
                <a:solidFill>
                  <a:srgbClr val="002060"/>
                </a:solidFill>
                <a:latin typeface="Monda" pitchFamily="2" charset="0"/>
                <a:hlinkClick r:id="rId5"/>
              </a:rPr>
              <a:t>sac@soacoindustrial.com.br</a:t>
            </a:r>
            <a:endParaRPr lang="pt-BR" sz="1000" dirty="0">
              <a:ln>
                <a:solidFill>
                  <a:srgbClr val="002060"/>
                </a:solidFill>
              </a:ln>
              <a:solidFill>
                <a:srgbClr val="002060"/>
              </a:solidFill>
              <a:latin typeface="Monda" pitchFamily="2" charset="0"/>
            </a:endParaRPr>
          </a:p>
          <a:p>
            <a:pPr algn="ctr"/>
            <a:r>
              <a:rPr lang="pt-BR" sz="1000" dirty="0">
                <a:ln>
                  <a:solidFill>
                    <a:srgbClr val="002060"/>
                  </a:solidFill>
                </a:ln>
                <a:solidFill>
                  <a:srgbClr val="002060"/>
                </a:solidFill>
                <a:latin typeface="Monda" pitchFamily="2" charset="0"/>
              </a:rPr>
              <a:t>MP-SA-0009.Rev.2</a:t>
            </a:r>
          </a:p>
        </p:txBody>
      </p:sp>
      <p:cxnSp>
        <p:nvCxnSpPr>
          <p:cNvPr id="173" name="Conector reto 172">
            <a:extLst>
              <a:ext uri="{FF2B5EF4-FFF2-40B4-BE49-F238E27FC236}">
                <a16:creationId xmlns:a16="http://schemas.microsoft.com/office/drawing/2014/main" id="{AB15D20E-1F04-433E-AFC7-6E9E3157FA20}"/>
              </a:ext>
            </a:extLst>
          </p:cNvPr>
          <p:cNvCxnSpPr>
            <a:cxnSpLocks/>
          </p:cNvCxnSpPr>
          <p:nvPr/>
        </p:nvCxnSpPr>
        <p:spPr>
          <a:xfrm>
            <a:off x="72081" y="7106950"/>
            <a:ext cx="5220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74" name="Conector reto 173">
            <a:extLst>
              <a:ext uri="{FF2B5EF4-FFF2-40B4-BE49-F238E27FC236}">
                <a16:creationId xmlns:a16="http://schemas.microsoft.com/office/drawing/2014/main" id="{6F51986B-3B81-4722-A71B-D5B844FA79EF}"/>
              </a:ext>
            </a:extLst>
          </p:cNvPr>
          <p:cNvCxnSpPr>
            <a:cxnSpLocks/>
          </p:cNvCxnSpPr>
          <p:nvPr/>
        </p:nvCxnSpPr>
        <p:spPr>
          <a:xfrm>
            <a:off x="72081" y="7436686"/>
            <a:ext cx="5220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175" name="Imagem 174">
            <a:extLst>
              <a:ext uri="{FF2B5EF4-FFF2-40B4-BE49-F238E27FC236}">
                <a16:creationId xmlns:a16="http://schemas.microsoft.com/office/drawing/2014/main" id="{C03F4BF6-9255-40C8-B931-50C7160EC88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82281" y="7167528"/>
            <a:ext cx="789062" cy="236459"/>
          </a:xfrm>
          <a:prstGeom prst="rect">
            <a:avLst/>
          </a:prstGeom>
        </p:spPr>
      </p:pic>
      <p:pic>
        <p:nvPicPr>
          <p:cNvPr id="176" name="Imagem 175">
            <a:extLst>
              <a:ext uri="{FF2B5EF4-FFF2-40B4-BE49-F238E27FC236}">
                <a16:creationId xmlns:a16="http://schemas.microsoft.com/office/drawing/2014/main" id="{EA602ADA-E4F0-4405-B374-23AA477A2BD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00743" y="7167528"/>
            <a:ext cx="789062" cy="236459"/>
          </a:xfrm>
          <a:prstGeom prst="rect">
            <a:avLst/>
          </a:prstGeom>
        </p:spPr>
      </p:pic>
      <p:pic>
        <p:nvPicPr>
          <p:cNvPr id="177" name="Imagem 176">
            <a:extLst>
              <a:ext uri="{FF2B5EF4-FFF2-40B4-BE49-F238E27FC236}">
                <a16:creationId xmlns:a16="http://schemas.microsoft.com/office/drawing/2014/main" id="{5E2B8EBF-CA0B-40B9-AEAE-AFD4398E7CC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591" y="7167528"/>
            <a:ext cx="789062" cy="236459"/>
          </a:xfrm>
          <a:prstGeom prst="rect">
            <a:avLst/>
          </a:prstGeom>
        </p:spPr>
      </p:pic>
      <p:pic>
        <p:nvPicPr>
          <p:cNvPr id="178" name="Imagem 177">
            <a:extLst>
              <a:ext uri="{FF2B5EF4-FFF2-40B4-BE49-F238E27FC236}">
                <a16:creationId xmlns:a16="http://schemas.microsoft.com/office/drawing/2014/main" id="{D1E123A1-15E9-45C6-9A13-8D28A286F2F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9205" y="7167528"/>
            <a:ext cx="789062" cy="236459"/>
          </a:xfrm>
          <a:prstGeom prst="rect">
            <a:avLst/>
          </a:prstGeom>
        </p:spPr>
      </p:pic>
      <p:pic>
        <p:nvPicPr>
          <p:cNvPr id="179" name="Imagem 178">
            <a:extLst>
              <a:ext uri="{FF2B5EF4-FFF2-40B4-BE49-F238E27FC236}">
                <a16:creationId xmlns:a16="http://schemas.microsoft.com/office/drawing/2014/main" id="{F6CA3506-7BAB-4AF3-B6A6-1452585FB27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37667" y="7167528"/>
            <a:ext cx="789062" cy="236459"/>
          </a:xfrm>
          <a:prstGeom prst="rect">
            <a:avLst/>
          </a:prstGeom>
        </p:spPr>
      </p:pic>
      <p:pic>
        <p:nvPicPr>
          <p:cNvPr id="180" name="Imagem 179">
            <a:extLst>
              <a:ext uri="{FF2B5EF4-FFF2-40B4-BE49-F238E27FC236}">
                <a16:creationId xmlns:a16="http://schemas.microsoft.com/office/drawing/2014/main" id="{EF81692D-D983-4B23-8D2C-5FC07748821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56129" y="7167528"/>
            <a:ext cx="789062" cy="236459"/>
          </a:xfrm>
          <a:prstGeom prst="rect">
            <a:avLst/>
          </a:prstGeom>
        </p:spPr>
      </p:pic>
      <p:sp>
        <p:nvSpPr>
          <p:cNvPr id="2" name="Espaço Reservado para Número de Slide 1">
            <a:extLst>
              <a:ext uri="{FF2B5EF4-FFF2-40B4-BE49-F238E27FC236}">
                <a16:creationId xmlns:a16="http://schemas.microsoft.com/office/drawing/2014/main" id="{CB1D1844-74ED-453E-B928-2E590631632E}"/>
              </a:ext>
            </a:extLst>
          </p:cNvPr>
          <p:cNvSpPr>
            <a:spLocks noGrp="1"/>
          </p:cNvSpPr>
          <p:nvPr>
            <p:ph type="sldNum" sz="quarter" idx="12"/>
          </p:nvPr>
        </p:nvSpPr>
        <p:spPr/>
        <p:txBody>
          <a:bodyPr/>
          <a:lstStyle/>
          <a:p>
            <a:fld id="{5583268C-60FE-4333-B092-1A38FFBDC3D2}" type="slidenum">
              <a:rPr lang="pt-BR" smtClean="0"/>
              <a:t>12</a:t>
            </a:fld>
            <a:endParaRPr lang="pt-BR"/>
          </a:p>
        </p:txBody>
      </p:sp>
    </p:spTree>
    <p:extLst>
      <p:ext uri="{BB962C8B-B14F-4D97-AF65-F5344CB8AC3E}">
        <p14:creationId xmlns:p14="http://schemas.microsoft.com/office/powerpoint/2010/main" val="2191029057"/>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1805</TotalTime>
  <Words>2273</Words>
  <Application>Microsoft Office PowerPoint</Application>
  <PresentationFormat>Personalizar</PresentationFormat>
  <Paragraphs>237</Paragraphs>
  <Slides>12</Slides>
  <Notes>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12</vt:i4>
      </vt:variant>
    </vt:vector>
  </HeadingPairs>
  <TitlesOfParts>
    <vt:vector size="17" baseType="lpstr">
      <vt:lpstr>Arial</vt:lpstr>
      <vt:lpstr>Calibri</vt:lpstr>
      <vt:lpstr>Monda</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producaosoaco</dc:creator>
  <cp:lastModifiedBy>Eliel Lima</cp:lastModifiedBy>
  <cp:revision>111</cp:revision>
  <dcterms:created xsi:type="dcterms:W3CDTF">2018-12-03T13:41:48Z</dcterms:created>
  <dcterms:modified xsi:type="dcterms:W3CDTF">2022-05-04T12:51:02Z</dcterms:modified>
</cp:coreProperties>
</file>