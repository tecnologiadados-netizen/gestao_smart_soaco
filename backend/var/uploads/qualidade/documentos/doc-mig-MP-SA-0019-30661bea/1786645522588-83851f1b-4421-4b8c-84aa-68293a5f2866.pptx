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0693400" cy="7562850"/>
  <p:notesSz cx="9945688" cy="6858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749" autoAdjust="0"/>
  </p:normalViewPr>
  <p:slideViewPr>
    <p:cSldViewPr>
      <p:cViewPr>
        <p:scale>
          <a:sx n="200" d="100"/>
          <a:sy n="200" d="100"/>
        </p:scale>
        <p:origin x="-5226" y="-61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5/30/2023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00" y="7049058"/>
            <a:ext cx="486822" cy="292803"/>
          </a:xfrm>
          <a:prstGeom prst="rect">
            <a:avLst/>
          </a:prstGeom>
          <a:blipFill>
            <a:blip r:embed="rId7" cstate="print"/>
            <a:stretch>
              <a:fillRect/>
            </a:stretch>
          </a:blipFill>
        </p:spPr>
        <p:txBody>
          <a:bodyPr wrap="square" lIns="0" tIns="0" rIns="0" bIns="0" rtlCol="0"/>
          <a:lstStyle/>
          <a:p>
            <a:endParaRPr/>
          </a:p>
        </p:txBody>
      </p:sp>
      <p:sp>
        <p:nvSpPr>
          <p:cNvPr id="17" name="bg object 17"/>
          <p:cNvSpPr/>
          <p:nvPr/>
        </p:nvSpPr>
        <p:spPr>
          <a:xfrm>
            <a:off x="5317490" y="7055408"/>
            <a:ext cx="563435" cy="292803"/>
          </a:xfrm>
          <a:prstGeom prst="rect">
            <a:avLst/>
          </a:prstGeom>
          <a:blipFill>
            <a:blip r:embed="rId7" cstate="print"/>
            <a:stretch>
              <a:fillRect/>
            </a:stretch>
          </a:blipFill>
        </p:spPr>
        <p:txBody>
          <a:bodyPr wrap="square" lIns="0" tIns="0" rIns="0" bIns="0" rtlCol="0"/>
          <a:lstStyle/>
          <a:p>
            <a:endParaRPr/>
          </a:p>
        </p:txBody>
      </p:sp>
      <p:sp>
        <p:nvSpPr>
          <p:cNvPr id="18" name="bg object 18"/>
          <p:cNvSpPr/>
          <p:nvPr/>
        </p:nvSpPr>
        <p:spPr>
          <a:xfrm>
            <a:off x="588644" y="7066203"/>
            <a:ext cx="4745990" cy="324485"/>
          </a:xfrm>
          <a:prstGeom prst="rect">
            <a:avLst/>
          </a:prstGeom>
          <a:blipFill>
            <a:blip r:embed="rId8" cstate="print"/>
            <a:stretch>
              <a:fillRect/>
            </a:stretch>
          </a:blipFill>
        </p:spPr>
        <p:txBody>
          <a:bodyPr wrap="square" lIns="0" tIns="0" rIns="0" bIns="0" rtlCol="0"/>
          <a:lstStyle/>
          <a:p>
            <a:endParaRPr/>
          </a:p>
        </p:txBody>
      </p:sp>
      <p:sp>
        <p:nvSpPr>
          <p:cNvPr id="19" name="bg object 19"/>
          <p:cNvSpPr/>
          <p:nvPr/>
        </p:nvSpPr>
        <p:spPr>
          <a:xfrm>
            <a:off x="24128" y="7049058"/>
            <a:ext cx="10639425" cy="0"/>
          </a:xfrm>
          <a:custGeom>
            <a:avLst/>
            <a:gdLst/>
            <a:ahLst/>
            <a:cxnLst/>
            <a:rect l="l" t="t" r="r" b="b"/>
            <a:pathLst>
              <a:path w="10639425">
                <a:moveTo>
                  <a:pt x="0" y="0"/>
                </a:moveTo>
                <a:lnTo>
                  <a:pt x="10639426" y="0"/>
                </a:lnTo>
              </a:path>
            </a:pathLst>
          </a:custGeom>
          <a:ln w="38100">
            <a:solidFill>
              <a:srgbClr val="001F5F"/>
            </a:solidFill>
          </a:ln>
        </p:spPr>
        <p:txBody>
          <a:bodyPr wrap="square" lIns="0" tIns="0" rIns="0" bIns="0" rtlCol="0"/>
          <a:lstStyle/>
          <a:p>
            <a:endParaRPr/>
          </a:p>
        </p:txBody>
      </p:sp>
      <p:sp>
        <p:nvSpPr>
          <p:cNvPr id="20" name="bg object 20"/>
          <p:cNvSpPr/>
          <p:nvPr/>
        </p:nvSpPr>
        <p:spPr>
          <a:xfrm>
            <a:off x="5857240" y="7066203"/>
            <a:ext cx="4745990" cy="324485"/>
          </a:xfrm>
          <a:prstGeom prst="rect">
            <a:avLst/>
          </a:prstGeom>
          <a:blipFill>
            <a:blip r:embed="rId8" cstate="print"/>
            <a:stretch>
              <a:fillRect/>
            </a:stretch>
          </a:blipFill>
        </p:spPr>
        <p:txBody>
          <a:bodyPr wrap="square" lIns="0" tIns="0" rIns="0" bIns="0" rtlCol="0"/>
          <a:lstStyle/>
          <a:p>
            <a:endParaRPr/>
          </a:p>
        </p:txBody>
      </p:sp>
      <p:sp>
        <p:nvSpPr>
          <p:cNvPr id="21" name="bg object 21"/>
          <p:cNvSpPr/>
          <p:nvPr/>
        </p:nvSpPr>
        <p:spPr>
          <a:xfrm>
            <a:off x="0" y="7364374"/>
            <a:ext cx="10692765" cy="38100"/>
          </a:xfrm>
          <a:custGeom>
            <a:avLst/>
            <a:gdLst/>
            <a:ahLst/>
            <a:cxnLst/>
            <a:rect l="l" t="t" r="r" b="b"/>
            <a:pathLst>
              <a:path w="10692765" h="38100">
                <a:moveTo>
                  <a:pt x="0" y="0"/>
                </a:moveTo>
                <a:lnTo>
                  <a:pt x="0" y="38099"/>
                </a:lnTo>
                <a:lnTo>
                  <a:pt x="10692383" y="38099"/>
                </a:lnTo>
                <a:lnTo>
                  <a:pt x="10692383" y="0"/>
                </a:lnTo>
                <a:lnTo>
                  <a:pt x="0" y="0"/>
                </a:lnTo>
                <a:close/>
              </a:path>
            </a:pathLst>
          </a:custGeom>
          <a:solidFill>
            <a:srgbClr val="001F5F"/>
          </a:solidFill>
        </p:spPr>
        <p:txBody>
          <a:bodyPr wrap="square" lIns="0" tIns="0" rIns="0" bIns="0" rtlCol="0"/>
          <a:lstStyle/>
          <a:p>
            <a:endParaRPr/>
          </a:p>
        </p:txBody>
      </p:sp>
      <p:sp>
        <p:nvSpPr>
          <p:cNvPr id="22" name="bg object 22"/>
          <p:cNvSpPr/>
          <p:nvPr/>
        </p:nvSpPr>
        <p:spPr>
          <a:xfrm>
            <a:off x="602661" y="280119"/>
            <a:ext cx="1546247" cy="115332"/>
          </a:xfrm>
          <a:prstGeom prst="rect">
            <a:avLst/>
          </a:prstGeom>
          <a:blipFill>
            <a:blip r:embed="rId9" cstate="print"/>
            <a:stretch>
              <a:fillRect/>
            </a:stretch>
          </a:blipFill>
        </p:spPr>
        <p:txBody>
          <a:bodyPr wrap="square" lIns="0" tIns="0" rIns="0" bIns="0" rtlCol="0"/>
          <a:lstStyle/>
          <a:p>
            <a:endParaRPr/>
          </a:p>
        </p:txBody>
      </p:sp>
      <p:sp>
        <p:nvSpPr>
          <p:cNvPr id="23" name="bg object 23"/>
          <p:cNvSpPr/>
          <p:nvPr/>
        </p:nvSpPr>
        <p:spPr>
          <a:xfrm>
            <a:off x="108586" y="170180"/>
            <a:ext cx="2525395" cy="10160"/>
          </a:xfrm>
          <a:custGeom>
            <a:avLst/>
            <a:gdLst/>
            <a:ahLst/>
            <a:cxnLst/>
            <a:rect l="l" t="t" r="r" b="b"/>
            <a:pathLst>
              <a:path w="2525395" h="10160">
                <a:moveTo>
                  <a:pt x="0" y="10159"/>
                </a:moveTo>
                <a:lnTo>
                  <a:pt x="2525393" y="0"/>
                </a:lnTo>
              </a:path>
            </a:pathLst>
          </a:custGeom>
          <a:ln w="38100">
            <a:solidFill>
              <a:srgbClr val="001F5F"/>
            </a:solidFill>
          </a:ln>
        </p:spPr>
        <p:txBody>
          <a:bodyPr wrap="square" lIns="0" tIns="0" rIns="0" bIns="0" rtlCol="0"/>
          <a:lstStyle/>
          <a:p>
            <a:endParaRPr/>
          </a:p>
        </p:txBody>
      </p:sp>
      <p:sp>
        <p:nvSpPr>
          <p:cNvPr id="24" name="bg object 24"/>
          <p:cNvSpPr/>
          <p:nvPr/>
        </p:nvSpPr>
        <p:spPr>
          <a:xfrm>
            <a:off x="108586" y="499110"/>
            <a:ext cx="2525395" cy="10160"/>
          </a:xfrm>
          <a:custGeom>
            <a:avLst/>
            <a:gdLst/>
            <a:ahLst/>
            <a:cxnLst/>
            <a:rect l="l" t="t" r="r" b="b"/>
            <a:pathLst>
              <a:path w="2525395" h="10159">
                <a:moveTo>
                  <a:pt x="0" y="10159"/>
                </a:moveTo>
                <a:lnTo>
                  <a:pt x="2525393" y="0"/>
                </a:lnTo>
              </a:path>
            </a:pathLst>
          </a:custGeom>
          <a:ln w="38100">
            <a:solidFill>
              <a:srgbClr val="001F5F"/>
            </a:solidFill>
          </a:ln>
        </p:spPr>
        <p:txBody>
          <a:bodyPr wrap="square" lIns="0" tIns="0" rIns="0" bIns="0" rtlCol="0"/>
          <a:lstStyle/>
          <a:p>
            <a:endParaRPr/>
          </a:p>
        </p:txBody>
      </p:sp>
      <p:sp>
        <p:nvSpPr>
          <p:cNvPr id="25" name="bg object 25"/>
          <p:cNvSpPr/>
          <p:nvPr/>
        </p:nvSpPr>
        <p:spPr>
          <a:xfrm>
            <a:off x="2752089" y="161290"/>
            <a:ext cx="2525395" cy="10160"/>
          </a:xfrm>
          <a:custGeom>
            <a:avLst/>
            <a:gdLst/>
            <a:ahLst/>
            <a:cxnLst/>
            <a:rect l="l" t="t" r="r" b="b"/>
            <a:pathLst>
              <a:path w="2525395" h="10160">
                <a:moveTo>
                  <a:pt x="0" y="10159"/>
                </a:moveTo>
                <a:lnTo>
                  <a:pt x="2525395" y="0"/>
                </a:lnTo>
              </a:path>
            </a:pathLst>
          </a:custGeom>
          <a:ln w="38100">
            <a:solidFill>
              <a:srgbClr val="001F5F"/>
            </a:solidFill>
          </a:ln>
        </p:spPr>
        <p:txBody>
          <a:bodyPr wrap="square" lIns="0" tIns="0" rIns="0" bIns="0" rtlCol="0"/>
          <a:lstStyle/>
          <a:p>
            <a:endParaRPr/>
          </a:p>
        </p:txBody>
      </p:sp>
      <p:sp>
        <p:nvSpPr>
          <p:cNvPr id="26" name="bg object 26"/>
          <p:cNvSpPr/>
          <p:nvPr/>
        </p:nvSpPr>
        <p:spPr>
          <a:xfrm>
            <a:off x="2761614" y="490220"/>
            <a:ext cx="2525395" cy="10160"/>
          </a:xfrm>
          <a:custGeom>
            <a:avLst/>
            <a:gdLst/>
            <a:ahLst/>
            <a:cxnLst/>
            <a:rect l="l" t="t" r="r" b="b"/>
            <a:pathLst>
              <a:path w="2525395" h="10159">
                <a:moveTo>
                  <a:pt x="0" y="10160"/>
                </a:moveTo>
                <a:lnTo>
                  <a:pt x="2525395" y="0"/>
                </a:lnTo>
              </a:path>
            </a:pathLst>
          </a:custGeom>
          <a:ln w="38100">
            <a:solidFill>
              <a:srgbClr val="001F5F"/>
            </a:solidFill>
          </a:ln>
        </p:spPr>
        <p:txBody>
          <a:bodyPr wrap="square" lIns="0" tIns="0" rIns="0" bIns="0" rtlCol="0"/>
          <a:lstStyle/>
          <a:p>
            <a:endParaRPr/>
          </a:p>
        </p:txBody>
      </p:sp>
      <p:sp>
        <p:nvSpPr>
          <p:cNvPr id="27" name="bg object 27"/>
          <p:cNvSpPr/>
          <p:nvPr/>
        </p:nvSpPr>
        <p:spPr>
          <a:xfrm>
            <a:off x="5389245" y="149225"/>
            <a:ext cx="2525395" cy="10160"/>
          </a:xfrm>
          <a:custGeom>
            <a:avLst/>
            <a:gdLst/>
            <a:ahLst/>
            <a:cxnLst/>
            <a:rect l="l" t="t" r="r" b="b"/>
            <a:pathLst>
              <a:path w="2525395" h="10160">
                <a:moveTo>
                  <a:pt x="0" y="10160"/>
                </a:moveTo>
                <a:lnTo>
                  <a:pt x="2525395" y="0"/>
                </a:lnTo>
              </a:path>
            </a:pathLst>
          </a:custGeom>
          <a:ln w="38100">
            <a:solidFill>
              <a:srgbClr val="001F5F"/>
            </a:solidFill>
          </a:ln>
        </p:spPr>
        <p:txBody>
          <a:bodyPr wrap="square" lIns="0" tIns="0" rIns="0" bIns="0" rtlCol="0"/>
          <a:lstStyle/>
          <a:p>
            <a:endParaRPr/>
          </a:p>
        </p:txBody>
      </p:sp>
      <p:sp>
        <p:nvSpPr>
          <p:cNvPr id="28" name="bg object 28"/>
          <p:cNvSpPr/>
          <p:nvPr/>
        </p:nvSpPr>
        <p:spPr>
          <a:xfrm>
            <a:off x="5398770" y="478155"/>
            <a:ext cx="2525395" cy="10160"/>
          </a:xfrm>
          <a:custGeom>
            <a:avLst/>
            <a:gdLst/>
            <a:ahLst/>
            <a:cxnLst/>
            <a:rect l="l" t="t" r="r" b="b"/>
            <a:pathLst>
              <a:path w="2525395" h="10159">
                <a:moveTo>
                  <a:pt x="0" y="10159"/>
                </a:moveTo>
                <a:lnTo>
                  <a:pt x="2525395" y="0"/>
                </a:lnTo>
              </a:path>
            </a:pathLst>
          </a:custGeom>
          <a:ln w="38100">
            <a:solidFill>
              <a:srgbClr val="001F5F"/>
            </a:solidFill>
          </a:ln>
        </p:spPr>
        <p:txBody>
          <a:bodyPr wrap="square" lIns="0" tIns="0" rIns="0" bIns="0" rtlCol="0"/>
          <a:lstStyle/>
          <a:p>
            <a:endParaRPr/>
          </a:p>
        </p:txBody>
      </p:sp>
      <p:sp>
        <p:nvSpPr>
          <p:cNvPr id="29" name="bg object 29"/>
          <p:cNvSpPr/>
          <p:nvPr/>
        </p:nvSpPr>
        <p:spPr>
          <a:xfrm>
            <a:off x="8047990" y="140335"/>
            <a:ext cx="2525395" cy="10160"/>
          </a:xfrm>
          <a:custGeom>
            <a:avLst/>
            <a:gdLst/>
            <a:ahLst/>
            <a:cxnLst/>
            <a:rect l="l" t="t" r="r" b="b"/>
            <a:pathLst>
              <a:path w="2525395" h="10160">
                <a:moveTo>
                  <a:pt x="0" y="10159"/>
                </a:moveTo>
                <a:lnTo>
                  <a:pt x="2525394" y="0"/>
                </a:lnTo>
              </a:path>
            </a:pathLst>
          </a:custGeom>
          <a:ln w="38100">
            <a:solidFill>
              <a:srgbClr val="001F5F"/>
            </a:solidFill>
          </a:ln>
        </p:spPr>
        <p:txBody>
          <a:bodyPr wrap="square" lIns="0" tIns="0" rIns="0" bIns="0" rtlCol="0"/>
          <a:lstStyle/>
          <a:p>
            <a:endParaRPr/>
          </a:p>
        </p:txBody>
      </p:sp>
      <p:sp>
        <p:nvSpPr>
          <p:cNvPr id="30" name="bg object 30"/>
          <p:cNvSpPr/>
          <p:nvPr/>
        </p:nvSpPr>
        <p:spPr>
          <a:xfrm>
            <a:off x="8047990" y="462280"/>
            <a:ext cx="2525395" cy="10160"/>
          </a:xfrm>
          <a:custGeom>
            <a:avLst/>
            <a:gdLst/>
            <a:ahLst/>
            <a:cxnLst/>
            <a:rect l="l" t="t" r="r" b="b"/>
            <a:pathLst>
              <a:path w="2525395" h="10159">
                <a:moveTo>
                  <a:pt x="0" y="10159"/>
                </a:moveTo>
                <a:lnTo>
                  <a:pt x="2525394" y="0"/>
                </a:lnTo>
              </a:path>
            </a:pathLst>
          </a:custGeom>
          <a:ln w="38100">
            <a:solidFill>
              <a:srgbClr val="001F5F"/>
            </a:solidFill>
          </a:ln>
        </p:spPr>
        <p:txBody>
          <a:bodyPr wrap="square" lIns="0" tIns="0" rIns="0" bIns="0" rtlCol="0"/>
          <a:lstStyle/>
          <a:p>
            <a:endParaRPr/>
          </a:p>
        </p:txBody>
      </p:sp>
      <p:sp>
        <p:nvSpPr>
          <p:cNvPr id="31" name="bg object 31"/>
          <p:cNvSpPr/>
          <p:nvPr/>
        </p:nvSpPr>
        <p:spPr>
          <a:xfrm>
            <a:off x="3260758" y="269451"/>
            <a:ext cx="1547293" cy="115332"/>
          </a:xfrm>
          <a:prstGeom prst="rect">
            <a:avLst/>
          </a:prstGeom>
          <a:blipFill>
            <a:blip r:embed="rId9" cstate="print"/>
            <a:stretch>
              <a:fillRect/>
            </a:stretch>
          </a:blipFill>
        </p:spPr>
        <p:txBody>
          <a:bodyPr wrap="square" lIns="0" tIns="0" rIns="0" bIns="0" rtlCol="0"/>
          <a:lstStyle/>
          <a:p>
            <a:endParaRPr/>
          </a:p>
        </p:txBody>
      </p:sp>
      <p:sp>
        <p:nvSpPr>
          <p:cNvPr id="32" name="bg object 32"/>
          <p:cNvSpPr/>
          <p:nvPr/>
        </p:nvSpPr>
        <p:spPr>
          <a:xfrm>
            <a:off x="5915806" y="264879"/>
            <a:ext cx="1543768" cy="115332"/>
          </a:xfrm>
          <a:prstGeom prst="rect">
            <a:avLst/>
          </a:prstGeom>
          <a:blipFill>
            <a:blip r:embed="rId10" cstate="print"/>
            <a:stretch>
              <a:fillRect/>
            </a:stretch>
          </a:blipFill>
        </p:spPr>
        <p:txBody>
          <a:bodyPr wrap="square" lIns="0" tIns="0" rIns="0" bIns="0" rtlCol="0"/>
          <a:lstStyle/>
          <a:p>
            <a:endParaRPr/>
          </a:p>
        </p:txBody>
      </p:sp>
      <p:sp>
        <p:nvSpPr>
          <p:cNvPr id="33" name="bg object 33"/>
          <p:cNvSpPr/>
          <p:nvPr/>
        </p:nvSpPr>
        <p:spPr>
          <a:xfrm>
            <a:off x="8571579" y="245554"/>
            <a:ext cx="1547953" cy="119284"/>
          </a:xfrm>
          <a:prstGeom prst="rect">
            <a:avLst/>
          </a:prstGeom>
          <a:blipFill>
            <a:blip r:embed="rId11" cstate="print"/>
            <a:stretch>
              <a:fillRect/>
            </a:stretch>
          </a:blipFill>
        </p:spPr>
        <p:txBody>
          <a:bodyPr wrap="square" lIns="0" tIns="0" rIns="0" bIns="0" rtlCol="0"/>
          <a:lstStyle/>
          <a:p>
            <a:endParaRPr/>
          </a:p>
        </p:txBody>
      </p:sp>
      <p:sp>
        <p:nvSpPr>
          <p:cNvPr id="2" name="Holder 2"/>
          <p:cNvSpPr>
            <a:spLocks noGrp="1"/>
          </p:cNvSpPr>
          <p:nvPr>
            <p:ph type="title"/>
          </p:nvPr>
        </p:nvSpPr>
        <p:spPr>
          <a:xfrm>
            <a:off x="534670" y="302514"/>
            <a:ext cx="9624060" cy="12100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534670" y="1739455"/>
            <a:ext cx="9624060"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635756" y="7033450"/>
            <a:ext cx="3421888"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5/30/2023</a:t>
            </a:fld>
            <a:endParaRPr lang="en-US"/>
          </a:p>
        </p:txBody>
      </p:sp>
      <p:sp>
        <p:nvSpPr>
          <p:cNvPr id="6" name="Holder 6"/>
          <p:cNvSpPr>
            <a:spLocks noGrp="1"/>
          </p:cNvSpPr>
          <p:nvPr>
            <p:ph type="sldNum" sz="quarter" idx="7"/>
          </p:nvPr>
        </p:nvSpPr>
        <p:spPr>
          <a:xfrm>
            <a:off x="7699248" y="7033450"/>
            <a:ext cx="2459482"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mailto:sac@soacoindustrial.com.br" TargetMode="External"/><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hyperlink" Target="http://www.soacoindustrial.com.br/" TargetMode="External"/><Relationship Id="rId1" Type="http://schemas.openxmlformats.org/officeDocument/2006/relationships/slideLayout" Target="../slideLayouts/slideLayout5.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9440" y="5651824"/>
            <a:ext cx="2501517" cy="491801"/>
          </a:xfrm>
          <a:prstGeom prst="rect">
            <a:avLst/>
          </a:prstGeom>
        </p:spPr>
        <p:txBody>
          <a:bodyPr vert="horz" wrap="square" lIns="0" tIns="22225" rIns="0" bIns="0" rtlCol="0">
            <a:spAutoFit/>
          </a:bodyPr>
          <a:lstStyle/>
          <a:p>
            <a:pPr marR="5080" indent="12700" algn="ctr">
              <a:lnSpc>
                <a:spcPts val="1150"/>
              </a:lnSpc>
              <a:spcBef>
                <a:spcPts val="175"/>
              </a:spcBef>
            </a:pPr>
            <a:r>
              <a:rPr lang="pt-BR" sz="1200" spc="-5" dirty="0">
                <a:latin typeface="Monda" pitchFamily="2" charset="0"/>
                <a:cs typeface="Arial"/>
              </a:rPr>
              <a:t>A </a:t>
            </a:r>
            <a:r>
              <a:rPr lang="pt-BR" sz="1200" b="1" spc="-5" dirty="0">
                <a:latin typeface="Monda" pitchFamily="2" charset="0"/>
                <a:cs typeface="Arial"/>
              </a:rPr>
              <a:t>Só Aço Industrial </a:t>
            </a:r>
            <a:r>
              <a:rPr lang="pt-BR" sz="1200" spc="-5" dirty="0">
                <a:latin typeface="Monda" pitchFamily="2" charset="0"/>
                <a:cs typeface="Arial"/>
              </a:rPr>
              <a:t>lhe parabeniza pela  sua nova</a:t>
            </a:r>
            <a:r>
              <a:rPr lang="pt-BR" sz="1200" dirty="0">
                <a:latin typeface="Monda" pitchFamily="2" charset="0"/>
                <a:cs typeface="Arial"/>
              </a:rPr>
              <a:t> </a:t>
            </a:r>
            <a:r>
              <a:rPr lang="pt-BR" sz="1200" spc="-5" dirty="0">
                <a:latin typeface="Monda" pitchFamily="2" charset="0"/>
                <a:cs typeface="Arial"/>
              </a:rPr>
              <a:t>aquisição!</a:t>
            </a:r>
            <a:endParaRPr lang="pt-BR" sz="1200" dirty="0">
              <a:latin typeface="Monda" pitchFamily="2" charset="0"/>
              <a:cs typeface="Arial"/>
            </a:endParaRPr>
          </a:p>
        </p:txBody>
      </p:sp>
      <p:sp>
        <p:nvSpPr>
          <p:cNvPr id="3" name="object 3"/>
          <p:cNvSpPr txBox="1"/>
          <p:nvPr/>
        </p:nvSpPr>
        <p:spPr>
          <a:xfrm>
            <a:off x="23470" y="6283457"/>
            <a:ext cx="2628944" cy="611065"/>
          </a:xfrm>
          <a:prstGeom prst="rect">
            <a:avLst/>
          </a:prstGeom>
        </p:spPr>
        <p:txBody>
          <a:bodyPr vert="horz" wrap="square" lIns="0" tIns="18415" rIns="0" bIns="0" rtlCol="0">
            <a:spAutoFit/>
          </a:bodyPr>
          <a:lstStyle/>
          <a:p>
            <a:pPr marL="12700" marR="5080" algn="just">
              <a:lnSpc>
                <a:spcPct val="95600"/>
              </a:lnSpc>
              <a:spcBef>
                <a:spcPts val="145"/>
              </a:spcBef>
            </a:pPr>
            <a:r>
              <a:rPr sz="1000" spc="-5" dirty="0">
                <a:latin typeface="Monda" pitchFamily="2" charset="0"/>
                <a:cs typeface="Arial"/>
              </a:rPr>
              <a:t>Para</a:t>
            </a:r>
            <a:r>
              <a:rPr sz="1000" spc="-45" dirty="0">
                <a:latin typeface="Monda" pitchFamily="2" charset="0"/>
                <a:cs typeface="Arial"/>
              </a:rPr>
              <a:t> </a:t>
            </a:r>
            <a:r>
              <a:rPr sz="1000" spc="-5" dirty="0">
                <a:latin typeface="Monda" pitchFamily="2" charset="0"/>
                <a:cs typeface="Arial"/>
              </a:rPr>
              <a:t>obter</a:t>
            </a:r>
            <a:r>
              <a:rPr sz="1000" spc="-45" dirty="0">
                <a:latin typeface="Monda" pitchFamily="2" charset="0"/>
                <a:cs typeface="Arial"/>
              </a:rPr>
              <a:t> </a:t>
            </a:r>
            <a:r>
              <a:rPr sz="1000" dirty="0">
                <a:latin typeface="Monda" pitchFamily="2" charset="0"/>
                <a:cs typeface="Arial"/>
              </a:rPr>
              <a:t>o</a:t>
            </a:r>
            <a:r>
              <a:rPr sz="1000" spc="-40" dirty="0">
                <a:latin typeface="Monda" pitchFamily="2" charset="0"/>
                <a:cs typeface="Arial"/>
              </a:rPr>
              <a:t> </a:t>
            </a:r>
            <a:r>
              <a:rPr sz="1000" spc="-5" dirty="0">
                <a:latin typeface="Monda" pitchFamily="2" charset="0"/>
                <a:cs typeface="Arial"/>
              </a:rPr>
              <a:t>máximo</a:t>
            </a:r>
            <a:r>
              <a:rPr sz="1000" spc="-45" dirty="0">
                <a:latin typeface="Monda" pitchFamily="2" charset="0"/>
                <a:cs typeface="Arial"/>
              </a:rPr>
              <a:t> </a:t>
            </a:r>
            <a:r>
              <a:rPr sz="1000" spc="-5" dirty="0">
                <a:latin typeface="Monda" pitchFamily="2" charset="0"/>
                <a:cs typeface="Arial"/>
              </a:rPr>
              <a:t>desempenho</a:t>
            </a:r>
            <a:r>
              <a:rPr sz="1000" spc="-55" dirty="0">
                <a:latin typeface="Monda" pitchFamily="2" charset="0"/>
                <a:cs typeface="Arial"/>
              </a:rPr>
              <a:t> </a:t>
            </a:r>
            <a:r>
              <a:rPr sz="1000" dirty="0">
                <a:latin typeface="Monda" pitchFamily="2" charset="0"/>
                <a:cs typeface="Arial"/>
              </a:rPr>
              <a:t>e</a:t>
            </a:r>
            <a:r>
              <a:rPr sz="1000" spc="-40" dirty="0">
                <a:latin typeface="Monda" pitchFamily="2" charset="0"/>
                <a:cs typeface="Arial"/>
              </a:rPr>
              <a:t> </a:t>
            </a:r>
            <a:r>
              <a:rPr sz="1000" spc="-5" dirty="0">
                <a:latin typeface="Monda" pitchFamily="2" charset="0"/>
                <a:cs typeface="Arial"/>
              </a:rPr>
              <a:t>garantir</a:t>
            </a:r>
            <a:r>
              <a:rPr sz="1000" spc="-40" dirty="0">
                <a:latin typeface="Monda" pitchFamily="2" charset="0"/>
                <a:cs typeface="Arial"/>
              </a:rPr>
              <a:t> </a:t>
            </a:r>
            <a:r>
              <a:rPr sz="1000" dirty="0">
                <a:latin typeface="Monda" pitchFamily="2" charset="0"/>
                <a:cs typeface="Arial"/>
              </a:rPr>
              <a:t>o</a:t>
            </a:r>
            <a:r>
              <a:rPr sz="1000" spc="-40" dirty="0">
                <a:latin typeface="Monda" pitchFamily="2" charset="0"/>
                <a:cs typeface="Arial"/>
              </a:rPr>
              <a:t> </a:t>
            </a:r>
            <a:r>
              <a:rPr sz="1000" spc="-5" dirty="0">
                <a:latin typeface="Monda" pitchFamily="2" charset="0"/>
                <a:cs typeface="Arial"/>
              </a:rPr>
              <a:t>perfeito  funcionamento do </a:t>
            </a:r>
            <a:r>
              <a:rPr sz="1000" dirty="0">
                <a:latin typeface="Monda" pitchFamily="2" charset="0"/>
                <a:cs typeface="Arial"/>
              </a:rPr>
              <a:t>seu </a:t>
            </a:r>
            <a:r>
              <a:rPr sz="1000" spc="-5" dirty="0">
                <a:latin typeface="Monda" pitchFamily="2" charset="0"/>
                <a:cs typeface="Arial"/>
              </a:rPr>
              <a:t>produto, </a:t>
            </a:r>
            <a:r>
              <a:rPr sz="1000" dirty="0">
                <a:latin typeface="Monda" pitchFamily="2" charset="0"/>
                <a:cs typeface="Arial"/>
              </a:rPr>
              <a:t>é </a:t>
            </a:r>
            <a:r>
              <a:rPr sz="1000" spc="-5" dirty="0">
                <a:latin typeface="Monda" pitchFamily="2" charset="0"/>
                <a:cs typeface="Arial"/>
              </a:rPr>
              <a:t>de extrema  importância que você </a:t>
            </a:r>
            <a:r>
              <a:rPr sz="1000" b="1" dirty="0">
                <a:latin typeface="Monda" pitchFamily="2" charset="0"/>
                <a:cs typeface="Arial"/>
              </a:rPr>
              <a:t>leia </a:t>
            </a:r>
            <a:r>
              <a:rPr sz="1000" b="1" spc="-5" dirty="0">
                <a:latin typeface="Monda" pitchFamily="2" charset="0"/>
                <a:cs typeface="Arial"/>
              </a:rPr>
              <a:t>atentamente este</a:t>
            </a:r>
            <a:r>
              <a:rPr sz="1000" b="1" spc="-60" dirty="0">
                <a:latin typeface="Monda" pitchFamily="2" charset="0"/>
                <a:cs typeface="Arial"/>
              </a:rPr>
              <a:t> </a:t>
            </a:r>
            <a:r>
              <a:rPr sz="1000" b="1" spc="-5" dirty="0">
                <a:latin typeface="Monda" pitchFamily="2" charset="0"/>
                <a:cs typeface="Arial"/>
              </a:rPr>
              <a:t>manual.</a:t>
            </a:r>
            <a:endParaRPr sz="1000" dirty="0">
              <a:latin typeface="Monda" pitchFamily="2" charset="0"/>
              <a:cs typeface="Arial"/>
            </a:endParaRPr>
          </a:p>
        </p:txBody>
      </p:sp>
      <p:sp>
        <p:nvSpPr>
          <p:cNvPr id="4" name="object 4"/>
          <p:cNvSpPr txBox="1"/>
          <p:nvPr/>
        </p:nvSpPr>
        <p:spPr>
          <a:xfrm>
            <a:off x="167131" y="2447670"/>
            <a:ext cx="45085"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Arial"/>
                <a:cs typeface="Arial"/>
              </a:rPr>
              <a:t>‘</a:t>
            </a:r>
            <a:endParaRPr sz="700">
              <a:latin typeface="Arial"/>
              <a:cs typeface="Arial"/>
            </a:endParaRPr>
          </a:p>
        </p:txBody>
      </p:sp>
      <p:sp>
        <p:nvSpPr>
          <p:cNvPr id="7" name="object 7"/>
          <p:cNvSpPr txBox="1"/>
          <p:nvPr/>
        </p:nvSpPr>
        <p:spPr>
          <a:xfrm>
            <a:off x="8851900" y="6123861"/>
            <a:ext cx="967105" cy="132080"/>
          </a:xfrm>
          <a:prstGeom prst="rect">
            <a:avLst/>
          </a:prstGeom>
        </p:spPr>
        <p:txBody>
          <a:bodyPr vert="horz" wrap="square" lIns="0" tIns="12065" rIns="0" bIns="0" rtlCol="0">
            <a:spAutoFit/>
          </a:bodyPr>
          <a:lstStyle/>
          <a:p>
            <a:pPr marL="12700">
              <a:lnSpc>
                <a:spcPct val="100000"/>
              </a:lnSpc>
              <a:spcBef>
                <a:spcPts val="95"/>
              </a:spcBef>
            </a:pPr>
            <a:r>
              <a:rPr sz="700" b="1" spc="-5" dirty="0">
                <a:latin typeface="Arial"/>
                <a:cs typeface="Arial"/>
              </a:rPr>
              <a:t>Só Aço Industrial</a:t>
            </a:r>
            <a:r>
              <a:rPr sz="700" b="1" spc="-40" dirty="0">
                <a:latin typeface="Arial"/>
                <a:cs typeface="Arial"/>
              </a:rPr>
              <a:t> </a:t>
            </a:r>
            <a:r>
              <a:rPr sz="700" b="1" spc="-10" dirty="0">
                <a:latin typeface="Arial"/>
                <a:cs typeface="Arial"/>
              </a:rPr>
              <a:t>Ltda</a:t>
            </a:r>
            <a:endParaRPr sz="700" dirty="0">
              <a:latin typeface="Arial"/>
              <a:cs typeface="Arial"/>
            </a:endParaRPr>
          </a:p>
        </p:txBody>
      </p:sp>
      <p:sp>
        <p:nvSpPr>
          <p:cNvPr id="8" name="object 8"/>
          <p:cNvSpPr txBox="1"/>
          <p:nvPr/>
        </p:nvSpPr>
        <p:spPr>
          <a:xfrm>
            <a:off x="8057007" y="6219825"/>
            <a:ext cx="2525395" cy="754053"/>
          </a:xfrm>
          <a:prstGeom prst="rect">
            <a:avLst/>
          </a:prstGeom>
        </p:spPr>
        <p:txBody>
          <a:bodyPr vert="horz" wrap="square" lIns="0" tIns="19685" rIns="0" bIns="0" rtlCol="0">
            <a:spAutoFit/>
          </a:bodyPr>
          <a:lstStyle/>
          <a:p>
            <a:pPr marL="12700" marR="5080" algn="ctr">
              <a:lnSpc>
                <a:spcPts val="800"/>
              </a:lnSpc>
              <a:spcBef>
                <a:spcPts val="155"/>
              </a:spcBef>
            </a:pPr>
            <a:r>
              <a:rPr lang="pt-BR" sz="550" spc="-5" dirty="0">
                <a:latin typeface="Arial"/>
                <a:cs typeface="Arial"/>
              </a:rPr>
              <a:t>CNPJ: 04.041.754/0001</a:t>
            </a:r>
          </a:p>
          <a:p>
            <a:pPr marL="12700" marR="5080" algn="ctr">
              <a:lnSpc>
                <a:spcPts val="800"/>
              </a:lnSpc>
              <a:spcBef>
                <a:spcPts val="155"/>
              </a:spcBef>
            </a:pPr>
            <a:r>
              <a:rPr sz="550" spc="-5" dirty="0">
                <a:latin typeface="Arial"/>
                <a:cs typeface="Arial"/>
              </a:rPr>
              <a:t>Av. Coletora Secundária III, Nº 9519 Complemento Quadra C/E  Lote 000001 CEP: 64.038-250 Bairro </a:t>
            </a:r>
            <a:r>
              <a:rPr sz="550" spc="-5" dirty="0" err="1">
                <a:latin typeface="Arial"/>
                <a:cs typeface="Arial"/>
              </a:rPr>
              <a:t>Pedra</a:t>
            </a:r>
            <a:r>
              <a:rPr sz="550" spc="20" dirty="0">
                <a:latin typeface="Arial"/>
                <a:cs typeface="Arial"/>
              </a:rPr>
              <a:t> </a:t>
            </a:r>
            <a:r>
              <a:rPr sz="550" spc="-5" dirty="0" err="1">
                <a:latin typeface="Arial"/>
                <a:cs typeface="Arial"/>
              </a:rPr>
              <a:t>Miúda</a:t>
            </a:r>
            <a:r>
              <a:rPr lang="pt-BR" sz="550" spc="-5" dirty="0">
                <a:latin typeface="Arial"/>
                <a:cs typeface="Arial"/>
              </a:rPr>
              <a:t>, Teresina–Piauí</a:t>
            </a:r>
            <a:endParaRPr sz="550" dirty="0">
              <a:latin typeface="Arial"/>
              <a:cs typeface="Arial"/>
            </a:endParaRPr>
          </a:p>
          <a:p>
            <a:pPr marL="631190" marR="622300" algn="ctr">
              <a:lnSpc>
                <a:spcPts val="800"/>
              </a:lnSpc>
              <a:spcBef>
                <a:spcPts val="10"/>
              </a:spcBef>
            </a:pPr>
            <a:r>
              <a:rPr sz="550" spc="-5" dirty="0">
                <a:latin typeface="Arial"/>
                <a:cs typeface="Arial"/>
              </a:rPr>
              <a:t>Telefones: (86) 3219 1200/1300</a:t>
            </a:r>
            <a:endParaRPr sz="550" dirty="0">
              <a:latin typeface="Arial"/>
              <a:cs typeface="Arial"/>
            </a:endParaRPr>
          </a:p>
          <a:p>
            <a:pPr marL="385445" marR="377190" indent="-1905" algn="ctr">
              <a:lnSpc>
                <a:spcPts val="800"/>
              </a:lnSpc>
              <a:spcBef>
                <a:spcPts val="5"/>
              </a:spcBef>
            </a:pPr>
            <a:r>
              <a:rPr sz="550" spc="-5" dirty="0">
                <a:latin typeface="Arial"/>
                <a:cs typeface="Arial"/>
              </a:rPr>
              <a:t>Site: </a:t>
            </a:r>
            <a:r>
              <a:rPr sz="550" u="sng" spc="-5" dirty="0">
                <a:solidFill>
                  <a:srgbClr val="0462C1"/>
                </a:solidFill>
                <a:uFill>
                  <a:solidFill>
                    <a:srgbClr val="0462C1"/>
                  </a:solidFill>
                </a:uFill>
                <a:latin typeface="Arial"/>
                <a:cs typeface="Arial"/>
                <a:hlinkClick r:id="rId2"/>
              </a:rPr>
              <a:t>www.soacoindustrial.com.br </a:t>
            </a:r>
            <a:r>
              <a:rPr sz="550" spc="-5" dirty="0">
                <a:solidFill>
                  <a:srgbClr val="0462C1"/>
                </a:solidFill>
                <a:latin typeface="Arial"/>
                <a:cs typeface="Arial"/>
              </a:rPr>
              <a:t> </a:t>
            </a:r>
            <a:r>
              <a:rPr sz="550" spc="-5" dirty="0">
                <a:latin typeface="Arial"/>
                <a:cs typeface="Arial"/>
              </a:rPr>
              <a:t>Ouvidoria/SAC: </a:t>
            </a:r>
            <a:r>
              <a:rPr sz="550" u="sng" spc="-5" dirty="0">
                <a:solidFill>
                  <a:srgbClr val="0462C1"/>
                </a:solidFill>
                <a:uFill>
                  <a:solidFill>
                    <a:srgbClr val="0462C1"/>
                  </a:solidFill>
                </a:uFill>
                <a:latin typeface="Arial"/>
                <a:cs typeface="Arial"/>
                <a:hlinkClick r:id="rId3"/>
              </a:rPr>
              <a:t>sac@soacoindustrial.com.br </a:t>
            </a:r>
            <a:r>
              <a:rPr sz="550" spc="-5" dirty="0">
                <a:solidFill>
                  <a:srgbClr val="0462C1"/>
                </a:solidFill>
                <a:latin typeface="Arial"/>
                <a:cs typeface="Arial"/>
              </a:rPr>
              <a:t> </a:t>
            </a:r>
            <a:endParaRPr lang="pt-BR" sz="550" spc="-5" dirty="0">
              <a:solidFill>
                <a:srgbClr val="0462C1"/>
              </a:solidFill>
              <a:latin typeface="Arial"/>
              <a:cs typeface="Arial"/>
            </a:endParaRPr>
          </a:p>
          <a:p>
            <a:pPr marL="385445" marR="377190" indent="-1905" algn="ctr">
              <a:lnSpc>
                <a:spcPts val="800"/>
              </a:lnSpc>
              <a:spcBef>
                <a:spcPts val="5"/>
              </a:spcBef>
            </a:pPr>
            <a:r>
              <a:rPr sz="550" spc="-5" dirty="0">
                <a:latin typeface="Arial"/>
                <a:cs typeface="Arial"/>
              </a:rPr>
              <a:t>MP-SA0019.Rev.</a:t>
            </a:r>
            <a:r>
              <a:rPr sz="550" spc="-10" dirty="0">
                <a:latin typeface="Arial"/>
                <a:cs typeface="Arial"/>
              </a:rPr>
              <a:t> </a:t>
            </a:r>
            <a:r>
              <a:rPr lang="pt-BR" sz="550" spc="-5" dirty="0">
                <a:latin typeface="Arial"/>
                <a:cs typeface="Arial"/>
              </a:rPr>
              <a:t>1</a:t>
            </a:r>
            <a:endParaRPr sz="550" dirty="0">
              <a:latin typeface="Arial"/>
              <a:cs typeface="Arial"/>
            </a:endParaRPr>
          </a:p>
        </p:txBody>
      </p:sp>
      <p:sp>
        <p:nvSpPr>
          <p:cNvPr id="9" name="object 9"/>
          <p:cNvSpPr/>
          <p:nvPr/>
        </p:nvSpPr>
        <p:spPr>
          <a:xfrm>
            <a:off x="2696210" y="629361"/>
            <a:ext cx="10795" cy="6339840"/>
          </a:xfrm>
          <a:custGeom>
            <a:avLst/>
            <a:gdLst/>
            <a:ahLst/>
            <a:cxnLst/>
            <a:rect l="l" t="t" r="r" b="b"/>
            <a:pathLst>
              <a:path w="10794" h="6339840">
                <a:moveTo>
                  <a:pt x="10668" y="0"/>
                </a:moveTo>
                <a:lnTo>
                  <a:pt x="0" y="0"/>
                </a:lnTo>
                <a:lnTo>
                  <a:pt x="0" y="6339586"/>
                </a:lnTo>
                <a:lnTo>
                  <a:pt x="10668" y="6339586"/>
                </a:lnTo>
                <a:lnTo>
                  <a:pt x="10668" y="0"/>
                </a:lnTo>
                <a:close/>
              </a:path>
            </a:pathLst>
          </a:custGeom>
          <a:solidFill>
            <a:srgbClr val="000000"/>
          </a:solidFill>
        </p:spPr>
        <p:txBody>
          <a:bodyPr wrap="square" lIns="0" tIns="0" rIns="0" bIns="0" rtlCol="0"/>
          <a:lstStyle/>
          <a:p>
            <a:endParaRPr/>
          </a:p>
        </p:txBody>
      </p:sp>
      <p:sp>
        <p:nvSpPr>
          <p:cNvPr id="10" name="object 10"/>
          <p:cNvSpPr/>
          <p:nvPr/>
        </p:nvSpPr>
        <p:spPr>
          <a:xfrm>
            <a:off x="5340984" y="629361"/>
            <a:ext cx="10795" cy="6339840"/>
          </a:xfrm>
          <a:custGeom>
            <a:avLst/>
            <a:gdLst/>
            <a:ahLst/>
            <a:cxnLst/>
            <a:rect l="l" t="t" r="r" b="b"/>
            <a:pathLst>
              <a:path w="10795" h="6339840">
                <a:moveTo>
                  <a:pt x="10667" y="0"/>
                </a:moveTo>
                <a:lnTo>
                  <a:pt x="0" y="0"/>
                </a:lnTo>
                <a:lnTo>
                  <a:pt x="0" y="6339586"/>
                </a:lnTo>
                <a:lnTo>
                  <a:pt x="10667" y="6339586"/>
                </a:lnTo>
                <a:lnTo>
                  <a:pt x="10667" y="0"/>
                </a:lnTo>
                <a:close/>
              </a:path>
            </a:pathLst>
          </a:custGeom>
          <a:solidFill>
            <a:srgbClr val="000000"/>
          </a:solidFill>
        </p:spPr>
        <p:txBody>
          <a:bodyPr wrap="square" lIns="0" tIns="0" rIns="0" bIns="0" rtlCol="0"/>
          <a:lstStyle/>
          <a:p>
            <a:endParaRPr/>
          </a:p>
        </p:txBody>
      </p:sp>
      <p:sp>
        <p:nvSpPr>
          <p:cNvPr id="11" name="object 11"/>
          <p:cNvSpPr/>
          <p:nvPr/>
        </p:nvSpPr>
        <p:spPr>
          <a:xfrm>
            <a:off x="7985506" y="629361"/>
            <a:ext cx="10795" cy="6339840"/>
          </a:xfrm>
          <a:custGeom>
            <a:avLst/>
            <a:gdLst/>
            <a:ahLst/>
            <a:cxnLst/>
            <a:rect l="l" t="t" r="r" b="b"/>
            <a:pathLst>
              <a:path w="10795" h="6339840">
                <a:moveTo>
                  <a:pt x="10668" y="0"/>
                </a:moveTo>
                <a:lnTo>
                  <a:pt x="0" y="0"/>
                </a:lnTo>
                <a:lnTo>
                  <a:pt x="0" y="6339586"/>
                </a:lnTo>
                <a:lnTo>
                  <a:pt x="10668" y="6339586"/>
                </a:lnTo>
                <a:lnTo>
                  <a:pt x="10668" y="0"/>
                </a:lnTo>
                <a:close/>
              </a:path>
            </a:pathLst>
          </a:custGeom>
          <a:solidFill>
            <a:srgbClr val="000000"/>
          </a:solidFill>
        </p:spPr>
        <p:txBody>
          <a:bodyPr wrap="square" lIns="0" tIns="0" rIns="0" bIns="0" rtlCol="0"/>
          <a:lstStyle/>
          <a:p>
            <a:endParaRPr/>
          </a:p>
        </p:txBody>
      </p:sp>
      <p:sp>
        <p:nvSpPr>
          <p:cNvPr id="12" name="object 12"/>
          <p:cNvSpPr txBox="1"/>
          <p:nvPr/>
        </p:nvSpPr>
        <p:spPr>
          <a:xfrm>
            <a:off x="5379876" y="3842068"/>
            <a:ext cx="2566641" cy="312265"/>
          </a:xfrm>
          <a:prstGeom prst="rect">
            <a:avLst/>
          </a:prstGeom>
        </p:spPr>
        <p:txBody>
          <a:bodyPr vert="horz" wrap="square" lIns="0" tIns="12065" rIns="0" bIns="0" rtlCol="0">
            <a:spAutoFit/>
          </a:bodyPr>
          <a:lstStyle/>
          <a:p>
            <a:pPr marL="12700" algn="just">
              <a:spcBef>
                <a:spcPts val="95"/>
              </a:spcBef>
            </a:pPr>
            <a:r>
              <a:rPr lang="pt-BR" sz="650" b="1" dirty="0">
                <a:latin typeface="Carlito"/>
              </a:rPr>
              <a:t>1 </a:t>
            </a:r>
            <a:r>
              <a:rPr sz="650" dirty="0">
                <a:latin typeface="Carlito"/>
              </a:rPr>
              <a:t>Para a proteção do equipamento, as </a:t>
            </a:r>
            <a:r>
              <a:rPr sz="650" dirty="0" err="1">
                <a:latin typeface="Carlito"/>
              </a:rPr>
              <a:t>chapas</a:t>
            </a:r>
            <a:r>
              <a:rPr sz="650" dirty="0">
                <a:latin typeface="Carlito"/>
              </a:rPr>
              <a:t> </a:t>
            </a:r>
            <a:r>
              <a:rPr sz="650" dirty="0" err="1">
                <a:latin typeface="Carlito"/>
              </a:rPr>
              <a:t>estão</a:t>
            </a:r>
            <a:r>
              <a:rPr lang="pt-BR" sz="650" dirty="0">
                <a:latin typeface="Carlito"/>
              </a:rPr>
              <a:t> </a:t>
            </a:r>
            <a:r>
              <a:rPr sz="650" dirty="0" err="1">
                <a:latin typeface="Carlito"/>
              </a:rPr>
              <a:t>em</a:t>
            </a:r>
            <a:r>
              <a:rPr sz="650" dirty="0">
                <a:latin typeface="Carlito"/>
              </a:rPr>
              <a:t> sua superfície, </a:t>
            </a:r>
            <a:r>
              <a:rPr sz="650" dirty="0" err="1">
                <a:latin typeface="Carlito"/>
              </a:rPr>
              <a:t>pintadas</a:t>
            </a:r>
            <a:r>
              <a:rPr sz="650" dirty="0">
                <a:latin typeface="Carlito"/>
              </a:rPr>
              <a:t>  com uma  tinta  especial,  que deverá  ser  retirada  com  </a:t>
            </a:r>
            <a:r>
              <a:rPr sz="650" dirty="0" err="1">
                <a:latin typeface="Carlito"/>
              </a:rPr>
              <a:t>álcool</a:t>
            </a:r>
            <a:r>
              <a:rPr lang="pt-BR" sz="650" dirty="0">
                <a:latin typeface="Carlito"/>
              </a:rPr>
              <a:t> antes de colocá-la em uso.</a:t>
            </a:r>
          </a:p>
        </p:txBody>
      </p:sp>
      <p:sp>
        <p:nvSpPr>
          <p:cNvPr id="13" name="object 13"/>
          <p:cNvSpPr txBox="1"/>
          <p:nvPr/>
        </p:nvSpPr>
        <p:spPr>
          <a:xfrm>
            <a:off x="1255423" y="4020567"/>
            <a:ext cx="1481454" cy="517449"/>
          </a:xfrm>
          <a:prstGeom prst="rect">
            <a:avLst/>
          </a:prstGeom>
        </p:spPr>
        <p:txBody>
          <a:bodyPr vert="horz" wrap="square" lIns="0" tIns="12700" rIns="0" bIns="0" rtlCol="0">
            <a:spAutoFit/>
          </a:bodyPr>
          <a:lstStyle/>
          <a:p>
            <a:pPr marL="241300" indent="-228600">
              <a:lnSpc>
                <a:spcPts val="1290"/>
              </a:lnSpc>
              <a:spcBef>
                <a:spcPts val="100"/>
              </a:spcBef>
              <a:buClr>
                <a:srgbClr val="000000"/>
              </a:buClr>
              <a:buFont typeface="Wingdings"/>
              <a:buChar char=""/>
              <a:tabLst>
                <a:tab pos="241300" algn="l"/>
              </a:tabLst>
            </a:pPr>
            <a:r>
              <a:rPr sz="1200" b="1" dirty="0">
                <a:solidFill>
                  <a:srgbClr val="808080"/>
                </a:solidFill>
                <a:latin typeface="Monda" pitchFamily="2" charset="0"/>
                <a:cs typeface="Arial"/>
              </a:rPr>
              <a:t>Instruções</a:t>
            </a:r>
            <a:endParaRPr sz="1200" dirty="0">
              <a:latin typeface="Monda" pitchFamily="2" charset="0"/>
              <a:cs typeface="Arial"/>
            </a:endParaRPr>
          </a:p>
          <a:p>
            <a:pPr marL="241300" indent="-228600">
              <a:lnSpc>
                <a:spcPts val="1265"/>
              </a:lnSpc>
              <a:buClr>
                <a:srgbClr val="000000"/>
              </a:buClr>
              <a:buFont typeface="Wingdings"/>
              <a:buChar char=""/>
              <a:tabLst>
                <a:tab pos="241300" algn="l"/>
              </a:tabLst>
            </a:pPr>
            <a:r>
              <a:rPr sz="1200" b="1" spc="-5" dirty="0">
                <a:solidFill>
                  <a:srgbClr val="808080"/>
                </a:solidFill>
                <a:latin typeface="Monda" pitchFamily="2" charset="0"/>
                <a:cs typeface="Arial"/>
              </a:rPr>
              <a:t>Especificações</a:t>
            </a:r>
            <a:endParaRPr sz="1200" dirty="0">
              <a:latin typeface="Monda" pitchFamily="2" charset="0"/>
              <a:cs typeface="Arial"/>
            </a:endParaRPr>
          </a:p>
          <a:p>
            <a:pPr marL="241300" indent="-228600">
              <a:lnSpc>
                <a:spcPts val="1295"/>
              </a:lnSpc>
              <a:buClr>
                <a:srgbClr val="000000"/>
              </a:buClr>
              <a:buFont typeface="Wingdings"/>
              <a:buChar char=""/>
              <a:tabLst>
                <a:tab pos="241300" algn="l"/>
              </a:tabLst>
            </a:pPr>
            <a:r>
              <a:rPr sz="1200" b="1" spc="-5" dirty="0">
                <a:solidFill>
                  <a:srgbClr val="808080"/>
                </a:solidFill>
                <a:latin typeface="Monda" pitchFamily="2" charset="0"/>
                <a:cs typeface="Arial"/>
              </a:rPr>
              <a:t>Garantia</a:t>
            </a:r>
            <a:endParaRPr sz="1200" dirty="0">
              <a:latin typeface="Monda" pitchFamily="2" charset="0"/>
              <a:cs typeface="Arial"/>
            </a:endParaRPr>
          </a:p>
        </p:txBody>
      </p:sp>
      <p:grpSp>
        <p:nvGrpSpPr>
          <p:cNvPr id="14" name="object 14"/>
          <p:cNvGrpSpPr/>
          <p:nvPr/>
        </p:nvGrpSpPr>
        <p:grpSpPr>
          <a:xfrm>
            <a:off x="8050022" y="1304993"/>
            <a:ext cx="2532380" cy="228600"/>
            <a:chOff x="8053069" y="3270630"/>
            <a:chExt cx="2532380" cy="228600"/>
          </a:xfrm>
        </p:grpSpPr>
        <p:sp>
          <p:nvSpPr>
            <p:cNvPr id="15" name="object 15"/>
            <p:cNvSpPr/>
            <p:nvPr/>
          </p:nvSpPr>
          <p:spPr>
            <a:xfrm>
              <a:off x="8059419" y="3276980"/>
              <a:ext cx="2519680" cy="215900"/>
            </a:xfrm>
            <a:custGeom>
              <a:avLst/>
              <a:gdLst/>
              <a:ahLst/>
              <a:cxnLst/>
              <a:rect l="l" t="t" r="r" b="b"/>
              <a:pathLst>
                <a:path w="2519679" h="215900">
                  <a:moveTo>
                    <a:pt x="2519679" y="0"/>
                  </a:moveTo>
                  <a:lnTo>
                    <a:pt x="0" y="0"/>
                  </a:lnTo>
                  <a:lnTo>
                    <a:pt x="0" y="215900"/>
                  </a:lnTo>
                  <a:lnTo>
                    <a:pt x="2519679" y="215900"/>
                  </a:lnTo>
                  <a:lnTo>
                    <a:pt x="2519679" y="0"/>
                  </a:lnTo>
                  <a:close/>
                </a:path>
              </a:pathLst>
            </a:custGeom>
            <a:solidFill>
              <a:srgbClr val="D9D9D9"/>
            </a:solidFill>
          </p:spPr>
          <p:txBody>
            <a:bodyPr wrap="square" lIns="0" tIns="0" rIns="0" bIns="0" rtlCol="0"/>
            <a:lstStyle/>
            <a:p>
              <a:endParaRPr/>
            </a:p>
          </p:txBody>
        </p:sp>
        <p:sp>
          <p:nvSpPr>
            <p:cNvPr id="16" name="object 16"/>
            <p:cNvSpPr/>
            <p:nvPr/>
          </p:nvSpPr>
          <p:spPr>
            <a:xfrm>
              <a:off x="8059419" y="3276980"/>
              <a:ext cx="2519680" cy="215900"/>
            </a:xfrm>
            <a:custGeom>
              <a:avLst/>
              <a:gdLst/>
              <a:ahLst/>
              <a:cxnLst/>
              <a:rect l="l" t="t" r="r" b="b"/>
              <a:pathLst>
                <a:path w="2519679" h="215900">
                  <a:moveTo>
                    <a:pt x="0" y="215900"/>
                  </a:moveTo>
                  <a:lnTo>
                    <a:pt x="2519679" y="215900"/>
                  </a:lnTo>
                  <a:lnTo>
                    <a:pt x="2519679" y="0"/>
                  </a:lnTo>
                  <a:lnTo>
                    <a:pt x="0" y="0"/>
                  </a:lnTo>
                  <a:lnTo>
                    <a:pt x="0" y="215900"/>
                  </a:lnTo>
                  <a:close/>
                </a:path>
              </a:pathLst>
            </a:custGeom>
            <a:ln w="12700">
              <a:solidFill>
                <a:srgbClr val="D9D9D9"/>
              </a:solidFill>
            </a:ln>
          </p:spPr>
          <p:txBody>
            <a:bodyPr wrap="square" lIns="0" tIns="0" rIns="0" bIns="0" rtlCol="0"/>
            <a:lstStyle/>
            <a:p>
              <a:endParaRPr/>
            </a:p>
          </p:txBody>
        </p:sp>
      </p:grpSp>
      <p:sp>
        <p:nvSpPr>
          <p:cNvPr id="17" name="object 17"/>
          <p:cNvSpPr txBox="1"/>
          <p:nvPr/>
        </p:nvSpPr>
        <p:spPr>
          <a:xfrm>
            <a:off x="8089900" y="1344617"/>
            <a:ext cx="1240790" cy="147955"/>
          </a:xfrm>
          <a:prstGeom prst="rect">
            <a:avLst/>
          </a:prstGeom>
        </p:spPr>
        <p:txBody>
          <a:bodyPr vert="horz" wrap="square" lIns="0" tIns="13335" rIns="0" bIns="0" rtlCol="0">
            <a:spAutoFit/>
          </a:bodyPr>
          <a:lstStyle/>
          <a:p>
            <a:pPr marL="12700">
              <a:lnSpc>
                <a:spcPct val="100000"/>
              </a:lnSpc>
              <a:spcBef>
                <a:spcPts val="105"/>
              </a:spcBef>
            </a:pPr>
            <a:r>
              <a:rPr sz="800" b="1" spc="-5" dirty="0">
                <a:latin typeface="Arial"/>
                <a:cs typeface="Arial"/>
              </a:rPr>
              <a:t>8. </a:t>
            </a:r>
            <a:r>
              <a:rPr sz="800" b="1" dirty="0">
                <a:latin typeface="Arial"/>
                <a:cs typeface="Arial"/>
              </a:rPr>
              <a:t>TERMO DE</a:t>
            </a:r>
            <a:r>
              <a:rPr sz="800" b="1" spc="-55" dirty="0">
                <a:latin typeface="Arial"/>
                <a:cs typeface="Arial"/>
              </a:rPr>
              <a:t> </a:t>
            </a:r>
            <a:r>
              <a:rPr sz="800" b="1" spc="-5" dirty="0">
                <a:latin typeface="Arial"/>
                <a:cs typeface="Arial"/>
              </a:rPr>
              <a:t>GARANTIA</a:t>
            </a:r>
            <a:endParaRPr sz="800" dirty="0">
              <a:latin typeface="Arial"/>
              <a:cs typeface="Arial"/>
            </a:endParaRPr>
          </a:p>
        </p:txBody>
      </p:sp>
      <p:sp>
        <p:nvSpPr>
          <p:cNvPr id="18" name="object 18"/>
          <p:cNvSpPr txBox="1"/>
          <p:nvPr/>
        </p:nvSpPr>
        <p:spPr>
          <a:xfrm>
            <a:off x="2735326" y="760222"/>
            <a:ext cx="2580005" cy="3164264"/>
          </a:xfrm>
          <a:prstGeom prst="rect">
            <a:avLst/>
          </a:prstGeom>
        </p:spPr>
        <p:txBody>
          <a:bodyPr vert="horz" wrap="square" lIns="0" tIns="12065" rIns="0" bIns="0" rtlCol="0">
            <a:spAutoFit/>
          </a:bodyPr>
          <a:lstStyle/>
          <a:p>
            <a:pPr marL="144780" lvl="1" indent="-132715" algn="just">
              <a:lnSpc>
                <a:spcPct val="100000"/>
              </a:lnSpc>
              <a:spcBef>
                <a:spcPts val="95"/>
              </a:spcBef>
              <a:buAutoNum type="arabicPeriod"/>
              <a:tabLst>
                <a:tab pos="145415" algn="l"/>
              </a:tabLst>
            </a:pPr>
            <a:r>
              <a:rPr sz="650" b="1" spc="-5" dirty="0">
                <a:latin typeface="Carlito"/>
                <a:cs typeface="Carlito"/>
              </a:rPr>
              <a:t>SEGURANÇA</a:t>
            </a:r>
            <a:endParaRPr sz="650" dirty="0">
              <a:latin typeface="Carlito"/>
              <a:cs typeface="Carlito"/>
            </a:endParaRPr>
          </a:p>
          <a:p>
            <a:pPr marL="0" lvl="2" indent="11113" algn="just">
              <a:lnSpc>
                <a:spcPct val="100000"/>
              </a:lnSpc>
              <a:spcBef>
                <a:spcPts val="10"/>
              </a:spcBef>
              <a:buFont typeface="+mj-lt"/>
              <a:buAutoNum type="alphaLcParenR"/>
              <a:tabLst>
                <a:tab pos="215900" algn="l"/>
              </a:tabLst>
            </a:pPr>
            <a:r>
              <a:rPr lang="pt-BR" sz="650" spc="-5" dirty="0">
                <a:latin typeface="Carlito"/>
                <a:cs typeface="Carlito"/>
              </a:rPr>
              <a:t> </a:t>
            </a:r>
            <a:r>
              <a:rPr sz="650" spc="-5" dirty="0">
                <a:latin typeface="Carlito"/>
                <a:cs typeface="Carlito"/>
              </a:rPr>
              <a:t>Leia todas as instruções contidas </a:t>
            </a:r>
            <a:r>
              <a:rPr sz="650" spc="-5" dirty="0" err="1">
                <a:latin typeface="Carlito"/>
                <a:cs typeface="Carlito"/>
              </a:rPr>
              <a:t>neste</a:t>
            </a:r>
            <a:r>
              <a:rPr sz="650" spc="30" dirty="0">
                <a:latin typeface="Carlito"/>
                <a:cs typeface="Carlito"/>
              </a:rPr>
              <a:t> </a:t>
            </a:r>
            <a:r>
              <a:rPr sz="650" spc="-5" dirty="0">
                <a:latin typeface="Carlito"/>
                <a:cs typeface="Carlito"/>
              </a:rPr>
              <a:t>manual</a:t>
            </a:r>
            <a:r>
              <a:rPr lang="pt-BR" sz="650" spc="-5" dirty="0">
                <a:latin typeface="Carlito"/>
                <a:cs typeface="Carlito"/>
              </a:rPr>
              <a:t>;</a:t>
            </a:r>
            <a:endParaRPr sz="650" dirty="0">
              <a:latin typeface="Carlito"/>
              <a:cs typeface="Carlito"/>
            </a:endParaRPr>
          </a:p>
          <a:p>
            <a:pPr marL="0" lvl="2" indent="11113" algn="just">
              <a:lnSpc>
                <a:spcPct val="100000"/>
              </a:lnSpc>
              <a:spcBef>
                <a:spcPts val="15"/>
              </a:spcBef>
              <a:buFont typeface="+mj-lt"/>
              <a:buAutoNum type="alphaLcParenR"/>
              <a:tabLst>
                <a:tab pos="221615" algn="l"/>
              </a:tabLst>
            </a:pPr>
            <a:r>
              <a:rPr lang="pt-BR" sz="650" spc="-5" dirty="0">
                <a:latin typeface="Carlito"/>
                <a:cs typeface="Carlito"/>
              </a:rPr>
              <a:t> </a:t>
            </a:r>
            <a:r>
              <a:rPr sz="650" spc="-5" dirty="0" err="1">
                <a:latin typeface="Carlito"/>
                <a:cs typeface="Carlito"/>
              </a:rPr>
              <a:t>Todos</a:t>
            </a:r>
            <a:r>
              <a:rPr sz="650" spc="65" dirty="0">
                <a:latin typeface="Carlito"/>
                <a:cs typeface="Carlito"/>
              </a:rPr>
              <a:t> </a:t>
            </a:r>
            <a:r>
              <a:rPr sz="650" spc="-5" dirty="0">
                <a:latin typeface="Carlito"/>
                <a:cs typeface="Carlito"/>
              </a:rPr>
              <a:t>os</a:t>
            </a:r>
            <a:r>
              <a:rPr sz="650" spc="65" dirty="0">
                <a:latin typeface="Carlito"/>
                <a:cs typeface="Carlito"/>
              </a:rPr>
              <a:t> </a:t>
            </a:r>
            <a:r>
              <a:rPr sz="650" spc="-5" dirty="0">
                <a:latin typeface="Carlito"/>
                <a:cs typeface="Carlito"/>
              </a:rPr>
              <a:t>produtos,</a:t>
            </a:r>
            <a:r>
              <a:rPr sz="650" spc="65" dirty="0">
                <a:latin typeface="Carlito"/>
                <a:cs typeface="Carlito"/>
              </a:rPr>
              <a:t> </a:t>
            </a:r>
            <a:r>
              <a:rPr sz="650" spc="-5" dirty="0">
                <a:latin typeface="Carlito"/>
                <a:cs typeface="Carlito"/>
              </a:rPr>
              <a:t>industriais/profissional,</a:t>
            </a:r>
            <a:r>
              <a:rPr sz="650" spc="65" dirty="0">
                <a:latin typeface="Carlito"/>
                <a:cs typeface="Carlito"/>
              </a:rPr>
              <a:t> </a:t>
            </a:r>
            <a:r>
              <a:rPr sz="650" dirty="0">
                <a:latin typeface="Carlito"/>
                <a:cs typeface="Carlito"/>
              </a:rPr>
              <a:t>de</a:t>
            </a:r>
            <a:r>
              <a:rPr sz="650" spc="55" dirty="0">
                <a:latin typeface="Carlito"/>
                <a:cs typeface="Carlito"/>
              </a:rPr>
              <a:t> </a:t>
            </a:r>
            <a:r>
              <a:rPr sz="650" spc="-5" dirty="0">
                <a:latin typeface="Carlito"/>
                <a:cs typeface="Carlito"/>
              </a:rPr>
              <a:t>baixa</a:t>
            </a:r>
            <a:r>
              <a:rPr sz="650" spc="60" dirty="0">
                <a:latin typeface="Carlito"/>
                <a:cs typeface="Carlito"/>
              </a:rPr>
              <a:t> </a:t>
            </a:r>
            <a:r>
              <a:rPr sz="650" dirty="0" err="1">
                <a:latin typeface="Carlito"/>
                <a:cs typeface="Carlito"/>
              </a:rPr>
              <a:t>pressão</a:t>
            </a:r>
            <a:r>
              <a:rPr sz="650" spc="65" dirty="0">
                <a:latin typeface="Carlito"/>
                <a:cs typeface="Carlito"/>
              </a:rPr>
              <a:t> </a:t>
            </a:r>
            <a:r>
              <a:rPr sz="650" spc="-10" dirty="0">
                <a:latin typeface="Carlito"/>
                <a:cs typeface="Carlito"/>
              </a:rPr>
              <a:t>da</a:t>
            </a:r>
            <a:r>
              <a:rPr lang="pt-BR" sz="650" dirty="0">
                <a:latin typeface="Carlito"/>
                <a:cs typeface="Carlito"/>
              </a:rPr>
              <a:t> </a:t>
            </a:r>
            <a:r>
              <a:rPr sz="650" spc="-5" dirty="0" err="1">
                <a:latin typeface="Carlito"/>
                <a:cs typeface="Carlito"/>
              </a:rPr>
              <a:t>Só</a:t>
            </a:r>
            <a:r>
              <a:rPr sz="650" spc="-5" dirty="0">
                <a:latin typeface="Carlito"/>
                <a:cs typeface="Carlito"/>
              </a:rPr>
              <a:t> </a:t>
            </a:r>
            <a:r>
              <a:rPr sz="650" dirty="0">
                <a:latin typeface="Carlito"/>
                <a:cs typeface="Carlito"/>
              </a:rPr>
              <a:t>Aço </a:t>
            </a:r>
            <a:r>
              <a:rPr sz="650" spc="-5" dirty="0">
                <a:latin typeface="Carlito"/>
                <a:cs typeface="Carlito"/>
              </a:rPr>
              <a:t>Industrial </a:t>
            </a:r>
            <a:r>
              <a:rPr sz="650" dirty="0">
                <a:latin typeface="Carlito"/>
                <a:cs typeface="Carlito"/>
              </a:rPr>
              <a:t>são </a:t>
            </a:r>
            <a:r>
              <a:rPr sz="650" spc="-5" dirty="0">
                <a:latin typeface="Carlito"/>
                <a:cs typeface="Carlito"/>
              </a:rPr>
              <a:t>fabricados para funcionarem com válvulas  reguladora </a:t>
            </a:r>
            <a:r>
              <a:rPr sz="650" dirty="0">
                <a:latin typeface="Carlito"/>
                <a:cs typeface="Carlito"/>
              </a:rPr>
              <a:t>de pressão </a:t>
            </a:r>
            <a:r>
              <a:rPr sz="650" spc="-5" dirty="0">
                <a:latin typeface="Carlito"/>
                <a:cs typeface="Carlito"/>
              </a:rPr>
              <a:t>para gás GLP e conforme as normas </a:t>
            </a:r>
            <a:r>
              <a:rPr sz="650" dirty="0">
                <a:latin typeface="Carlito"/>
                <a:cs typeface="Carlito"/>
              </a:rPr>
              <a:t>de  </a:t>
            </a:r>
            <a:r>
              <a:rPr sz="650" spc="-5" dirty="0">
                <a:latin typeface="Carlito"/>
                <a:cs typeface="Carlito"/>
              </a:rPr>
              <a:t>segurança da</a:t>
            </a:r>
            <a:r>
              <a:rPr sz="650" dirty="0">
                <a:latin typeface="Carlito"/>
                <a:cs typeface="Carlito"/>
              </a:rPr>
              <a:t> </a:t>
            </a:r>
            <a:r>
              <a:rPr sz="650" spc="-5" dirty="0">
                <a:latin typeface="Carlito"/>
                <a:cs typeface="Carlito"/>
              </a:rPr>
              <a:t>ABNT</a:t>
            </a:r>
            <a:r>
              <a:rPr lang="pt-BR" sz="650" spc="-5" dirty="0">
                <a:latin typeface="Carlito"/>
                <a:cs typeface="Carlito"/>
              </a:rPr>
              <a:t>;</a:t>
            </a:r>
            <a:endParaRPr sz="650" dirty="0">
              <a:latin typeface="Carlito"/>
              <a:cs typeface="Carlito"/>
            </a:endParaRPr>
          </a:p>
          <a:p>
            <a:pPr marL="0" marR="6985" lvl="2" indent="11113" algn="just">
              <a:lnSpc>
                <a:spcPct val="101400"/>
              </a:lnSpc>
              <a:buFont typeface="+mj-lt"/>
              <a:buAutoNum type="alphaLcParenR"/>
              <a:tabLst>
                <a:tab pos="235585" algn="l"/>
              </a:tabLst>
            </a:pPr>
            <a:r>
              <a:rPr lang="pt-BR" sz="650" spc="-5" dirty="0">
                <a:latin typeface="Carlito"/>
                <a:cs typeface="Carlito"/>
              </a:rPr>
              <a:t> </a:t>
            </a:r>
            <a:r>
              <a:rPr sz="650" spc="-5" dirty="0">
                <a:latin typeface="Carlito"/>
                <a:cs typeface="Carlito"/>
              </a:rPr>
              <a:t>A instalação deve ser feita </a:t>
            </a:r>
            <a:r>
              <a:rPr sz="650" dirty="0">
                <a:latin typeface="Carlito"/>
                <a:cs typeface="Carlito"/>
              </a:rPr>
              <a:t>de </a:t>
            </a:r>
            <a:r>
              <a:rPr sz="650" spc="-5" dirty="0">
                <a:latin typeface="Carlito"/>
                <a:cs typeface="Carlito"/>
              </a:rPr>
              <a:t>acordo com as </a:t>
            </a:r>
            <a:r>
              <a:rPr sz="650" dirty="0">
                <a:latin typeface="Carlito"/>
                <a:cs typeface="Carlito"/>
              </a:rPr>
              <a:t>instruções do  </a:t>
            </a:r>
            <a:r>
              <a:rPr sz="650" spc="-5" dirty="0">
                <a:latin typeface="Carlito"/>
                <a:cs typeface="Carlito"/>
              </a:rPr>
              <a:t>fabricante e por pessoas qualificadas e</a:t>
            </a:r>
            <a:r>
              <a:rPr sz="650" spc="10" dirty="0">
                <a:latin typeface="Carlito"/>
                <a:cs typeface="Carlito"/>
              </a:rPr>
              <a:t> </a:t>
            </a:r>
            <a:r>
              <a:rPr sz="650" spc="-5" dirty="0">
                <a:latin typeface="Carlito"/>
                <a:cs typeface="Carlito"/>
              </a:rPr>
              <a:t>autorizadas;</a:t>
            </a:r>
            <a:endParaRPr sz="650" dirty="0">
              <a:latin typeface="Carlito"/>
              <a:cs typeface="Carlito"/>
            </a:endParaRPr>
          </a:p>
          <a:p>
            <a:pPr marL="0" marR="6350" lvl="2" indent="11113" algn="just">
              <a:lnSpc>
                <a:spcPct val="101400"/>
              </a:lnSpc>
              <a:spcBef>
                <a:spcPts val="15"/>
              </a:spcBef>
              <a:buFont typeface="+mj-lt"/>
              <a:buAutoNum type="alphaLcParenR"/>
              <a:tabLst>
                <a:tab pos="218440" algn="l"/>
              </a:tabLst>
            </a:pPr>
            <a:r>
              <a:rPr lang="pt-BR" sz="650" spc="-5" dirty="0">
                <a:latin typeface="Carlito"/>
                <a:cs typeface="Carlito"/>
              </a:rPr>
              <a:t> </a:t>
            </a:r>
            <a:r>
              <a:rPr sz="650" spc="-5" dirty="0">
                <a:latin typeface="Carlito"/>
                <a:cs typeface="Carlito"/>
              </a:rPr>
              <a:t>Para eventuais reparos, dirija-se exclusivamente a </a:t>
            </a:r>
            <a:r>
              <a:rPr sz="650" dirty="0">
                <a:latin typeface="Carlito"/>
                <a:cs typeface="Carlito"/>
              </a:rPr>
              <a:t>um </a:t>
            </a:r>
            <a:r>
              <a:rPr sz="650" spc="-5" dirty="0">
                <a:latin typeface="Carlito"/>
                <a:cs typeface="Carlito"/>
              </a:rPr>
              <a:t>centro </a:t>
            </a:r>
            <a:r>
              <a:rPr sz="650" dirty="0">
                <a:latin typeface="Carlito"/>
                <a:cs typeface="Carlito"/>
              </a:rPr>
              <a:t>de  </a:t>
            </a:r>
            <a:r>
              <a:rPr sz="650" spc="-5" dirty="0">
                <a:latin typeface="Carlito"/>
                <a:cs typeface="Carlito"/>
              </a:rPr>
              <a:t>assistência técnica autorizado pelo fabricante e solicite </a:t>
            </a:r>
            <a:r>
              <a:rPr sz="650" dirty="0">
                <a:latin typeface="Carlito"/>
                <a:cs typeface="Carlito"/>
              </a:rPr>
              <a:t>peças de  </a:t>
            </a:r>
            <a:r>
              <a:rPr sz="650" spc="-5" dirty="0">
                <a:latin typeface="Carlito"/>
                <a:cs typeface="Carlito"/>
              </a:rPr>
              <a:t>reposição originais;</a:t>
            </a:r>
            <a:endParaRPr sz="650" dirty="0">
              <a:latin typeface="Carlito"/>
              <a:cs typeface="Carlito"/>
            </a:endParaRPr>
          </a:p>
          <a:p>
            <a:pPr marL="0" marR="7620" lvl="2" indent="11113" algn="just">
              <a:lnSpc>
                <a:spcPct val="101400"/>
              </a:lnSpc>
              <a:buFont typeface="+mj-lt"/>
              <a:buAutoNum type="alphaLcParenR"/>
              <a:tabLst>
                <a:tab pos="236854" algn="l"/>
              </a:tabLst>
            </a:pPr>
            <a:r>
              <a:rPr lang="pt-BR" sz="650" spc="-5" dirty="0">
                <a:latin typeface="Carlito"/>
                <a:cs typeface="Carlito"/>
              </a:rPr>
              <a:t> </a:t>
            </a:r>
            <a:r>
              <a:rPr sz="650" spc="-5" dirty="0">
                <a:latin typeface="Carlito"/>
                <a:cs typeface="Carlito"/>
              </a:rPr>
              <a:t>O não cumprimento dos avisos contidos neste manual </a:t>
            </a:r>
            <a:r>
              <a:rPr sz="650" dirty="0">
                <a:latin typeface="Carlito"/>
                <a:cs typeface="Carlito"/>
              </a:rPr>
              <a:t>pode  </a:t>
            </a:r>
            <a:r>
              <a:rPr sz="650" spc="-5" dirty="0">
                <a:latin typeface="Carlito"/>
                <a:cs typeface="Carlito"/>
              </a:rPr>
              <a:t>comprometer a segurança do</a:t>
            </a:r>
            <a:r>
              <a:rPr sz="650" spc="15" dirty="0">
                <a:latin typeface="Carlito"/>
                <a:cs typeface="Carlito"/>
              </a:rPr>
              <a:t> </a:t>
            </a:r>
            <a:r>
              <a:rPr sz="650" spc="-5" dirty="0">
                <a:latin typeface="Carlito"/>
                <a:cs typeface="Carlito"/>
              </a:rPr>
              <a:t>operador;</a:t>
            </a:r>
            <a:endParaRPr sz="650" dirty="0">
              <a:latin typeface="Carlito"/>
              <a:cs typeface="Carlito"/>
            </a:endParaRPr>
          </a:p>
          <a:p>
            <a:pPr marL="0" marR="5080" lvl="2" indent="11113" algn="just">
              <a:lnSpc>
                <a:spcPct val="101400"/>
              </a:lnSpc>
              <a:spcBef>
                <a:spcPts val="10"/>
              </a:spcBef>
              <a:buFont typeface="+mj-lt"/>
              <a:buAutoNum type="alphaLcParenR"/>
              <a:tabLst>
                <a:tab pos="238760" algn="l"/>
              </a:tabLst>
            </a:pPr>
            <a:r>
              <a:rPr lang="pt-BR" sz="650" spc="-5" dirty="0">
                <a:latin typeface="Carlito"/>
                <a:cs typeface="Carlito"/>
              </a:rPr>
              <a:t> </a:t>
            </a:r>
            <a:r>
              <a:rPr sz="650" spc="-5" dirty="0">
                <a:latin typeface="Carlito"/>
                <a:cs typeface="Carlito"/>
              </a:rPr>
              <a:t>Entre </a:t>
            </a:r>
            <a:r>
              <a:rPr sz="650" dirty="0">
                <a:latin typeface="Carlito"/>
                <a:cs typeface="Carlito"/>
              </a:rPr>
              <a:t>em </a:t>
            </a:r>
            <a:r>
              <a:rPr sz="650" spc="-5" dirty="0">
                <a:latin typeface="Carlito"/>
                <a:cs typeface="Carlito"/>
              </a:rPr>
              <a:t>contato com o </a:t>
            </a:r>
            <a:r>
              <a:rPr sz="650" dirty="0">
                <a:latin typeface="Carlito"/>
                <a:cs typeface="Carlito"/>
              </a:rPr>
              <a:t>distribuidor de </a:t>
            </a:r>
            <a:r>
              <a:rPr sz="650" spc="-5" dirty="0">
                <a:latin typeface="Carlito"/>
                <a:cs typeface="Carlito"/>
              </a:rPr>
              <a:t>sua </a:t>
            </a:r>
            <a:r>
              <a:rPr sz="650" dirty="0">
                <a:latin typeface="Carlito"/>
                <a:cs typeface="Carlito"/>
              </a:rPr>
              <a:t>confiança </a:t>
            </a:r>
            <a:r>
              <a:rPr sz="650" spc="-5" dirty="0">
                <a:latin typeface="Carlito"/>
                <a:cs typeface="Carlito"/>
              </a:rPr>
              <a:t>para  conseguir o </a:t>
            </a:r>
            <a:r>
              <a:rPr sz="650" dirty="0">
                <a:latin typeface="Carlito"/>
                <a:cs typeface="Carlito"/>
              </a:rPr>
              <a:t>endereço </a:t>
            </a:r>
            <a:r>
              <a:rPr sz="650" spc="-5" dirty="0">
                <a:latin typeface="Carlito"/>
                <a:cs typeface="Carlito"/>
              </a:rPr>
              <a:t>da autorizada </a:t>
            </a:r>
            <a:r>
              <a:rPr sz="650" spc="-10" dirty="0">
                <a:latin typeface="Carlito"/>
                <a:cs typeface="Carlito"/>
              </a:rPr>
              <a:t>mais </a:t>
            </a:r>
            <a:r>
              <a:rPr sz="650" spc="-5" dirty="0">
                <a:latin typeface="Carlito"/>
                <a:cs typeface="Carlito"/>
              </a:rPr>
              <a:t>próxima de</a:t>
            </a:r>
            <a:r>
              <a:rPr sz="650" spc="45" dirty="0">
                <a:latin typeface="Carlito"/>
                <a:cs typeface="Carlito"/>
              </a:rPr>
              <a:t> </a:t>
            </a:r>
            <a:r>
              <a:rPr sz="650" spc="-5" dirty="0" err="1">
                <a:latin typeface="Carlito"/>
                <a:cs typeface="Carlito"/>
              </a:rPr>
              <a:t>você</a:t>
            </a:r>
            <a:r>
              <a:rPr lang="pt-BR" sz="650" spc="-5" dirty="0">
                <a:latin typeface="Carlito"/>
                <a:cs typeface="Carlito"/>
              </a:rPr>
              <a:t>;</a:t>
            </a:r>
            <a:endParaRPr sz="650" dirty="0">
              <a:latin typeface="Carlito"/>
              <a:cs typeface="Carlito"/>
            </a:endParaRPr>
          </a:p>
          <a:p>
            <a:pPr marL="0" marR="7620" lvl="2" indent="11113" algn="just">
              <a:lnSpc>
                <a:spcPct val="101400"/>
              </a:lnSpc>
              <a:spcBef>
                <a:spcPts val="5"/>
              </a:spcBef>
              <a:buFont typeface="+mj-lt"/>
              <a:buAutoNum type="alphaLcParenR"/>
              <a:tabLst>
                <a:tab pos="250825" algn="l"/>
              </a:tabLst>
            </a:pPr>
            <a:r>
              <a:rPr lang="pt-BR" sz="650" spc="-5" dirty="0">
                <a:latin typeface="Carlito"/>
                <a:cs typeface="Carlito"/>
              </a:rPr>
              <a:t> </a:t>
            </a:r>
            <a:r>
              <a:rPr sz="650" spc="-5" dirty="0" err="1">
                <a:latin typeface="Carlito"/>
                <a:cs typeface="Carlito"/>
              </a:rPr>
              <a:t>Conservar</a:t>
            </a:r>
            <a:r>
              <a:rPr sz="650" spc="-5" dirty="0">
                <a:latin typeface="Carlito"/>
                <a:cs typeface="Carlito"/>
              </a:rPr>
              <a:t> em local adequado </a:t>
            </a:r>
            <a:r>
              <a:rPr sz="650" spc="-10" dirty="0">
                <a:latin typeface="Carlito"/>
                <a:cs typeface="Carlito"/>
              </a:rPr>
              <a:t>este</a:t>
            </a:r>
            <a:r>
              <a:rPr sz="650" spc="135" dirty="0">
                <a:latin typeface="Carlito"/>
                <a:cs typeface="Carlito"/>
              </a:rPr>
              <a:t> </a:t>
            </a:r>
            <a:r>
              <a:rPr sz="650" spc="-5" dirty="0">
                <a:latin typeface="Carlito"/>
                <a:cs typeface="Carlito"/>
              </a:rPr>
              <a:t>manual para </a:t>
            </a:r>
            <a:r>
              <a:rPr sz="650" dirty="0" err="1">
                <a:latin typeface="Carlito"/>
                <a:cs typeface="Carlito"/>
              </a:rPr>
              <a:t>qualquer</a:t>
            </a:r>
            <a:r>
              <a:rPr sz="650" dirty="0">
                <a:latin typeface="Carlito"/>
                <a:cs typeface="Carlito"/>
              </a:rPr>
              <a:t>  </a:t>
            </a:r>
            <a:r>
              <a:rPr sz="650" spc="-5" dirty="0">
                <a:latin typeface="Carlito"/>
                <a:cs typeface="Carlito"/>
              </a:rPr>
              <a:t>consulta</a:t>
            </a:r>
            <a:r>
              <a:rPr lang="pt-BR" sz="650" spc="-5" dirty="0">
                <a:latin typeface="Carlito"/>
                <a:cs typeface="Carlito"/>
              </a:rPr>
              <a:t>;</a:t>
            </a:r>
            <a:endParaRPr sz="650" dirty="0">
              <a:latin typeface="Carlito"/>
              <a:cs typeface="Carlito"/>
            </a:endParaRPr>
          </a:p>
          <a:p>
            <a:pPr marL="0" marR="8255" lvl="2" indent="11113" algn="just">
              <a:lnSpc>
                <a:spcPct val="101400"/>
              </a:lnSpc>
              <a:spcBef>
                <a:spcPts val="10"/>
              </a:spcBef>
              <a:buFont typeface="+mj-lt"/>
              <a:buAutoNum type="alphaLcParenR"/>
              <a:tabLst>
                <a:tab pos="240029" algn="l"/>
              </a:tabLst>
            </a:pPr>
            <a:r>
              <a:rPr lang="pt-BR" sz="650" spc="-5" dirty="0">
                <a:latin typeface="Carlito"/>
                <a:cs typeface="Carlito"/>
              </a:rPr>
              <a:t> </a:t>
            </a:r>
            <a:r>
              <a:rPr sz="650" spc="-5" dirty="0">
                <a:latin typeface="Carlito"/>
                <a:cs typeface="Carlito"/>
              </a:rPr>
              <a:t>O fabricante reserva-se o direito </a:t>
            </a:r>
            <a:r>
              <a:rPr sz="650" dirty="0">
                <a:latin typeface="Carlito"/>
                <a:cs typeface="Carlito"/>
              </a:rPr>
              <a:t>de </a:t>
            </a:r>
            <a:r>
              <a:rPr sz="650" spc="-5" dirty="0">
                <a:latin typeface="Carlito"/>
                <a:cs typeface="Carlito"/>
              </a:rPr>
              <a:t>modificar em </a:t>
            </a:r>
            <a:r>
              <a:rPr sz="650" dirty="0">
                <a:latin typeface="Carlito"/>
                <a:cs typeface="Carlito"/>
              </a:rPr>
              <a:t>qualquer  </a:t>
            </a:r>
            <a:r>
              <a:rPr sz="650" spc="-5" dirty="0">
                <a:latin typeface="Carlito"/>
                <a:cs typeface="Carlito"/>
              </a:rPr>
              <a:t>momento e </a:t>
            </a:r>
            <a:r>
              <a:rPr sz="650" dirty="0">
                <a:latin typeface="Carlito"/>
                <a:cs typeface="Carlito"/>
              </a:rPr>
              <a:t>sem </a:t>
            </a:r>
            <a:r>
              <a:rPr sz="650" spc="-5" dirty="0">
                <a:latin typeface="Carlito"/>
                <a:cs typeface="Carlito"/>
              </a:rPr>
              <a:t>aviso prévio o conteúdo </a:t>
            </a:r>
            <a:r>
              <a:rPr sz="650" spc="-5" dirty="0" err="1">
                <a:latin typeface="Carlito"/>
                <a:cs typeface="Carlito"/>
              </a:rPr>
              <a:t>deste</a:t>
            </a:r>
            <a:r>
              <a:rPr sz="650" spc="20" dirty="0">
                <a:latin typeface="Carlito"/>
                <a:cs typeface="Carlito"/>
              </a:rPr>
              <a:t> </a:t>
            </a:r>
            <a:r>
              <a:rPr sz="650" spc="-5" dirty="0">
                <a:latin typeface="Carlito"/>
                <a:cs typeface="Carlito"/>
              </a:rPr>
              <a:t>manual</a:t>
            </a:r>
            <a:r>
              <a:rPr lang="pt-BR" sz="650" spc="-5" dirty="0">
                <a:latin typeface="Carlito"/>
                <a:cs typeface="Carlito"/>
              </a:rPr>
              <a:t>;</a:t>
            </a:r>
            <a:endParaRPr sz="650" dirty="0">
              <a:latin typeface="Carlito"/>
              <a:cs typeface="Carlito"/>
            </a:endParaRPr>
          </a:p>
          <a:p>
            <a:pPr marL="0" marR="5715" lvl="2" indent="11113" algn="just">
              <a:lnSpc>
                <a:spcPct val="101400"/>
              </a:lnSpc>
              <a:buFont typeface="+mj-lt"/>
              <a:buAutoNum type="alphaLcParenR"/>
              <a:tabLst>
                <a:tab pos="209550" algn="l"/>
              </a:tabLst>
            </a:pPr>
            <a:r>
              <a:rPr lang="pt-BR" sz="650" spc="-5" dirty="0">
                <a:latin typeface="Carlito"/>
                <a:cs typeface="Carlito"/>
              </a:rPr>
              <a:t> </a:t>
            </a:r>
            <a:r>
              <a:rPr sz="650" spc="-5" dirty="0">
                <a:latin typeface="Carlito"/>
                <a:cs typeface="Carlito"/>
              </a:rPr>
              <a:t>A</a:t>
            </a:r>
            <a:r>
              <a:rPr sz="650" spc="-30" dirty="0">
                <a:latin typeface="Carlito"/>
                <a:cs typeface="Carlito"/>
              </a:rPr>
              <a:t> </a:t>
            </a:r>
            <a:r>
              <a:rPr sz="650" dirty="0">
                <a:latin typeface="Carlito"/>
                <a:cs typeface="Carlito"/>
              </a:rPr>
              <a:t>Só</a:t>
            </a:r>
            <a:r>
              <a:rPr sz="650" spc="-30" dirty="0">
                <a:latin typeface="Carlito"/>
                <a:cs typeface="Carlito"/>
              </a:rPr>
              <a:t> </a:t>
            </a:r>
            <a:r>
              <a:rPr sz="650" dirty="0">
                <a:latin typeface="Carlito"/>
                <a:cs typeface="Carlito"/>
              </a:rPr>
              <a:t>Aço</a:t>
            </a:r>
            <a:r>
              <a:rPr sz="650" spc="-30" dirty="0">
                <a:latin typeface="Carlito"/>
                <a:cs typeface="Carlito"/>
              </a:rPr>
              <a:t> </a:t>
            </a:r>
            <a:r>
              <a:rPr sz="650" spc="-5" dirty="0">
                <a:latin typeface="Carlito"/>
                <a:cs typeface="Carlito"/>
              </a:rPr>
              <a:t>se</a:t>
            </a:r>
            <a:r>
              <a:rPr sz="650" spc="-35" dirty="0">
                <a:latin typeface="Carlito"/>
                <a:cs typeface="Carlito"/>
              </a:rPr>
              <a:t> </a:t>
            </a:r>
            <a:r>
              <a:rPr sz="650" spc="-5" dirty="0">
                <a:latin typeface="Carlito"/>
                <a:cs typeface="Carlito"/>
              </a:rPr>
              <a:t>reserva</a:t>
            </a:r>
            <a:r>
              <a:rPr sz="650" spc="-35" dirty="0">
                <a:latin typeface="Carlito"/>
                <a:cs typeface="Carlito"/>
              </a:rPr>
              <a:t> </a:t>
            </a:r>
            <a:r>
              <a:rPr sz="650" dirty="0">
                <a:latin typeface="Carlito"/>
                <a:cs typeface="Carlito"/>
              </a:rPr>
              <a:t>do</a:t>
            </a:r>
            <a:r>
              <a:rPr sz="650" spc="-30" dirty="0">
                <a:latin typeface="Carlito"/>
                <a:cs typeface="Carlito"/>
              </a:rPr>
              <a:t> </a:t>
            </a:r>
            <a:r>
              <a:rPr sz="650" spc="-5" dirty="0">
                <a:latin typeface="Carlito"/>
                <a:cs typeface="Carlito"/>
              </a:rPr>
              <a:t>direito</a:t>
            </a:r>
            <a:r>
              <a:rPr sz="650" spc="-30" dirty="0">
                <a:latin typeface="Carlito"/>
                <a:cs typeface="Carlito"/>
              </a:rPr>
              <a:t> </a:t>
            </a:r>
            <a:r>
              <a:rPr sz="650" dirty="0">
                <a:latin typeface="Carlito"/>
                <a:cs typeface="Carlito"/>
              </a:rPr>
              <a:t>de</a:t>
            </a:r>
            <a:r>
              <a:rPr sz="650" spc="-30" dirty="0">
                <a:latin typeface="Carlito"/>
                <a:cs typeface="Carlito"/>
              </a:rPr>
              <a:t> </a:t>
            </a:r>
            <a:r>
              <a:rPr sz="650" spc="-5" dirty="0">
                <a:latin typeface="Carlito"/>
                <a:cs typeface="Carlito"/>
              </a:rPr>
              <a:t>alterar</a:t>
            </a:r>
            <a:r>
              <a:rPr sz="650" spc="-40" dirty="0">
                <a:latin typeface="Carlito"/>
                <a:cs typeface="Carlito"/>
              </a:rPr>
              <a:t> </a:t>
            </a:r>
            <a:r>
              <a:rPr sz="650" spc="-5" dirty="0">
                <a:latin typeface="Carlito"/>
                <a:cs typeface="Carlito"/>
              </a:rPr>
              <a:t>as</a:t>
            </a:r>
            <a:r>
              <a:rPr sz="650" spc="-35" dirty="0">
                <a:latin typeface="Carlito"/>
                <a:cs typeface="Carlito"/>
              </a:rPr>
              <a:t> </a:t>
            </a:r>
            <a:r>
              <a:rPr sz="650" spc="-5" dirty="0">
                <a:latin typeface="Carlito"/>
                <a:cs typeface="Carlito"/>
              </a:rPr>
              <a:t>características</a:t>
            </a:r>
            <a:r>
              <a:rPr sz="650" spc="-35" dirty="0">
                <a:latin typeface="Carlito"/>
                <a:cs typeface="Carlito"/>
              </a:rPr>
              <a:t> </a:t>
            </a:r>
            <a:r>
              <a:rPr sz="650" spc="-5" dirty="0">
                <a:latin typeface="Carlito"/>
                <a:cs typeface="Carlito"/>
              </a:rPr>
              <a:t>dos</a:t>
            </a:r>
            <a:r>
              <a:rPr sz="650" spc="-35" dirty="0">
                <a:latin typeface="Carlito"/>
                <a:cs typeface="Carlito"/>
              </a:rPr>
              <a:t> </a:t>
            </a:r>
            <a:r>
              <a:rPr sz="650" spc="-5" dirty="0">
                <a:latin typeface="Carlito"/>
                <a:cs typeface="Carlito"/>
              </a:rPr>
              <a:t>seus  produtos sem aviso</a:t>
            </a:r>
            <a:r>
              <a:rPr sz="650" dirty="0">
                <a:latin typeface="Carlito"/>
                <a:cs typeface="Carlito"/>
              </a:rPr>
              <a:t> </a:t>
            </a:r>
            <a:r>
              <a:rPr sz="650" spc="-5" dirty="0" err="1">
                <a:latin typeface="Carlito"/>
                <a:cs typeface="Carlito"/>
              </a:rPr>
              <a:t>prévio</a:t>
            </a:r>
            <a:r>
              <a:rPr lang="pt-BR" sz="650" spc="-5" dirty="0">
                <a:latin typeface="Carlito"/>
                <a:cs typeface="Carlito"/>
              </a:rPr>
              <a:t>;</a:t>
            </a:r>
            <a:endParaRPr sz="650" dirty="0">
              <a:latin typeface="Carlito"/>
              <a:cs typeface="Carlito"/>
            </a:endParaRPr>
          </a:p>
          <a:p>
            <a:pPr marL="0" lvl="2" indent="11113" algn="just">
              <a:lnSpc>
                <a:spcPct val="100000"/>
              </a:lnSpc>
              <a:spcBef>
                <a:spcPts val="15"/>
              </a:spcBef>
              <a:buFont typeface="+mj-lt"/>
              <a:buAutoNum type="alphaLcParenR"/>
              <a:tabLst>
                <a:tab pos="285750" algn="l"/>
              </a:tabLst>
            </a:pPr>
            <a:r>
              <a:rPr lang="pt-BR" sz="650" spc="-5" dirty="0">
                <a:latin typeface="Carlito"/>
                <a:cs typeface="Carlito"/>
              </a:rPr>
              <a:t> </a:t>
            </a:r>
            <a:r>
              <a:rPr sz="650" spc="-5" dirty="0">
                <a:latin typeface="Carlito"/>
                <a:cs typeface="Carlito"/>
              </a:rPr>
              <a:t>Este equipamento </a:t>
            </a:r>
            <a:r>
              <a:rPr sz="650" dirty="0">
                <a:latin typeface="Carlito"/>
                <a:cs typeface="Carlito"/>
              </a:rPr>
              <a:t>não </a:t>
            </a:r>
            <a:r>
              <a:rPr sz="650" spc="-5" dirty="0">
                <a:latin typeface="Carlito"/>
                <a:cs typeface="Carlito"/>
              </a:rPr>
              <a:t>se destina a utilização </a:t>
            </a:r>
            <a:r>
              <a:rPr sz="650" spc="-5" dirty="0" err="1">
                <a:latin typeface="Carlito"/>
                <a:cs typeface="Carlito"/>
              </a:rPr>
              <a:t>por</a:t>
            </a:r>
            <a:r>
              <a:rPr sz="650" spc="10" dirty="0">
                <a:latin typeface="Carlito"/>
                <a:cs typeface="Carlito"/>
              </a:rPr>
              <a:t> </a:t>
            </a:r>
            <a:r>
              <a:rPr sz="650" spc="-5" dirty="0" err="1">
                <a:latin typeface="Carlito"/>
                <a:cs typeface="Carlito"/>
              </a:rPr>
              <a:t>pessoas</a:t>
            </a:r>
            <a:r>
              <a:rPr lang="pt-BR" sz="650" dirty="0">
                <a:latin typeface="Carlito"/>
                <a:cs typeface="Carlito"/>
              </a:rPr>
              <a:t> </a:t>
            </a:r>
            <a:r>
              <a:rPr sz="650" spc="-5" dirty="0">
                <a:latin typeface="Carlito"/>
                <a:cs typeface="Carlito"/>
              </a:rPr>
              <a:t>(inclusive </a:t>
            </a:r>
            <a:r>
              <a:rPr sz="650" dirty="0">
                <a:latin typeface="Carlito"/>
                <a:cs typeface="Carlito"/>
              </a:rPr>
              <a:t>crianças) </a:t>
            </a:r>
            <a:r>
              <a:rPr sz="650" spc="-5" dirty="0">
                <a:latin typeface="Carlito"/>
                <a:cs typeface="Carlito"/>
              </a:rPr>
              <a:t>com capacidades físicas, sensoriais ou mentais  reduzidas, </a:t>
            </a:r>
            <a:r>
              <a:rPr sz="650" spc="-10" dirty="0">
                <a:latin typeface="Carlito"/>
                <a:cs typeface="Carlito"/>
              </a:rPr>
              <a:t>ou </a:t>
            </a:r>
            <a:r>
              <a:rPr sz="650" spc="-5" dirty="0">
                <a:latin typeface="Carlito"/>
                <a:cs typeface="Carlito"/>
              </a:rPr>
              <a:t>por pessoas com falta </a:t>
            </a:r>
            <a:r>
              <a:rPr sz="650" dirty="0">
                <a:latin typeface="Carlito"/>
                <a:cs typeface="Carlito"/>
              </a:rPr>
              <a:t>de experiência </a:t>
            </a:r>
            <a:r>
              <a:rPr sz="650" spc="-5" dirty="0">
                <a:latin typeface="Carlito"/>
                <a:cs typeface="Carlito"/>
              </a:rPr>
              <a:t>e conhecimento, a  menos </a:t>
            </a:r>
            <a:r>
              <a:rPr sz="650" dirty="0">
                <a:latin typeface="Carlito"/>
                <a:cs typeface="Carlito"/>
              </a:rPr>
              <a:t>que </a:t>
            </a:r>
            <a:r>
              <a:rPr sz="650" spc="-5" dirty="0">
                <a:latin typeface="Carlito"/>
                <a:cs typeface="Carlito"/>
              </a:rPr>
              <a:t>tenha recebido instruções referentes à utilização </a:t>
            </a:r>
            <a:r>
              <a:rPr sz="650" dirty="0">
                <a:latin typeface="Carlito"/>
                <a:cs typeface="Carlito"/>
              </a:rPr>
              <a:t>do  </a:t>
            </a:r>
            <a:r>
              <a:rPr sz="650" spc="-5" dirty="0">
                <a:latin typeface="Carlito"/>
                <a:cs typeface="Carlito"/>
              </a:rPr>
              <a:t>equipamento ou estejam sob a </a:t>
            </a:r>
            <a:r>
              <a:rPr sz="650" dirty="0">
                <a:latin typeface="Carlito"/>
                <a:cs typeface="Carlito"/>
              </a:rPr>
              <a:t>supervisão </a:t>
            </a:r>
            <a:r>
              <a:rPr sz="650" spc="-5" dirty="0">
                <a:latin typeface="Carlito"/>
                <a:cs typeface="Carlito"/>
              </a:rPr>
              <a:t>de uma pessoa responsável  pela </a:t>
            </a:r>
            <a:r>
              <a:rPr sz="650" spc="-5" dirty="0" err="1">
                <a:latin typeface="Carlito"/>
                <a:cs typeface="Carlito"/>
              </a:rPr>
              <a:t>sua</a:t>
            </a:r>
            <a:r>
              <a:rPr sz="650" dirty="0">
                <a:latin typeface="Carlito"/>
                <a:cs typeface="Carlito"/>
              </a:rPr>
              <a:t> </a:t>
            </a:r>
            <a:r>
              <a:rPr sz="650" spc="-5" dirty="0" err="1">
                <a:latin typeface="Carlito"/>
                <a:cs typeface="Carlito"/>
              </a:rPr>
              <a:t>segurança</a:t>
            </a:r>
            <a:r>
              <a:rPr lang="pt-BR" sz="650" spc="-5" dirty="0">
                <a:latin typeface="Carlito"/>
                <a:cs typeface="Carlito"/>
              </a:rPr>
              <a:t>;</a:t>
            </a:r>
            <a:endParaRPr sz="650" dirty="0">
              <a:latin typeface="Carlito"/>
              <a:cs typeface="Carlito"/>
            </a:endParaRPr>
          </a:p>
          <a:p>
            <a:pPr marL="0" marR="6985" lvl="2" indent="11113" algn="just">
              <a:lnSpc>
                <a:spcPct val="101400"/>
              </a:lnSpc>
              <a:spcBef>
                <a:spcPts val="15"/>
              </a:spcBef>
              <a:buFont typeface="+mj-lt"/>
              <a:buAutoNum type="alphaLcParenR"/>
              <a:tabLst>
                <a:tab pos="271780" algn="l"/>
              </a:tabLst>
            </a:pPr>
            <a:r>
              <a:rPr lang="pt-BR" sz="650" spc="-5" dirty="0">
                <a:latin typeface="Carlito"/>
                <a:cs typeface="Carlito"/>
              </a:rPr>
              <a:t> </a:t>
            </a:r>
            <a:r>
              <a:rPr sz="650" spc="-5" dirty="0" err="1">
                <a:latin typeface="Carlito"/>
                <a:cs typeface="Carlito"/>
              </a:rPr>
              <a:t>Recomenda</a:t>
            </a:r>
            <a:r>
              <a:rPr sz="650" spc="-5" dirty="0">
                <a:latin typeface="Carlito"/>
                <a:cs typeface="Carlito"/>
              </a:rPr>
              <a:t>-se </a:t>
            </a:r>
            <a:r>
              <a:rPr sz="650" dirty="0">
                <a:latin typeface="Carlito"/>
                <a:cs typeface="Carlito"/>
              </a:rPr>
              <a:t>que </a:t>
            </a:r>
            <a:r>
              <a:rPr sz="650" spc="-5" dirty="0">
                <a:latin typeface="Carlito"/>
                <a:cs typeface="Carlito"/>
              </a:rPr>
              <a:t>as crianças sejam vigiadas para assegurar  </a:t>
            </a:r>
            <a:r>
              <a:rPr sz="650" dirty="0">
                <a:latin typeface="Carlito"/>
                <a:cs typeface="Carlito"/>
              </a:rPr>
              <a:t>que </a:t>
            </a:r>
            <a:r>
              <a:rPr sz="650" spc="-5" dirty="0">
                <a:latin typeface="Carlito"/>
                <a:cs typeface="Carlito"/>
              </a:rPr>
              <a:t>elas </a:t>
            </a:r>
            <a:r>
              <a:rPr sz="650" dirty="0">
                <a:latin typeface="Carlito"/>
                <a:cs typeface="Carlito"/>
              </a:rPr>
              <a:t>não </a:t>
            </a:r>
            <a:r>
              <a:rPr sz="650" spc="-5" dirty="0">
                <a:latin typeface="Carlito"/>
                <a:cs typeface="Carlito"/>
              </a:rPr>
              <a:t>estejam brincando com o</a:t>
            </a:r>
            <a:r>
              <a:rPr sz="650" spc="5" dirty="0">
                <a:latin typeface="Carlito"/>
                <a:cs typeface="Carlito"/>
              </a:rPr>
              <a:t> </a:t>
            </a:r>
            <a:r>
              <a:rPr sz="650" spc="-5" dirty="0" err="1">
                <a:latin typeface="Carlito"/>
                <a:cs typeface="Carlito"/>
              </a:rPr>
              <a:t>equipamento</a:t>
            </a:r>
            <a:r>
              <a:rPr lang="pt-BR" sz="650" spc="-5" dirty="0">
                <a:latin typeface="Carlito"/>
                <a:cs typeface="Carlito"/>
              </a:rPr>
              <a:t>;</a:t>
            </a:r>
            <a:endParaRPr sz="650" dirty="0">
              <a:latin typeface="Carlito"/>
              <a:cs typeface="Carlito"/>
            </a:endParaRPr>
          </a:p>
          <a:p>
            <a:pPr marL="0" marR="7620" lvl="2" indent="11113" algn="just">
              <a:lnSpc>
                <a:spcPts val="850"/>
              </a:lnSpc>
              <a:spcBef>
                <a:spcPts val="30"/>
              </a:spcBef>
              <a:buFont typeface="+mj-lt"/>
              <a:buAutoNum type="alphaLcParenR"/>
              <a:tabLst>
                <a:tab pos="264160" algn="l"/>
              </a:tabLst>
            </a:pPr>
            <a:r>
              <a:rPr lang="pt-BR" sz="650" spc="-5" dirty="0">
                <a:latin typeface="Carlito"/>
                <a:cs typeface="Carlito"/>
              </a:rPr>
              <a:t> </a:t>
            </a:r>
            <a:r>
              <a:rPr sz="650" spc="-5" dirty="0" err="1">
                <a:latin typeface="Carlito"/>
                <a:cs typeface="Carlito"/>
              </a:rPr>
              <a:t>Não</a:t>
            </a:r>
            <a:r>
              <a:rPr sz="650" spc="-5" dirty="0">
                <a:latin typeface="Carlito"/>
                <a:cs typeface="Carlito"/>
              </a:rPr>
              <a:t> guarde substâncias explosivas, tais como </a:t>
            </a:r>
            <a:r>
              <a:rPr sz="650" dirty="0">
                <a:latin typeface="Carlito"/>
                <a:cs typeface="Carlito"/>
              </a:rPr>
              <a:t>aerossol </a:t>
            </a:r>
            <a:r>
              <a:rPr sz="650" spc="-5" dirty="0">
                <a:latin typeface="Carlito"/>
                <a:cs typeface="Carlito"/>
              </a:rPr>
              <a:t>com um  propelente inflamável </a:t>
            </a:r>
            <a:r>
              <a:rPr sz="650" spc="-5" dirty="0" err="1">
                <a:latin typeface="Carlito"/>
                <a:cs typeface="Carlito"/>
              </a:rPr>
              <a:t>neste</a:t>
            </a:r>
            <a:r>
              <a:rPr sz="650" spc="-5" dirty="0">
                <a:latin typeface="Carlito"/>
                <a:cs typeface="Carlito"/>
              </a:rPr>
              <a:t> </a:t>
            </a:r>
            <a:r>
              <a:rPr sz="650" spc="-5" dirty="0" err="1">
                <a:latin typeface="Carlito"/>
                <a:cs typeface="Carlito"/>
              </a:rPr>
              <a:t>aparelho</a:t>
            </a:r>
            <a:r>
              <a:rPr lang="pt-BR" sz="650" spc="-5" dirty="0">
                <a:latin typeface="Carlito"/>
                <a:cs typeface="Carlito"/>
              </a:rPr>
              <a:t>;</a:t>
            </a:r>
            <a:endParaRPr sz="650" dirty="0">
              <a:latin typeface="Carlito"/>
              <a:cs typeface="Carlito"/>
            </a:endParaRPr>
          </a:p>
          <a:p>
            <a:pPr marL="0" lvl="2" indent="11113" algn="just">
              <a:lnSpc>
                <a:spcPts val="825"/>
              </a:lnSpc>
              <a:buFont typeface="+mj-lt"/>
              <a:buAutoNum type="alphaLcParenR"/>
              <a:tabLst>
                <a:tab pos="299720" algn="l"/>
              </a:tabLst>
            </a:pPr>
            <a:r>
              <a:rPr lang="pt-BR" sz="650" spc="-5" dirty="0">
                <a:latin typeface="Carlito"/>
                <a:cs typeface="Carlito"/>
              </a:rPr>
              <a:t> </a:t>
            </a:r>
            <a:r>
              <a:rPr sz="650" spc="-5" dirty="0" err="1">
                <a:latin typeface="Carlito"/>
                <a:cs typeface="Carlito"/>
              </a:rPr>
              <a:t>Higienizar</a:t>
            </a:r>
            <a:r>
              <a:rPr sz="650" spc="-5" dirty="0">
                <a:latin typeface="Carlito"/>
                <a:cs typeface="Carlito"/>
              </a:rPr>
              <a:t> diariamente o produto</a:t>
            </a:r>
            <a:r>
              <a:rPr sz="650" spc="130" dirty="0">
                <a:latin typeface="Carlito"/>
                <a:cs typeface="Carlito"/>
              </a:rPr>
              <a:t> </a:t>
            </a:r>
            <a:r>
              <a:rPr sz="650" dirty="0">
                <a:latin typeface="Carlito"/>
                <a:cs typeface="Carlito"/>
              </a:rPr>
              <a:t>após </a:t>
            </a:r>
            <a:r>
              <a:rPr sz="650" spc="-5" dirty="0">
                <a:latin typeface="Carlito"/>
                <a:cs typeface="Carlito"/>
              </a:rPr>
              <a:t>o </a:t>
            </a:r>
            <a:r>
              <a:rPr sz="650" spc="-5" dirty="0" err="1">
                <a:latin typeface="Carlito"/>
                <a:cs typeface="Carlito"/>
              </a:rPr>
              <a:t>uso</a:t>
            </a:r>
            <a:r>
              <a:rPr sz="650" spc="-5" dirty="0">
                <a:latin typeface="Carlito"/>
                <a:cs typeface="Carlito"/>
              </a:rPr>
              <a:t> </a:t>
            </a:r>
            <a:r>
              <a:rPr sz="650" spc="-5" dirty="0" err="1">
                <a:latin typeface="Carlito"/>
                <a:cs typeface="Carlito"/>
              </a:rPr>
              <a:t>utilizando</a:t>
            </a:r>
            <a:r>
              <a:rPr lang="pt-BR" sz="650" dirty="0">
                <a:latin typeface="Carlito"/>
                <a:cs typeface="Carlito"/>
              </a:rPr>
              <a:t> </a:t>
            </a:r>
            <a:r>
              <a:rPr sz="650" spc="-5" dirty="0" err="1">
                <a:latin typeface="Carlito"/>
                <a:cs typeface="Carlito"/>
              </a:rPr>
              <a:t>detergente</a:t>
            </a:r>
            <a:r>
              <a:rPr sz="650" spc="-5" dirty="0">
                <a:latin typeface="Carlito"/>
                <a:cs typeface="Carlito"/>
              </a:rPr>
              <a:t> neutro, </a:t>
            </a:r>
            <a:r>
              <a:rPr sz="650" dirty="0">
                <a:latin typeface="Carlito"/>
                <a:cs typeface="Carlito"/>
              </a:rPr>
              <a:t>não </a:t>
            </a:r>
            <a:r>
              <a:rPr sz="650" spc="-5" dirty="0">
                <a:latin typeface="Carlito"/>
                <a:cs typeface="Carlito"/>
              </a:rPr>
              <a:t>utilize materiais abrasivos e jamais utilize </a:t>
            </a:r>
            <a:r>
              <a:rPr sz="650" spc="-5" dirty="0" err="1">
                <a:latin typeface="Carlito"/>
                <a:cs typeface="Carlito"/>
              </a:rPr>
              <a:t>jato</a:t>
            </a:r>
            <a:r>
              <a:rPr lang="pt-BR" sz="650" spc="-5" dirty="0">
                <a:latin typeface="Carlito"/>
                <a:cs typeface="Carlito"/>
              </a:rPr>
              <a:t> </a:t>
            </a:r>
            <a:r>
              <a:rPr sz="650" spc="-10" dirty="0" err="1">
                <a:latin typeface="Carlito"/>
                <a:cs typeface="Carlito"/>
              </a:rPr>
              <a:t>d</a:t>
            </a:r>
            <a:r>
              <a:rPr sz="650" spc="-10" dirty="0" err="1">
                <a:latin typeface="Arial"/>
                <a:cs typeface="Arial"/>
              </a:rPr>
              <a:t>’á</a:t>
            </a:r>
            <a:r>
              <a:rPr sz="650" spc="-10" dirty="0" err="1">
                <a:latin typeface="Carlito"/>
                <a:cs typeface="Carlito"/>
              </a:rPr>
              <a:t>gua</a:t>
            </a:r>
            <a:r>
              <a:rPr sz="650" spc="-10" dirty="0">
                <a:latin typeface="Carlito"/>
                <a:cs typeface="Carlito"/>
              </a:rPr>
              <a:t> </a:t>
            </a:r>
            <a:r>
              <a:rPr sz="650" spc="-5" dirty="0">
                <a:latin typeface="Carlito"/>
                <a:cs typeface="Carlito"/>
              </a:rPr>
              <a:t>para a higienização do</a:t>
            </a:r>
            <a:r>
              <a:rPr sz="650" spc="20" dirty="0">
                <a:latin typeface="Carlito"/>
                <a:cs typeface="Carlito"/>
              </a:rPr>
              <a:t> </a:t>
            </a:r>
            <a:r>
              <a:rPr sz="650" spc="-5" dirty="0">
                <a:latin typeface="Carlito"/>
                <a:cs typeface="Carlito"/>
              </a:rPr>
              <a:t>produto.</a:t>
            </a:r>
            <a:endParaRPr sz="650" dirty="0">
              <a:latin typeface="Carlito"/>
              <a:cs typeface="Carlito"/>
            </a:endParaRPr>
          </a:p>
        </p:txBody>
      </p:sp>
      <p:sp>
        <p:nvSpPr>
          <p:cNvPr id="19" name="object 19"/>
          <p:cNvSpPr txBox="1"/>
          <p:nvPr/>
        </p:nvSpPr>
        <p:spPr>
          <a:xfrm>
            <a:off x="2753360" y="542290"/>
            <a:ext cx="2532380" cy="228600"/>
          </a:xfrm>
          <a:prstGeom prst="rect">
            <a:avLst/>
          </a:prstGeom>
          <a:solidFill>
            <a:srgbClr val="D9D9D9"/>
          </a:solidFill>
        </p:spPr>
        <p:txBody>
          <a:bodyPr vert="horz" wrap="square" lIns="0" tIns="52704" rIns="0" bIns="0" rtlCol="0">
            <a:spAutoFit/>
          </a:bodyPr>
          <a:lstStyle/>
          <a:p>
            <a:pPr marL="104139">
              <a:lnSpc>
                <a:spcPct val="100000"/>
              </a:lnSpc>
              <a:spcBef>
                <a:spcPts val="414"/>
              </a:spcBef>
            </a:pPr>
            <a:r>
              <a:rPr sz="800" b="1" dirty="0">
                <a:latin typeface="Carlito"/>
                <a:cs typeface="Carlito"/>
              </a:rPr>
              <a:t>1.</a:t>
            </a:r>
            <a:r>
              <a:rPr sz="800" b="1" spc="175" dirty="0">
                <a:latin typeface="Carlito"/>
                <a:cs typeface="Carlito"/>
              </a:rPr>
              <a:t> </a:t>
            </a:r>
            <a:r>
              <a:rPr sz="800" b="1" spc="-5" dirty="0">
                <a:latin typeface="Carlito"/>
                <a:cs typeface="Carlito"/>
              </a:rPr>
              <a:t>INTRODUÇÃO</a:t>
            </a:r>
            <a:endParaRPr sz="800">
              <a:latin typeface="Carlito"/>
              <a:cs typeface="Carlito"/>
            </a:endParaRPr>
          </a:p>
        </p:txBody>
      </p:sp>
      <p:sp>
        <p:nvSpPr>
          <p:cNvPr id="20" name="object 20"/>
          <p:cNvSpPr txBox="1"/>
          <p:nvPr/>
        </p:nvSpPr>
        <p:spPr>
          <a:xfrm>
            <a:off x="2755900" y="3913089"/>
            <a:ext cx="2532380" cy="228600"/>
          </a:xfrm>
          <a:prstGeom prst="rect">
            <a:avLst/>
          </a:prstGeom>
          <a:solidFill>
            <a:srgbClr val="D9D9D9"/>
          </a:solidFill>
        </p:spPr>
        <p:txBody>
          <a:bodyPr vert="horz" wrap="square" lIns="0" tIns="53340" rIns="0" bIns="0" rtlCol="0">
            <a:spAutoFit/>
          </a:bodyPr>
          <a:lstStyle/>
          <a:p>
            <a:pPr marL="104775">
              <a:lnSpc>
                <a:spcPct val="100000"/>
              </a:lnSpc>
              <a:spcBef>
                <a:spcPts val="420"/>
              </a:spcBef>
            </a:pPr>
            <a:r>
              <a:rPr sz="800" b="1" dirty="0">
                <a:latin typeface="Carlito"/>
                <a:cs typeface="Carlito"/>
              </a:rPr>
              <a:t>2. </a:t>
            </a:r>
            <a:r>
              <a:rPr sz="800" b="1" spc="-5" dirty="0">
                <a:latin typeface="Carlito"/>
                <a:cs typeface="Carlito"/>
              </a:rPr>
              <a:t>MODELOS </a:t>
            </a:r>
            <a:r>
              <a:rPr sz="800" b="1" dirty="0">
                <a:latin typeface="Carlito"/>
                <a:cs typeface="Carlito"/>
              </a:rPr>
              <a:t>E </a:t>
            </a:r>
            <a:r>
              <a:rPr sz="800" b="1" spc="-5" dirty="0">
                <a:latin typeface="Carlito"/>
                <a:cs typeface="Carlito"/>
              </a:rPr>
              <a:t>ESPECIFICAÇÕES</a:t>
            </a:r>
            <a:r>
              <a:rPr sz="800" b="1" dirty="0">
                <a:latin typeface="Carlito"/>
                <a:cs typeface="Carlito"/>
              </a:rPr>
              <a:t> </a:t>
            </a:r>
            <a:r>
              <a:rPr sz="800" b="1" spc="-5" dirty="0">
                <a:latin typeface="Carlito"/>
                <a:cs typeface="Carlito"/>
              </a:rPr>
              <a:t>TÉCNICAS</a:t>
            </a:r>
            <a:endParaRPr sz="800" dirty="0">
              <a:latin typeface="Carlito"/>
              <a:cs typeface="Carlito"/>
            </a:endParaRPr>
          </a:p>
        </p:txBody>
      </p:sp>
      <p:sp>
        <p:nvSpPr>
          <p:cNvPr id="21" name="object 21"/>
          <p:cNvSpPr/>
          <p:nvPr/>
        </p:nvSpPr>
        <p:spPr>
          <a:xfrm>
            <a:off x="2808528" y="5536843"/>
            <a:ext cx="1181734" cy="530582"/>
          </a:xfrm>
          <a:prstGeom prst="rect">
            <a:avLst/>
          </a:prstGeom>
          <a:blipFill>
            <a:blip r:embed="rId4" cstate="print"/>
            <a:stretch>
              <a:fillRect/>
            </a:stretch>
          </a:blipFill>
        </p:spPr>
        <p:txBody>
          <a:bodyPr wrap="square" lIns="0" tIns="0" rIns="0" bIns="0" rtlCol="0"/>
          <a:lstStyle/>
          <a:p>
            <a:endParaRPr/>
          </a:p>
        </p:txBody>
      </p:sp>
      <p:sp>
        <p:nvSpPr>
          <p:cNvPr id="22" name="object 22"/>
          <p:cNvSpPr txBox="1"/>
          <p:nvPr/>
        </p:nvSpPr>
        <p:spPr>
          <a:xfrm>
            <a:off x="4312197" y="5581468"/>
            <a:ext cx="774065" cy="396240"/>
          </a:xfrm>
          <a:prstGeom prst="rect">
            <a:avLst/>
          </a:prstGeom>
        </p:spPr>
        <p:txBody>
          <a:bodyPr vert="horz" wrap="square" lIns="0" tIns="10795" rIns="0" bIns="0" rtlCol="0">
            <a:spAutoFit/>
          </a:bodyPr>
          <a:lstStyle/>
          <a:p>
            <a:pPr marL="12700" marR="5080" algn="ctr">
              <a:lnSpc>
                <a:spcPct val="101699"/>
              </a:lnSpc>
              <a:spcBef>
                <a:spcPts val="85"/>
              </a:spcBef>
            </a:pPr>
            <a:r>
              <a:rPr sz="600" dirty="0">
                <a:latin typeface="Carlito"/>
                <a:cs typeface="Carlito"/>
              </a:rPr>
              <a:t>O Kit </a:t>
            </a:r>
            <a:r>
              <a:rPr sz="600" spc="-5" dirty="0">
                <a:latin typeface="Carlito"/>
                <a:cs typeface="Carlito"/>
              </a:rPr>
              <a:t>prensa </a:t>
            </a:r>
            <a:r>
              <a:rPr sz="600" dirty="0">
                <a:latin typeface="Carlito"/>
                <a:cs typeface="Carlito"/>
              </a:rPr>
              <a:t>só  </a:t>
            </a:r>
            <a:r>
              <a:rPr sz="600" spc="-5" dirty="0">
                <a:latin typeface="Carlito"/>
                <a:cs typeface="Carlito"/>
              </a:rPr>
              <a:t>acompanha </a:t>
            </a:r>
            <a:r>
              <a:rPr sz="600" dirty="0">
                <a:latin typeface="Carlito"/>
                <a:cs typeface="Carlito"/>
              </a:rPr>
              <a:t>a </a:t>
            </a:r>
            <a:r>
              <a:rPr sz="600" spc="-5" dirty="0">
                <a:latin typeface="Carlito"/>
                <a:cs typeface="Carlito"/>
              </a:rPr>
              <a:t>chapa  bifeteira </a:t>
            </a:r>
            <a:r>
              <a:rPr sz="600" dirty="0">
                <a:latin typeface="Carlito"/>
                <a:cs typeface="Carlito"/>
              </a:rPr>
              <a:t>gril </a:t>
            </a:r>
            <a:r>
              <a:rPr sz="600" spc="-5" dirty="0">
                <a:latin typeface="Carlito"/>
                <a:cs typeface="Carlito"/>
              </a:rPr>
              <a:t>os</a:t>
            </a:r>
            <a:r>
              <a:rPr sz="600" spc="-35" dirty="0">
                <a:latin typeface="Carlito"/>
                <a:cs typeface="Carlito"/>
              </a:rPr>
              <a:t> </a:t>
            </a:r>
            <a:r>
              <a:rPr sz="600" spc="-5" dirty="0">
                <a:latin typeface="Carlito"/>
                <a:cs typeface="Carlito"/>
              </a:rPr>
              <a:t>modelos  de</a:t>
            </a:r>
            <a:r>
              <a:rPr sz="600" spc="-15" dirty="0">
                <a:latin typeface="Carlito"/>
                <a:cs typeface="Carlito"/>
              </a:rPr>
              <a:t> </a:t>
            </a:r>
            <a:r>
              <a:rPr sz="600" spc="-5" dirty="0">
                <a:latin typeface="Carlito"/>
                <a:cs typeface="Carlito"/>
              </a:rPr>
              <a:t>sanduicheira.</a:t>
            </a:r>
            <a:endParaRPr sz="600" dirty="0">
              <a:latin typeface="Carlito"/>
              <a:cs typeface="Carlito"/>
            </a:endParaRPr>
          </a:p>
        </p:txBody>
      </p:sp>
      <p:sp>
        <p:nvSpPr>
          <p:cNvPr id="23" name="object 23"/>
          <p:cNvSpPr txBox="1"/>
          <p:nvPr/>
        </p:nvSpPr>
        <p:spPr>
          <a:xfrm>
            <a:off x="5387058" y="542290"/>
            <a:ext cx="2532380" cy="390525"/>
          </a:xfrm>
          <a:prstGeom prst="rect">
            <a:avLst/>
          </a:prstGeom>
          <a:solidFill>
            <a:srgbClr val="D9D9D9"/>
          </a:solidFill>
        </p:spPr>
        <p:txBody>
          <a:bodyPr vert="horz" wrap="square" lIns="0" tIns="64769" rIns="0" bIns="0" rtlCol="0">
            <a:spAutoFit/>
          </a:bodyPr>
          <a:lstStyle/>
          <a:p>
            <a:pPr marL="105410" marR="258445">
              <a:lnSpc>
                <a:spcPct val="101299"/>
              </a:lnSpc>
              <a:spcBef>
                <a:spcPts val="509"/>
              </a:spcBef>
            </a:pPr>
            <a:r>
              <a:rPr sz="800" b="1" dirty="0">
                <a:latin typeface="Carlito"/>
                <a:cs typeface="Carlito"/>
              </a:rPr>
              <a:t>3. </a:t>
            </a:r>
            <a:r>
              <a:rPr sz="800" b="1" spc="-5" dirty="0">
                <a:latin typeface="Carlito"/>
                <a:cs typeface="Carlito"/>
              </a:rPr>
              <a:t>CUIDADOS </a:t>
            </a:r>
            <a:r>
              <a:rPr sz="800" b="1" dirty="0">
                <a:latin typeface="Carlito"/>
                <a:cs typeface="Carlito"/>
              </a:rPr>
              <a:t>NA </a:t>
            </a:r>
            <a:r>
              <a:rPr sz="800" b="1" spc="-5" dirty="0">
                <a:latin typeface="Carlito"/>
                <a:cs typeface="Carlito"/>
              </a:rPr>
              <a:t>INSTALAÇÃO </a:t>
            </a:r>
            <a:r>
              <a:rPr sz="800" b="1" dirty="0">
                <a:latin typeface="Carlito"/>
                <a:cs typeface="Carlito"/>
              </a:rPr>
              <a:t>E </a:t>
            </a:r>
            <a:r>
              <a:rPr sz="800" b="1" spc="-5" dirty="0">
                <a:latin typeface="Carlito"/>
                <a:cs typeface="Carlito"/>
              </a:rPr>
              <a:t>MANUTENÇÃO </a:t>
            </a:r>
            <a:r>
              <a:rPr sz="800" b="1" dirty="0">
                <a:latin typeface="Carlito"/>
                <a:cs typeface="Carlito"/>
              </a:rPr>
              <a:t>DO  </a:t>
            </a:r>
            <a:r>
              <a:rPr sz="800" b="1" spc="-5" dirty="0">
                <a:latin typeface="Carlito"/>
                <a:cs typeface="Carlito"/>
              </a:rPr>
              <a:t>EQUIPAMENTO</a:t>
            </a:r>
            <a:endParaRPr sz="800" dirty="0">
              <a:latin typeface="Carlito"/>
              <a:cs typeface="Carlito"/>
            </a:endParaRPr>
          </a:p>
        </p:txBody>
      </p:sp>
      <p:sp>
        <p:nvSpPr>
          <p:cNvPr id="24" name="object 24"/>
          <p:cNvSpPr/>
          <p:nvPr/>
        </p:nvSpPr>
        <p:spPr>
          <a:xfrm>
            <a:off x="6891019" y="3415031"/>
            <a:ext cx="681354" cy="137794"/>
          </a:xfrm>
          <a:prstGeom prst="rect">
            <a:avLst/>
          </a:prstGeom>
          <a:blipFill>
            <a:blip r:embed="rId5" cstate="print"/>
            <a:stretch>
              <a:fillRect/>
            </a:stretch>
          </a:blipFill>
        </p:spPr>
        <p:txBody>
          <a:bodyPr wrap="square" lIns="0" tIns="0" rIns="0" bIns="0" rtlCol="0"/>
          <a:lstStyle/>
          <a:p>
            <a:endParaRPr/>
          </a:p>
        </p:txBody>
      </p:sp>
      <p:sp>
        <p:nvSpPr>
          <p:cNvPr id="25" name="object 25"/>
          <p:cNvSpPr/>
          <p:nvPr/>
        </p:nvSpPr>
        <p:spPr>
          <a:xfrm>
            <a:off x="7113447" y="2779523"/>
            <a:ext cx="258901" cy="579119"/>
          </a:xfrm>
          <a:prstGeom prst="rect">
            <a:avLst/>
          </a:prstGeom>
          <a:blipFill>
            <a:blip r:embed="rId6" cstate="print"/>
            <a:stretch>
              <a:fillRect/>
            </a:stretch>
          </a:blipFill>
        </p:spPr>
        <p:txBody>
          <a:bodyPr wrap="square" lIns="0" tIns="0" rIns="0" bIns="0" rtlCol="0"/>
          <a:lstStyle/>
          <a:p>
            <a:endParaRPr/>
          </a:p>
        </p:txBody>
      </p:sp>
      <p:sp>
        <p:nvSpPr>
          <p:cNvPr id="26" name="object 26"/>
          <p:cNvSpPr txBox="1"/>
          <p:nvPr/>
        </p:nvSpPr>
        <p:spPr>
          <a:xfrm>
            <a:off x="5384672" y="935355"/>
            <a:ext cx="2549525" cy="2241319"/>
          </a:xfrm>
          <a:prstGeom prst="rect">
            <a:avLst/>
          </a:prstGeom>
        </p:spPr>
        <p:txBody>
          <a:bodyPr vert="horz" wrap="square" lIns="0" tIns="10160" rIns="0" bIns="0" rtlCol="0">
            <a:spAutoFit/>
          </a:bodyPr>
          <a:lstStyle/>
          <a:p>
            <a:pPr marL="12700" marR="5080" algn="just">
              <a:lnSpc>
                <a:spcPct val="101699"/>
              </a:lnSpc>
              <a:spcBef>
                <a:spcPts val="80"/>
              </a:spcBef>
            </a:pPr>
            <a:r>
              <a:rPr sz="650" b="1" spc="-5" dirty="0">
                <a:latin typeface="Carlito"/>
                <a:cs typeface="Carlito"/>
              </a:rPr>
              <a:t>1</a:t>
            </a:r>
            <a:r>
              <a:rPr lang="pt-BR" sz="650" b="1" spc="-5" dirty="0">
                <a:latin typeface="Carlito"/>
                <a:cs typeface="Carlito"/>
              </a:rPr>
              <a:t>.</a:t>
            </a:r>
            <a:r>
              <a:rPr sz="650" b="1" spc="-5" dirty="0">
                <a:latin typeface="Carlito"/>
                <a:cs typeface="Carlito"/>
              </a:rPr>
              <a:t> </a:t>
            </a:r>
            <a:r>
              <a:rPr sz="650" spc="-5" dirty="0">
                <a:latin typeface="Carlito"/>
                <a:cs typeface="Carlito"/>
              </a:rPr>
              <a:t>Todo o equipamento a gás (GLP) </a:t>
            </a:r>
            <a:r>
              <a:rPr sz="650" dirty="0">
                <a:latin typeface="Carlito"/>
                <a:cs typeface="Carlito"/>
              </a:rPr>
              <a:t>merece </a:t>
            </a:r>
            <a:r>
              <a:rPr sz="650" spc="-5" dirty="0">
                <a:latin typeface="Carlito"/>
                <a:cs typeface="Carlito"/>
              </a:rPr>
              <a:t>um </a:t>
            </a:r>
            <a:r>
              <a:rPr sz="650" dirty="0">
                <a:latin typeface="Carlito"/>
                <a:cs typeface="Carlito"/>
              </a:rPr>
              <a:t>cuidado </a:t>
            </a:r>
            <a:r>
              <a:rPr sz="650" spc="-5" dirty="0">
                <a:latin typeface="Carlito"/>
                <a:cs typeface="Carlito"/>
              </a:rPr>
              <a:t>especial. A  instalação </a:t>
            </a:r>
            <a:r>
              <a:rPr sz="650" dirty="0">
                <a:latin typeface="Carlito"/>
                <a:cs typeface="Carlito"/>
              </a:rPr>
              <a:t>do </a:t>
            </a:r>
            <a:r>
              <a:rPr sz="650" spc="-5" dirty="0">
                <a:latin typeface="Carlito"/>
                <a:cs typeface="Carlito"/>
              </a:rPr>
              <a:t>botijão deve ser realizada verificando com </a:t>
            </a:r>
            <a:r>
              <a:rPr sz="650" dirty="0">
                <a:latin typeface="Carlito"/>
                <a:cs typeface="Carlito"/>
              </a:rPr>
              <a:t>atenção </a:t>
            </a:r>
            <a:r>
              <a:rPr sz="650" spc="-10" dirty="0">
                <a:latin typeface="Carlito"/>
                <a:cs typeface="Carlito"/>
              </a:rPr>
              <a:t>as </a:t>
            </a:r>
            <a:r>
              <a:rPr sz="650" spc="135" dirty="0">
                <a:latin typeface="Carlito"/>
                <a:cs typeface="Carlito"/>
              </a:rPr>
              <a:t> </a:t>
            </a:r>
            <a:r>
              <a:rPr sz="650" dirty="0">
                <a:latin typeface="Carlito"/>
                <a:cs typeface="Carlito"/>
              </a:rPr>
              <a:t>junções da </a:t>
            </a:r>
            <a:r>
              <a:rPr sz="650" spc="-5" dirty="0">
                <a:latin typeface="Carlito"/>
                <a:cs typeface="Carlito"/>
              </a:rPr>
              <a:t>mangueira </a:t>
            </a:r>
            <a:r>
              <a:rPr sz="650" dirty="0">
                <a:latin typeface="Carlito"/>
                <a:cs typeface="Carlito"/>
              </a:rPr>
              <a:t>na </a:t>
            </a:r>
            <a:r>
              <a:rPr sz="650" spc="-5" dirty="0">
                <a:latin typeface="Carlito"/>
                <a:cs typeface="Carlito"/>
              </a:rPr>
              <a:t>válvula e entrada </a:t>
            </a:r>
            <a:r>
              <a:rPr sz="650" dirty="0">
                <a:latin typeface="Carlito"/>
                <a:cs typeface="Carlito"/>
              </a:rPr>
              <a:t>do gás no </a:t>
            </a:r>
            <a:r>
              <a:rPr sz="650" spc="-5" dirty="0">
                <a:latin typeface="Carlito"/>
                <a:cs typeface="Carlito"/>
              </a:rPr>
              <a:t>equipamento.  Para</a:t>
            </a:r>
            <a:r>
              <a:rPr sz="650" spc="-35" dirty="0">
                <a:latin typeface="Carlito"/>
                <a:cs typeface="Carlito"/>
              </a:rPr>
              <a:t> </a:t>
            </a:r>
            <a:r>
              <a:rPr sz="650" spc="-5" dirty="0">
                <a:latin typeface="Carlito"/>
                <a:cs typeface="Carlito"/>
              </a:rPr>
              <a:t>observar</a:t>
            </a:r>
            <a:r>
              <a:rPr sz="650" spc="-25" dirty="0">
                <a:latin typeface="Carlito"/>
                <a:cs typeface="Carlito"/>
              </a:rPr>
              <a:t> </a:t>
            </a:r>
            <a:r>
              <a:rPr sz="650" spc="-5" dirty="0">
                <a:latin typeface="Carlito"/>
                <a:cs typeface="Carlito"/>
              </a:rPr>
              <a:t>se</a:t>
            </a:r>
            <a:r>
              <a:rPr sz="650" spc="-35" dirty="0">
                <a:latin typeface="Carlito"/>
                <a:cs typeface="Carlito"/>
              </a:rPr>
              <a:t> </a:t>
            </a:r>
            <a:r>
              <a:rPr sz="650" dirty="0">
                <a:latin typeface="Carlito"/>
                <a:cs typeface="Carlito"/>
              </a:rPr>
              <a:t>há</a:t>
            </a:r>
            <a:r>
              <a:rPr sz="650" spc="-20" dirty="0">
                <a:latin typeface="Carlito"/>
                <a:cs typeface="Carlito"/>
              </a:rPr>
              <a:t> </a:t>
            </a:r>
            <a:r>
              <a:rPr sz="650" spc="-5" dirty="0">
                <a:latin typeface="Carlito"/>
                <a:cs typeface="Carlito"/>
              </a:rPr>
              <a:t>vazamentos</a:t>
            </a:r>
            <a:r>
              <a:rPr sz="650" spc="-15" dirty="0">
                <a:latin typeface="Carlito"/>
                <a:cs typeface="Carlito"/>
              </a:rPr>
              <a:t> </a:t>
            </a:r>
            <a:r>
              <a:rPr sz="650" dirty="0">
                <a:latin typeface="Carlito"/>
                <a:cs typeface="Carlito"/>
              </a:rPr>
              <a:t>de</a:t>
            </a:r>
            <a:r>
              <a:rPr sz="650" spc="-35" dirty="0">
                <a:latin typeface="Carlito"/>
                <a:cs typeface="Carlito"/>
              </a:rPr>
              <a:t> </a:t>
            </a:r>
            <a:r>
              <a:rPr sz="650" spc="-5" dirty="0">
                <a:latin typeface="Carlito"/>
                <a:cs typeface="Carlito"/>
              </a:rPr>
              <a:t>gás,</a:t>
            </a:r>
            <a:r>
              <a:rPr sz="650" spc="-30" dirty="0">
                <a:latin typeface="Carlito"/>
                <a:cs typeface="Carlito"/>
              </a:rPr>
              <a:t> </a:t>
            </a:r>
            <a:r>
              <a:rPr sz="650" spc="-5" dirty="0">
                <a:latin typeface="Carlito"/>
                <a:cs typeface="Carlito"/>
              </a:rPr>
              <a:t>sugerimos</a:t>
            </a:r>
            <a:r>
              <a:rPr sz="650" spc="-20" dirty="0">
                <a:latin typeface="Carlito"/>
                <a:cs typeface="Carlito"/>
              </a:rPr>
              <a:t> </a:t>
            </a:r>
            <a:r>
              <a:rPr sz="650" spc="-5" dirty="0">
                <a:latin typeface="Carlito"/>
                <a:cs typeface="Carlito"/>
              </a:rPr>
              <a:t>usar</a:t>
            </a:r>
            <a:r>
              <a:rPr sz="650" spc="-35" dirty="0">
                <a:latin typeface="Carlito"/>
                <a:cs typeface="Carlito"/>
              </a:rPr>
              <a:t> </a:t>
            </a:r>
            <a:r>
              <a:rPr sz="650" spc="-5" dirty="0">
                <a:latin typeface="Carlito"/>
                <a:cs typeface="Carlito"/>
              </a:rPr>
              <a:t>um</a:t>
            </a:r>
            <a:r>
              <a:rPr sz="650" spc="-15" dirty="0">
                <a:latin typeface="Carlito"/>
                <a:cs typeface="Carlito"/>
              </a:rPr>
              <a:t> </a:t>
            </a:r>
            <a:r>
              <a:rPr sz="650" spc="-5" dirty="0">
                <a:latin typeface="Carlito"/>
                <a:cs typeface="Carlito"/>
              </a:rPr>
              <a:t>detergente  doméstico</a:t>
            </a:r>
            <a:r>
              <a:rPr sz="650" spc="-30" dirty="0">
                <a:latin typeface="Carlito"/>
                <a:cs typeface="Carlito"/>
              </a:rPr>
              <a:t> </a:t>
            </a:r>
            <a:r>
              <a:rPr sz="650" spc="-5" dirty="0">
                <a:latin typeface="Carlito"/>
                <a:cs typeface="Carlito"/>
              </a:rPr>
              <a:t>nas</a:t>
            </a:r>
            <a:r>
              <a:rPr sz="650" spc="-30" dirty="0">
                <a:latin typeface="Carlito"/>
                <a:cs typeface="Carlito"/>
              </a:rPr>
              <a:t> </a:t>
            </a:r>
            <a:r>
              <a:rPr sz="650" spc="-5" dirty="0">
                <a:latin typeface="Carlito"/>
                <a:cs typeface="Carlito"/>
              </a:rPr>
              <a:t>bordas</a:t>
            </a:r>
            <a:r>
              <a:rPr sz="650" spc="-35" dirty="0">
                <a:latin typeface="Carlito"/>
                <a:cs typeface="Carlito"/>
              </a:rPr>
              <a:t> </a:t>
            </a:r>
            <a:r>
              <a:rPr sz="650" dirty="0">
                <a:latin typeface="Carlito"/>
                <a:cs typeface="Carlito"/>
              </a:rPr>
              <a:t>da</a:t>
            </a:r>
            <a:r>
              <a:rPr sz="650" spc="-35" dirty="0">
                <a:latin typeface="Carlito"/>
                <a:cs typeface="Carlito"/>
              </a:rPr>
              <a:t> </a:t>
            </a:r>
            <a:r>
              <a:rPr sz="650" spc="-5" dirty="0">
                <a:latin typeface="Carlito"/>
                <a:cs typeface="Carlito"/>
              </a:rPr>
              <a:t>mangueira,</a:t>
            </a:r>
            <a:r>
              <a:rPr sz="650" spc="-25" dirty="0">
                <a:latin typeface="Carlito"/>
                <a:cs typeface="Carlito"/>
              </a:rPr>
              <a:t> </a:t>
            </a:r>
            <a:r>
              <a:rPr sz="650" spc="-5" dirty="0">
                <a:latin typeface="Carlito"/>
                <a:cs typeface="Carlito"/>
              </a:rPr>
              <a:t>rosca</a:t>
            </a:r>
            <a:r>
              <a:rPr sz="650" spc="-15" dirty="0">
                <a:latin typeface="Carlito"/>
                <a:cs typeface="Carlito"/>
              </a:rPr>
              <a:t> </a:t>
            </a:r>
            <a:r>
              <a:rPr sz="650" dirty="0">
                <a:latin typeface="Carlito"/>
                <a:cs typeface="Carlito"/>
              </a:rPr>
              <a:t>da</a:t>
            </a:r>
            <a:r>
              <a:rPr sz="650" spc="-35" dirty="0">
                <a:latin typeface="Carlito"/>
                <a:cs typeface="Carlito"/>
              </a:rPr>
              <a:t> </a:t>
            </a:r>
            <a:r>
              <a:rPr sz="650" spc="-5" dirty="0">
                <a:latin typeface="Carlito"/>
                <a:cs typeface="Carlito"/>
              </a:rPr>
              <a:t>válvula</a:t>
            </a:r>
            <a:r>
              <a:rPr sz="650" spc="-15" dirty="0">
                <a:latin typeface="Carlito"/>
                <a:cs typeface="Carlito"/>
              </a:rPr>
              <a:t> </a:t>
            </a:r>
            <a:r>
              <a:rPr sz="650" spc="-5" dirty="0">
                <a:latin typeface="Carlito"/>
                <a:cs typeface="Carlito"/>
              </a:rPr>
              <a:t>e</a:t>
            </a:r>
            <a:r>
              <a:rPr sz="650" spc="-35" dirty="0">
                <a:latin typeface="Carlito"/>
                <a:cs typeface="Carlito"/>
              </a:rPr>
              <a:t> </a:t>
            </a:r>
            <a:r>
              <a:rPr sz="650" spc="-5" dirty="0">
                <a:latin typeface="Carlito"/>
                <a:cs typeface="Carlito"/>
              </a:rPr>
              <a:t>outras</a:t>
            </a:r>
            <a:r>
              <a:rPr sz="650" spc="-30" dirty="0">
                <a:latin typeface="Carlito"/>
                <a:cs typeface="Carlito"/>
              </a:rPr>
              <a:t> </a:t>
            </a:r>
            <a:r>
              <a:rPr sz="650" dirty="0">
                <a:latin typeface="Carlito"/>
                <a:cs typeface="Carlito"/>
              </a:rPr>
              <a:t>junções.  </a:t>
            </a:r>
            <a:r>
              <a:rPr sz="650" spc="-5" dirty="0">
                <a:latin typeface="Carlito"/>
                <a:cs typeface="Carlito"/>
              </a:rPr>
              <a:t>Se surgirem bolhas </a:t>
            </a:r>
            <a:r>
              <a:rPr sz="650" dirty="0">
                <a:latin typeface="Carlito"/>
                <a:cs typeface="Carlito"/>
              </a:rPr>
              <a:t>no </a:t>
            </a:r>
            <a:r>
              <a:rPr sz="650" spc="-5" dirty="0">
                <a:latin typeface="Carlito"/>
                <a:cs typeface="Carlito"/>
              </a:rPr>
              <a:t>detergente, é preciso ajustar e testar  novamente até ter certeza </a:t>
            </a:r>
            <a:r>
              <a:rPr sz="650" dirty="0">
                <a:latin typeface="Carlito"/>
                <a:cs typeface="Carlito"/>
              </a:rPr>
              <a:t>da </a:t>
            </a:r>
            <a:r>
              <a:rPr sz="650" spc="-5" dirty="0">
                <a:latin typeface="Carlito"/>
                <a:cs typeface="Carlito"/>
              </a:rPr>
              <a:t>eliminação </a:t>
            </a:r>
            <a:r>
              <a:rPr sz="650" dirty="0">
                <a:latin typeface="Carlito"/>
                <a:cs typeface="Carlito"/>
              </a:rPr>
              <a:t>do </a:t>
            </a:r>
            <a:r>
              <a:rPr sz="650" spc="-5" dirty="0">
                <a:latin typeface="Carlito"/>
                <a:cs typeface="Carlito"/>
              </a:rPr>
              <a:t>vazamento. </a:t>
            </a:r>
            <a:r>
              <a:rPr sz="650" spc="-10" dirty="0">
                <a:latin typeface="Carlito"/>
                <a:cs typeface="Carlito"/>
              </a:rPr>
              <a:t>Na </a:t>
            </a:r>
            <a:r>
              <a:rPr sz="650" dirty="0">
                <a:latin typeface="Carlito"/>
                <a:cs typeface="Carlito"/>
              </a:rPr>
              <a:t>dúvida,  </a:t>
            </a:r>
            <a:r>
              <a:rPr sz="650" spc="-5" dirty="0">
                <a:latin typeface="Carlito"/>
                <a:cs typeface="Carlito"/>
              </a:rPr>
              <a:t>consulte um técnico autorizado. Também é indispensável manter o  equipamento afastado das paredes e de objetos inflamáveis.  </a:t>
            </a:r>
            <a:r>
              <a:rPr sz="650" b="1" spc="-5" dirty="0">
                <a:latin typeface="Carlito"/>
                <a:cs typeface="Carlito"/>
              </a:rPr>
              <a:t>IMPORTANTE: </a:t>
            </a:r>
            <a:r>
              <a:rPr sz="650" spc="-10" dirty="0">
                <a:latin typeface="Carlito"/>
                <a:cs typeface="Carlito"/>
              </a:rPr>
              <a:t>Não</a:t>
            </a:r>
            <a:r>
              <a:rPr sz="650" spc="135" dirty="0">
                <a:latin typeface="Carlito"/>
                <a:cs typeface="Carlito"/>
              </a:rPr>
              <a:t> </a:t>
            </a:r>
            <a:r>
              <a:rPr sz="650" spc="-5" dirty="0">
                <a:latin typeface="Carlito"/>
                <a:cs typeface="Carlito"/>
              </a:rPr>
              <a:t>instale o produto em locais com sujeitos a  correntes </a:t>
            </a:r>
            <a:r>
              <a:rPr sz="650" dirty="0">
                <a:latin typeface="Carlito"/>
                <a:cs typeface="Carlito"/>
              </a:rPr>
              <a:t>de </a:t>
            </a:r>
            <a:r>
              <a:rPr sz="650" spc="-5" dirty="0">
                <a:latin typeface="Carlito"/>
                <a:cs typeface="Carlito"/>
              </a:rPr>
              <a:t>ar para evitar o apagamento das chamas. Respeite o  afastamento mínimo de 10 cm de paredes ou objetos inflamáveis.  </a:t>
            </a:r>
            <a:r>
              <a:rPr sz="650" b="1" spc="-5" dirty="0">
                <a:latin typeface="Carlito"/>
                <a:cs typeface="Carlito"/>
              </a:rPr>
              <a:t>ATENÇÃO: </a:t>
            </a:r>
            <a:r>
              <a:rPr sz="650" spc="-5" dirty="0">
                <a:latin typeface="Carlito"/>
                <a:cs typeface="Carlito"/>
              </a:rPr>
              <a:t>Sempre </a:t>
            </a:r>
            <a:r>
              <a:rPr sz="650" dirty="0">
                <a:latin typeface="Carlito"/>
                <a:cs typeface="Carlito"/>
              </a:rPr>
              <a:t>que </a:t>
            </a:r>
            <a:r>
              <a:rPr sz="650" spc="-5" dirty="0">
                <a:latin typeface="Carlito"/>
                <a:cs typeface="Carlito"/>
              </a:rPr>
              <a:t>for realizada a limpeza </a:t>
            </a:r>
            <a:r>
              <a:rPr sz="650" dirty="0">
                <a:latin typeface="Carlito"/>
                <a:cs typeface="Carlito"/>
              </a:rPr>
              <a:t>da chapa deve-se,  </a:t>
            </a:r>
            <a:r>
              <a:rPr sz="650" spc="-5" dirty="0">
                <a:latin typeface="Carlito"/>
                <a:cs typeface="Carlito"/>
              </a:rPr>
              <a:t>primeiramente, aguardar até </a:t>
            </a:r>
            <a:r>
              <a:rPr sz="650" dirty="0">
                <a:latin typeface="Carlito"/>
                <a:cs typeface="Carlito"/>
              </a:rPr>
              <a:t>que </a:t>
            </a:r>
            <a:r>
              <a:rPr sz="650" spc="-5" dirty="0">
                <a:latin typeface="Carlito"/>
                <a:cs typeface="Carlito"/>
              </a:rPr>
              <a:t>a mesma esteja em temperatura  ambiente, pois o contato </a:t>
            </a:r>
            <a:r>
              <a:rPr sz="650" dirty="0">
                <a:latin typeface="Carlito"/>
                <a:cs typeface="Carlito"/>
              </a:rPr>
              <a:t>da </a:t>
            </a:r>
            <a:r>
              <a:rPr sz="650" spc="-5" dirty="0">
                <a:latin typeface="Carlito"/>
                <a:cs typeface="Carlito"/>
              </a:rPr>
              <a:t>água com a superfície </a:t>
            </a:r>
            <a:r>
              <a:rPr sz="650" dirty="0">
                <a:latin typeface="Carlito"/>
                <a:cs typeface="Carlito"/>
              </a:rPr>
              <a:t>aquecida </a:t>
            </a:r>
            <a:r>
              <a:rPr sz="650" spc="-5" dirty="0">
                <a:latin typeface="Carlito"/>
                <a:cs typeface="Carlito"/>
              </a:rPr>
              <a:t>poderá  resultar o empenamento da chapa, ocorrendo danos ao </a:t>
            </a:r>
            <a:r>
              <a:rPr sz="650" dirty="0">
                <a:latin typeface="Carlito"/>
                <a:cs typeface="Carlito"/>
              </a:rPr>
              <a:t>equipamento  </a:t>
            </a:r>
            <a:r>
              <a:rPr sz="650" spc="-5" dirty="0">
                <a:latin typeface="Carlito"/>
                <a:cs typeface="Carlito"/>
              </a:rPr>
              <a:t>e perda da</a:t>
            </a:r>
            <a:r>
              <a:rPr sz="650" dirty="0">
                <a:latin typeface="Carlito"/>
                <a:cs typeface="Carlito"/>
              </a:rPr>
              <a:t> </a:t>
            </a:r>
            <a:r>
              <a:rPr sz="650" spc="-5" dirty="0" err="1">
                <a:latin typeface="Carlito"/>
                <a:cs typeface="Carlito"/>
              </a:rPr>
              <a:t>garantia</a:t>
            </a:r>
            <a:r>
              <a:rPr lang="pt-BR" sz="650" spc="-5" dirty="0">
                <a:latin typeface="Carlito"/>
                <a:cs typeface="Carlito"/>
              </a:rPr>
              <a:t>;</a:t>
            </a:r>
            <a:endParaRPr sz="650" dirty="0">
              <a:latin typeface="Carlito"/>
              <a:cs typeface="Carlito"/>
            </a:endParaRPr>
          </a:p>
          <a:p>
            <a:pPr marL="12700">
              <a:lnSpc>
                <a:spcPct val="100000"/>
              </a:lnSpc>
              <a:spcBef>
                <a:spcPts val="25"/>
              </a:spcBef>
            </a:pPr>
            <a:r>
              <a:rPr lang="pt-BR" sz="650" b="1" spc="-5" dirty="0">
                <a:latin typeface="Carlito"/>
                <a:cs typeface="Carlito"/>
              </a:rPr>
              <a:t>2. </a:t>
            </a:r>
            <a:r>
              <a:rPr sz="650" spc="-5" dirty="0" err="1">
                <a:latin typeface="Carlito"/>
                <a:cs typeface="Carlito"/>
              </a:rPr>
              <a:t>Instalar</a:t>
            </a:r>
            <a:r>
              <a:rPr sz="650" spc="-5" dirty="0">
                <a:latin typeface="Carlito"/>
                <a:cs typeface="Carlito"/>
              </a:rPr>
              <a:t> válvula de </a:t>
            </a:r>
            <a:r>
              <a:rPr sz="650" spc="-5" dirty="0" err="1">
                <a:latin typeface="Carlito"/>
                <a:cs typeface="Carlito"/>
              </a:rPr>
              <a:t>Baixa</a:t>
            </a:r>
            <a:r>
              <a:rPr sz="650" spc="5" dirty="0">
                <a:latin typeface="Carlito"/>
                <a:cs typeface="Carlito"/>
              </a:rPr>
              <a:t> </a:t>
            </a:r>
            <a:r>
              <a:rPr sz="650" spc="-5" dirty="0" err="1">
                <a:latin typeface="Carlito"/>
                <a:cs typeface="Carlito"/>
              </a:rPr>
              <a:t>pressão</a:t>
            </a:r>
            <a:r>
              <a:rPr lang="pt-BR" sz="650" spc="-5" dirty="0">
                <a:latin typeface="Carlito"/>
                <a:cs typeface="Carlito"/>
              </a:rPr>
              <a:t>;</a:t>
            </a:r>
            <a:endParaRPr sz="650" dirty="0">
              <a:latin typeface="Carlito"/>
              <a:cs typeface="Carlito"/>
            </a:endParaRPr>
          </a:p>
          <a:p>
            <a:pPr marL="12700" marR="10160">
              <a:lnSpc>
                <a:spcPct val="101400"/>
              </a:lnSpc>
            </a:pPr>
            <a:r>
              <a:rPr lang="pt-BR" sz="650" b="1" spc="-5" dirty="0">
                <a:latin typeface="Carlito"/>
                <a:cs typeface="Carlito"/>
              </a:rPr>
              <a:t>3. </a:t>
            </a:r>
            <a:r>
              <a:rPr sz="650" spc="-5" dirty="0" err="1">
                <a:latin typeface="Carlito"/>
                <a:cs typeface="Carlito"/>
              </a:rPr>
              <a:t>Substituir</a:t>
            </a:r>
            <a:r>
              <a:rPr sz="650" spc="-5" dirty="0">
                <a:latin typeface="Carlito"/>
                <a:cs typeface="Carlito"/>
              </a:rPr>
              <a:t> a válvula </a:t>
            </a:r>
            <a:r>
              <a:rPr sz="650" dirty="0">
                <a:latin typeface="Carlito"/>
                <a:cs typeface="Carlito"/>
              </a:rPr>
              <a:t>de </a:t>
            </a:r>
            <a:r>
              <a:rPr sz="650" spc="-5" dirty="0">
                <a:latin typeface="Carlito"/>
                <a:cs typeface="Carlito"/>
              </a:rPr>
              <a:t>acordo com a validade especificada </a:t>
            </a:r>
            <a:r>
              <a:rPr sz="650" spc="-5" dirty="0" err="1">
                <a:latin typeface="Carlito"/>
                <a:cs typeface="Carlito"/>
              </a:rPr>
              <a:t>pelo</a:t>
            </a:r>
            <a:r>
              <a:rPr sz="650" spc="-5" dirty="0">
                <a:latin typeface="Carlito"/>
                <a:cs typeface="Carlito"/>
              </a:rPr>
              <a:t>  </a:t>
            </a:r>
            <a:r>
              <a:rPr sz="650" spc="-5" dirty="0" err="1">
                <a:latin typeface="Carlito"/>
                <a:cs typeface="Carlito"/>
              </a:rPr>
              <a:t>fabricante</a:t>
            </a:r>
            <a:endParaRPr sz="650" dirty="0">
              <a:latin typeface="Carlito"/>
              <a:cs typeface="Carlito"/>
            </a:endParaRPr>
          </a:p>
          <a:p>
            <a:pPr marR="1006475" algn="ctr">
              <a:lnSpc>
                <a:spcPct val="100000"/>
              </a:lnSpc>
              <a:spcBef>
                <a:spcPts val="415"/>
              </a:spcBef>
            </a:pPr>
            <a:r>
              <a:rPr sz="650" b="1" spc="-5" dirty="0">
                <a:latin typeface="Carlito"/>
                <a:cs typeface="Carlito"/>
              </a:rPr>
              <a:t>ATENÇÃO</a:t>
            </a:r>
            <a:endParaRPr sz="650" dirty="0">
              <a:latin typeface="Carlito"/>
              <a:cs typeface="Carlito"/>
            </a:endParaRPr>
          </a:p>
          <a:p>
            <a:pPr marL="216535" marR="1224280" indent="-2540" algn="ctr">
              <a:lnSpc>
                <a:spcPts val="980"/>
              </a:lnSpc>
              <a:spcBef>
                <a:spcPts val="30"/>
              </a:spcBef>
            </a:pPr>
            <a:r>
              <a:rPr sz="650" dirty="0">
                <a:latin typeface="Carlito"/>
                <a:cs typeface="Carlito"/>
              </a:rPr>
              <a:t>A </a:t>
            </a:r>
            <a:r>
              <a:rPr sz="650" spc="-5" dirty="0">
                <a:latin typeface="Carlito"/>
                <a:cs typeface="Carlito"/>
              </a:rPr>
              <a:t>VÁLVULA DE GÁS </a:t>
            </a:r>
            <a:r>
              <a:rPr sz="650" dirty="0">
                <a:latin typeface="Carlito"/>
                <a:cs typeface="Carlito"/>
              </a:rPr>
              <a:t>NÃO  </a:t>
            </a:r>
            <a:r>
              <a:rPr sz="650" spc="-5" dirty="0">
                <a:latin typeface="Carlito"/>
                <a:cs typeface="Carlito"/>
              </a:rPr>
              <a:t>ACOMPANHA </a:t>
            </a:r>
            <a:r>
              <a:rPr sz="650" dirty="0">
                <a:latin typeface="Carlito"/>
                <a:cs typeface="Carlito"/>
              </a:rPr>
              <a:t>O</a:t>
            </a:r>
            <a:r>
              <a:rPr sz="650" spc="-60" dirty="0">
                <a:latin typeface="Carlito"/>
                <a:cs typeface="Carlito"/>
              </a:rPr>
              <a:t> </a:t>
            </a:r>
            <a:r>
              <a:rPr sz="650" dirty="0">
                <a:latin typeface="Carlito"/>
                <a:cs typeface="Carlito"/>
              </a:rPr>
              <a:t>PRODUTO</a:t>
            </a:r>
          </a:p>
        </p:txBody>
      </p:sp>
      <p:sp>
        <p:nvSpPr>
          <p:cNvPr id="27" name="object 27"/>
          <p:cNvSpPr txBox="1"/>
          <p:nvPr/>
        </p:nvSpPr>
        <p:spPr>
          <a:xfrm>
            <a:off x="5391784" y="3631870"/>
            <a:ext cx="2532380" cy="228600"/>
          </a:xfrm>
          <a:prstGeom prst="rect">
            <a:avLst/>
          </a:prstGeom>
          <a:solidFill>
            <a:srgbClr val="D9D9D9"/>
          </a:solidFill>
        </p:spPr>
        <p:txBody>
          <a:bodyPr vert="horz" wrap="square" lIns="0" tIns="53340" rIns="0" bIns="0" rtlCol="0">
            <a:spAutoFit/>
          </a:bodyPr>
          <a:lstStyle/>
          <a:p>
            <a:pPr marL="104139">
              <a:lnSpc>
                <a:spcPct val="100000"/>
              </a:lnSpc>
              <a:spcBef>
                <a:spcPts val="420"/>
              </a:spcBef>
            </a:pPr>
            <a:r>
              <a:rPr sz="800" b="1" dirty="0">
                <a:latin typeface="Carlito"/>
                <a:cs typeface="Carlito"/>
              </a:rPr>
              <a:t>4. </a:t>
            </a:r>
            <a:r>
              <a:rPr sz="800" b="1" spc="-5" dirty="0">
                <a:latin typeface="Carlito"/>
                <a:cs typeface="Carlito"/>
              </a:rPr>
              <a:t>ANTES DE USAR </a:t>
            </a:r>
            <a:r>
              <a:rPr sz="800" b="1" dirty="0">
                <a:latin typeface="Carlito"/>
                <a:cs typeface="Carlito"/>
              </a:rPr>
              <a:t>O </a:t>
            </a:r>
            <a:r>
              <a:rPr sz="800" b="1" spc="-5" dirty="0">
                <a:latin typeface="Carlito"/>
                <a:cs typeface="Carlito"/>
              </a:rPr>
              <a:t>EQUIPAMENTO </a:t>
            </a:r>
            <a:r>
              <a:rPr sz="800" b="1" dirty="0">
                <a:latin typeface="Carlito"/>
                <a:cs typeface="Carlito"/>
              </a:rPr>
              <a:t>PELA</a:t>
            </a:r>
            <a:r>
              <a:rPr sz="800" b="1" spc="-25" dirty="0">
                <a:latin typeface="Carlito"/>
                <a:cs typeface="Carlito"/>
              </a:rPr>
              <a:t> </a:t>
            </a:r>
            <a:r>
              <a:rPr sz="800" b="1" spc="-5" dirty="0">
                <a:latin typeface="Carlito"/>
                <a:cs typeface="Carlito"/>
              </a:rPr>
              <a:t>PRIMEIRA</a:t>
            </a:r>
            <a:endParaRPr sz="800" dirty="0">
              <a:latin typeface="Carlito"/>
              <a:cs typeface="Carlito"/>
            </a:endParaRPr>
          </a:p>
        </p:txBody>
      </p:sp>
      <p:sp>
        <p:nvSpPr>
          <p:cNvPr id="29" name="object 29"/>
          <p:cNvSpPr txBox="1"/>
          <p:nvPr/>
        </p:nvSpPr>
        <p:spPr>
          <a:xfrm>
            <a:off x="5363845" y="4201211"/>
            <a:ext cx="2582671" cy="371255"/>
          </a:xfrm>
          <a:prstGeom prst="rect">
            <a:avLst/>
          </a:prstGeom>
        </p:spPr>
        <p:txBody>
          <a:bodyPr vert="horz" wrap="square" lIns="0" tIns="12065" rIns="0" bIns="0" rtlCol="0">
            <a:spAutoFit/>
          </a:bodyPr>
          <a:lstStyle/>
          <a:p>
            <a:pPr marL="38100" algn="just">
              <a:lnSpc>
                <a:spcPts val="745"/>
              </a:lnSpc>
              <a:spcBef>
                <a:spcPts val="95"/>
              </a:spcBef>
            </a:pPr>
            <a:r>
              <a:rPr sz="650" b="1" dirty="0">
                <a:latin typeface="Carlito"/>
              </a:rPr>
              <a:t>LIMPEZA</a:t>
            </a:r>
            <a:r>
              <a:rPr sz="650" dirty="0">
                <a:latin typeface="Carlito"/>
              </a:rPr>
              <a:t>:  Para  a  limpeza,  prefira  uma  esponja  de  tecido  </a:t>
            </a:r>
            <a:r>
              <a:rPr sz="650" dirty="0" err="1">
                <a:latin typeface="Carlito"/>
              </a:rPr>
              <a:t>ou</a:t>
            </a:r>
            <a:r>
              <a:rPr sz="650" dirty="0">
                <a:latin typeface="Carlito"/>
              </a:rPr>
              <a:t>  </a:t>
            </a:r>
            <a:r>
              <a:rPr sz="650" dirty="0" err="1">
                <a:latin typeface="Carlito"/>
              </a:rPr>
              <a:t>plástic</a:t>
            </a:r>
            <a:r>
              <a:rPr lang="pt-BR" sz="650" dirty="0">
                <a:latin typeface="Carlito"/>
              </a:rPr>
              <a:t>o </a:t>
            </a:r>
            <a:r>
              <a:rPr sz="650" dirty="0">
                <a:latin typeface="Carlito"/>
              </a:rPr>
              <a:t>com  detergente   doméstico   neutro   e   água.   </a:t>
            </a:r>
            <a:r>
              <a:rPr sz="650" dirty="0" err="1">
                <a:latin typeface="Carlito"/>
              </a:rPr>
              <a:t>Nunca</a:t>
            </a:r>
            <a:r>
              <a:rPr sz="650" dirty="0">
                <a:latin typeface="Carlito"/>
              </a:rPr>
              <a:t>   use</a:t>
            </a:r>
            <a:r>
              <a:rPr lang="pt-BR" sz="650" dirty="0">
                <a:latin typeface="Carlito"/>
              </a:rPr>
              <a:t> </a:t>
            </a:r>
            <a:r>
              <a:rPr sz="650" dirty="0" err="1">
                <a:latin typeface="Carlito"/>
              </a:rPr>
              <a:t>materiais</a:t>
            </a:r>
            <a:r>
              <a:rPr lang="pt-BR" sz="650" dirty="0">
                <a:latin typeface="Carlito"/>
              </a:rPr>
              <a:t> pontiagudos ou produtos abrasivos. A limpeza correta é fundamental para a higiene e o perfeito funcionamento do equipamento.</a:t>
            </a:r>
          </a:p>
        </p:txBody>
      </p:sp>
      <p:sp>
        <p:nvSpPr>
          <p:cNvPr id="32" name="object 32"/>
          <p:cNvSpPr txBox="1"/>
          <p:nvPr/>
        </p:nvSpPr>
        <p:spPr>
          <a:xfrm>
            <a:off x="5391784" y="4609028"/>
            <a:ext cx="2532380" cy="228600"/>
          </a:xfrm>
          <a:prstGeom prst="rect">
            <a:avLst/>
          </a:prstGeom>
          <a:solidFill>
            <a:srgbClr val="D9D9D9"/>
          </a:solidFill>
        </p:spPr>
        <p:txBody>
          <a:bodyPr vert="horz" wrap="square" lIns="0" tIns="53975" rIns="0" bIns="0" rtlCol="0">
            <a:spAutoFit/>
          </a:bodyPr>
          <a:lstStyle/>
          <a:p>
            <a:pPr marL="104139">
              <a:lnSpc>
                <a:spcPct val="100000"/>
              </a:lnSpc>
              <a:spcBef>
                <a:spcPts val="425"/>
              </a:spcBef>
            </a:pPr>
            <a:r>
              <a:rPr sz="800" b="1" dirty="0">
                <a:latin typeface="Carlito"/>
                <a:cs typeface="Carlito"/>
              </a:rPr>
              <a:t>5. </a:t>
            </a:r>
            <a:r>
              <a:rPr sz="800" b="1" spc="-5" dirty="0">
                <a:latin typeface="Carlito"/>
                <a:cs typeface="Carlito"/>
              </a:rPr>
              <a:t>GAVETA</a:t>
            </a:r>
            <a:r>
              <a:rPr sz="800" b="1" spc="-15" dirty="0">
                <a:latin typeface="Carlito"/>
                <a:cs typeface="Carlito"/>
              </a:rPr>
              <a:t> </a:t>
            </a:r>
            <a:r>
              <a:rPr sz="800" b="1" spc="-5" dirty="0">
                <a:latin typeface="Carlito"/>
                <a:cs typeface="Carlito"/>
              </a:rPr>
              <a:t>COLETORA</a:t>
            </a:r>
            <a:endParaRPr sz="800">
              <a:latin typeface="Carlito"/>
              <a:cs typeface="Carlito"/>
            </a:endParaRPr>
          </a:p>
        </p:txBody>
      </p:sp>
      <p:grpSp>
        <p:nvGrpSpPr>
          <p:cNvPr id="35" name="object 35"/>
          <p:cNvGrpSpPr/>
          <p:nvPr/>
        </p:nvGrpSpPr>
        <p:grpSpPr>
          <a:xfrm>
            <a:off x="5389872" y="6067425"/>
            <a:ext cx="2519680" cy="215900"/>
            <a:chOff x="8056244" y="1442085"/>
            <a:chExt cx="2519680" cy="215900"/>
          </a:xfrm>
        </p:grpSpPr>
        <p:sp>
          <p:nvSpPr>
            <p:cNvPr id="36" name="object 36"/>
            <p:cNvSpPr/>
            <p:nvPr/>
          </p:nvSpPr>
          <p:spPr>
            <a:xfrm>
              <a:off x="8056244" y="1442085"/>
              <a:ext cx="2519680" cy="215900"/>
            </a:xfrm>
            <a:custGeom>
              <a:avLst/>
              <a:gdLst/>
              <a:ahLst/>
              <a:cxnLst/>
              <a:rect l="l" t="t" r="r" b="b"/>
              <a:pathLst>
                <a:path w="2519679" h="215900">
                  <a:moveTo>
                    <a:pt x="2519679" y="0"/>
                  </a:moveTo>
                  <a:lnTo>
                    <a:pt x="0" y="0"/>
                  </a:lnTo>
                  <a:lnTo>
                    <a:pt x="0" y="215900"/>
                  </a:lnTo>
                  <a:lnTo>
                    <a:pt x="2519679" y="215900"/>
                  </a:lnTo>
                  <a:lnTo>
                    <a:pt x="2519679" y="0"/>
                  </a:lnTo>
                  <a:close/>
                </a:path>
              </a:pathLst>
            </a:custGeom>
            <a:solidFill>
              <a:srgbClr val="D9D9D9"/>
            </a:solidFill>
          </p:spPr>
          <p:txBody>
            <a:bodyPr wrap="square" lIns="0" tIns="0" rIns="0" bIns="0" rtlCol="0"/>
            <a:lstStyle/>
            <a:p>
              <a:endParaRPr/>
            </a:p>
          </p:txBody>
        </p:sp>
        <p:sp>
          <p:nvSpPr>
            <p:cNvPr id="37" name="object 37"/>
            <p:cNvSpPr/>
            <p:nvPr/>
          </p:nvSpPr>
          <p:spPr>
            <a:xfrm>
              <a:off x="8056244" y="1442085"/>
              <a:ext cx="2519680" cy="215900"/>
            </a:xfrm>
            <a:custGeom>
              <a:avLst/>
              <a:gdLst/>
              <a:ahLst/>
              <a:cxnLst/>
              <a:rect l="l" t="t" r="r" b="b"/>
              <a:pathLst>
                <a:path w="2519679" h="215900">
                  <a:moveTo>
                    <a:pt x="0" y="215900"/>
                  </a:moveTo>
                  <a:lnTo>
                    <a:pt x="2519679" y="215900"/>
                  </a:lnTo>
                  <a:lnTo>
                    <a:pt x="2519679" y="0"/>
                  </a:lnTo>
                  <a:lnTo>
                    <a:pt x="0" y="0"/>
                  </a:lnTo>
                  <a:lnTo>
                    <a:pt x="0" y="215900"/>
                  </a:lnTo>
                  <a:close/>
                </a:path>
              </a:pathLst>
            </a:custGeom>
            <a:ln w="12700">
              <a:solidFill>
                <a:srgbClr val="D9D9D9"/>
              </a:solidFill>
            </a:ln>
          </p:spPr>
          <p:txBody>
            <a:bodyPr wrap="square" lIns="0" tIns="0" rIns="0" bIns="0" rtlCol="0"/>
            <a:lstStyle/>
            <a:p>
              <a:endParaRPr/>
            </a:p>
          </p:txBody>
        </p:sp>
      </p:grpSp>
      <p:sp>
        <p:nvSpPr>
          <p:cNvPr id="38" name="object 38"/>
          <p:cNvSpPr txBox="1"/>
          <p:nvPr/>
        </p:nvSpPr>
        <p:spPr>
          <a:xfrm>
            <a:off x="5450266" y="6096473"/>
            <a:ext cx="657860" cy="147955"/>
          </a:xfrm>
          <a:prstGeom prst="rect">
            <a:avLst/>
          </a:prstGeom>
        </p:spPr>
        <p:txBody>
          <a:bodyPr vert="horz" wrap="square" lIns="0" tIns="13335" rIns="0" bIns="0" rtlCol="0">
            <a:spAutoFit/>
          </a:bodyPr>
          <a:lstStyle/>
          <a:p>
            <a:pPr marL="12700">
              <a:lnSpc>
                <a:spcPct val="100000"/>
              </a:lnSpc>
              <a:spcBef>
                <a:spcPts val="105"/>
              </a:spcBef>
            </a:pPr>
            <a:r>
              <a:rPr sz="800" b="1" dirty="0">
                <a:latin typeface="Carlito"/>
                <a:cs typeface="Carlito"/>
              </a:rPr>
              <a:t>6.</a:t>
            </a:r>
            <a:r>
              <a:rPr sz="800" b="1" spc="-45" dirty="0">
                <a:latin typeface="Carlito"/>
                <a:cs typeface="Carlito"/>
              </a:rPr>
              <a:t> </a:t>
            </a:r>
            <a:r>
              <a:rPr sz="800" b="1" spc="-5" dirty="0">
                <a:latin typeface="Carlito"/>
                <a:cs typeface="Carlito"/>
              </a:rPr>
              <a:t>SEGURANÇA</a:t>
            </a:r>
            <a:endParaRPr sz="800" dirty="0">
              <a:latin typeface="Carlito"/>
              <a:cs typeface="Carlito"/>
            </a:endParaRPr>
          </a:p>
        </p:txBody>
      </p:sp>
      <p:grpSp>
        <p:nvGrpSpPr>
          <p:cNvPr id="40" name="object 40"/>
          <p:cNvGrpSpPr/>
          <p:nvPr/>
        </p:nvGrpSpPr>
        <p:grpSpPr>
          <a:xfrm>
            <a:off x="8063230" y="553340"/>
            <a:ext cx="2532380" cy="228600"/>
            <a:chOff x="8063230" y="2456053"/>
            <a:chExt cx="2532380" cy="228600"/>
          </a:xfrm>
        </p:grpSpPr>
        <p:sp>
          <p:nvSpPr>
            <p:cNvPr id="41" name="object 41"/>
            <p:cNvSpPr/>
            <p:nvPr/>
          </p:nvSpPr>
          <p:spPr>
            <a:xfrm>
              <a:off x="8069580" y="2462403"/>
              <a:ext cx="2519680" cy="215900"/>
            </a:xfrm>
            <a:custGeom>
              <a:avLst/>
              <a:gdLst/>
              <a:ahLst/>
              <a:cxnLst/>
              <a:rect l="l" t="t" r="r" b="b"/>
              <a:pathLst>
                <a:path w="2519679" h="215900">
                  <a:moveTo>
                    <a:pt x="2519679" y="0"/>
                  </a:moveTo>
                  <a:lnTo>
                    <a:pt x="0" y="0"/>
                  </a:lnTo>
                  <a:lnTo>
                    <a:pt x="0" y="215900"/>
                  </a:lnTo>
                  <a:lnTo>
                    <a:pt x="2519679" y="215900"/>
                  </a:lnTo>
                  <a:lnTo>
                    <a:pt x="2519679" y="0"/>
                  </a:lnTo>
                  <a:close/>
                </a:path>
              </a:pathLst>
            </a:custGeom>
            <a:solidFill>
              <a:srgbClr val="D9D9D9"/>
            </a:solidFill>
          </p:spPr>
          <p:txBody>
            <a:bodyPr wrap="square" lIns="0" tIns="0" rIns="0" bIns="0" rtlCol="0"/>
            <a:lstStyle/>
            <a:p>
              <a:endParaRPr/>
            </a:p>
          </p:txBody>
        </p:sp>
        <p:sp>
          <p:nvSpPr>
            <p:cNvPr id="42" name="object 42"/>
            <p:cNvSpPr/>
            <p:nvPr/>
          </p:nvSpPr>
          <p:spPr>
            <a:xfrm>
              <a:off x="8069580" y="2462403"/>
              <a:ext cx="2519680" cy="215900"/>
            </a:xfrm>
            <a:custGeom>
              <a:avLst/>
              <a:gdLst/>
              <a:ahLst/>
              <a:cxnLst/>
              <a:rect l="l" t="t" r="r" b="b"/>
              <a:pathLst>
                <a:path w="2519679" h="215900">
                  <a:moveTo>
                    <a:pt x="0" y="215900"/>
                  </a:moveTo>
                  <a:lnTo>
                    <a:pt x="2519679" y="215900"/>
                  </a:lnTo>
                  <a:lnTo>
                    <a:pt x="2519679" y="0"/>
                  </a:lnTo>
                  <a:lnTo>
                    <a:pt x="0" y="0"/>
                  </a:lnTo>
                  <a:lnTo>
                    <a:pt x="0" y="215900"/>
                  </a:lnTo>
                  <a:close/>
                </a:path>
              </a:pathLst>
            </a:custGeom>
            <a:ln w="12700">
              <a:solidFill>
                <a:srgbClr val="D9D9D9"/>
              </a:solidFill>
            </a:ln>
          </p:spPr>
          <p:txBody>
            <a:bodyPr wrap="square" lIns="0" tIns="0" rIns="0" bIns="0" rtlCol="0"/>
            <a:lstStyle/>
            <a:p>
              <a:endParaRPr/>
            </a:p>
          </p:txBody>
        </p:sp>
      </p:grpSp>
      <p:sp>
        <p:nvSpPr>
          <p:cNvPr id="43" name="object 43"/>
          <p:cNvSpPr txBox="1"/>
          <p:nvPr/>
        </p:nvSpPr>
        <p:spPr>
          <a:xfrm>
            <a:off x="8082381" y="581025"/>
            <a:ext cx="500380" cy="147955"/>
          </a:xfrm>
          <a:prstGeom prst="rect">
            <a:avLst/>
          </a:prstGeom>
        </p:spPr>
        <p:txBody>
          <a:bodyPr vert="horz" wrap="square" lIns="0" tIns="13335" rIns="0" bIns="0" rtlCol="0">
            <a:spAutoFit/>
          </a:bodyPr>
          <a:lstStyle/>
          <a:p>
            <a:pPr marL="12700">
              <a:lnSpc>
                <a:spcPct val="100000"/>
              </a:lnSpc>
              <a:spcBef>
                <a:spcPts val="105"/>
              </a:spcBef>
            </a:pPr>
            <a:r>
              <a:rPr sz="800" b="1" dirty="0">
                <a:latin typeface="Carlito"/>
                <a:cs typeface="Carlito"/>
              </a:rPr>
              <a:t>7.</a:t>
            </a:r>
            <a:r>
              <a:rPr sz="800" b="1" spc="-50" dirty="0">
                <a:latin typeface="Carlito"/>
                <a:cs typeface="Carlito"/>
              </a:rPr>
              <a:t> </a:t>
            </a:r>
            <a:r>
              <a:rPr sz="800" b="1" spc="-5" dirty="0">
                <a:latin typeface="Carlito"/>
                <a:cs typeface="Carlito"/>
              </a:rPr>
              <a:t>LIMPEZA</a:t>
            </a:r>
            <a:endParaRPr sz="800" dirty="0">
              <a:latin typeface="Carlito"/>
              <a:cs typeface="Carlito"/>
            </a:endParaRPr>
          </a:p>
        </p:txBody>
      </p:sp>
      <p:sp>
        <p:nvSpPr>
          <p:cNvPr id="44" name="object 44"/>
          <p:cNvSpPr txBox="1"/>
          <p:nvPr/>
        </p:nvSpPr>
        <p:spPr>
          <a:xfrm>
            <a:off x="8035290" y="776605"/>
            <a:ext cx="2431415" cy="512320"/>
          </a:xfrm>
          <a:prstGeom prst="rect">
            <a:avLst/>
          </a:prstGeom>
        </p:spPr>
        <p:txBody>
          <a:bodyPr vert="horz" wrap="square" lIns="0" tIns="12065" rIns="0" bIns="0" rtlCol="0">
            <a:spAutoFit/>
          </a:bodyPr>
          <a:lstStyle/>
          <a:p>
            <a:pPr indent="11113">
              <a:lnSpc>
                <a:spcPct val="100000"/>
              </a:lnSpc>
              <a:spcBef>
                <a:spcPts val="95"/>
              </a:spcBef>
              <a:buFont typeface="+mj-lt"/>
              <a:buAutoNum type="arabicPeriod"/>
              <a:tabLst>
                <a:tab pos="60325" algn="l"/>
              </a:tabLst>
            </a:pPr>
            <a:r>
              <a:rPr sz="650" spc="-5" dirty="0">
                <a:latin typeface="Carlito"/>
                <a:cs typeface="Carlito"/>
              </a:rPr>
              <a:t>Para a realização da limpeza recomenda-se a remoção da</a:t>
            </a:r>
            <a:r>
              <a:rPr sz="650" spc="95" dirty="0">
                <a:latin typeface="Carlito"/>
                <a:cs typeface="Carlito"/>
              </a:rPr>
              <a:t> </a:t>
            </a:r>
            <a:r>
              <a:rPr sz="650" spc="-5" dirty="0">
                <a:latin typeface="Carlito"/>
                <a:cs typeface="Carlito"/>
              </a:rPr>
              <a:t>prensa;</a:t>
            </a:r>
            <a:endParaRPr sz="650" dirty="0">
              <a:latin typeface="Carlito"/>
              <a:cs typeface="Carlito"/>
            </a:endParaRPr>
          </a:p>
          <a:p>
            <a:pPr indent="11113">
              <a:lnSpc>
                <a:spcPct val="100000"/>
              </a:lnSpc>
              <a:spcBef>
                <a:spcPts val="10"/>
              </a:spcBef>
              <a:buFont typeface="+mj-lt"/>
              <a:buAutoNum type="arabicPeriod"/>
              <a:tabLst>
                <a:tab pos="60325" algn="l"/>
              </a:tabLst>
            </a:pPr>
            <a:r>
              <a:rPr sz="650" spc="-5" dirty="0">
                <a:latin typeface="Carlito"/>
                <a:cs typeface="Carlito"/>
              </a:rPr>
              <a:t>Evitando assim, o risco </a:t>
            </a:r>
            <a:r>
              <a:rPr sz="650" dirty="0">
                <a:latin typeface="Carlito"/>
                <a:cs typeface="Carlito"/>
              </a:rPr>
              <a:t>de </a:t>
            </a:r>
            <a:r>
              <a:rPr sz="650" spc="-5" dirty="0">
                <a:latin typeface="Carlito"/>
                <a:cs typeface="Carlito"/>
              </a:rPr>
              <a:t>a mesma fechar e ocasionar</a:t>
            </a:r>
            <a:r>
              <a:rPr sz="650" spc="105" dirty="0">
                <a:latin typeface="Carlito"/>
                <a:cs typeface="Carlito"/>
              </a:rPr>
              <a:t> </a:t>
            </a:r>
            <a:r>
              <a:rPr sz="650" spc="-5" dirty="0">
                <a:latin typeface="Carlito"/>
                <a:cs typeface="Carlito"/>
              </a:rPr>
              <a:t>acidentes;</a:t>
            </a:r>
            <a:endParaRPr sz="650" dirty="0">
              <a:latin typeface="Carlito"/>
              <a:cs typeface="Carlito"/>
            </a:endParaRPr>
          </a:p>
          <a:p>
            <a:pPr indent="11113">
              <a:lnSpc>
                <a:spcPct val="100000"/>
              </a:lnSpc>
              <a:spcBef>
                <a:spcPts val="25"/>
              </a:spcBef>
              <a:buFont typeface="+mj-lt"/>
              <a:buAutoNum type="arabicPeriod"/>
              <a:tabLst>
                <a:tab pos="60325" algn="l"/>
              </a:tabLst>
            </a:pPr>
            <a:r>
              <a:rPr sz="650" spc="-5" dirty="0">
                <a:latin typeface="Carlito"/>
                <a:cs typeface="Carlito"/>
              </a:rPr>
              <a:t>Utilize detergente doméstico</a:t>
            </a:r>
            <a:r>
              <a:rPr sz="650" spc="10" dirty="0">
                <a:latin typeface="Carlito"/>
                <a:cs typeface="Carlito"/>
              </a:rPr>
              <a:t> </a:t>
            </a:r>
            <a:r>
              <a:rPr sz="650" spc="-5" dirty="0">
                <a:latin typeface="Carlito"/>
                <a:cs typeface="Carlito"/>
              </a:rPr>
              <a:t>neutro;</a:t>
            </a:r>
            <a:endParaRPr sz="650" dirty="0">
              <a:latin typeface="Carlito"/>
              <a:cs typeface="Carlito"/>
            </a:endParaRPr>
          </a:p>
          <a:p>
            <a:pPr indent="11113">
              <a:lnSpc>
                <a:spcPct val="100000"/>
              </a:lnSpc>
              <a:spcBef>
                <a:spcPts val="15"/>
              </a:spcBef>
              <a:buFont typeface="+mj-lt"/>
              <a:buAutoNum type="arabicPeriod"/>
              <a:tabLst>
                <a:tab pos="60325" algn="l"/>
              </a:tabLst>
            </a:pPr>
            <a:r>
              <a:rPr sz="650" spc="-10" dirty="0">
                <a:latin typeface="Carlito"/>
                <a:cs typeface="Carlito"/>
              </a:rPr>
              <a:t>Não </a:t>
            </a:r>
            <a:r>
              <a:rPr sz="650" spc="-5" dirty="0">
                <a:latin typeface="Carlito"/>
                <a:cs typeface="Carlito"/>
              </a:rPr>
              <a:t>utilizar produtos à base </a:t>
            </a:r>
            <a:r>
              <a:rPr sz="650" dirty="0">
                <a:latin typeface="Carlito"/>
                <a:cs typeface="Carlito"/>
              </a:rPr>
              <a:t>de</a:t>
            </a:r>
            <a:r>
              <a:rPr sz="650" spc="20" dirty="0">
                <a:latin typeface="Carlito"/>
                <a:cs typeface="Carlito"/>
              </a:rPr>
              <a:t> </a:t>
            </a:r>
            <a:r>
              <a:rPr sz="650" spc="-5" dirty="0">
                <a:latin typeface="Carlito"/>
                <a:cs typeface="Carlito"/>
              </a:rPr>
              <a:t>álcool;</a:t>
            </a:r>
            <a:endParaRPr sz="650" dirty="0">
              <a:latin typeface="Carlito"/>
              <a:cs typeface="Carlito"/>
            </a:endParaRPr>
          </a:p>
          <a:p>
            <a:pPr indent="11113">
              <a:lnSpc>
                <a:spcPct val="100000"/>
              </a:lnSpc>
              <a:spcBef>
                <a:spcPts val="10"/>
              </a:spcBef>
              <a:buFont typeface="+mj-lt"/>
              <a:buAutoNum type="arabicPeriod"/>
              <a:tabLst>
                <a:tab pos="60325" algn="l"/>
              </a:tabLst>
            </a:pPr>
            <a:r>
              <a:rPr sz="650" spc="-10" dirty="0">
                <a:latin typeface="Carlito"/>
                <a:cs typeface="Carlito"/>
              </a:rPr>
              <a:t>Não </a:t>
            </a:r>
            <a:r>
              <a:rPr sz="650" spc="-5" dirty="0">
                <a:latin typeface="Carlito"/>
                <a:cs typeface="Carlito"/>
              </a:rPr>
              <a:t>utilizar materiais pontiagudos ou </a:t>
            </a:r>
            <a:r>
              <a:rPr sz="650" spc="-5" dirty="0" err="1">
                <a:latin typeface="Carlito"/>
                <a:cs typeface="Carlito"/>
              </a:rPr>
              <a:t>produtos</a:t>
            </a:r>
            <a:r>
              <a:rPr sz="650" spc="45" dirty="0">
                <a:latin typeface="Carlito"/>
                <a:cs typeface="Carlito"/>
              </a:rPr>
              <a:t> </a:t>
            </a:r>
            <a:r>
              <a:rPr sz="650" spc="-5" dirty="0" err="1">
                <a:latin typeface="Carlito"/>
                <a:cs typeface="Carlito"/>
              </a:rPr>
              <a:t>abrasivos</a:t>
            </a:r>
            <a:r>
              <a:rPr lang="pt-BR" sz="650" spc="-5" dirty="0">
                <a:latin typeface="Carlito"/>
                <a:cs typeface="Carlito"/>
              </a:rPr>
              <a:t>.</a:t>
            </a:r>
            <a:endParaRPr sz="650" dirty="0">
              <a:latin typeface="Carlito"/>
              <a:cs typeface="Carlito"/>
            </a:endParaRPr>
          </a:p>
        </p:txBody>
      </p:sp>
      <p:sp>
        <p:nvSpPr>
          <p:cNvPr id="45" name="object 45"/>
          <p:cNvSpPr txBox="1"/>
          <p:nvPr/>
        </p:nvSpPr>
        <p:spPr>
          <a:xfrm>
            <a:off x="5367909" y="4848225"/>
            <a:ext cx="2600325" cy="854529"/>
          </a:xfrm>
          <a:prstGeom prst="rect">
            <a:avLst/>
          </a:prstGeom>
        </p:spPr>
        <p:txBody>
          <a:bodyPr vert="horz" wrap="square" lIns="0" tIns="10795" rIns="0" bIns="0" rtlCol="0">
            <a:spAutoFit/>
          </a:bodyPr>
          <a:lstStyle/>
          <a:p>
            <a:pPr marL="12700" marR="5080" algn="just">
              <a:lnSpc>
                <a:spcPct val="101400"/>
              </a:lnSpc>
              <a:spcBef>
                <a:spcPts val="85"/>
              </a:spcBef>
            </a:pPr>
            <a:r>
              <a:rPr lang="pt-BR" sz="650" b="1" spc="-5" dirty="0">
                <a:latin typeface="Carlito"/>
                <a:cs typeface="Carlito"/>
              </a:rPr>
              <a:t>1 </a:t>
            </a:r>
            <a:r>
              <a:rPr sz="650" spc="-5" dirty="0">
                <a:latin typeface="Carlito"/>
                <a:cs typeface="Carlito"/>
              </a:rPr>
              <a:t>A </a:t>
            </a:r>
            <a:r>
              <a:rPr sz="650" dirty="0">
                <a:latin typeface="Carlito"/>
                <a:cs typeface="Carlito"/>
              </a:rPr>
              <a:t>Só </a:t>
            </a:r>
            <a:r>
              <a:rPr sz="650" spc="-5" dirty="0">
                <a:latin typeface="Carlito"/>
                <a:cs typeface="Carlito"/>
              </a:rPr>
              <a:t>aço industrial, </a:t>
            </a:r>
            <a:r>
              <a:rPr sz="650" dirty="0">
                <a:latin typeface="Carlito"/>
                <a:cs typeface="Carlito"/>
              </a:rPr>
              <a:t>pensando </a:t>
            </a:r>
            <a:r>
              <a:rPr sz="650" spc="-5" dirty="0">
                <a:latin typeface="Carlito"/>
                <a:cs typeface="Carlito"/>
              </a:rPr>
              <a:t>em levar melhorias para os nossos  clientes,</a:t>
            </a:r>
            <a:r>
              <a:rPr sz="650" spc="-15" dirty="0">
                <a:latin typeface="Carlito"/>
                <a:cs typeface="Carlito"/>
              </a:rPr>
              <a:t> </a:t>
            </a:r>
            <a:r>
              <a:rPr sz="650" spc="-5" dirty="0">
                <a:latin typeface="Carlito"/>
                <a:cs typeface="Carlito"/>
              </a:rPr>
              <a:t>trouxe</a:t>
            </a:r>
            <a:r>
              <a:rPr sz="650" spc="-25" dirty="0">
                <a:latin typeface="Carlito"/>
                <a:cs typeface="Carlito"/>
              </a:rPr>
              <a:t> </a:t>
            </a:r>
            <a:r>
              <a:rPr sz="650" spc="-5" dirty="0">
                <a:latin typeface="Carlito"/>
                <a:cs typeface="Carlito"/>
              </a:rPr>
              <a:t>uma solução</a:t>
            </a:r>
            <a:r>
              <a:rPr sz="650" spc="-15" dirty="0">
                <a:latin typeface="Carlito"/>
                <a:cs typeface="Carlito"/>
              </a:rPr>
              <a:t> </a:t>
            </a:r>
            <a:r>
              <a:rPr sz="650" spc="-5" dirty="0">
                <a:latin typeface="Carlito"/>
                <a:cs typeface="Carlito"/>
              </a:rPr>
              <a:t>rápida</a:t>
            </a:r>
            <a:r>
              <a:rPr sz="650" spc="-20" dirty="0">
                <a:latin typeface="Carlito"/>
                <a:cs typeface="Carlito"/>
              </a:rPr>
              <a:t> </a:t>
            </a:r>
            <a:r>
              <a:rPr sz="650" spc="-5" dirty="0">
                <a:latin typeface="Carlito"/>
                <a:cs typeface="Carlito"/>
              </a:rPr>
              <a:t>e</a:t>
            </a:r>
            <a:r>
              <a:rPr sz="650" spc="-20" dirty="0">
                <a:latin typeface="Carlito"/>
                <a:cs typeface="Carlito"/>
              </a:rPr>
              <a:t> </a:t>
            </a:r>
            <a:r>
              <a:rPr sz="650" spc="-5" dirty="0">
                <a:latin typeface="Carlito"/>
                <a:cs typeface="Carlito"/>
              </a:rPr>
              <a:t>prática</a:t>
            </a:r>
            <a:r>
              <a:rPr sz="650" spc="-15" dirty="0">
                <a:latin typeface="Carlito"/>
                <a:cs typeface="Carlito"/>
              </a:rPr>
              <a:t> </a:t>
            </a:r>
            <a:r>
              <a:rPr sz="650" spc="-5" dirty="0">
                <a:latin typeface="Carlito"/>
                <a:cs typeface="Carlito"/>
              </a:rPr>
              <a:t>para</a:t>
            </a:r>
            <a:r>
              <a:rPr sz="650" spc="-20" dirty="0">
                <a:latin typeface="Carlito"/>
                <a:cs typeface="Carlito"/>
              </a:rPr>
              <a:t> </a:t>
            </a:r>
            <a:r>
              <a:rPr sz="650" spc="-5" dirty="0">
                <a:latin typeface="Carlito"/>
                <a:cs typeface="Carlito"/>
              </a:rPr>
              <a:t>a</a:t>
            </a:r>
            <a:r>
              <a:rPr sz="650" spc="-15" dirty="0">
                <a:latin typeface="Carlito"/>
                <a:cs typeface="Carlito"/>
              </a:rPr>
              <a:t> </a:t>
            </a:r>
            <a:r>
              <a:rPr sz="650" dirty="0">
                <a:latin typeface="Carlito"/>
                <a:cs typeface="Carlito"/>
              </a:rPr>
              <a:t>remoção</a:t>
            </a:r>
            <a:r>
              <a:rPr sz="650" spc="-20" dirty="0">
                <a:latin typeface="Carlito"/>
                <a:cs typeface="Carlito"/>
              </a:rPr>
              <a:t> </a:t>
            </a:r>
            <a:r>
              <a:rPr sz="650" spc="-5" dirty="0">
                <a:latin typeface="Carlito"/>
                <a:cs typeface="Carlito"/>
              </a:rPr>
              <a:t>das</a:t>
            </a:r>
            <a:r>
              <a:rPr sz="650" spc="-15" dirty="0">
                <a:latin typeface="Carlito"/>
                <a:cs typeface="Carlito"/>
              </a:rPr>
              <a:t> </a:t>
            </a:r>
            <a:r>
              <a:rPr sz="650" spc="-5" dirty="0">
                <a:latin typeface="Carlito"/>
                <a:cs typeface="Carlito"/>
              </a:rPr>
              <a:t>sobras  </a:t>
            </a:r>
            <a:r>
              <a:rPr sz="650" dirty="0">
                <a:latin typeface="Carlito"/>
                <a:cs typeface="Carlito"/>
              </a:rPr>
              <a:t>de </a:t>
            </a:r>
            <a:r>
              <a:rPr sz="650" spc="-5" dirty="0">
                <a:latin typeface="Carlito"/>
                <a:cs typeface="Carlito"/>
              </a:rPr>
              <a:t>óleo utilizado nas frituras, através da gaveta coletora de</a:t>
            </a:r>
            <a:r>
              <a:rPr sz="650" spc="60" dirty="0">
                <a:latin typeface="Carlito"/>
                <a:cs typeface="Carlito"/>
              </a:rPr>
              <a:t> </a:t>
            </a:r>
            <a:r>
              <a:rPr sz="650" dirty="0">
                <a:latin typeface="Carlito"/>
                <a:cs typeface="Carlito"/>
              </a:rPr>
              <a:t>res</a:t>
            </a:r>
            <a:r>
              <a:rPr lang="pt-BR" sz="650" dirty="0">
                <a:latin typeface="Carlito"/>
                <a:cs typeface="Carlito"/>
              </a:rPr>
              <a:t>í</a:t>
            </a:r>
            <a:r>
              <a:rPr sz="650" dirty="0">
                <a:latin typeface="Carlito"/>
                <a:cs typeface="Carlito"/>
              </a:rPr>
              <a:t>du</a:t>
            </a:r>
            <a:r>
              <a:rPr lang="pt-BR" sz="650" dirty="0">
                <a:latin typeface="Carlito"/>
                <a:cs typeface="Carlito"/>
              </a:rPr>
              <a:t>os.</a:t>
            </a:r>
          </a:p>
          <a:p>
            <a:pPr marL="12700" marR="5080" algn="just">
              <a:lnSpc>
                <a:spcPct val="101400"/>
              </a:lnSpc>
              <a:spcBef>
                <a:spcPts val="85"/>
              </a:spcBef>
            </a:pPr>
            <a:r>
              <a:rPr lang="pt-BR" sz="650" spc="-5" dirty="0">
                <a:latin typeface="Carlito"/>
                <a:cs typeface="Carlito"/>
              </a:rPr>
              <a:t>Dessa forma o cliente deve direcionar o </a:t>
            </a:r>
            <a:r>
              <a:rPr lang="pt-BR" sz="650" dirty="0">
                <a:latin typeface="Carlito"/>
                <a:cs typeface="Carlito"/>
              </a:rPr>
              <a:t>óleo </a:t>
            </a:r>
            <a:r>
              <a:rPr lang="pt-BR" sz="650" spc="-5" dirty="0">
                <a:latin typeface="Carlito"/>
                <a:cs typeface="Carlito"/>
              </a:rPr>
              <a:t>para o local </a:t>
            </a:r>
            <a:r>
              <a:rPr lang="pt-BR" sz="650" dirty="0">
                <a:latin typeface="Carlito"/>
                <a:cs typeface="Carlito"/>
              </a:rPr>
              <a:t>de despejo </a:t>
            </a:r>
            <a:r>
              <a:rPr lang="pt-BR" sz="650" spc="-5" dirty="0">
                <a:latin typeface="Carlito"/>
                <a:cs typeface="Carlito"/>
              </a:rPr>
              <a:t>e  em seguida remover a gaveta para </a:t>
            </a:r>
            <a:r>
              <a:rPr lang="pt-BR" sz="650" dirty="0">
                <a:latin typeface="Carlito"/>
                <a:cs typeface="Carlito"/>
              </a:rPr>
              <a:t>realizar </a:t>
            </a:r>
            <a:r>
              <a:rPr lang="pt-BR" sz="650" spc="-5" dirty="0">
                <a:latin typeface="Carlito"/>
                <a:cs typeface="Carlito"/>
              </a:rPr>
              <a:t>o descarte</a:t>
            </a:r>
            <a:r>
              <a:rPr lang="pt-BR" sz="650" spc="-20" dirty="0">
                <a:latin typeface="Carlito"/>
                <a:cs typeface="Carlito"/>
              </a:rPr>
              <a:t> </a:t>
            </a:r>
            <a:r>
              <a:rPr lang="pt-BR" sz="650" spc="-5" dirty="0">
                <a:latin typeface="Carlito"/>
                <a:cs typeface="Carlito"/>
              </a:rPr>
              <a:t>adequado </a:t>
            </a:r>
            <a:r>
              <a:rPr lang="pt-BR" sz="650" dirty="0">
                <a:latin typeface="Carlito"/>
                <a:cs typeface="Carlito"/>
              </a:rPr>
              <a:t>do </a:t>
            </a:r>
            <a:r>
              <a:rPr lang="pt-BR" sz="650" spc="-5" dirty="0">
                <a:latin typeface="Carlito"/>
                <a:cs typeface="Carlito"/>
              </a:rPr>
              <a:t>óleo e</a:t>
            </a:r>
            <a:r>
              <a:rPr lang="pt-BR" sz="650" spc="-35" dirty="0">
                <a:latin typeface="Carlito"/>
                <a:cs typeface="Carlito"/>
              </a:rPr>
              <a:t> </a:t>
            </a:r>
            <a:r>
              <a:rPr lang="pt-BR" sz="650" spc="-5" dirty="0">
                <a:latin typeface="Carlito"/>
                <a:cs typeface="Carlito"/>
              </a:rPr>
              <a:t>resíduos.</a:t>
            </a:r>
            <a:endParaRPr lang="pt-BR" sz="650" dirty="0">
              <a:latin typeface="Carlito"/>
              <a:cs typeface="Carlito"/>
            </a:endParaRPr>
          </a:p>
          <a:p>
            <a:pPr marL="12700" marR="5080" algn="just">
              <a:lnSpc>
                <a:spcPct val="101400"/>
              </a:lnSpc>
              <a:spcBef>
                <a:spcPts val="85"/>
              </a:spcBef>
            </a:pPr>
            <a:endParaRPr lang="pt-BR" sz="650" dirty="0">
              <a:latin typeface="Carlito"/>
              <a:cs typeface="Carlito"/>
            </a:endParaRPr>
          </a:p>
          <a:p>
            <a:pPr marL="12700" marR="5080" algn="just">
              <a:lnSpc>
                <a:spcPct val="101400"/>
              </a:lnSpc>
              <a:spcBef>
                <a:spcPts val="85"/>
              </a:spcBef>
            </a:pPr>
            <a:endParaRPr sz="650" dirty="0">
              <a:latin typeface="Carlito"/>
              <a:cs typeface="Carlito"/>
            </a:endParaRPr>
          </a:p>
        </p:txBody>
      </p:sp>
      <p:sp>
        <p:nvSpPr>
          <p:cNvPr id="46" name="object 46"/>
          <p:cNvSpPr/>
          <p:nvPr/>
        </p:nvSpPr>
        <p:spPr>
          <a:xfrm>
            <a:off x="6302882" y="5381625"/>
            <a:ext cx="623570" cy="723061"/>
          </a:xfrm>
          <a:prstGeom prst="rect">
            <a:avLst/>
          </a:prstGeom>
          <a:blipFill>
            <a:blip r:embed="rId7" cstate="print"/>
            <a:stretch>
              <a:fillRect/>
            </a:stretch>
          </a:blipFill>
        </p:spPr>
        <p:txBody>
          <a:bodyPr wrap="square" lIns="0" tIns="0" rIns="0" bIns="0" rtlCol="0"/>
          <a:lstStyle/>
          <a:p>
            <a:endParaRPr/>
          </a:p>
        </p:txBody>
      </p:sp>
      <p:sp>
        <p:nvSpPr>
          <p:cNvPr id="47" name="object 47"/>
          <p:cNvSpPr txBox="1"/>
          <p:nvPr/>
        </p:nvSpPr>
        <p:spPr>
          <a:xfrm>
            <a:off x="5390388" y="5544236"/>
            <a:ext cx="552450" cy="395605"/>
          </a:xfrm>
          <a:prstGeom prst="rect">
            <a:avLst/>
          </a:prstGeom>
          <a:ln w="9525">
            <a:solidFill>
              <a:srgbClr val="000000"/>
            </a:solidFill>
          </a:ln>
        </p:spPr>
        <p:txBody>
          <a:bodyPr vert="horz" wrap="square" lIns="0" tIns="40005" rIns="0" bIns="0" rtlCol="0">
            <a:spAutoFit/>
          </a:bodyPr>
          <a:lstStyle/>
          <a:p>
            <a:pPr marL="100965" marR="92710" indent="1270" algn="ctr">
              <a:lnSpc>
                <a:spcPct val="102499"/>
              </a:lnSpc>
              <a:spcBef>
                <a:spcPts val="315"/>
              </a:spcBef>
            </a:pPr>
            <a:r>
              <a:rPr sz="600" dirty="0">
                <a:latin typeface="Carlito"/>
                <a:cs typeface="Carlito"/>
              </a:rPr>
              <a:t>Gaveta  </a:t>
            </a:r>
            <a:r>
              <a:rPr sz="600" spc="-5" dirty="0">
                <a:latin typeface="Carlito"/>
                <a:cs typeface="Carlito"/>
              </a:rPr>
              <a:t>coletora</a:t>
            </a:r>
            <a:r>
              <a:rPr sz="600" spc="-75" dirty="0">
                <a:latin typeface="Carlito"/>
                <a:cs typeface="Carlito"/>
              </a:rPr>
              <a:t> </a:t>
            </a:r>
            <a:r>
              <a:rPr sz="600" spc="-5" dirty="0">
                <a:latin typeface="Carlito"/>
                <a:cs typeface="Carlito"/>
              </a:rPr>
              <a:t>de </a:t>
            </a:r>
            <a:r>
              <a:rPr sz="600" dirty="0">
                <a:latin typeface="Carlito"/>
                <a:cs typeface="Carlito"/>
              </a:rPr>
              <a:t> </a:t>
            </a:r>
            <a:r>
              <a:rPr sz="600" spc="-5" dirty="0">
                <a:latin typeface="Carlito"/>
                <a:cs typeface="Carlito"/>
              </a:rPr>
              <a:t>resíduos</a:t>
            </a:r>
            <a:endParaRPr sz="600" dirty="0">
              <a:latin typeface="Carlito"/>
              <a:cs typeface="Carlito"/>
            </a:endParaRPr>
          </a:p>
        </p:txBody>
      </p:sp>
      <p:sp>
        <p:nvSpPr>
          <p:cNvPr id="48" name="object 48"/>
          <p:cNvSpPr txBox="1"/>
          <p:nvPr/>
        </p:nvSpPr>
        <p:spPr>
          <a:xfrm>
            <a:off x="7228713" y="5412156"/>
            <a:ext cx="719455" cy="272415"/>
          </a:xfrm>
          <a:prstGeom prst="rect">
            <a:avLst/>
          </a:prstGeom>
          <a:ln w="9525">
            <a:solidFill>
              <a:srgbClr val="000000"/>
            </a:solidFill>
          </a:ln>
        </p:spPr>
        <p:txBody>
          <a:bodyPr vert="horz" wrap="square" lIns="0" tIns="41910" rIns="0" bIns="0" rtlCol="0">
            <a:spAutoFit/>
          </a:bodyPr>
          <a:lstStyle/>
          <a:p>
            <a:pPr marL="181610" marR="94615" indent="-79375">
              <a:lnSpc>
                <a:spcPct val="101699"/>
              </a:lnSpc>
              <a:spcBef>
                <a:spcPts val="330"/>
              </a:spcBef>
            </a:pPr>
            <a:r>
              <a:rPr sz="600" spc="-5" dirty="0">
                <a:latin typeface="Carlito"/>
                <a:cs typeface="Carlito"/>
              </a:rPr>
              <a:t>Local de</a:t>
            </a:r>
            <a:r>
              <a:rPr sz="600" spc="-50" dirty="0">
                <a:latin typeface="Carlito"/>
                <a:cs typeface="Carlito"/>
              </a:rPr>
              <a:t> </a:t>
            </a:r>
            <a:r>
              <a:rPr sz="600" spc="-5" dirty="0">
                <a:latin typeface="Carlito"/>
                <a:cs typeface="Carlito"/>
              </a:rPr>
              <a:t>despejo  de</a:t>
            </a:r>
            <a:r>
              <a:rPr sz="600" spc="-20" dirty="0">
                <a:latin typeface="Carlito"/>
                <a:cs typeface="Carlito"/>
              </a:rPr>
              <a:t> </a:t>
            </a:r>
            <a:r>
              <a:rPr sz="600" spc="-5" dirty="0">
                <a:latin typeface="Carlito"/>
                <a:cs typeface="Carlito"/>
              </a:rPr>
              <a:t>resíduos</a:t>
            </a:r>
            <a:endParaRPr sz="600">
              <a:latin typeface="Carlito"/>
              <a:cs typeface="Carlito"/>
            </a:endParaRPr>
          </a:p>
        </p:txBody>
      </p:sp>
      <p:sp>
        <p:nvSpPr>
          <p:cNvPr id="49" name="object 49"/>
          <p:cNvSpPr/>
          <p:nvPr/>
        </p:nvSpPr>
        <p:spPr>
          <a:xfrm>
            <a:off x="5959348" y="5539536"/>
            <a:ext cx="1261110" cy="336550"/>
          </a:xfrm>
          <a:custGeom>
            <a:avLst/>
            <a:gdLst/>
            <a:ahLst/>
            <a:cxnLst/>
            <a:rect l="l" t="t" r="r" b="b"/>
            <a:pathLst>
              <a:path w="1261109" h="336550">
                <a:moveTo>
                  <a:pt x="368935" y="307848"/>
                </a:moveTo>
                <a:lnTo>
                  <a:pt x="364337" y="304800"/>
                </a:lnTo>
                <a:lnTo>
                  <a:pt x="297942" y="260731"/>
                </a:lnTo>
                <a:lnTo>
                  <a:pt x="293878" y="293865"/>
                </a:lnTo>
                <a:lnTo>
                  <a:pt x="1270" y="257937"/>
                </a:lnTo>
                <a:lnTo>
                  <a:pt x="0" y="267462"/>
                </a:lnTo>
                <a:lnTo>
                  <a:pt x="292722" y="303263"/>
                </a:lnTo>
                <a:lnTo>
                  <a:pt x="288671" y="336423"/>
                </a:lnTo>
                <a:lnTo>
                  <a:pt x="368935" y="307848"/>
                </a:lnTo>
                <a:close/>
              </a:path>
              <a:path w="1261109" h="336550">
                <a:moveTo>
                  <a:pt x="1260983" y="70739"/>
                </a:moveTo>
                <a:lnTo>
                  <a:pt x="886548" y="33159"/>
                </a:lnTo>
                <a:lnTo>
                  <a:pt x="886675" y="31877"/>
                </a:lnTo>
                <a:lnTo>
                  <a:pt x="889889" y="0"/>
                </a:lnTo>
                <a:lnTo>
                  <a:pt x="810260" y="30353"/>
                </a:lnTo>
                <a:lnTo>
                  <a:pt x="882269" y="75819"/>
                </a:lnTo>
                <a:lnTo>
                  <a:pt x="885596" y="42672"/>
                </a:lnTo>
                <a:lnTo>
                  <a:pt x="1259967" y="80137"/>
                </a:lnTo>
                <a:lnTo>
                  <a:pt x="1260983" y="70739"/>
                </a:lnTo>
                <a:close/>
              </a:path>
            </a:pathLst>
          </a:custGeom>
          <a:solidFill>
            <a:srgbClr val="000000"/>
          </a:solidFill>
        </p:spPr>
        <p:txBody>
          <a:bodyPr wrap="square" lIns="0" tIns="0" rIns="0" bIns="0" rtlCol="0"/>
          <a:lstStyle/>
          <a:p>
            <a:endParaRPr/>
          </a:p>
        </p:txBody>
      </p:sp>
      <p:sp>
        <p:nvSpPr>
          <p:cNvPr id="50" name="object 50"/>
          <p:cNvSpPr/>
          <p:nvPr/>
        </p:nvSpPr>
        <p:spPr>
          <a:xfrm>
            <a:off x="500218" y="2755788"/>
            <a:ext cx="1726316" cy="887071"/>
          </a:xfrm>
          <a:prstGeom prst="rect">
            <a:avLst/>
          </a:prstGeom>
          <a:blipFill>
            <a:blip r:embed="rId8" cstate="print"/>
            <a:stretch>
              <a:fillRect/>
            </a:stretch>
          </a:blipFill>
        </p:spPr>
        <p:txBody>
          <a:bodyPr wrap="square" lIns="0" tIns="0" rIns="0" bIns="0" rtlCol="0"/>
          <a:lstStyle/>
          <a:p>
            <a:endParaRPr/>
          </a:p>
        </p:txBody>
      </p:sp>
      <p:sp>
        <p:nvSpPr>
          <p:cNvPr id="52" name="object 52"/>
          <p:cNvSpPr>
            <a:spLocks noChangeAspect="1"/>
          </p:cNvSpPr>
          <p:nvPr/>
        </p:nvSpPr>
        <p:spPr>
          <a:xfrm>
            <a:off x="2776882" y="4151549"/>
            <a:ext cx="2490823" cy="1354962"/>
          </a:xfrm>
          <a:prstGeom prst="rect">
            <a:avLst/>
          </a:prstGeom>
          <a:blipFill>
            <a:blip r:embed="rId9" cstate="print"/>
            <a:stretch>
              <a:fillRect/>
            </a:stretch>
          </a:blipFill>
        </p:spPr>
        <p:txBody>
          <a:bodyPr wrap="square" lIns="0" tIns="0" rIns="0" bIns="0" rtlCol="0"/>
          <a:lstStyle/>
          <a:p>
            <a:endParaRPr/>
          </a:p>
        </p:txBody>
      </p:sp>
      <p:sp>
        <p:nvSpPr>
          <p:cNvPr id="54" name="Retângulo 53">
            <a:extLst>
              <a:ext uri="{FF2B5EF4-FFF2-40B4-BE49-F238E27FC236}">
                <a16:creationId xmlns:a16="http://schemas.microsoft.com/office/drawing/2014/main" id="{F8CF20F2-1A04-483A-9DF2-8DDEA0B86739}"/>
              </a:ext>
            </a:extLst>
          </p:cNvPr>
          <p:cNvSpPr/>
          <p:nvPr/>
        </p:nvSpPr>
        <p:spPr>
          <a:xfrm>
            <a:off x="0" y="7010806"/>
            <a:ext cx="10693400" cy="4209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6" name="Conector reto 55">
            <a:extLst>
              <a:ext uri="{FF2B5EF4-FFF2-40B4-BE49-F238E27FC236}">
                <a16:creationId xmlns:a16="http://schemas.microsoft.com/office/drawing/2014/main" id="{96CB50E3-8DA9-4E86-B41A-396981A66EFB}"/>
              </a:ext>
            </a:extLst>
          </p:cNvPr>
          <p:cNvCxnSpPr>
            <a:cxnSpLocks/>
          </p:cNvCxnSpPr>
          <p:nvPr/>
        </p:nvCxnSpPr>
        <p:spPr>
          <a:xfrm flipV="1">
            <a:off x="-21418" y="7431787"/>
            <a:ext cx="10714818" cy="1844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58" name="Imagem 57">
            <a:extLst>
              <a:ext uri="{FF2B5EF4-FFF2-40B4-BE49-F238E27FC236}">
                <a16:creationId xmlns:a16="http://schemas.microsoft.com/office/drawing/2014/main" id="{CF80B666-8E76-4C49-B871-FD4FB2DA38A1}"/>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79124" y="7164557"/>
            <a:ext cx="760649" cy="232632"/>
          </a:xfrm>
          <a:prstGeom prst="rect">
            <a:avLst/>
          </a:prstGeom>
        </p:spPr>
      </p:pic>
      <p:pic>
        <p:nvPicPr>
          <p:cNvPr id="59" name="Imagem 58">
            <a:extLst>
              <a:ext uri="{FF2B5EF4-FFF2-40B4-BE49-F238E27FC236}">
                <a16:creationId xmlns:a16="http://schemas.microsoft.com/office/drawing/2014/main" id="{9CF9FABD-E413-44DB-97DA-A526D38363EA}"/>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965815" y="7164557"/>
            <a:ext cx="760649" cy="232632"/>
          </a:xfrm>
          <a:prstGeom prst="rect">
            <a:avLst/>
          </a:prstGeom>
        </p:spPr>
      </p:pic>
      <p:pic>
        <p:nvPicPr>
          <p:cNvPr id="60" name="Imagem 59">
            <a:extLst>
              <a:ext uri="{FF2B5EF4-FFF2-40B4-BE49-F238E27FC236}">
                <a16:creationId xmlns:a16="http://schemas.microsoft.com/office/drawing/2014/main" id="{516B01D4-C2CB-45F5-9C3B-85068CD3FF9D}"/>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1852506" y="7164557"/>
            <a:ext cx="760649" cy="232632"/>
          </a:xfrm>
          <a:prstGeom prst="rect">
            <a:avLst/>
          </a:prstGeom>
        </p:spPr>
      </p:pic>
      <p:pic>
        <p:nvPicPr>
          <p:cNvPr id="61" name="Imagem 60">
            <a:extLst>
              <a:ext uri="{FF2B5EF4-FFF2-40B4-BE49-F238E27FC236}">
                <a16:creationId xmlns:a16="http://schemas.microsoft.com/office/drawing/2014/main" id="{BA1B2536-6765-4C71-95AB-C37C4F12CB28}"/>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2739197" y="7164557"/>
            <a:ext cx="760649" cy="232632"/>
          </a:xfrm>
          <a:prstGeom prst="rect">
            <a:avLst/>
          </a:prstGeom>
        </p:spPr>
      </p:pic>
      <p:pic>
        <p:nvPicPr>
          <p:cNvPr id="62" name="Imagem 61">
            <a:extLst>
              <a:ext uri="{FF2B5EF4-FFF2-40B4-BE49-F238E27FC236}">
                <a16:creationId xmlns:a16="http://schemas.microsoft.com/office/drawing/2014/main" id="{732A0CBA-E340-4EAE-8743-27467D2373AB}"/>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3625888" y="7164557"/>
            <a:ext cx="760649" cy="232632"/>
          </a:xfrm>
          <a:prstGeom prst="rect">
            <a:avLst/>
          </a:prstGeom>
        </p:spPr>
      </p:pic>
      <p:pic>
        <p:nvPicPr>
          <p:cNvPr id="63" name="Imagem 62">
            <a:extLst>
              <a:ext uri="{FF2B5EF4-FFF2-40B4-BE49-F238E27FC236}">
                <a16:creationId xmlns:a16="http://schemas.microsoft.com/office/drawing/2014/main" id="{8D94E272-82D8-417F-B96B-7D0B5CFB038F}"/>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4512579" y="7164557"/>
            <a:ext cx="760649" cy="232632"/>
          </a:xfrm>
          <a:prstGeom prst="rect">
            <a:avLst/>
          </a:prstGeom>
        </p:spPr>
      </p:pic>
      <p:pic>
        <p:nvPicPr>
          <p:cNvPr id="64" name="Imagem 63">
            <a:extLst>
              <a:ext uri="{FF2B5EF4-FFF2-40B4-BE49-F238E27FC236}">
                <a16:creationId xmlns:a16="http://schemas.microsoft.com/office/drawing/2014/main" id="{A4B64251-3945-4A3F-B363-E11398812EE9}"/>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5399270" y="7164557"/>
            <a:ext cx="760649" cy="232632"/>
          </a:xfrm>
          <a:prstGeom prst="rect">
            <a:avLst/>
          </a:prstGeom>
        </p:spPr>
      </p:pic>
      <p:pic>
        <p:nvPicPr>
          <p:cNvPr id="65" name="Imagem 64">
            <a:extLst>
              <a:ext uri="{FF2B5EF4-FFF2-40B4-BE49-F238E27FC236}">
                <a16:creationId xmlns:a16="http://schemas.microsoft.com/office/drawing/2014/main" id="{F4149888-5289-451C-B2A4-997D10C4A333}"/>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6285961" y="7164557"/>
            <a:ext cx="760649" cy="232632"/>
          </a:xfrm>
          <a:prstGeom prst="rect">
            <a:avLst/>
          </a:prstGeom>
        </p:spPr>
      </p:pic>
      <p:pic>
        <p:nvPicPr>
          <p:cNvPr id="66" name="Imagem 65">
            <a:extLst>
              <a:ext uri="{FF2B5EF4-FFF2-40B4-BE49-F238E27FC236}">
                <a16:creationId xmlns:a16="http://schemas.microsoft.com/office/drawing/2014/main" id="{D057BD53-C82C-4632-8142-F081F53BA93D}"/>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7172652" y="7164557"/>
            <a:ext cx="760649" cy="232632"/>
          </a:xfrm>
          <a:prstGeom prst="rect">
            <a:avLst/>
          </a:prstGeom>
        </p:spPr>
      </p:pic>
      <p:pic>
        <p:nvPicPr>
          <p:cNvPr id="67" name="Imagem 66">
            <a:extLst>
              <a:ext uri="{FF2B5EF4-FFF2-40B4-BE49-F238E27FC236}">
                <a16:creationId xmlns:a16="http://schemas.microsoft.com/office/drawing/2014/main" id="{C0A9872E-DF74-4585-B4D9-691912336BDA}"/>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8059343" y="7164557"/>
            <a:ext cx="760649" cy="232632"/>
          </a:xfrm>
          <a:prstGeom prst="rect">
            <a:avLst/>
          </a:prstGeom>
        </p:spPr>
      </p:pic>
      <p:pic>
        <p:nvPicPr>
          <p:cNvPr id="68" name="Imagem 67">
            <a:extLst>
              <a:ext uri="{FF2B5EF4-FFF2-40B4-BE49-F238E27FC236}">
                <a16:creationId xmlns:a16="http://schemas.microsoft.com/office/drawing/2014/main" id="{E088ACA6-F87A-4241-9CAF-741789C8BDD9}"/>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8946034" y="7164557"/>
            <a:ext cx="760649" cy="232632"/>
          </a:xfrm>
          <a:prstGeom prst="rect">
            <a:avLst/>
          </a:prstGeom>
        </p:spPr>
      </p:pic>
      <p:pic>
        <p:nvPicPr>
          <p:cNvPr id="69" name="Imagem 68">
            <a:extLst>
              <a:ext uri="{FF2B5EF4-FFF2-40B4-BE49-F238E27FC236}">
                <a16:creationId xmlns:a16="http://schemas.microsoft.com/office/drawing/2014/main" id="{172CB6A8-C2AB-487E-AACB-2984B00EED91}"/>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9832724" y="7164557"/>
            <a:ext cx="760649" cy="232632"/>
          </a:xfrm>
          <a:prstGeom prst="rect">
            <a:avLst/>
          </a:prstGeom>
        </p:spPr>
      </p:pic>
      <p:cxnSp>
        <p:nvCxnSpPr>
          <p:cNvPr id="70" name="Conector reto 69">
            <a:extLst>
              <a:ext uri="{FF2B5EF4-FFF2-40B4-BE49-F238E27FC236}">
                <a16:creationId xmlns:a16="http://schemas.microsoft.com/office/drawing/2014/main" id="{365BDCFA-981C-40AE-9E7A-198E40CB4875}"/>
              </a:ext>
            </a:extLst>
          </p:cNvPr>
          <p:cNvCxnSpPr>
            <a:cxnSpLocks/>
          </p:cNvCxnSpPr>
          <p:nvPr/>
        </p:nvCxnSpPr>
        <p:spPr>
          <a:xfrm flipV="1">
            <a:off x="-11028" y="7088861"/>
            <a:ext cx="10714818" cy="18443"/>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73" name="CaixaDeTexto 72">
            <a:extLst>
              <a:ext uri="{FF2B5EF4-FFF2-40B4-BE49-F238E27FC236}">
                <a16:creationId xmlns:a16="http://schemas.microsoft.com/office/drawing/2014/main" id="{0898F7C2-8672-4651-B676-0DD95AD65799}"/>
              </a:ext>
            </a:extLst>
          </p:cNvPr>
          <p:cNvSpPr txBox="1"/>
          <p:nvPr/>
        </p:nvSpPr>
        <p:spPr>
          <a:xfrm>
            <a:off x="5372" y="1419225"/>
            <a:ext cx="2704299" cy="1117101"/>
          </a:xfrm>
          <a:prstGeom prst="rect">
            <a:avLst/>
          </a:prstGeom>
          <a:noFill/>
        </p:spPr>
        <p:txBody>
          <a:bodyPr wrap="square">
            <a:spAutoFit/>
          </a:bodyPr>
          <a:lstStyle/>
          <a:p>
            <a:pPr algn="ctr">
              <a:lnSpc>
                <a:spcPct val="107000"/>
              </a:lnSpc>
              <a:spcAft>
                <a:spcPts val="800"/>
              </a:spcAft>
            </a:pPr>
            <a:r>
              <a:rPr lang="pt-BR" sz="3200" b="1" kern="1200" dirty="0">
                <a:ln w="19050" cap="flat" cmpd="sng" algn="ctr">
                  <a:solidFill>
                    <a:srgbClr val="000819"/>
                  </a:solidFill>
                  <a:prstDash val="solid"/>
                  <a:round/>
                </a:ln>
                <a:solidFill>
                  <a:srgbClr val="081120"/>
                </a:solidFill>
                <a:effectLst>
                  <a:outerShdw blurRad="50800" dist="38100" dir="5400000" algn="t">
                    <a:srgbClr val="000000">
                      <a:alpha val="40000"/>
                    </a:srgbClr>
                  </a:outerShdw>
                </a:effectLst>
                <a:latin typeface="Monda" panose="02000503000000000000" pitchFamily="2" charset="0"/>
                <a:ea typeface="Calibri" panose="020F0502020204030204" pitchFamily="34" charset="0"/>
                <a:cs typeface="Times New Roman" panose="02020603050405020304" pitchFamily="18" charset="0"/>
              </a:rPr>
              <a:t>Manual </a:t>
            </a:r>
            <a:endParaRPr lang="pt-BR" sz="3200" b="1" dirty="0">
              <a:effectLst/>
              <a:latin typeface="Monda" panose="02000503000000000000" pitchFamily="2" charset="0"/>
              <a:ea typeface="Calibri" panose="020F0502020204030204" pitchFamily="34" charset="0"/>
              <a:cs typeface="Times New Roman" panose="02020603050405020304" pitchFamily="18" charset="0"/>
            </a:endParaRPr>
          </a:p>
          <a:p>
            <a:pPr algn="ctr">
              <a:lnSpc>
                <a:spcPct val="107000"/>
              </a:lnSpc>
              <a:spcAft>
                <a:spcPts val="800"/>
              </a:spcAft>
            </a:pPr>
            <a:r>
              <a:rPr lang="pt-BR" sz="3200" b="1" kern="1200" dirty="0">
                <a:ln w="19050" cap="flat" cmpd="sng" algn="ctr">
                  <a:solidFill>
                    <a:srgbClr val="000819"/>
                  </a:solidFill>
                  <a:prstDash val="solid"/>
                  <a:round/>
                </a:ln>
                <a:solidFill>
                  <a:srgbClr val="081120"/>
                </a:solidFill>
                <a:effectLst>
                  <a:outerShdw blurRad="50800" dist="38100" dir="5400000" algn="t">
                    <a:srgbClr val="000000">
                      <a:alpha val="40000"/>
                    </a:srgbClr>
                  </a:outerShdw>
                </a:effectLst>
                <a:latin typeface="Monda" panose="02000503000000000000" pitchFamily="2" charset="0"/>
                <a:ea typeface="Calibri" panose="020F0502020204030204" pitchFamily="34" charset="0"/>
                <a:cs typeface="Times New Roman" panose="02020603050405020304" pitchFamily="18" charset="0"/>
              </a:rPr>
              <a:t>do usuário</a:t>
            </a:r>
            <a:endParaRPr lang="pt-BR" sz="3200" b="1" dirty="0">
              <a:effectLst/>
              <a:latin typeface="Monda" panose="02000503000000000000" pitchFamily="2" charset="0"/>
              <a:ea typeface="Calibri" panose="020F0502020204030204" pitchFamily="34" charset="0"/>
              <a:cs typeface="Times New Roman" panose="02020603050405020304" pitchFamily="18" charset="0"/>
            </a:endParaRPr>
          </a:p>
        </p:txBody>
      </p:sp>
      <p:sp>
        <p:nvSpPr>
          <p:cNvPr id="71" name="object 53">
            <a:extLst>
              <a:ext uri="{FF2B5EF4-FFF2-40B4-BE49-F238E27FC236}">
                <a16:creationId xmlns:a16="http://schemas.microsoft.com/office/drawing/2014/main" id="{8F150300-12E6-4B7A-84D1-2C9E57A0EE0D}"/>
              </a:ext>
            </a:extLst>
          </p:cNvPr>
          <p:cNvSpPr>
            <a:spLocks noChangeAspect="1"/>
          </p:cNvSpPr>
          <p:nvPr/>
        </p:nvSpPr>
        <p:spPr>
          <a:xfrm>
            <a:off x="2776882" y="6059890"/>
            <a:ext cx="2502759" cy="998135"/>
          </a:xfrm>
          <a:prstGeom prst="rect">
            <a:avLst/>
          </a:prstGeom>
          <a:blipFill>
            <a:blip r:embed="rId11" cstate="print"/>
            <a:stretch>
              <a:fillRect/>
            </a:stretch>
          </a:blipFill>
        </p:spPr>
        <p:txBody>
          <a:bodyPr wrap="square" lIns="0" tIns="0" rIns="0" bIns="0" rtlCol="0"/>
          <a:lstStyle/>
          <a:p>
            <a:endParaRPr/>
          </a:p>
        </p:txBody>
      </p:sp>
      <p:sp>
        <p:nvSpPr>
          <p:cNvPr id="75" name="CaixaDeTexto 74">
            <a:extLst>
              <a:ext uri="{FF2B5EF4-FFF2-40B4-BE49-F238E27FC236}">
                <a16:creationId xmlns:a16="http://schemas.microsoft.com/office/drawing/2014/main" id="{1E9F20F8-4B7F-4200-BBAC-9E7B0211FB7E}"/>
              </a:ext>
            </a:extLst>
          </p:cNvPr>
          <p:cNvSpPr txBox="1"/>
          <p:nvPr/>
        </p:nvSpPr>
        <p:spPr>
          <a:xfrm>
            <a:off x="5340347" y="6296025"/>
            <a:ext cx="2655954" cy="747577"/>
          </a:xfrm>
          <a:prstGeom prst="rect">
            <a:avLst/>
          </a:prstGeom>
          <a:noFill/>
        </p:spPr>
        <p:txBody>
          <a:bodyPr wrap="square">
            <a:spAutoFit/>
          </a:bodyPr>
          <a:lstStyle/>
          <a:p>
            <a:pPr marR="5080" indent="12700" algn="just">
              <a:lnSpc>
                <a:spcPct val="101400"/>
              </a:lnSpc>
              <a:spcBef>
                <a:spcPts val="85"/>
              </a:spcBef>
              <a:buFont typeface="+mj-lt"/>
              <a:buAutoNum type="arabicPeriod"/>
              <a:tabLst>
                <a:tab pos="58419" algn="l"/>
              </a:tabLst>
            </a:pPr>
            <a:r>
              <a:rPr lang="pt-BR" sz="650" spc="-5" dirty="0">
                <a:latin typeface="Carlito"/>
                <a:cs typeface="Carlito"/>
              </a:rPr>
              <a:t>Cuidado ao tocar a chapa </a:t>
            </a:r>
            <a:r>
              <a:rPr lang="pt-BR" sz="650" dirty="0">
                <a:latin typeface="Carlito"/>
                <a:cs typeface="Carlito"/>
              </a:rPr>
              <a:t>da </a:t>
            </a:r>
            <a:r>
              <a:rPr lang="pt-BR" sz="650" spc="-5" dirty="0">
                <a:latin typeface="Carlito"/>
                <a:cs typeface="Carlito"/>
              </a:rPr>
              <a:t>prensa com </a:t>
            </a:r>
            <a:r>
              <a:rPr lang="pt-BR" sz="650" spc="-10" dirty="0">
                <a:latin typeface="Carlito"/>
                <a:cs typeface="Carlito"/>
              </a:rPr>
              <a:t>as </a:t>
            </a:r>
            <a:r>
              <a:rPr lang="pt-BR" sz="650" dirty="0">
                <a:latin typeface="Carlito"/>
                <a:cs typeface="Carlito"/>
              </a:rPr>
              <a:t>mãos </a:t>
            </a:r>
            <a:r>
              <a:rPr lang="pt-BR" sz="650" spc="-5" dirty="0">
                <a:latin typeface="Carlito"/>
                <a:cs typeface="Carlito"/>
              </a:rPr>
              <a:t>desprotegidas, pois  a temperatura elevada pode provocar</a:t>
            </a:r>
            <a:r>
              <a:rPr lang="pt-BR" sz="650" spc="20" dirty="0">
                <a:latin typeface="Carlito"/>
                <a:cs typeface="Carlito"/>
              </a:rPr>
              <a:t> </a:t>
            </a:r>
            <a:r>
              <a:rPr lang="pt-BR" sz="650" spc="-5" dirty="0">
                <a:latin typeface="Carlito"/>
                <a:cs typeface="Carlito"/>
              </a:rPr>
              <a:t>queimaduras;</a:t>
            </a:r>
            <a:endParaRPr lang="pt-BR" sz="650" dirty="0">
              <a:latin typeface="Carlito"/>
              <a:cs typeface="Carlito"/>
            </a:endParaRPr>
          </a:p>
          <a:p>
            <a:pPr marR="5080" indent="12700" algn="just">
              <a:lnSpc>
                <a:spcPts val="860"/>
              </a:lnSpc>
              <a:spcBef>
                <a:spcPts val="20"/>
              </a:spcBef>
              <a:buFont typeface="+mj-lt"/>
              <a:buAutoNum type="arabicPeriod"/>
              <a:tabLst>
                <a:tab pos="93980" algn="l"/>
              </a:tabLst>
            </a:pPr>
            <a:r>
              <a:rPr lang="pt-BR" sz="650" spc="-5" dirty="0">
                <a:latin typeface="Carlito"/>
                <a:cs typeface="Carlito"/>
              </a:rPr>
              <a:t>Ao manusear a prensa, nunca coloque as </a:t>
            </a:r>
            <a:r>
              <a:rPr lang="pt-BR" sz="650" dirty="0">
                <a:latin typeface="Carlito"/>
                <a:cs typeface="Carlito"/>
              </a:rPr>
              <a:t>mãos na </a:t>
            </a:r>
            <a:r>
              <a:rPr lang="pt-BR" sz="650" spc="-5" dirty="0">
                <a:latin typeface="Carlito"/>
                <a:cs typeface="Carlito"/>
              </a:rPr>
              <a:t>linha </a:t>
            </a:r>
            <a:r>
              <a:rPr lang="pt-BR" sz="650" dirty="0">
                <a:latin typeface="Carlito"/>
                <a:cs typeface="Carlito"/>
              </a:rPr>
              <a:t>de  </a:t>
            </a:r>
            <a:r>
              <a:rPr lang="pt-BR" sz="650" spc="-5" dirty="0">
                <a:latin typeface="Carlito"/>
                <a:cs typeface="Carlito"/>
              </a:rPr>
              <a:t>fechamento da</a:t>
            </a:r>
            <a:r>
              <a:rPr lang="pt-BR" sz="650" dirty="0">
                <a:latin typeface="Carlito"/>
                <a:cs typeface="Carlito"/>
              </a:rPr>
              <a:t> </a:t>
            </a:r>
            <a:r>
              <a:rPr lang="pt-BR" sz="650" spc="-5" dirty="0">
                <a:latin typeface="Carlito"/>
                <a:cs typeface="Carlito"/>
              </a:rPr>
              <a:t>prensa;</a:t>
            </a:r>
          </a:p>
          <a:p>
            <a:pPr marR="5080" indent="12700" algn="just">
              <a:lnSpc>
                <a:spcPts val="860"/>
              </a:lnSpc>
              <a:spcBef>
                <a:spcPts val="20"/>
              </a:spcBef>
              <a:buFont typeface="+mj-lt"/>
              <a:buAutoNum type="arabicPeriod"/>
              <a:tabLst>
                <a:tab pos="93980" algn="l"/>
              </a:tabLst>
            </a:pPr>
            <a:r>
              <a:rPr lang="pt-BR" sz="600" spc="-5" dirty="0">
                <a:latin typeface="Carlito"/>
                <a:cs typeface="Carlito"/>
              </a:rPr>
              <a:t>Ao levantar a prensa, certifique-se </a:t>
            </a:r>
            <a:r>
              <a:rPr lang="pt-BR" sz="600" dirty="0">
                <a:latin typeface="Carlito"/>
                <a:cs typeface="Carlito"/>
              </a:rPr>
              <a:t>que </a:t>
            </a:r>
            <a:r>
              <a:rPr lang="pt-BR" sz="600" spc="-5" dirty="0">
                <a:latin typeface="Carlito"/>
                <a:cs typeface="Carlito"/>
              </a:rPr>
              <a:t>ela está posicionada  corretamente; (com um ângulo de </a:t>
            </a:r>
            <a:r>
              <a:rPr lang="pt-BR" sz="600" dirty="0">
                <a:latin typeface="Carlito"/>
                <a:cs typeface="Carlito"/>
              </a:rPr>
              <a:t>abertura </a:t>
            </a:r>
            <a:r>
              <a:rPr lang="pt-BR" sz="600" spc="-5" dirty="0">
                <a:latin typeface="Carlito"/>
                <a:cs typeface="Carlito"/>
              </a:rPr>
              <a:t>maior que </a:t>
            </a:r>
            <a:r>
              <a:rPr lang="pt-BR" sz="600" dirty="0">
                <a:latin typeface="Carlito"/>
                <a:cs typeface="Carlito"/>
              </a:rPr>
              <a:t>90° </a:t>
            </a:r>
            <a:r>
              <a:rPr lang="pt-BR" sz="600" spc="-5" dirty="0">
                <a:latin typeface="Carlito"/>
                <a:cs typeface="Carlito"/>
              </a:rPr>
              <a:t>em relação  a chapa) antes de</a:t>
            </a:r>
            <a:r>
              <a:rPr lang="pt-BR" sz="600" spc="5" dirty="0">
                <a:latin typeface="Carlito"/>
                <a:cs typeface="Carlito"/>
              </a:rPr>
              <a:t> </a:t>
            </a:r>
            <a:r>
              <a:rPr lang="pt-BR" sz="600" spc="-5" dirty="0">
                <a:latin typeface="Carlito"/>
                <a:cs typeface="Carlito"/>
              </a:rPr>
              <a:t>soltar.</a:t>
            </a:r>
            <a:endParaRPr lang="pt-BR" sz="600" dirty="0">
              <a:latin typeface="Carlito"/>
              <a:cs typeface="Carlito"/>
            </a:endParaRPr>
          </a:p>
        </p:txBody>
      </p:sp>
      <p:sp>
        <p:nvSpPr>
          <p:cNvPr id="77" name="CaixaDeTexto 14">
            <a:extLst>
              <a:ext uri="{FF2B5EF4-FFF2-40B4-BE49-F238E27FC236}">
                <a16:creationId xmlns:a16="http://schemas.microsoft.com/office/drawing/2014/main" id="{0B8FD298-646C-44AF-ABDC-D3A632652A5F}"/>
              </a:ext>
            </a:extLst>
          </p:cNvPr>
          <p:cNvSpPr txBox="1"/>
          <p:nvPr/>
        </p:nvSpPr>
        <p:spPr>
          <a:xfrm>
            <a:off x="7974202" y="1495425"/>
            <a:ext cx="2698750" cy="3933384"/>
          </a:xfrm>
          <a:prstGeom prst="rect">
            <a:avLst/>
          </a:prstGeom>
          <a:noFill/>
        </p:spPr>
        <p:txBody>
          <a:bodyPr wrap="square" rtlCol="0">
            <a:spAutoFit/>
          </a:bodyPr>
          <a:lstStyle/>
          <a:p>
            <a:pPr algn="just"/>
            <a:r>
              <a:rPr lang="pt-BR" sz="520" dirty="0">
                <a:latin typeface="Arial" panose="020B0604020202020204" pitchFamily="34" charset="0"/>
                <a:cs typeface="Arial" panose="020B0604020202020204" pitchFamily="34" charset="0"/>
              </a:rPr>
              <a:t>Os produtos Só Aço são garantidos pela Só Aço, na forma estabelecida:</a:t>
            </a:r>
          </a:p>
          <a:p>
            <a:pPr algn="just"/>
            <a:endParaRPr lang="pt-BR" sz="520" dirty="0">
              <a:latin typeface="Arial" panose="020B0604020202020204" pitchFamily="34" charset="0"/>
              <a:cs typeface="Arial" panose="020B0604020202020204" pitchFamily="34" charset="0"/>
            </a:endParaRPr>
          </a:p>
          <a:p>
            <a:pPr marL="88900" indent="-88900" algn="just">
              <a:buAutoNum type="arabicPeriod"/>
            </a:pPr>
            <a:r>
              <a:rPr lang="pt-BR" sz="520" b="1" dirty="0">
                <a:latin typeface="Arial" panose="020B0604020202020204" pitchFamily="34" charset="0"/>
                <a:cs typeface="Arial" panose="020B0604020202020204" pitchFamily="34" charset="0"/>
              </a:rPr>
              <a:t>Condições gerais de garantia:</a:t>
            </a:r>
          </a:p>
          <a:p>
            <a:pPr marL="88900" indent="-88900" algn="just">
              <a:buAutoNum type="alphaLcParenR"/>
            </a:pPr>
            <a:r>
              <a:rPr lang="pt-BR" sz="520" dirty="0">
                <a:latin typeface="Arial" panose="020B0604020202020204" pitchFamily="34" charset="0"/>
                <a:cs typeface="Arial" panose="020B0604020202020204" pitchFamily="34" charset="0"/>
              </a:rPr>
              <a:t>Os produtos Só Aço são garantidos por 06 (seis) meses a partir da data de emissão da nota fiscal de compra do primeiro comprador contra defeitos de fabricação, sendo 3 (três) meses de garantia legal e mais 3 (três) meses de garantia especial concedida pela Só Aço Industrial;</a:t>
            </a:r>
          </a:p>
          <a:p>
            <a:pPr marL="88900" indent="-88900" algn="just">
              <a:buAutoNum type="alphaLcParenR"/>
            </a:pPr>
            <a:r>
              <a:rPr lang="pt-BR" sz="520" dirty="0">
                <a:latin typeface="Arial" panose="020B0604020202020204" pitchFamily="34" charset="0"/>
                <a:cs typeface="Arial" panose="020B0604020202020204" pitchFamily="34" charset="0"/>
              </a:rPr>
              <a:t>Apenas para compressores e motores elétricos a garantia se estende por mais 6 meses além da garantia legal e da garantia especial, totalizando assim 12 meses de garantia para o compressores e motores elétricos;</a:t>
            </a:r>
          </a:p>
          <a:p>
            <a:pPr marL="88900" indent="-88900" algn="just">
              <a:buAutoNum type="alphaLcParenR"/>
            </a:pPr>
            <a:r>
              <a:rPr lang="pt-BR" sz="520" dirty="0">
                <a:latin typeface="Arial" panose="020B0604020202020204" pitchFamily="34" charset="0"/>
                <a:cs typeface="Arial" panose="020B0604020202020204" pitchFamily="34" charset="0"/>
              </a:rPr>
              <a:t>Os seguintes componentes: rolamentos, rodízios, retentores, correias, vidros, lâmpadas, fusíveis, chaves-contadoras, resistências, termostatos, relés, borrachas de vedação e outros componentes que não são produzidos pela Só Aço, estão excluídos totalmente da garantia;</a:t>
            </a:r>
          </a:p>
          <a:p>
            <a:pPr marL="88900" indent="-88900" algn="just">
              <a:buAutoNum type="alphaLcParenR"/>
            </a:pPr>
            <a:r>
              <a:rPr lang="pt-BR" sz="520" dirty="0">
                <a:latin typeface="Arial" panose="020B0604020202020204" pitchFamily="34" charset="0"/>
                <a:cs typeface="Arial" panose="020B0604020202020204" pitchFamily="34" charset="0"/>
              </a:rPr>
              <a:t>Em caso de transferência de prioridade, o período de garantia automaticamente ficará transferido até a expiração do prazo contido na data da Nota fiscal de compra;</a:t>
            </a:r>
          </a:p>
          <a:p>
            <a:pPr marL="88900" indent="-88900" algn="just">
              <a:buAutoNum type="alphaLcParenR"/>
            </a:pPr>
            <a:r>
              <a:rPr lang="pt-BR" sz="520" dirty="0">
                <a:latin typeface="Arial" panose="020B0604020202020204" pitchFamily="34" charset="0"/>
                <a:cs typeface="Arial" panose="020B0604020202020204" pitchFamily="34" charset="0"/>
              </a:rPr>
              <a:t>A substituição de peças e a prestação de serviços deverão ser executados através da rede de Serviços Autorizados Só Aço. Para comprovação da garantia, o cliente deverá apresentar esse termo de garantia devidamente preenchido e nota fiscal do produto.</a:t>
            </a:r>
          </a:p>
          <a:p>
            <a:pPr algn="just"/>
            <a:r>
              <a:rPr lang="pt-BR" sz="520" b="1" dirty="0">
                <a:latin typeface="Arial" panose="020B0604020202020204" pitchFamily="34" charset="0"/>
                <a:cs typeface="Arial" panose="020B0604020202020204" pitchFamily="34" charset="0"/>
              </a:rPr>
              <a:t>Observação:</a:t>
            </a:r>
            <a:r>
              <a:rPr lang="pt-BR" sz="520" dirty="0">
                <a:latin typeface="Arial" panose="020B0604020202020204" pitchFamily="34" charset="0"/>
                <a:cs typeface="Arial" panose="020B0604020202020204" pitchFamily="34" charset="0"/>
              </a:rPr>
              <a:t> Fica, desde já, eleito o Foro da Comarca da Capital do Estado do Piauí para dirimir quaisquer dúvidas oriundas do cumprimento deste Termo de Garantia.</a:t>
            </a:r>
          </a:p>
          <a:p>
            <a:pPr algn="just"/>
            <a:endParaRPr lang="pt-BR" sz="520" dirty="0">
              <a:latin typeface="Arial" panose="020B0604020202020204" pitchFamily="34" charset="0"/>
              <a:cs typeface="Arial" panose="020B0604020202020204" pitchFamily="34" charset="0"/>
            </a:endParaRPr>
          </a:p>
          <a:p>
            <a:pPr algn="just"/>
            <a:r>
              <a:rPr lang="pt-BR" sz="520" b="1" i="1" dirty="0">
                <a:latin typeface="Arial" panose="020B0604020202020204" pitchFamily="34" charset="0"/>
                <a:cs typeface="Arial" panose="020B0604020202020204" pitchFamily="34" charset="0"/>
              </a:rPr>
              <a:t>2</a:t>
            </a:r>
            <a:r>
              <a:rPr lang="pt-BR" sz="520" b="1" dirty="0">
                <a:latin typeface="Arial" panose="020B0604020202020204" pitchFamily="34" charset="0"/>
                <a:cs typeface="Arial" panose="020B0604020202020204" pitchFamily="34" charset="0"/>
              </a:rPr>
              <a:t>. Serviços de Garantia</a:t>
            </a:r>
          </a:p>
          <a:p>
            <a:pPr algn="just"/>
            <a:r>
              <a:rPr lang="pt-BR" sz="520" dirty="0">
                <a:latin typeface="Arial" panose="020B0604020202020204" pitchFamily="34" charset="0"/>
                <a:cs typeface="Arial" panose="020B0604020202020204" pitchFamily="34" charset="0"/>
              </a:rPr>
              <a:t>A garantia compreende o reparo ou a substituição de peças ou conjunto de peças, desde que seja reconhecido o defeito como de responsabilidade da Só Aço, em exame efetuado pelo pessoal credenciado a Assistência Técnica Só Aço ou de seus Serviços Autorizados. Em hipótese alguma o aparelho completo será substituído.</a:t>
            </a:r>
          </a:p>
          <a:p>
            <a:pPr algn="just"/>
            <a:r>
              <a:rPr lang="pt-BR" sz="520" dirty="0">
                <a:latin typeface="Arial" panose="020B0604020202020204" pitchFamily="34" charset="0"/>
                <a:cs typeface="Arial" panose="020B0604020202020204" pitchFamily="34" charset="0"/>
              </a:rPr>
              <a:t>Para o produto instalado fora do perímetro da sede do Serviço Autorizado, cabe ao comprador do equipamento pagar todas as despesas de transporte do técnico. Caso o aparelho tenha que ser removido para a oficina do Serviço Autorizado, tal despesa ocorrerá por conta do comprador e será cobrada na forma de taxa.</a:t>
            </a:r>
          </a:p>
          <a:p>
            <a:pPr algn="just"/>
            <a:endParaRPr lang="pt-BR" sz="520" b="1" dirty="0">
              <a:latin typeface="Arial" panose="020B0604020202020204" pitchFamily="34" charset="0"/>
              <a:cs typeface="Arial" panose="020B0604020202020204" pitchFamily="34" charset="0"/>
            </a:endParaRPr>
          </a:p>
          <a:p>
            <a:pPr algn="just"/>
            <a:r>
              <a:rPr lang="pt-BR" sz="520" b="1" dirty="0">
                <a:latin typeface="Arial" panose="020B0604020202020204" pitchFamily="34" charset="0"/>
                <a:cs typeface="Arial" panose="020B0604020202020204" pitchFamily="34" charset="0"/>
              </a:rPr>
              <a:t>3. Extinção da garantia</a:t>
            </a:r>
          </a:p>
          <a:p>
            <a:pPr algn="just"/>
            <a:r>
              <a:rPr lang="pt-BR" sz="520" dirty="0">
                <a:latin typeface="Arial" panose="020B0604020202020204" pitchFamily="34" charset="0"/>
                <a:cs typeface="Arial" panose="020B0604020202020204" pitchFamily="34" charset="0"/>
              </a:rPr>
              <a:t>Esta garantia perderá sua validade antes da expiração do seu prazo, se for constatado qualquer dano provocado por acidente, transporte, agente de limpeza, uso indevido, maus tratos, negligência, incêndio, instalado em rede elétrica imprópria, e ainda, no caso de apresentar sinais de violação, ajuste ou reparo por pessoa não credenciada pela Só Aço.</a:t>
            </a:r>
          </a:p>
          <a:p>
            <a:pPr algn="just"/>
            <a:r>
              <a:rPr lang="pt-BR" sz="520" b="1" dirty="0">
                <a:latin typeface="Arial" panose="020B0604020202020204" pitchFamily="34" charset="0"/>
                <a:cs typeface="Arial" panose="020B0604020202020204" pitchFamily="34" charset="0"/>
              </a:rPr>
              <a:t>ATENÇÃO</a:t>
            </a:r>
          </a:p>
          <a:p>
            <a:pPr marL="88900" indent="-88900" algn="just">
              <a:buAutoNum type="alphaLcParenR"/>
            </a:pPr>
            <a:r>
              <a:rPr lang="pt-BR" sz="520" dirty="0">
                <a:latin typeface="Arial" panose="020B0604020202020204" pitchFamily="34" charset="0"/>
                <a:cs typeface="Arial" panose="020B0604020202020204" pitchFamily="34" charset="0"/>
              </a:rPr>
              <a:t>Não autorizamos nenhuma pessoa ou entidade a assumir por nossa conta qualquer responsabilidade relativa a garantia dos produtos Só Aço;</a:t>
            </a:r>
          </a:p>
          <a:p>
            <a:pPr marL="88900" indent="-88900" algn="just">
              <a:buAutoNum type="alphaLcParenR"/>
            </a:pPr>
            <a:r>
              <a:rPr lang="pt-BR" sz="520" dirty="0">
                <a:latin typeface="Arial" panose="020B0604020202020204" pitchFamily="34" charset="0"/>
                <a:cs typeface="Arial" panose="020B0604020202020204" pitchFamily="34" charset="0"/>
              </a:rPr>
              <a:t>Para facilitar o atendimento no período da garantia, conserve a Nota Fiscal de compra junto com o manual de instruções do produto. (Necessário para comprovação da garantia);</a:t>
            </a:r>
          </a:p>
          <a:p>
            <a:pPr marL="88900" indent="-88900" algn="just">
              <a:buAutoNum type="alphaLcParenR"/>
            </a:pPr>
            <a:r>
              <a:rPr lang="pt-BR" sz="520" dirty="0">
                <a:latin typeface="Arial" panose="020B0604020202020204" pitchFamily="34" charset="0"/>
                <a:cs typeface="Arial" panose="020B0604020202020204" pitchFamily="34" charset="0"/>
              </a:rPr>
              <a:t>A Só Aço se reserva do direito de alterar as características dos seus produtos sem aviso prévio. </a:t>
            </a:r>
          </a:p>
        </p:txBody>
      </p:sp>
      <p:pic>
        <p:nvPicPr>
          <p:cNvPr id="78" name="Imagem 77">
            <a:extLst>
              <a:ext uri="{FF2B5EF4-FFF2-40B4-BE49-F238E27FC236}">
                <a16:creationId xmlns:a16="http://schemas.microsoft.com/office/drawing/2014/main" id="{CA5C077B-10E0-4D72-B5EE-008980C26CAF}"/>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101330" y="5438376"/>
            <a:ext cx="2562352" cy="648412"/>
          </a:xfrm>
          <a:prstGeom prst="rect">
            <a:avLst/>
          </a:prstGeom>
          <a:noFill/>
        </p:spPr>
      </p:pic>
      <p:sp>
        <p:nvSpPr>
          <p:cNvPr id="5" name="Retângulo 4">
            <a:extLst>
              <a:ext uri="{FF2B5EF4-FFF2-40B4-BE49-F238E27FC236}">
                <a16:creationId xmlns:a16="http://schemas.microsoft.com/office/drawing/2014/main" id="{86099107-FEB9-F055-B5EF-C73AD0DF3847}"/>
              </a:ext>
            </a:extLst>
          </p:cNvPr>
          <p:cNvSpPr/>
          <p:nvPr/>
        </p:nvSpPr>
        <p:spPr>
          <a:xfrm>
            <a:off x="5651500" y="2779523"/>
            <a:ext cx="1014553" cy="397151"/>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250</TotalTime>
  <Words>1457</Words>
  <Application>Microsoft Office PowerPoint</Application>
  <PresentationFormat>Personalizar</PresentationFormat>
  <Paragraphs>76</Paragraphs>
  <Slides>1</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Arial</vt:lpstr>
      <vt:lpstr>Calibri</vt:lpstr>
      <vt:lpstr>Carlito</vt:lpstr>
      <vt:lpstr>Monda</vt:lpstr>
      <vt:lpstr>Wingdings</vt:lpstr>
      <vt:lpstr>Office Theme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taynara</dc:creator>
  <cp:lastModifiedBy>Guilherme Fernandes</cp:lastModifiedBy>
  <cp:revision>22</cp:revision>
  <cp:lastPrinted>2023-05-30T11:45:52Z</cp:lastPrinted>
  <dcterms:created xsi:type="dcterms:W3CDTF">2021-08-27T16:17:56Z</dcterms:created>
  <dcterms:modified xsi:type="dcterms:W3CDTF">2023-05-30T11:48:52Z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2020-11-28T00:00:00Z</vt:filetime>
  </property>
  <property fmtid="{D5CDD505-2E9C-101B-9397-08002B2CF9AE}" pid="3" name="Creator">
    <vt:lpwstr>Microsoft® Word 2019</vt:lpwstr>
  </property>
  <property fmtid="{D5CDD505-2E9C-101B-9397-08002B2CF9AE}" pid="4" name="LastSaved">
    <vt:filetime>2021-08-27T00:00:00Z</vt:filetime>
  </property>
</Properties>
</file>