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278" r:id="rId4"/>
    <p:sldId id="282" r:id="rId5"/>
    <p:sldId id="283" r:id="rId6"/>
    <p:sldId id="284" r:id="rId7"/>
    <p:sldId id="272" r:id="rId8"/>
    <p:sldId id="270" r:id="rId9"/>
    <p:sldId id="277" r:id="rId10"/>
    <p:sldId id="279" r:id="rId11"/>
    <p:sldId id="280" r:id="rId12"/>
    <p:sldId id="257" r:id="rId13"/>
    <p:sldId id="281" r:id="rId14"/>
  </p:sldIdLst>
  <p:sldSz cx="6858000" cy="9906000" type="A4"/>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a:srgbClr val="E4E4E4"/>
    <a:srgbClr val="E3E3E3"/>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Estilo E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6859" autoAdjust="0"/>
  </p:normalViewPr>
  <p:slideViewPr>
    <p:cSldViewPr showGuides="1">
      <p:cViewPr varScale="1">
        <p:scale>
          <a:sx n="75" d="100"/>
          <a:sy n="75" d="100"/>
        </p:scale>
        <p:origin x="3126" y="60"/>
      </p:cViewPr>
      <p:guideLst>
        <p:guide orient="horz" pos="3119"/>
        <p:guide pos="216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15/12/2021</a:t>
            </a:fld>
            <a:endParaRPr lang="pt-BR"/>
          </a:p>
        </p:txBody>
      </p:sp>
      <p:sp>
        <p:nvSpPr>
          <p:cNvPr id="4" name="Espaço Reservado para Imagem de Slide 3"/>
          <p:cNvSpPr>
            <a:spLocks noGrp="1" noRot="1" noChangeAspect="1"/>
          </p:cNvSpPr>
          <p:nvPr>
            <p:ph type="sldImg" idx="2"/>
          </p:nvPr>
        </p:nvSpPr>
        <p:spPr>
          <a:xfrm>
            <a:off x="2143125" y="750888"/>
            <a:ext cx="260191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30"/>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pPr marL="0" marR="0" lvl="0" indent="0" algn="r" defTabSz="1043056" rtl="0" eaLnBrk="1" fontAlgn="auto" latinLnBrk="0" hangingPunct="1">
              <a:lnSpc>
                <a:spcPct val="100000"/>
              </a:lnSpc>
              <a:spcBef>
                <a:spcPts val="0"/>
              </a:spcBef>
              <a:spcAft>
                <a:spcPts val="0"/>
              </a:spcAft>
              <a:buClrTx/>
              <a:buSzTx/>
              <a:buFontTx/>
              <a:buNone/>
              <a:tabLst/>
              <a:defRPr/>
            </a:pPr>
            <a:fld id="{DAD5CC9F-21B8-43E0-9ED1-B2EDFE01E557}"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43056" rtl="0" eaLnBrk="1" fontAlgn="auto" latinLnBrk="0" hangingPunct="1">
                <a:lnSpc>
                  <a:spcPct val="100000"/>
                </a:lnSpc>
                <a:spcBef>
                  <a:spcPts val="0"/>
                </a:spcBef>
                <a:spcAft>
                  <a:spcPts val="0"/>
                </a:spcAft>
                <a:buClrTx/>
                <a:buSzTx/>
                <a:buFontTx/>
                <a:buNone/>
                <a:tabLst/>
                <a:defRPr/>
              </a:pPr>
              <a:t>1</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8384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2</a:t>
            </a:fld>
            <a:endParaRPr lang="pt-BR"/>
          </a:p>
        </p:txBody>
      </p:sp>
    </p:spTree>
    <p:extLst>
      <p:ext uri="{BB962C8B-B14F-4D97-AF65-F5344CB8AC3E}">
        <p14:creationId xmlns:p14="http://schemas.microsoft.com/office/powerpoint/2010/main" val="1846241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6</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7</a:t>
            </a:fld>
            <a:endParaRPr lang="pt-BR"/>
          </a:p>
        </p:txBody>
      </p:sp>
    </p:spTree>
    <p:extLst>
      <p:ext uri="{BB962C8B-B14F-4D97-AF65-F5344CB8AC3E}">
        <p14:creationId xmlns:p14="http://schemas.microsoft.com/office/powerpoint/2010/main" val="80954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8</a:t>
            </a:fld>
            <a:endParaRPr lang="pt-BR"/>
          </a:p>
        </p:txBody>
      </p:sp>
    </p:spTree>
    <p:extLst>
      <p:ext uri="{BB962C8B-B14F-4D97-AF65-F5344CB8AC3E}">
        <p14:creationId xmlns:p14="http://schemas.microsoft.com/office/powerpoint/2010/main" val="150818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9</a:t>
            </a:fld>
            <a:endParaRPr lang="pt-BR"/>
          </a:p>
        </p:txBody>
      </p:sp>
    </p:spTree>
    <p:extLst>
      <p:ext uri="{BB962C8B-B14F-4D97-AF65-F5344CB8AC3E}">
        <p14:creationId xmlns:p14="http://schemas.microsoft.com/office/powerpoint/2010/main" val="3188025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10</a:t>
            </a:fld>
            <a:endParaRPr lang="pt-BR"/>
          </a:p>
        </p:txBody>
      </p:sp>
    </p:spTree>
    <p:extLst>
      <p:ext uri="{BB962C8B-B14F-4D97-AF65-F5344CB8AC3E}">
        <p14:creationId xmlns:p14="http://schemas.microsoft.com/office/powerpoint/2010/main" val="525106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2143125" y="750888"/>
            <a:ext cx="2601913" cy="3757612"/>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11</a:t>
            </a:fld>
            <a:endParaRPr lang="pt-BR"/>
          </a:p>
        </p:txBody>
      </p:sp>
    </p:spTree>
    <p:extLst>
      <p:ext uri="{BB962C8B-B14F-4D97-AF65-F5344CB8AC3E}">
        <p14:creationId xmlns:p14="http://schemas.microsoft.com/office/powerpoint/2010/main" val="274581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E11AC81D-F00A-4827-A703-3C0D445EB022}" type="datetime1">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DD1D2AD8-56C7-4730-81A3-F6C5FAADA359}" type="datetime1">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E29E6F26-40DE-4B52-A781-4BC8EFF4F8A4}" type="datetime1">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3F7730DF-6810-4948-876A-5238452348F4}" type="datetime1">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EF6986-E8F5-4AE8-84CE-76D530498E52}" type="datetime1">
              <a:rPr lang="pt-BR" smtClean="0"/>
              <a:t>15/12/2021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D7BB8614-5CD0-4073-B427-9822F8FE630A}" type="datetime1">
              <a:rPr lang="pt-BR" smtClean="0"/>
              <a:t>15/12/2021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A113F0-2AEE-472C-84E2-03C9B57727C0}" type="datetime1">
              <a:rPr lang="pt-BR" smtClean="0"/>
              <a:t>15/12/2021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68E070D2-94BC-48E5-B127-F2DFB91F768A}" type="datetime1">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880EC5B0-C529-45C5-8187-D18054ED49EE}" type="datetime1">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15DB8301-19F6-49C6-9F02-EA6B70895F07}" type="datetime1">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E58C0016-1382-42F4-A486-D110CC0B9456}" type="datetime1">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3077282"/>
            <a:ext cx="5829300" cy="2123370"/>
          </a:xfrm>
        </p:spPr>
        <p:txBody>
          <a:bodyPr/>
          <a:lstStyle/>
          <a:p>
            <a:r>
              <a:rPr lang="pt-BR"/>
              <a:t>Clique para editar o título mestre</a:t>
            </a:r>
          </a:p>
        </p:txBody>
      </p:sp>
      <p:sp>
        <p:nvSpPr>
          <p:cNvPr id="3" name="Subtítulo 2"/>
          <p:cNvSpPr>
            <a:spLocks noGrp="1"/>
          </p:cNvSpPr>
          <p:nvPr>
            <p:ph type="subTitle" idx="1"/>
          </p:nvPr>
        </p:nvSpPr>
        <p:spPr>
          <a:xfrm>
            <a:off x="1028700" y="5613401"/>
            <a:ext cx="4800600" cy="2531534"/>
          </a:xfrm>
        </p:spPr>
        <p:txBody>
          <a:bodyPr/>
          <a:lstStyle>
            <a:lvl1pPr marL="0" indent="0" algn="ctr">
              <a:buNone/>
              <a:defRPr>
                <a:solidFill>
                  <a:schemeClr val="tx1">
                    <a:tint val="75000"/>
                  </a:schemeClr>
                </a:solidFill>
              </a:defRPr>
            </a:lvl1pPr>
            <a:lvl2pPr marL="683254" indent="0" algn="ctr">
              <a:buNone/>
              <a:defRPr>
                <a:solidFill>
                  <a:schemeClr val="tx1">
                    <a:tint val="75000"/>
                  </a:schemeClr>
                </a:solidFill>
              </a:defRPr>
            </a:lvl2pPr>
            <a:lvl3pPr marL="1366508" indent="0" algn="ctr">
              <a:buNone/>
              <a:defRPr>
                <a:solidFill>
                  <a:schemeClr val="tx1">
                    <a:tint val="75000"/>
                  </a:schemeClr>
                </a:solidFill>
              </a:defRPr>
            </a:lvl3pPr>
            <a:lvl4pPr marL="2049761" indent="0" algn="ctr">
              <a:buNone/>
              <a:defRPr>
                <a:solidFill>
                  <a:schemeClr val="tx1">
                    <a:tint val="75000"/>
                  </a:schemeClr>
                </a:solidFill>
              </a:defRPr>
            </a:lvl4pPr>
            <a:lvl5pPr marL="2733015" indent="0" algn="ctr">
              <a:buNone/>
              <a:defRPr>
                <a:solidFill>
                  <a:schemeClr val="tx1">
                    <a:tint val="75000"/>
                  </a:schemeClr>
                </a:solidFill>
              </a:defRPr>
            </a:lvl5pPr>
            <a:lvl6pPr marL="3416269" indent="0" algn="ctr">
              <a:buNone/>
              <a:defRPr>
                <a:solidFill>
                  <a:schemeClr val="tx1">
                    <a:tint val="75000"/>
                  </a:schemeClr>
                </a:solidFill>
              </a:defRPr>
            </a:lvl6pPr>
            <a:lvl7pPr marL="4099523" indent="0" algn="ctr">
              <a:buNone/>
              <a:defRPr>
                <a:solidFill>
                  <a:schemeClr val="tx1">
                    <a:tint val="75000"/>
                  </a:schemeClr>
                </a:solidFill>
              </a:defRPr>
            </a:lvl7pPr>
            <a:lvl8pPr marL="4782777" indent="0" algn="ctr">
              <a:buNone/>
              <a:defRPr>
                <a:solidFill>
                  <a:schemeClr val="tx1">
                    <a:tint val="75000"/>
                  </a:schemeClr>
                </a:solidFill>
              </a:defRPr>
            </a:lvl8pPr>
            <a:lvl9pPr marL="5466031"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45783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531031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735" y="6365523"/>
            <a:ext cx="5829300" cy="1967442"/>
          </a:xfrm>
        </p:spPr>
        <p:txBody>
          <a:bodyPr anchor="t"/>
          <a:lstStyle>
            <a:lvl1pPr algn="l">
              <a:defRPr sz="6026" b="1" cap="all"/>
            </a:lvl1pPr>
          </a:lstStyle>
          <a:p>
            <a:r>
              <a:rPr lang="pt-BR"/>
              <a:t>Clique para editar o título mestre</a:t>
            </a:r>
          </a:p>
        </p:txBody>
      </p:sp>
      <p:sp>
        <p:nvSpPr>
          <p:cNvPr id="3" name="Espaço Reservado para Texto 2"/>
          <p:cNvSpPr>
            <a:spLocks noGrp="1"/>
          </p:cNvSpPr>
          <p:nvPr>
            <p:ph type="body" idx="1"/>
          </p:nvPr>
        </p:nvSpPr>
        <p:spPr>
          <a:xfrm>
            <a:off x="541735" y="4198586"/>
            <a:ext cx="5829300" cy="2166937"/>
          </a:xfrm>
        </p:spPr>
        <p:txBody>
          <a:bodyPr anchor="b"/>
          <a:lstStyle>
            <a:lvl1pPr marL="0" indent="0">
              <a:buNone/>
              <a:defRPr sz="3013">
                <a:solidFill>
                  <a:schemeClr val="tx1">
                    <a:tint val="75000"/>
                  </a:schemeClr>
                </a:solidFill>
              </a:defRPr>
            </a:lvl1pPr>
            <a:lvl2pPr marL="683254" indent="0">
              <a:buNone/>
              <a:defRPr sz="2751">
                <a:solidFill>
                  <a:schemeClr val="tx1">
                    <a:tint val="75000"/>
                  </a:schemeClr>
                </a:solidFill>
              </a:defRPr>
            </a:lvl2pPr>
            <a:lvl3pPr marL="1366508" indent="0">
              <a:buNone/>
              <a:defRPr sz="2358">
                <a:solidFill>
                  <a:schemeClr val="tx1">
                    <a:tint val="75000"/>
                  </a:schemeClr>
                </a:solidFill>
              </a:defRPr>
            </a:lvl3pPr>
            <a:lvl4pPr marL="2049761" indent="0">
              <a:buNone/>
              <a:defRPr sz="2096">
                <a:solidFill>
                  <a:schemeClr val="tx1">
                    <a:tint val="75000"/>
                  </a:schemeClr>
                </a:solidFill>
              </a:defRPr>
            </a:lvl4pPr>
            <a:lvl5pPr marL="2733015" indent="0">
              <a:buNone/>
              <a:defRPr sz="2096">
                <a:solidFill>
                  <a:schemeClr val="tx1">
                    <a:tint val="75000"/>
                  </a:schemeClr>
                </a:solidFill>
              </a:defRPr>
            </a:lvl5pPr>
            <a:lvl6pPr marL="3416269" indent="0">
              <a:buNone/>
              <a:defRPr sz="2096">
                <a:solidFill>
                  <a:schemeClr val="tx1">
                    <a:tint val="75000"/>
                  </a:schemeClr>
                </a:solidFill>
              </a:defRPr>
            </a:lvl6pPr>
            <a:lvl7pPr marL="4099523" indent="0">
              <a:buNone/>
              <a:defRPr sz="2096">
                <a:solidFill>
                  <a:schemeClr val="tx1">
                    <a:tint val="75000"/>
                  </a:schemeClr>
                </a:solidFill>
              </a:defRPr>
            </a:lvl7pPr>
            <a:lvl8pPr marL="4782777" indent="0">
              <a:buNone/>
              <a:defRPr sz="2096">
                <a:solidFill>
                  <a:schemeClr val="tx1">
                    <a:tint val="75000"/>
                  </a:schemeClr>
                </a:solidFill>
              </a:defRPr>
            </a:lvl8pPr>
            <a:lvl9pPr marL="5466031" indent="0">
              <a:buNone/>
              <a:defRPr sz="2096">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58863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34290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3486150" y="2311400"/>
            <a:ext cx="3028950" cy="6537502"/>
          </a:xfrm>
        </p:spPr>
        <p:txBody>
          <a:bodyPr/>
          <a:lstStyle>
            <a:lvl1pPr>
              <a:defRPr sz="4192"/>
            </a:lvl1pPr>
            <a:lvl2pPr>
              <a:defRPr sz="3537"/>
            </a:lvl2pPr>
            <a:lvl3pPr>
              <a:defRPr sz="3013"/>
            </a:lvl3pPr>
            <a:lvl4pPr>
              <a:defRPr sz="2751"/>
            </a:lvl4pPr>
            <a:lvl5pPr>
              <a:defRPr sz="2751"/>
            </a:lvl5pPr>
            <a:lvl6pPr>
              <a:defRPr sz="2751"/>
            </a:lvl6pPr>
            <a:lvl7pPr>
              <a:defRPr sz="2751"/>
            </a:lvl7pPr>
            <a:lvl8pPr>
              <a:defRPr sz="2751"/>
            </a:lvl8pPr>
            <a:lvl9pPr>
              <a:defRPr sz="2751"/>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120161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342900" y="2217386"/>
            <a:ext cx="303014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4" name="Espaço Reservado para Conteúdo 3"/>
          <p:cNvSpPr>
            <a:spLocks noGrp="1"/>
          </p:cNvSpPr>
          <p:nvPr>
            <p:ph sz="half" idx="2"/>
          </p:nvPr>
        </p:nvSpPr>
        <p:spPr>
          <a:xfrm>
            <a:off x="342900" y="3141487"/>
            <a:ext cx="303014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3483769" y="2217386"/>
            <a:ext cx="3031331" cy="924100"/>
          </a:xfrm>
        </p:spPr>
        <p:txBody>
          <a:bodyPr anchor="b"/>
          <a:lstStyle>
            <a:lvl1pPr marL="0" indent="0">
              <a:buNone/>
              <a:defRPr sz="3537" b="1"/>
            </a:lvl1pPr>
            <a:lvl2pPr marL="683254" indent="0">
              <a:buNone/>
              <a:defRPr sz="3013" b="1"/>
            </a:lvl2pPr>
            <a:lvl3pPr marL="1366508" indent="0">
              <a:buNone/>
              <a:defRPr sz="2751" b="1"/>
            </a:lvl3pPr>
            <a:lvl4pPr marL="2049761" indent="0">
              <a:buNone/>
              <a:defRPr sz="2358" b="1"/>
            </a:lvl4pPr>
            <a:lvl5pPr marL="2733015" indent="0">
              <a:buNone/>
              <a:defRPr sz="2358" b="1"/>
            </a:lvl5pPr>
            <a:lvl6pPr marL="3416269" indent="0">
              <a:buNone/>
              <a:defRPr sz="2358" b="1"/>
            </a:lvl6pPr>
            <a:lvl7pPr marL="4099523" indent="0">
              <a:buNone/>
              <a:defRPr sz="2358" b="1"/>
            </a:lvl7pPr>
            <a:lvl8pPr marL="4782777" indent="0">
              <a:buNone/>
              <a:defRPr sz="2358" b="1"/>
            </a:lvl8pPr>
            <a:lvl9pPr marL="5466031" indent="0">
              <a:buNone/>
              <a:defRPr sz="2358" b="1"/>
            </a:lvl9pPr>
          </a:lstStyle>
          <a:p>
            <a:pPr lvl="0"/>
            <a:r>
              <a:rPr lang="pt-BR"/>
              <a:t>Clique para editar o texto mestre</a:t>
            </a:r>
          </a:p>
        </p:txBody>
      </p:sp>
      <p:sp>
        <p:nvSpPr>
          <p:cNvPr id="6" name="Espaço Reservado para Conteúdo 5"/>
          <p:cNvSpPr>
            <a:spLocks noGrp="1"/>
          </p:cNvSpPr>
          <p:nvPr>
            <p:ph sz="quarter" idx="4"/>
          </p:nvPr>
        </p:nvSpPr>
        <p:spPr>
          <a:xfrm>
            <a:off x="3483769" y="3141487"/>
            <a:ext cx="3031331" cy="5707416"/>
          </a:xfrm>
        </p:spPr>
        <p:txBody>
          <a:bodyPr/>
          <a:lstStyle>
            <a:lvl1pPr>
              <a:defRPr sz="3537"/>
            </a:lvl1pPr>
            <a:lvl2pPr>
              <a:defRPr sz="3013"/>
            </a:lvl2pPr>
            <a:lvl3pPr>
              <a:defRPr sz="2751"/>
            </a:lvl3pPr>
            <a:lvl4pPr>
              <a:defRPr sz="2358"/>
            </a:lvl4pPr>
            <a:lvl5pPr>
              <a:defRPr sz="2358"/>
            </a:lvl5pPr>
            <a:lvl6pPr>
              <a:defRPr sz="2358"/>
            </a:lvl6pPr>
            <a:lvl7pPr>
              <a:defRPr sz="2358"/>
            </a:lvl7pPr>
            <a:lvl8pPr>
              <a:defRPr sz="2358"/>
            </a:lvl8pPr>
            <a:lvl9pPr>
              <a:defRPr sz="2358"/>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15/12/2021</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714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15/12/2021</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983702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15/12/2021</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90215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1" y="394405"/>
            <a:ext cx="2256235" cy="1678517"/>
          </a:xfrm>
        </p:spPr>
        <p:txBody>
          <a:bodyPr anchor="b"/>
          <a:lstStyle>
            <a:lvl1pPr algn="l">
              <a:defRPr sz="3013" b="1"/>
            </a:lvl1pPr>
          </a:lstStyle>
          <a:p>
            <a:r>
              <a:rPr lang="pt-BR"/>
              <a:t>Clique para editar o título mestre</a:t>
            </a:r>
          </a:p>
        </p:txBody>
      </p:sp>
      <p:sp>
        <p:nvSpPr>
          <p:cNvPr id="3" name="Espaço Reservado para Conteúdo 2"/>
          <p:cNvSpPr>
            <a:spLocks noGrp="1"/>
          </p:cNvSpPr>
          <p:nvPr>
            <p:ph idx="1"/>
          </p:nvPr>
        </p:nvSpPr>
        <p:spPr>
          <a:xfrm>
            <a:off x="2681287" y="394406"/>
            <a:ext cx="3833813" cy="8454496"/>
          </a:xfrm>
        </p:spPr>
        <p:txBody>
          <a:bodyPr/>
          <a:lstStyle>
            <a:lvl1pPr>
              <a:defRPr sz="4847"/>
            </a:lvl1pPr>
            <a:lvl2pPr>
              <a:defRPr sz="4192"/>
            </a:lvl2pPr>
            <a:lvl3pPr>
              <a:defRPr sz="3537"/>
            </a:lvl3pPr>
            <a:lvl4pPr>
              <a:defRPr sz="3013"/>
            </a:lvl4pPr>
            <a:lvl5pPr>
              <a:defRPr sz="3013"/>
            </a:lvl5pPr>
            <a:lvl6pPr>
              <a:defRPr sz="3013"/>
            </a:lvl6pPr>
            <a:lvl7pPr>
              <a:defRPr sz="3013"/>
            </a:lvl7pPr>
            <a:lvl8pPr>
              <a:defRPr sz="3013"/>
            </a:lvl8pPr>
            <a:lvl9pPr>
              <a:defRPr sz="3013"/>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342901" y="2072923"/>
            <a:ext cx="2256235" cy="67759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465306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934200"/>
            <a:ext cx="4114800" cy="818622"/>
          </a:xfrm>
        </p:spPr>
        <p:txBody>
          <a:bodyPr anchor="b"/>
          <a:lstStyle>
            <a:lvl1pPr algn="l">
              <a:defRPr sz="3013" b="1"/>
            </a:lvl1pPr>
          </a:lstStyle>
          <a:p>
            <a:r>
              <a:rPr lang="pt-BR"/>
              <a:t>Clique para editar o título mestre</a:t>
            </a:r>
          </a:p>
        </p:txBody>
      </p:sp>
      <p:sp>
        <p:nvSpPr>
          <p:cNvPr id="3" name="Espaço Reservado para Imagem 2"/>
          <p:cNvSpPr>
            <a:spLocks noGrp="1"/>
          </p:cNvSpPr>
          <p:nvPr>
            <p:ph type="pic" idx="1"/>
          </p:nvPr>
        </p:nvSpPr>
        <p:spPr>
          <a:xfrm>
            <a:off x="1344216" y="885120"/>
            <a:ext cx="4114800" cy="5943600"/>
          </a:xfrm>
        </p:spPr>
        <p:txBody>
          <a:bodyPr/>
          <a:lstStyle>
            <a:lvl1pPr marL="0" indent="0">
              <a:buNone/>
              <a:defRPr sz="4847"/>
            </a:lvl1pPr>
            <a:lvl2pPr marL="683254" indent="0">
              <a:buNone/>
              <a:defRPr sz="4192"/>
            </a:lvl2pPr>
            <a:lvl3pPr marL="1366508" indent="0">
              <a:buNone/>
              <a:defRPr sz="3537"/>
            </a:lvl3pPr>
            <a:lvl4pPr marL="2049761" indent="0">
              <a:buNone/>
              <a:defRPr sz="3013"/>
            </a:lvl4pPr>
            <a:lvl5pPr marL="2733015" indent="0">
              <a:buNone/>
              <a:defRPr sz="3013"/>
            </a:lvl5pPr>
            <a:lvl6pPr marL="3416269" indent="0">
              <a:buNone/>
              <a:defRPr sz="3013"/>
            </a:lvl6pPr>
            <a:lvl7pPr marL="4099523" indent="0">
              <a:buNone/>
              <a:defRPr sz="3013"/>
            </a:lvl7pPr>
            <a:lvl8pPr marL="4782777" indent="0">
              <a:buNone/>
              <a:defRPr sz="3013"/>
            </a:lvl8pPr>
            <a:lvl9pPr marL="5466031" indent="0">
              <a:buNone/>
              <a:defRPr sz="3013"/>
            </a:lvl9pPr>
          </a:lstStyle>
          <a:p>
            <a:endParaRPr lang="pt-BR"/>
          </a:p>
        </p:txBody>
      </p:sp>
      <p:sp>
        <p:nvSpPr>
          <p:cNvPr id="4" name="Espaço Reservado para Texto 3"/>
          <p:cNvSpPr>
            <a:spLocks noGrp="1"/>
          </p:cNvSpPr>
          <p:nvPr>
            <p:ph type="body" sz="half" idx="2"/>
          </p:nvPr>
        </p:nvSpPr>
        <p:spPr>
          <a:xfrm>
            <a:off x="1344216" y="7752821"/>
            <a:ext cx="4114800" cy="1162579"/>
          </a:xfrm>
        </p:spPr>
        <p:txBody>
          <a:bodyPr/>
          <a:lstStyle>
            <a:lvl1pPr marL="0" indent="0">
              <a:buNone/>
              <a:defRPr sz="2096"/>
            </a:lvl1pPr>
            <a:lvl2pPr marL="683254" indent="0">
              <a:buNone/>
              <a:defRPr sz="1834"/>
            </a:lvl2pPr>
            <a:lvl3pPr marL="1366508" indent="0">
              <a:buNone/>
              <a:defRPr sz="1441"/>
            </a:lvl3pPr>
            <a:lvl4pPr marL="2049761" indent="0">
              <a:buNone/>
              <a:defRPr sz="1310"/>
            </a:lvl4pPr>
            <a:lvl5pPr marL="2733015" indent="0">
              <a:buNone/>
              <a:defRPr sz="1310"/>
            </a:lvl5pPr>
            <a:lvl6pPr marL="3416269" indent="0">
              <a:buNone/>
              <a:defRPr sz="1310"/>
            </a:lvl6pPr>
            <a:lvl7pPr marL="4099523" indent="0">
              <a:buNone/>
              <a:defRPr sz="1310"/>
            </a:lvl7pPr>
            <a:lvl8pPr marL="4782777" indent="0">
              <a:buNone/>
              <a:defRPr sz="1310"/>
            </a:lvl8pPr>
            <a:lvl9pPr marL="5466031" indent="0">
              <a:buNone/>
              <a:defRPr sz="131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15/12/2021</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2231251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6615615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96701"/>
            <a:ext cx="1543050" cy="8452203"/>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342900" y="396701"/>
            <a:ext cx="4514850" cy="845220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327536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D71D3B16-BA37-4540-B7FD-29529CECC0E0}" type="datetime1">
              <a:rPr lang="pt-BR" smtClean="0"/>
              <a:t>15/12/2021</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96700"/>
            <a:ext cx="6172200" cy="165100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342900" y="2311400"/>
            <a:ext cx="6172200" cy="6537502"/>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342900" y="9181396"/>
            <a:ext cx="1600200" cy="527402"/>
          </a:xfrm>
          <a:prstGeom prst="rect">
            <a:avLst/>
          </a:prstGeom>
        </p:spPr>
        <p:txBody>
          <a:bodyPr vert="horz" lIns="104306" tIns="52153" rIns="104306" bIns="52153" rtlCol="0" anchor="ctr"/>
          <a:lstStyle>
            <a:lvl1pPr algn="l">
              <a:defRPr sz="1834">
                <a:solidFill>
                  <a:schemeClr val="tx1">
                    <a:tint val="75000"/>
                  </a:schemeClr>
                </a:solidFill>
              </a:defRPr>
            </a:lvl1pPr>
          </a:lstStyle>
          <a:p>
            <a:fld id="{4AD7A122-14BC-4870-B74C-82AB71BD4EFB}" type="datetimeFigureOut">
              <a:rPr lang="pt-BR" smtClean="0"/>
              <a:t>15/12/2021</a:t>
            </a:fld>
            <a:endParaRPr lang="pt-BR"/>
          </a:p>
        </p:txBody>
      </p:sp>
      <p:sp>
        <p:nvSpPr>
          <p:cNvPr id="5" name="Espaço Reservado para Rodapé 4"/>
          <p:cNvSpPr>
            <a:spLocks noGrp="1"/>
          </p:cNvSpPr>
          <p:nvPr>
            <p:ph type="ftr" sz="quarter" idx="3"/>
          </p:nvPr>
        </p:nvSpPr>
        <p:spPr>
          <a:xfrm>
            <a:off x="2343151" y="9181396"/>
            <a:ext cx="2171700" cy="527402"/>
          </a:xfrm>
          <a:prstGeom prst="rect">
            <a:avLst/>
          </a:prstGeom>
        </p:spPr>
        <p:txBody>
          <a:bodyPr vert="horz" lIns="104306" tIns="52153" rIns="104306" bIns="52153" rtlCol="0" anchor="ctr"/>
          <a:lstStyle>
            <a:lvl1pPr algn="ctr">
              <a:defRPr sz="1834">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4914900" y="9181396"/>
            <a:ext cx="1600200" cy="527402"/>
          </a:xfrm>
          <a:prstGeom prst="rect">
            <a:avLst/>
          </a:prstGeom>
        </p:spPr>
        <p:txBody>
          <a:bodyPr vert="horz" lIns="104306" tIns="52153" rIns="104306" bIns="52153" rtlCol="0" anchor="ctr"/>
          <a:lstStyle>
            <a:lvl1pPr algn="r">
              <a:defRPr sz="1834">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9483419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1366508" rtl="0" eaLnBrk="1" latinLnBrk="0" hangingPunct="1">
        <a:spcBef>
          <a:spcPct val="0"/>
        </a:spcBef>
        <a:buNone/>
        <a:defRPr sz="6551" kern="1200">
          <a:solidFill>
            <a:schemeClr val="tx1"/>
          </a:solidFill>
          <a:latin typeface="+mj-lt"/>
          <a:ea typeface="+mj-ea"/>
          <a:cs typeface="+mj-cs"/>
        </a:defRPr>
      </a:lvl1pPr>
    </p:titleStyle>
    <p:bodyStyle>
      <a:lvl1pPr marL="512440" indent="-512440" algn="l" defTabSz="1366508" rtl="0" eaLnBrk="1" latinLnBrk="0" hangingPunct="1">
        <a:spcBef>
          <a:spcPct val="20000"/>
        </a:spcBef>
        <a:buFont typeface="Arial" panose="020B0604020202020204" pitchFamily="34" charset="0"/>
        <a:buChar char="•"/>
        <a:defRPr sz="4847" kern="1200">
          <a:solidFill>
            <a:schemeClr val="tx1"/>
          </a:solidFill>
          <a:latin typeface="+mn-lt"/>
          <a:ea typeface="+mn-ea"/>
          <a:cs typeface="+mn-cs"/>
        </a:defRPr>
      </a:lvl1pPr>
      <a:lvl2pPr marL="1110287" indent="-427034" algn="l" defTabSz="1366508" rtl="0" eaLnBrk="1" latinLnBrk="0" hangingPunct="1">
        <a:spcBef>
          <a:spcPct val="20000"/>
        </a:spcBef>
        <a:buFont typeface="Arial" panose="020B0604020202020204" pitchFamily="34" charset="0"/>
        <a:buChar char="–"/>
        <a:defRPr sz="4192" kern="1200">
          <a:solidFill>
            <a:schemeClr val="tx1"/>
          </a:solidFill>
          <a:latin typeface="+mn-lt"/>
          <a:ea typeface="+mn-ea"/>
          <a:cs typeface="+mn-cs"/>
        </a:defRPr>
      </a:lvl2pPr>
      <a:lvl3pPr marL="1708135" indent="-341627" algn="l" defTabSz="1366508" rtl="0" eaLnBrk="1" latinLnBrk="0" hangingPunct="1">
        <a:spcBef>
          <a:spcPct val="20000"/>
        </a:spcBef>
        <a:buFont typeface="Arial" panose="020B0604020202020204" pitchFamily="34" charset="0"/>
        <a:buChar char="•"/>
        <a:defRPr sz="3537" kern="1200">
          <a:solidFill>
            <a:schemeClr val="tx1"/>
          </a:solidFill>
          <a:latin typeface="+mn-lt"/>
          <a:ea typeface="+mn-ea"/>
          <a:cs typeface="+mn-cs"/>
        </a:defRPr>
      </a:lvl3pPr>
      <a:lvl4pPr marL="239138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4pPr>
      <a:lvl5pPr marL="3074642"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5pPr>
      <a:lvl6pPr marL="3757896"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6pPr>
      <a:lvl7pPr marL="4441150"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7pPr>
      <a:lvl8pPr marL="5124404"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8pPr>
      <a:lvl9pPr marL="5807658" indent="-341627" algn="l" defTabSz="1366508" rtl="0" eaLnBrk="1" latinLnBrk="0" hangingPunct="1">
        <a:spcBef>
          <a:spcPct val="20000"/>
        </a:spcBef>
        <a:buFont typeface="Arial" panose="020B0604020202020204" pitchFamily="34" charset="0"/>
        <a:buChar char="•"/>
        <a:defRPr sz="3013" kern="1200">
          <a:solidFill>
            <a:schemeClr val="tx1"/>
          </a:solidFill>
          <a:latin typeface="+mn-lt"/>
          <a:ea typeface="+mn-ea"/>
          <a:cs typeface="+mn-cs"/>
        </a:defRPr>
      </a:lvl9pPr>
    </p:bodyStyle>
    <p:otherStyle>
      <a:defPPr>
        <a:defRPr lang="pt-BR"/>
      </a:defPPr>
      <a:lvl1pPr marL="0" algn="l" defTabSz="1366508" rtl="0" eaLnBrk="1" latinLnBrk="0" hangingPunct="1">
        <a:defRPr sz="2751" kern="1200">
          <a:solidFill>
            <a:schemeClr val="tx1"/>
          </a:solidFill>
          <a:latin typeface="+mn-lt"/>
          <a:ea typeface="+mn-ea"/>
          <a:cs typeface="+mn-cs"/>
        </a:defRPr>
      </a:lvl1pPr>
      <a:lvl2pPr marL="683254" algn="l" defTabSz="1366508" rtl="0" eaLnBrk="1" latinLnBrk="0" hangingPunct="1">
        <a:defRPr sz="2751" kern="1200">
          <a:solidFill>
            <a:schemeClr val="tx1"/>
          </a:solidFill>
          <a:latin typeface="+mn-lt"/>
          <a:ea typeface="+mn-ea"/>
          <a:cs typeface="+mn-cs"/>
        </a:defRPr>
      </a:lvl2pPr>
      <a:lvl3pPr marL="1366508" algn="l" defTabSz="1366508" rtl="0" eaLnBrk="1" latinLnBrk="0" hangingPunct="1">
        <a:defRPr sz="2751" kern="1200">
          <a:solidFill>
            <a:schemeClr val="tx1"/>
          </a:solidFill>
          <a:latin typeface="+mn-lt"/>
          <a:ea typeface="+mn-ea"/>
          <a:cs typeface="+mn-cs"/>
        </a:defRPr>
      </a:lvl3pPr>
      <a:lvl4pPr marL="2049761" algn="l" defTabSz="1366508" rtl="0" eaLnBrk="1" latinLnBrk="0" hangingPunct="1">
        <a:defRPr sz="2751" kern="1200">
          <a:solidFill>
            <a:schemeClr val="tx1"/>
          </a:solidFill>
          <a:latin typeface="+mn-lt"/>
          <a:ea typeface="+mn-ea"/>
          <a:cs typeface="+mn-cs"/>
        </a:defRPr>
      </a:lvl4pPr>
      <a:lvl5pPr marL="2733015" algn="l" defTabSz="1366508" rtl="0" eaLnBrk="1" latinLnBrk="0" hangingPunct="1">
        <a:defRPr sz="2751" kern="1200">
          <a:solidFill>
            <a:schemeClr val="tx1"/>
          </a:solidFill>
          <a:latin typeface="+mn-lt"/>
          <a:ea typeface="+mn-ea"/>
          <a:cs typeface="+mn-cs"/>
        </a:defRPr>
      </a:lvl5pPr>
      <a:lvl6pPr marL="3416269" algn="l" defTabSz="1366508" rtl="0" eaLnBrk="1" latinLnBrk="0" hangingPunct="1">
        <a:defRPr sz="2751" kern="1200">
          <a:solidFill>
            <a:schemeClr val="tx1"/>
          </a:solidFill>
          <a:latin typeface="+mn-lt"/>
          <a:ea typeface="+mn-ea"/>
          <a:cs typeface="+mn-cs"/>
        </a:defRPr>
      </a:lvl6pPr>
      <a:lvl7pPr marL="4099523" algn="l" defTabSz="1366508" rtl="0" eaLnBrk="1" latinLnBrk="0" hangingPunct="1">
        <a:defRPr sz="2751" kern="1200">
          <a:solidFill>
            <a:schemeClr val="tx1"/>
          </a:solidFill>
          <a:latin typeface="+mn-lt"/>
          <a:ea typeface="+mn-ea"/>
          <a:cs typeface="+mn-cs"/>
        </a:defRPr>
      </a:lvl7pPr>
      <a:lvl8pPr marL="4782777" algn="l" defTabSz="1366508" rtl="0" eaLnBrk="1" latinLnBrk="0" hangingPunct="1">
        <a:defRPr sz="2751" kern="1200">
          <a:solidFill>
            <a:schemeClr val="tx1"/>
          </a:solidFill>
          <a:latin typeface="+mn-lt"/>
          <a:ea typeface="+mn-ea"/>
          <a:cs typeface="+mn-cs"/>
        </a:defRPr>
      </a:lvl8pPr>
      <a:lvl9pPr marL="5466031" algn="l" defTabSz="1366508" rtl="0" eaLnBrk="1" latinLnBrk="0" hangingPunct="1">
        <a:defRPr sz="27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jpeg"/><Relationship Id="rId5" Type="http://schemas.openxmlformats.org/officeDocument/2006/relationships/image" Target="../media/image2.jpe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mp"/><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6.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7" Type="http://schemas.microsoft.com/office/2007/relationships/hdphoto" Target="../media/hdphoto6.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07/relationships/hdphoto" Target="../media/hdphoto5.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2.xml"/><Relationship Id="rId4" Type="http://schemas.openxmlformats.org/officeDocument/2006/relationships/image" Target="../media/image12.tmp"/></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7.wdp"/><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1" name="CaixaDeTexto 140"/>
          <p:cNvSpPr txBox="1"/>
          <p:nvPr/>
        </p:nvSpPr>
        <p:spPr>
          <a:xfrm>
            <a:off x="294710" y="69089"/>
            <a:ext cx="6226281" cy="374590"/>
          </a:xfrm>
          <a:prstGeom prst="rect">
            <a:avLst/>
          </a:prstGeom>
          <a:noFill/>
        </p:spPr>
        <p:txBody>
          <a:bodyPr wrap="square" rtlCol="0">
            <a:spAutoFit/>
          </a:bodyPr>
          <a:lstStyle>
            <a:defPPr>
              <a:defRPr lang="pt-BR"/>
            </a:defPPr>
            <a:lvl1pPr algn="ctr">
              <a:defRPr sz="2000">
                <a:latin typeface="Bookman Old Style" panose="02050604050505020204" pitchFamily="18" charset="0"/>
              </a:defRPr>
            </a:lvl1pPr>
          </a:lstStyle>
          <a:p>
            <a:pPr defTabSz="1366508">
              <a:defRPr/>
            </a:pPr>
            <a:r>
              <a:rPr lang="pt-BR" sz="1834" b="1" dirty="0">
                <a:ln w="0"/>
                <a:effectLst>
                  <a:outerShdw blurRad="38100" dist="19050" dir="2700000" algn="tl" rotWithShape="0">
                    <a:schemeClr val="dk1">
                      <a:alpha val="40000"/>
                    </a:schemeClr>
                  </a:outerShdw>
                </a:effectLst>
                <a:latin typeface="Monda" pitchFamily="2" charset="0"/>
              </a:rPr>
              <a:t>FORNO INTELIGENTE TURBO A GÁS</a:t>
            </a:r>
          </a:p>
        </p:txBody>
      </p:sp>
      <p:cxnSp>
        <p:nvCxnSpPr>
          <p:cNvPr id="3" name="Conector reto 2">
            <a:extLst>
              <a:ext uri="{FF2B5EF4-FFF2-40B4-BE49-F238E27FC236}">
                <a16:creationId xmlns:a16="http://schemas.microsoft.com/office/drawing/2014/main" id="{028337A0-0653-400B-861B-19331BCEEE53}"/>
              </a:ext>
            </a:extLst>
          </p:cNvPr>
          <p:cNvCxnSpPr/>
          <p:nvPr/>
        </p:nvCxnSpPr>
        <p:spPr>
          <a:xfrm>
            <a:off x="44624" y="56456"/>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p:nvPr/>
        </p:nvCxnSpPr>
        <p:spPr>
          <a:xfrm>
            <a:off x="44624" y="483129"/>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CaixaDeTexto 4">
            <a:extLst>
              <a:ext uri="{FF2B5EF4-FFF2-40B4-BE49-F238E27FC236}">
                <a16:creationId xmlns:a16="http://schemas.microsoft.com/office/drawing/2014/main" id="{1A6FB963-CC61-4B50-85F2-FDE336ACBEB4}"/>
              </a:ext>
            </a:extLst>
          </p:cNvPr>
          <p:cNvSpPr txBox="1"/>
          <p:nvPr/>
        </p:nvSpPr>
        <p:spPr>
          <a:xfrm>
            <a:off x="3886877" y="5979817"/>
            <a:ext cx="2827302" cy="1180901"/>
          </a:xfrm>
          <a:prstGeom prst="rect">
            <a:avLst/>
          </a:prstGeom>
          <a:noFill/>
        </p:spPr>
        <p:txBody>
          <a:bodyPr wrap="square" rtlCol="0">
            <a:spAutoFit/>
          </a:bodyPr>
          <a:lstStyle/>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Instruções</a:t>
            </a:r>
          </a:p>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Especificações</a:t>
            </a:r>
          </a:p>
          <a:p>
            <a:pPr marL="449233" indent="-449233" defTabSz="1366508">
              <a:buFont typeface="Wingdings" panose="05000000000000000000" pitchFamily="2" charset="2"/>
              <a:buChar char="ü"/>
              <a:defRPr/>
            </a:pPr>
            <a:r>
              <a:rPr lang="pt-BR" sz="2358" b="1" dirty="0">
                <a:solidFill>
                  <a:schemeClr val="tx1">
                    <a:lumMod val="95000"/>
                    <a:lumOff val="5000"/>
                  </a:schemeClr>
                </a:solidFill>
                <a:latin typeface="Monda" pitchFamily="2" charset="0"/>
                <a:cs typeface="Arial" panose="020B0604020202020204" pitchFamily="34" charset="0"/>
              </a:rPr>
              <a:t>Garantia</a:t>
            </a:r>
          </a:p>
        </p:txBody>
      </p:sp>
      <p:cxnSp>
        <p:nvCxnSpPr>
          <p:cNvPr id="62" name="Conector reto 61">
            <a:extLst>
              <a:ext uri="{FF2B5EF4-FFF2-40B4-BE49-F238E27FC236}">
                <a16:creationId xmlns:a16="http://schemas.microsoft.com/office/drawing/2014/main" id="{E4EC445A-7A7F-4A99-821C-370A70C4C94C}"/>
              </a:ext>
            </a:extLst>
          </p:cNvPr>
          <p:cNvCxnSpPr>
            <a:cxnSpLocks/>
          </p:cNvCxnSpPr>
          <p:nvPr/>
        </p:nvCxnSpPr>
        <p:spPr>
          <a:xfrm>
            <a:off x="44624" y="9470589"/>
            <a:ext cx="6725523" cy="660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C998D1FA-B843-43EC-8E70-EF066069FAC3}"/>
              </a:ext>
            </a:extLst>
          </p:cNvPr>
          <p:cNvCxnSpPr>
            <a:cxnSpLocks/>
          </p:cNvCxnSpPr>
          <p:nvPr/>
        </p:nvCxnSpPr>
        <p:spPr>
          <a:xfrm>
            <a:off x="44624" y="9828120"/>
            <a:ext cx="6725523" cy="2142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041A7CB0-8B4D-427E-A547-A67EB8EF1759}"/>
              </a:ext>
            </a:extLst>
          </p:cNvPr>
          <p:cNvSpPr txBox="1"/>
          <p:nvPr/>
        </p:nvSpPr>
        <p:spPr>
          <a:xfrm>
            <a:off x="3771750" y="7771269"/>
            <a:ext cx="3057559" cy="1200970"/>
          </a:xfrm>
          <a:prstGeom prst="rect">
            <a:avLst/>
          </a:prstGeom>
          <a:noFill/>
        </p:spPr>
        <p:txBody>
          <a:bodyPr wrap="square" rtlCol="0">
            <a:spAutoFit/>
          </a:bodyPr>
          <a:lstStyle/>
          <a:p>
            <a:pPr algn="just" defTabSz="1366508">
              <a:defRPr/>
            </a:pPr>
            <a:r>
              <a:rPr lang="pt-BR" sz="1441" dirty="0">
                <a:solidFill>
                  <a:prstClr val="black"/>
                </a:solidFill>
                <a:latin typeface="Monda" pitchFamily="2" charset="0"/>
                <a:cs typeface="Arial" panose="020B0604020202020204" pitchFamily="34" charset="0"/>
              </a:rPr>
              <a:t>Parabéns pela sua nova aquisição! Para obter o máximo desempenho e garantir o perfeito funcionamento do seu produto, leia atentamente este manual. </a:t>
            </a:r>
          </a:p>
        </p:txBody>
      </p:sp>
      <p:pic>
        <p:nvPicPr>
          <p:cNvPr id="2" name="Imagem 1"/>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5018" r="7056"/>
          <a:stretch/>
        </p:blipFill>
        <p:spPr>
          <a:xfrm>
            <a:off x="1172058" y="3246416"/>
            <a:ext cx="2454681" cy="3950631"/>
          </a:xfrm>
          <a:prstGeom prst="rect">
            <a:avLst/>
          </a:prstGeom>
          <a:ln>
            <a:noFill/>
          </a:ln>
          <a:effectLst>
            <a:outerShdw blurRad="292100" dist="139700" dir="2700000" algn="tl" rotWithShape="0">
              <a:srgbClr val="333333">
                <a:alpha val="65000"/>
              </a:srgbClr>
            </a:outerShdw>
          </a:effectLst>
        </p:spPr>
      </p:pic>
      <p:pic>
        <p:nvPicPr>
          <p:cNvPr id="169" name="Imagem 168">
            <a:extLst>
              <a:ext uri="{FF2B5EF4-FFF2-40B4-BE49-F238E27FC236}">
                <a16:creationId xmlns:a16="http://schemas.microsoft.com/office/drawing/2014/main" id="{BEA82876-8A3B-4B4B-BF91-FA72B1E2A7D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24" y="9523124"/>
            <a:ext cx="915445" cy="274332"/>
          </a:xfrm>
          <a:prstGeom prst="rect">
            <a:avLst/>
          </a:prstGeom>
        </p:spPr>
      </p:pic>
      <p:pic>
        <p:nvPicPr>
          <p:cNvPr id="170" name="Imagem 169">
            <a:extLst>
              <a:ext uri="{FF2B5EF4-FFF2-40B4-BE49-F238E27FC236}">
                <a16:creationId xmlns:a16="http://schemas.microsoft.com/office/drawing/2014/main" id="{8DEB471D-2F74-4DD0-BD34-2D8A62FF44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7047" y="9523124"/>
            <a:ext cx="915445" cy="274332"/>
          </a:xfrm>
          <a:prstGeom prst="rect">
            <a:avLst/>
          </a:prstGeom>
        </p:spPr>
      </p:pic>
      <p:pic>
        <p:nvPicPr>
          <p:cNvPr id="171" name="Imagem 170">
            <a:extLst>
              <a:ext uri="{FF2B5EF4-FFF2-40B4-BE49-F238E27FC236}">
                <a16:creationId xmlns:a16="http://schemas.microsoft.com/office/drawing/2014/main" id="{5690F77D-BE88-47B4-B34B-B530697A5A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69470" y="9523124"/>
            <a:ext cx="915445" cy="274332"/>
          </a:xfrm>
          <a:prstGeom prst="rect">
            <a:avLst/>
          </a:prstGeom>
        </p:spPr>
      </p:pic>
      <p:pic>
        <p:nvPicPr>
          <p:cNvPr id="172" name="Imagem 171">
            <a:extLst>
              <a:ext uri="{FF2B5EF4-FFF2-40B4-BE49-F238E27FC236}">
                <a16:creationId xmlns:a16="http://schemas.microsoft.com/office/drawing/2014/main" id="{7E078482-47AD-4264-A0A3-321E0F2AF6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31894" y="9523124"/>
            <a:ext cx="915445" cy="274332"/>
          </a:xfrm>
          <a:prstGeom prst="rect">
            <a:avLst/>
          </a:prstGeom>
        </p:spPr>
      </p:pic>
      <p:pic>
        <p:nvPicPr>
          <p:cNvPr id="173" name="Imagem 172">
            <a:extLst>
              <a:ext uri="{FF2B5EF4-FFF2-40B4-BE49-F238E27FC236}">
                <a16:creationId xmlns:a16="http://schemas.microsoft.com/office/drawing/2014/main" id="{C641466B-6A9A-4503-ABA9-F4948CE8B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4317" y="9523124"/>
            <a:ext cx="915445" cy="274332"/>
          </a:xfrm>
          <a:prstGeom prst="rect">
            <a:avLst/>
          </a:prstGeom>
        </p:spPr>
      </p:pic>
      <p:pic>
        <p:nvPicPr>
          <p:cNvPr id="174" name="Imagem 173">
            <a:extLst>
              <a:ext uri="{FF2B5EF4-FFF2-40B4-BE49-F238E27FC236}">
                <a16:creationId xmlns:a16="http://schemas.microsoft.com/office/drawing/2014/main" id="{CBD1B14D-2AD3-4FF9-97CC-CCBFBFB65AF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56737" y="9523124"/>
            <a:ext cx="915445" cy="274332"/>
          </a:xfrm>
          <a:prstGeom prst="rect">
            <a:avLst/>
          </a:prstGeom>
        </p:spPr>
      </p:pic>
      <p:sp>
        <p:nvSpPr>
          <p:cNvPr id="197" name="CaixaDeTexto 196">
            <a:extLst>
              <a:ext uri="{FF2B5EF4-FFF2-40B4-BE49-F238E27FC236}">
                <a16:creationId xmlns:a16="http://schemas.microsoft.com/office/drawing/2014/main" id="{1DBE23E3-7AD5-457B-AA4F-7D0A86B7015C}"/>
              </a:ext>
            </a:extLst>
          </p:cNvPr>
          <p:cNvSpPr txBox="1"/>
          <p:nvPr/>
        </p:nvSpPr>
        <p:spPr>
          <a:xfrm>
            <a:off x="1302037" y="1161654"/>
            <a:ext cx="4210698" cy="1705082"/>
          </a:xfrm>
          <a:prstGeom prst="rect">
            <a:avLst/>
          </a:prstGeom>
          <a:noFill/>
        </p:spPr>
        <p:txBody>
          <a:bodyPr wrap="square" rtlCol="0">
            <a:spAutoFit/>
          </a:bodyPr>
          <a:lstStyle/>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524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sp>
        <p:nvSpPr>
          <p:cNvPr id="7" name="Retângulo 6">
            <a:extLst>
              <a:ext uri="{FF2B5EF4-FFF2-40B4-BE49-F238E27FC236}">
                <a16:creationId xmlns:a16="http://schemas.microsoft.com/office/drawing/2014/main" id="{779C8118-E500-42DE-B575-448E23CEFC42}"/>
              </a:ext>
            </a:extLst>
          </p:cNvPr>
          <p:cNvSpPr/>
          <p:nvPr/>
        </p:nvSpPr>
        <p:spPr>
          <a:xfrm rot="16200000">
            <a:off x="-224749" y="5647780"/>
            <a:ext cx="2690455" cy="39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17" dirty="0">
                <a:solidFill>
                  <a:schemeClr val="tx1"/>
                </a:solidFill>
                <a:latin typeface="Monda" pitchFamily="2" charset="0"/>
              </a:rPr>
              <a:t>Forno turbo a gás com 08 assadeiras - 220V</a:t>
            </a:r>
          </a:p>
        </p:txBody>
      </p:sp>
      <p:pic>
        <p:nvPicPr>
          <p:cNvPr id="198" name="Picture 2" descr="https://www.ecointeligencia.com/wp-content/uploads/2013/04/apara-elec.jpg">
            <a:extLst>
              <a:ext uri="{FF2B5EF4-FFF2-40B4-BE49-F238E27FC236}">
                <a16:creationId xmlns:a16="http://schemas.microsoft.com/office/drawing/2014/main" id="{0A17776E-7B50-4CD6-8B51-C628B01FC73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7828" y="8693621"/>
            <a:ext cx="889761" cy="68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830B509D-C0C4-4160-83FA-DA2F0DBDECAD}"/>
              </a:ext>
            </a:extLst>
          </p:cNvPr>
          <p:cNvSpPr txBox="1"/>
          <p:nvPr/>
        </p:nvSpPr>
        <p:spPr>
          <a:xfrm>
            <a:off x="91794" y="342735"/>
            <a:ext cx="6603631" cy="1866345"/>
          </a:xfrm>
          <a:prstGeom prst="rect">
            <a:avLst/>
          </a:prstGeom>
          <a:noFill/>
        </p:spPr>
        <p:txBody>
          <a:bodyPr wrap="square" rtlCol="0">
            <a:spAutoFit/>
          </a:bodyPr>
          <a:lstStyle/>
          <a:p>
            <a:pPr algn="just"/>
            <a:r>
              <a:rPr lang="pt-BR" sz="1310" dirty="0"/>
              <a:t>Gostaríamos de parabeniza-lo(a)  pela aquisição de seu novo produto “Forno Ciclone” fabricado pela </a:t>
            </a:r>
            <a:r>
              <a:rPr lang="pt-BR" sz="1310" i="1" dirty="0"/>
              <a:t>Só Aço Industrial LTDA</a:t>
            </a:r>
            <a:r>
              <a:rPr lang="pt-BR" sz="1310" dirty="0"/>
              <a:t>. Buscando a melhor análise de custo/beneficio pelo cliente, a Só Aço Industrial, sempre busca inovar em seus processos, aumentar a eficiência com que atende o cliente e inserir no mercado produtos de alta qualidade.</a:t>
            </a:r>
          </a:p>
          <a:p>
            <a:pPr algn="just"/>
            <a:r>
              <a:rPr lang="pt-BR" sz="1310" dirty="0"/>
              <a:t>Portanto, sugerimos a leitura  deste manual de maneira minuciosa e qualquer dúvida ficaremos satisfeitos em sana-las.</a:t>
            </a:r>
          </a:p>
          <a:p>
            <a:pPr algn="just"/>
            <a:endParaRPr lang="pt-BR" sz="1310" dirty="0"/>
          </a:p>
          <a:p>
            <a:pPr algn="r"/>
            <a:r>
              <a:rPr lang="pt-BR" sz="1310" b="1" dirty="0"/>
              <a:t>Só Aço Industrial LTDA</a:t>
            </a:r>
            <a:r>
              <a:rPr lang="pt-BR" sz="1310" dirty="0"/>
              <a:t> </a:t>
            </a:r>
          </a:p>
          <a:p>
            <a:pPr algn="just"/>
            <a:r>
              <a:rPr lang="pt-BR" sz="1048" dirty="0"/>
              <a:t> </a:t>
            </a:r>
          </a:p>
        </p:txBody>
      </p:sp>
      <p:sp>
        <p:nvSpPr>
          <p:cNvPr id="2" name="CaixaDeTexto 1">
            <a:extLst>
              <a:ext uri="{FF2B5EF4-FFF2-40B4-BE49-F238E27FC236}">
                <a16:creationId xmlns:a16="http://schemas.microsoft.com/office/drawing/2014/main" id="{68D55697-2B46-4B29-B96B-8BE932CFF598}"/>
              </a:ext>
            </a:extLst>
          </p:cNvPr>
          <p:cNvSpPr txBox="1"/>
          <p:nvPr/>
        </p:nvSpPr>
        <p:spPr>
          <a:xfrm>
            <a:off x="101641" y="2111852"/>
            <a:ext cx="6603631" cy="908839"/>
          </a:xfrm>
          <a:prstGeom prst="rect">
            <a:avLst/>
          </a:prstGeom>
          <a:noFill/>
        </p:spPr>
        <p:txBody>
          <a:bodyPr wrap="square" rtlCol="0">
            <a:spAutoFit/>
          </a:bodyPr>
          <a:lstStyle/>
          <a:p>
            <a:pPr algn="just"/>
            <a:r>
              <a:rPr lang="pt-BR" sz="1376" b="1" dirty="0"/>
              <a:t>NOTA: </a:t>
            </a:r>
            <a:r>
              <a:rPr lang="pt-BR" sz="1310" i="1" dirty="0"/>
              <a:t>Guarde a </a:t>
            </a:r>
            <a:r>
              <a:rPr lang="pt-BR" sz="1310" i="1" u="sng" dirty="0"/>
              <a:t>Nota fiscal </a:t>
            </a:r>
            <a:r>
              <a:rPr lang="pt-BR" sz="131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 name="Retângulo 2">
            <a:extLst>
              <a:ext uri="{FF2B5EF4-FFF2-40B4-BE49-F238E27FC236}">
                <a16:creationId xmlns:a16="http://schemas.microsoft.com/office/drawing/2014/main" id="{CD107282-333D-4746-982F-87E1388086CA}"/>
              </a:ext>
            </a:extLst>
          </p:cNvPr>
          <p:cNvSpPr/>
          <p:nvPr/>
        </p:nvSpPr>
        <p:spPr>
          <a:xfrm>
            <a:off x="92203" y="3009313"/>
            <a:ext cx="6721173" cy="28301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41" b="1" dirty="0">
                <a:solidFill>
                  <a:schemeClr val="tx1"/>
                </a:solidFill>
              </a:rPr>
              <a:t>Índice</a:t>
            </a:r>
          </a:p>
        </p:txBody>
      </p:sp>
      <p:sp>
        <p:nvSpPr>
          <p:cNvPr id="10" name="CaixaDeTexto 9">
            <a:extLst>
              <a:ext uri="{FF2B5EF4-FFF2-40B4-BE49-F238E27FC236}">
                <a16:creationId xmlns:a16="http://schemas.microsoft.com/office/drawing/2014/main" id="{CE87DAD6-2E8E-48FE-BFD6-31CEFD67260E}"/>
              </a:ext>
            </a:extLst>
          </p:cNvPr>
          <p:cNvSpPr txBox="1"/>
          <p:nvPr/>
        </p:nvSpPr>
        <p:spPr>
          <a:xfrm>
            <a:off x="3155751" y="938256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01</a:t>
            </a:r>
          </a:p>
        </p:txBody>
      </p:sp>
      <p:sp>
        <p:nvSpPr>
          <p:cNvPr id="4" name="CaixaDeTexto 3"/>
          <p:cNvSpPr txBox="1"/>
          <p:nvPr/>
        </p:nvSpPr>
        <p:spPr>
          <a:xfrm>
            <a:off x="101641" y="0"/>
            <a:ext cx="5094230" cy="314060"/>
          </a:xfrm>
          <a:prstGeom prst="rect">
            <a:avLst/>
          </a:prstGeom>
          <a:noFill/>
        </p:spPr>
        <p:txBody>
          <a:bodyPr wrap="square" rtlCol="0">
            <a:spAutoFit/>
          </a:bodyPr>
          <a:lstStyle/>
          <a:p>
            <a:r>
              <a:rPr lang="pt-BR" sz="1441" b="1" dirty="0">
                <a:latin typeface="Arial" pitchFamily="34" charset="0"/>
                <a:cs typeface="Arial" pitchFamily="34" charset="0"/>
              </a:rPr>
              <a:t>APRESENTAÇÃO</a:t>
            </a:r>
          </a:p>
        </p:txBody>
      </p:sp>
      <p:graphicFrame>
        <p:nvGraphicFramePr>
          <p:cNvPr id="5" name="Tabela 4">
            <a:extLst>
              <a:ext uri="{FF2B5EF4-FFF2-40B4-BE49-F238E27FC236}">
                <a16:creationId xmlns:a16="http://schemas.microsoft.com/office/drawing/2014/main" id="{E8CD2820-2A7B-4C3F-B6E5-5819695CE349}"/>
              </a:ext>
            </a:extLst>
          </p:cNvPr>
          <p:cNvGraphicFramePr>
            <a:graphicFrameLocks noGrp="1"/>
          </p:cNvGraphicFramePr>
          <p:nvPr>
            <p:extLst>
              <p:ext uri="{D42A27DB-BD31-4B8C-83A1-F6EECF244321}">
                <p14:modId xmlns:p14="http://schemas.microsoft.com/office/powerpoint/2010/main" val="259658913"/>
              </p:ext>
            </p:extLst>
          </p:nvPr>
        </p:nvGraphicFramePr>
        <p:xfrm>
          <a:off x="147584" y="3300892"/>
          <a:ext cx="6593784" cy="6116604"/>
        </p:xfrm>
        <a:graphic>
          <a:graphicData uri="http://schemas.openxmlformats.org/drawingml/2006/table">
            <a:tbl>
              <a:tblPr firstRow="1" bandRow="1">
                <a:tableStyleId>{2D5ABB26-0587-4C30-8999-92F81FD0307C}</a:tableStyleId>
              </a:tblPr>
              <a:tblGrid>
                <a:gridCol w="1691956">
                  <a:extLst>
                    <a:ext uri="{9D8B030D-6E8A-4147-A177-3AD203B41FA5}">
                      <a16:colId xmlns:a16="http://schemas.microsoft.com/office/drawing/2014/main" val="3946449252"/>
                    </a:ext>
                  </a:extLst>
                </a:gridCol>
                <a:gridCol w="4468847">
                  <a:extLst>
                    <a:ext uri="{9D8B030D-6E8A-4147-A177-3AD203B41FA5}">
                      <a16:colId xmlns:a16="http://schemas.microsoft.com/office/drawing/2014/main" val="3954161385"/>
                    </a:ext>
                  </a:extLst>
                </a:gridCol>
                <a:gridCol w="432981">
                  <a:extLst>
                    <a:ext uri="{9D8B030D-6E8A-4147-A177-3AD203B41FA5}">
                      <a16:colId xmlns:a16="http://schemas.microsoft.com/office/drawing/2014/main" val="4290746406"/>
                    </a:ext>
                  </a:extLst>
                </a:gridCol>
              </a:tblGrid>
              <a:tr h="299489">
                <a:tc>
                  <a:txBody>
                    <a:bodyPr/>
                    <a:lstStyle/>
                    <a:p>
                      <a:r>
                        <a:rPr lang="pt-BR" sz="1200" u="none" strike="noStrike" kern="1200" dirty="0">
                          <a:solidFill>
                            <a:schemeClr val="dk1"/>
                          </a:solidFill>
                          <a:effectLst/>
                          <a:latin typeface="Arial" panose="020B0604020202020204" pitchFamily="34" charset="0"/>
                          <a:ea typeface="+mn-ea"/>
                          <a:cs typeface="Arial" panose="020B0604020202020204" pitchFamily="34" charset="0"/>
                        </a:rPr>
                        <a:t>Apresentação</a:t>
                      </a:r>
                    </a:p>
                  </a:txBody>
                  <a:tcPr marL="119795" marR="119795" marT="59898" marB="59898"/>
                </a:tc>
                <a:tc>
                  <a:txBody>
                    <a:bodyPr/>
                    <a:lstStyle/>
                    <a:p>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pPr marL="0" indent="0"/>
                      <a:r>
                        <a:rPr lang="pt-BR" sz="1200" dirty="0">
                          <a:latin typeface="Arial" panose="020B0604020202020204" pitchFamily="34" charset="0"/>
                          <a:cs typeface="Arial" panose="020B0604020202020204" pitchFamily="34" charset="0"/>
                        </a:rPr>
                        <a:t>01</a:t>
                      </a:r>
                    </a:p>
                  </a:txBody>
                  <a:tcPr marL="119795" marR="119795" marT="59898" marB="59898"/>
                </a:tc>
                <a:extLst>
                  <a:ext uri="{0D108BD9-81ED-4DB2-BD59-A6C34878D82A}">
                    <a16:rowId xmlns:a16="http://schemas.microsoft.com/office/drawing/2014/main" val="1101373252"/>
                  </a:ext>
                </a:extLst>
              </a:tr>
              <a:tr h="299489">
                <a:tc>
                  <a:txBody>
                    <a:bodyPr/>
                    <a:lstStyle/>
                    <a:p>
                      <a:r>
                        <a:rPr lang="pt-BR" sz="1200" dirty="0">
                          <a:latin typeface="Arial" panose="020B0604020202020204" pitchFamily="34" charset="0"/>
                          <a:cs typeface="Arial" panose="020B0604020202020204" pitchFamily="34" charset="0"/>
                        </a:rPr>
                        <a:t>Dicas importantes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200759808"/>
                  </a:ext>
                </a:extLst>
              </a:tr>
              <a:tr h="299489">
                <a:tc>
                  <a:txBody>
                    <a:bodyPr/>
                    <a:lstStyle/>
                    <a:p>
                      <a:r>
                        <a:rPr lang="pt-BR" sz="1200" dirty="0">
                          <a:latin typeface="Arial" panose="020B0604020202020204" pitchFamily="34" charset="0"/>
                          <a:cs typeface="Arial" panose="020B0604020202020204" pitchFamily="34" charset="0"/>
                        </a:rPr>
                        <a:t>Instalação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228538172"/>
                  </a:ext>
                </a:extLst>
              </a:tr>
              <a:tr h="299489">
                <a:tc>
                  <a:txBody>
                    <a:bodyPr/>
                    <a:lstStyle/>
                    <a:p>
                      <a:r>
                        <a:rPr lang="pt-BR" sz="1200" dirty="0">
                          <a:latin typeface="Arial" panose="020B0604020202020204" pitchFamily="34" charset="0"/>
                          <a:cs typeface="Arial" panose="020B0604020202020204" pitchFamily="34" charset="0"/>
                        </a:rPr>
                        <a:t>Descrição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02</a:t>
                      </a:r>
                    </a:p>
                  </a:txBody>
                  <a:tcPr marL="119795" marR="119795" marT="59898" marB="59898"/>
                </a:tc>
                <a:extLst>
                  <a:ext uri="{0D108BD9-81ED-4DB2-BD59-A6C34878D82A}">
                    <a16:rowId xmlns:a16="http://schemas.microsoft.com/office/drawing/2014/main" val="2946835011"/>
                  </a:ext>
                </a:extLst>
              </a:tr>
              <a:tr h="299489">
                <a:tc>
                  <a:txBody>
                    <a:bodyPr/>
                    <a:lstStyle/>
                    <a:p>
                      <a:r>
                        <a:rPr lang="pt-BR" sz="1200" dirty="0">
                          <a:latin typeface="Arial" panose="020B0604020202020204" pitchFamily="34" charset="0"/>
                          <a:cs typeface="Arial" panose="020B0604020202020204" pitchFamily="34" charset="0"/>
                        </a:rPr>
                        <a:t>Porta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3178435739"/>
                  </a:ext>
                </a:extLst>
              </a:tr>
              <a:tr h="299489">
                <a:tc>
                  <a:txBody>
                    <a:bodyPr/>
                    <a:lstStyle/>
                    <a:p>
                      <a:r>
                        <a:rPr lang="pt-BR" sz="1200" dirty="0">
                          <a:latin typeface="Arial" panose="020B0604020202020204" pitchFamily="34" charset="0"/>
                          <a:cs typeface="Arial" panose="020B0604020202020204" pitchFamily="34" charset="0"/>
                        </a:rPr>
                        <a:t>Luz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2657325433"/>
                  </a:ext>
                </a:extLst>
              </a:tr>
              <a:tr h="299489">
                <a:tc>
                  <a:txBody>
                    <a:bodyPr/>
                    <a:lstStyle/>
                    <a:p>
                      <a:r>
                        <a:rPr lang="pt-BR" sz="1200" dirty="0">
                          <a:latin typeface="Arial" panose="020B0604020202020204" pitchFamily="34" charset="0"/>
                          <a:cs typeface="Arial" panose="020B0604020202020204" pitchFamily="34" charset="0"/>
                        </a:rPr>
                        <a:t>Turbo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369875972"/>
                  </a:ext>
                </a:extLst>
              </a:tr>
              <a:tr h="299489">
                <a:tc>
                  <a:txBody>
                    <a:bodyPr/>
                    <a:lstStyle/>
                    <a:p>
                      <a:r>
                        <a:rPr lang="pt-BR" sz="1200" dirty="0">
                          <a:latin typeface="Arial" panose="020B0604020202020204" pitchFamily="34" charset="0"/>
                          <a:cs typeface="Arial" panose="020B0604020202020204" pitchFamily="34" charset="0"/>
                        </a:rPr>
                        <a:t>Queimador</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03</a:t>
                      </a:r>
                    </a:p>
                  </a:txBody>
                  <a:tcPr marL="119795" marR="119795" marT="59898" marB="59898"/>
                </a:tc>
                <a:extLst>
                  <a:ext uri="{0D108BD9-81ED-4DB2-BD59-A6C34878D82A}">
                    <a16:rowId xmlns:a16="http://schemas.microsoft.com/office/drawing/2014/main" val="1673951737"/>
                  </a:ext>
                </a:extLst>
              </a:tr>
              <a:tr h="299489">
                <a:tc>
                  <a:txBody>
                    <a:bodyPr/>
                    <a:lstStyle/>
                    <a:p>
                      <a:r>
                        <a:rPr lang="pt-BR" sz="1200" dirty="0">
                          <a:latin typeface="Arial" panose="020B0604020202020204" pitchFamily="34" charset="0"/>
                          <a:cs typeface="Arial" panose="020B0604020202020204" pitchFamily="34" charset="0"/>
                        </a:rPr>
                        <a:t>Controlador digital</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04</a:t>
                      </a:r>
                    </a:p>
                  </a:txBody>
                  <a:tcPr marL="119795" marR="119795" marT="59898" marB="59898"/>
                </a:tc>
                <a:extLst>
                  <a:ext uri="{0D108BD9-81ED-4DB2-BD59-A6C34878D82A}">
                    <a16:rowId xmlns:a16="http://schemas.microsoft.com/office/drawing/2014/main" val="2494977238"/>
                  </a:ext>
                </a:extLst>
              </a:tr>
              <a:tr h="479182">
                <a:tc>
                  <a:txBody>
                    <a:bodyPr/>
                    <a:lstStyle/>
                    <a:p>
                      <a:r>
                        <a:rPr lang="pt-BR" sz="1200" dirty="0">
                          <a:latin typeface="Arial" panose="020B0604020202020204" pitchFamily="34" charset="0"/>
                          <a:cs typeface="Arial" panose="020B0604020202020204" pitchFamily="34" charset="0"/>
                        </a:rPr>
                        <a:t>Programação do forno digital</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04</a:t>
                      </a:r>
                    </a:p>
                  </a:txBody>
                  <a:tcPr marL="119795" marR="119795" marT="59898" marB="59898"/>
                </a:tc>
                <a:extLst>
                  <a:ext uri="{0D108BD9-81ED-4DB2-BD59-A6C34878D82A}">
                    <a16:rowId xmlns:a16="http://schemas.microsoft.com/office/drawing/2014/main" val="1321125327"/>
                  </a:ext>
                </a:extLst>
              </a:tr>
              <a:tr h="299489">
                <a:tc>
                  <a:txBody>
                    <a:bodyPr/>
                    <a:lstStyle/>
                    <a:p>
                      <a:r>
                        <a:rPr lang="pt-BR" sz="1200" dirty="0">
                          <a:latin typeface="Arial" panose="020B0604020202020204" pitchFamily="34" charset="0"/>
                          <a:cs typeface="Arial" panose="020B0604020202020204" pitchFamily="34" charset="0"/>
                        </a:rPr>
                        <a:t>Códigos de falhas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05</a:t>
                      </a:r>
                    </a:p>
                  </a:txBody>
                  <a:tcPr marL="119795" marR="119795" marT="59898" marB="59898"/>
                </a:tc>
                <a:extLst>
                  <a:ext uri="{0D108BD9-81ED-4DB2-BD59-A6C34878D82A}">
                    <a16:rowId xmlns:a16="http://schemas.microsoft.com/office/drawing/2014/main" val="4294782624"/>
                  </a:ext>
                </a:extLst>
              </a:tr>
              <a:tr h="299489">
                <a:tc>
                  <a:txBody>
                    <a:bodyPr/>
                    <a:lstStyle/>
                    <a:p>
                      <a:r>
                        <a:rPr lang="pt-BR" sz="1200" dirty="0">
                          <a:latin typeface="Arial" panose="020B0604020202020204" pitchFamily="34" charset="0"/>
                          <a:cs typeface="Arial" panose="020B0604020202020204" pitchFamily="34" charset="0"/>
                        </a:rPr>
                        <a:t>Acendimento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05</a:t>
                      </a:r>
                    </a:p>
                  </a:txBody>
                  <a:tcPr marL="119795" marR="119795" marT="59898" marB="59898"/>
                </a:tc>
                <a:extLst>
                  <a:ext uri="{0D108BD9-81ED-4DB2-BD59-A6C34878D82A}">
                    <a16:rowId xmlns:a16="http://schemas.microsoft.com/office/drawing/2014/main" val="865552348"/>
                  </a:ext>
                </a:extLst>
              </a:tr>
              <a:tr h="299489">
                <a:tc>
                  <a:txBody>
                    <a:bodyPr/>
                    <a:lstStyle/>
                    <a:p>
                      <a:r>
                        <a:rPr lang="pt-BR" sz="1200" dirty="0">
                          <a:latin typeface="Arial" panose="020B0604020202020204" pitchFamily="34" charset="0"/>
                          <a:cs typeface="Arial" panose="020B0604020202020204" pitchFamily="34" charset="0"/>
                        </a:rPr>
                        <a:t>Limpeza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1355992496"/>
                  </a:ext>
                </a:extLst>
              </a:tr>
              <a:tr h="299489">
                <a:tc>
                  <a:txBody>
                    <a:bodyPr/>
                    <a:lstStyle/>
                    <a:p>
                      <a:r>
                        <a:rPr lang="pt-BR" sz="1200" dirty="0">
                          <a:latin typeface="Arial" panose="020B0604020202020204" pitchFamily="34" charset="0"/>
                          <a:cs typeface="Arial" panose="020B0604020202020204" pitchFamily="34" charset="0"/>
                        </a:rPr>
                        <a:t>Alimentação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2591299060"/>
                  </a:ext>
                </a:extLst>
              </a:tr>
              <a:tr h="479182">
                <a:tc>
                  <a:txBody>
                    <a:bodyPr/>
                    <a:lstStyle/>
                    <a:p>
                      <a:r>
                        <a:rPr lang="pt-BR" sz="1200" dirty="0">
                          <a:latin typeface="Arial" panose="020B0604020202020204" pitchFamily="34" charset="0"/>
                          <a:cs typeface="Arial" panose="020B0604020202020204" pitchFamily="34" charset="0"/>
                        </a:rPr>
                        <a:t>Controlador de pressão e umidade</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1136103246"/>
                  </a:ext>
                </a:extLst>
              </a:tr>
              <a:tr h="299489">
                <a:tc>
                  <a:txBody>
                    <a:bodyPr/>
                    <a:lstStyle/>
                    <a:p>
                      <a:r>
                        <a:rPr lang="pt-BR" sz="1200" dirty="0">
                          <a:latin typeface="Arial" panose="020B0604020202020204" pitchFamily="34" charset="0"/>
                          <a:cs typeface="Arial" panose="020B0604020202020204" pitchFamily="34" charset="0"/>
                        </a:rPr>
                        <a:t>Medidas do forno</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06</a:t>
                      </a:r>
                    </a:p>
                  </a:txBody>
                  <a:tcPr marL="119795" marR="119795" marT="59898" marB="59898"/>
                </a:tc>
                <a:extLst>
                  <a:ext uri="{0D108BD9-81ED-4DB2-BD59-A6C34878D82A}">
                    <a16:rowId xmlns:a16="http://schemas.microsoft.com/office/drawing/2014/main" val="3389538389"/>
                  </a:ext>
                </a:extLst>
              </a:tr>
              <a:tr h="299489">
                <a:tc>
                  <a:txBody>
                    <a:bodyPr/>
                    <a:lstStyle/>
                    <a:p>
                      <a:r>
                        <a:rPr lang="pt-BR" sz="1200" dirty="0">
                          <a:latin typeface="Arial" panose="020B0604020202020204" pitchFamily="34" charset="0"/>
                          <a:cs typeface="Arial" panose="020B0604020202020204" pitchFamily="34" charset="0"/>
                        </a:rPr>
                        <a:t>Esquema de ligações</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07</a:t>
                      </a:r>
                    </a:p>
                  </a:txBody>
                  <a:tcPr marL="119795" marR="119795" marT="59898" marB="59898"/>
                </a:tc>
                <a:extLst>
                  <a:ext uri="{0D108BD9-81ED-4DB2-BD59-A6C34878D82A}">
                    <a16:rowId xmlns:a16="http://schemas.microsoft.com/office/drawing/2014/main" val="4027581846"/>
                  </a:ext>
                </a:extLst>
              </a:tr>
              <a:tr h="299489">
                <a:tc>
                  <a:txBody>
                    <a:bodyPr/>
                    <a:lstStyle/>
                    <a:p>
                      <a:r>
                        <a:rPr lang="pt-BR" sz="1200" dirty="0">
                          <a:latin typeface="Arial" panose="020B0604020202020204" pitchFamily="34" charset="0"/>
                          <a:cs typeface="Arial" panose="020B0604020202020204" pitchFamily="34" charset="0"/>
                        </a:rPr>
                        <a:t>Vista explodida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08</a:t>
                      </a:r>
                    </a:p>
                  </a:txBody>
                  <a:tcPr marL="119795" marR="119795" marT="59898" marB="59898"/>
                </a:tc>
                <a:extLst>
                  <a:ext uri="{0D108BD9-81ED-4DB2-BD59-A6C34878D82A}">
                    <a16:rowId xmlns:a16="http://schemas.microsoft.com/office/drawing/2014/main" val="632701"/>
                  </a:ext>
                </a:extLst>
              </a:tr>
              <a:tr h="299489">
                <a:tc>
                  <a:txBody>
                    <a:bodyPr/>
                    <a:lstStyle/>
                    <a:p>
                      <a:r>
                        <a:rPr lang="pt-BR" sz="1200" dirty="0">
                          <a:latin typeface="Arial" panose="020B0604020202020204" pitchFamily="34" charset="0"/>
                          <a:cs typeface="Arial" panose="020B0604020202020204" pitchFamily="34" charset="0"/>
                        </a:rPr>
                        <a:t>Termo de garantia</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u="none" strike="noStrike" kern="1200" dirty="0">
                          <a:solidFill>
                            <a:schemeClr val="dk1"/>
                          </a:solidFill>
                          <a:effectLst/>
                          <a:latin typeface="Arial" panose="020B0604020202020204" pitchFamily="34" charset="0"/>
                          <a:ea typeface="+mn-ea"/>
                          <a:cs typeface="Arial" panose="020B0604020202020204" pitchFamily="34" charset="0"/>
                        </a:rPr>
                        <a:t>..................................................................................................</a:t>
                      </a:r>
                    </a:p>
                  </a:txBody>
                  <a:tcPr marL="119795" marR="119795" marT="59898" marB="59898"/>
                </a:tc>
                <a:tc>
                  <a:txBody>
                    <a:bodyPr/>
                    <a:lstStyle/>
                    <a:p>
                      <a:r>
                        <a:rPr lang="pt-BR" sz="1200" dirty="0">
                          <a:latin typeface="Arial" panose="020B0604020202020204" pitchFamily="34" charset="0"/>
                          <a:cs typeface="Arial" panose="020B0604020202020204" pitchFamily="34" charset="0"/>
                        </a:rPr>
                        <a:t>11</a:t>
                      </a:r>
                    </a:p>
                  </a:txBody>
                  <a:tcPr marL="119795" marR="119795" marT="59898" marB="59898"/>
                </a:tc>
                <a:extLst>
                  <a:ext uri="{0D108BD9-81ED-4DB2-BD59-A6C34878D82A}">
                    <a16:rowId xmlns:a16="http://schemas.microsoft.com/office/drawing/2014/main" val="2711186377"/>
                  </a:ext>
                </a:extLst>
              </a:tr>
            </a:tbl>
          </a:graphicData>
        </a:graphic>
      </p:graphicFrame>
    </p:spTree>
    <p:extLst>
      <p:ext uri="{BB962C8B-B14F-4D97-AF65-F5344CB8AC3E}">
        <p14:creationId xmlns:p14="http://schemas.microsoft.com/office/powerpoint/2010/main" val="93668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611D8128-1566-4627-9914-3052E7C4CAD5}"/>
              </a:ext>
            </a:extLst>
          </p:cNvPr>
          <p:cNvSpPr txBox="1"/>
          <p:nvPr/>
        </p:nvSpPr>
        <p:spPr>
          <a:xfrm>
            <a:off x="131749" y="425287"/>
            <a:ext cx="6530332" cy="2632772"/>
          </a:xfrm>
          <a:prstGeom prst="rect">
            <a:avLst/>
          </a:prstGeom>
          <a:noFill/>
        </p:spPr>
        <p:txBody>
          <a:bodyPr wrap="square" rtlCol="0" anchor="t">
            <a:spAutoFit/>
          </a:bodyPr>
          <a:lstStyle/>
          <a:p>
            <a:pPr algn="just"/>
            <a:r>
              <a:rPr lang="pt-BR" sz="1179" dirty="0">
                <a:latin typeface="Arial" pitchFamily="34" charset="0"/>
                <a:cs typeface="Arial" pitchFamily="34" charset="0"/>
              </a:rPr>
              <a:t>1.1 A instalação deve ser feita de acordo com as instruções do fabricante e por pessoas qualificadas e autorizadas;</a:t>
            </a:r>
          </a:p>
          <a:p>
            <a:pPr algn="just"/>
            <a:r>
              <a:rPr lang="pt-BR" sz="1179" dirty="0">
                <a:latin typeface="Arial" pitchFamily="34" charset="0"/>
                <a:cs typeface="Arial" pitchFamily="34" charset="0"/>
              </a:rPr>
              <a:t>1.2 Para eventuais reparos, dirija-se exclusivamente a um centro de assistência técnica autorizado pelo fabricante e solicite peças de reposição originais;</a:t>
            </a:r>
          </a:p>
          <a:p>
            <a:pPr algn="just"/>
            <a:r>
              <a:rPr lang="pt-BR" sz="1179" dirty="0">
                <a:latin typeface="Arial" pitchFamily="34" charset="0"/>
                <a:cs typeface="Arial" pitchFamily="34" charset="0"/>
              </a:rPr>
              <a:t>1.3 O não cumprimento dos avisos contidos neste manual pode comprometer a segurança do operador;</a:t>
            </a:r>
          </a:p>
          <a:p>
            <a:pPr algn="just"/>
            <a:r>
              <a:rPr lang="pt-BR" sz="1179" dirty="0">
                <a:latin typeface="Arial" pitchFamily="34" charset="0"/>
                <a:cs typeface="Arial" pitchFamily="34" charset="0"/>
              </a:rPr>
              <a:t>1.4 Entre em contato com o distribuidor de sua confiança para conseguir o endereço da autorizada mais próxima de você.</a:t>
            </a:r>
          </a:p>
          <a:p>
            <a:pPr algn="just"/>
            <a:r>
              <a:rPr lang="pt-BR" sz="1179" dirty="0">
                <a:latin typeface="Arial" pitchFamily="34" charset="0"/>
                <a:cs typeface="Arial" pitchFamily="34" charset="0"/>
              </a:rPr>
              <a:t>1.5 Conservar em local adequado este manual para qualquer consulta.</a:t>
            </a:r>
          </a:p>
          <a:p>
            <a:pPr algn="just"/>
            <a:r>
              <a:rPr lang="pt-BR" sz="1179" dirty="0">
                <a:latin typeface="Arial" pitchFamily="34" charset="0"/>
                <a:cs typeface="Arial" pitchFamily="34" charset="0"/>
              </a:rPr>
              <a:t>1.6 O fabricante reserva-se o direito de modificar em qualquer momento e sem aviso prévio o conteúdo deste manual.</a:t>
            </a:r>
          </a:p>
          <a:p>
            <a:pPr algn="just"/>
            <a:r>
              <a:rPr lang="pt-BR" sz="1179" dirty="0">
                <a:latin typeface="Arial" pitchFamily="34" charset="0"/>
                <a:cs typeface="Arial" pitchFamily="34" charset="0"/>
              </a:rPr>
              <a:t>1.7 A Só Aço se reserva do direito de alterar as características dos seus produtos sem aviso prévio.</a:t>
            </a:r>
          </a:p>
          <a:p>
            <a:pPr algn="just"/>
            <a:endParaRPr lang="pt-BR" sz="1179" dirty="0">
              <a:latin typeface="Arial" pitchFamily="34" charset="0"/>
              <a:cs typeface="Arial" pitchFamily="34" charset="0"/>
            </a:endParaRPr>
          </a:p>
        </p:txBody>
      </p:sp>
      <p:sp>
        <p:nvSpPr>
          <p:cNvPr id="11" name="Retângulo 10">
            <a:extLst>
              <a:ext uri="{FF2B5EF4-FFF2-40B4-BE49-F238E27FC236}">
                <a16:creationId xmlns:a16="http://schemas.microsoft.com/office/drawing/2014/main" id="{A5241CD7-1878-44BD-9BE4-7558038A80D1}"/>
              </a:ext>
            </a:extLst>
          </p:cNvPr>
          <p:cNvSpPr/>
          <p:nvPr/>
        </p:nvSpPr>
        <p:spPr>
          <a:xfrm>
            <a:off x="156807" y="3104439"/>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2. Instalação</a:t>
            </a:r>
          </a:p>
        </p:txBody>
      </p:sp>
      <p:sp>
        <p:nvSpPr>
          <p:cNvPr id="12" name="CaixaDeTexto 11">
            <a:extLst>
              <a:ext uri="{FF2B5EF4-FFF2-40B4-BE49-F238E27FC236}">
                <a16:creationId xmlns:a16="http://schemas.microsoft.com/office/drawing/2014/main" id="{EB0FD5D4-8B17-4B4D-9B77-2C0C00839FA3}"/>
              </a:ext>
            </a:extLst>
          </p:cNvPr>
          <p:cNvSpPr txBox="1"/>
          <p:nvPr/>
        </p:nvSpPr>
        <p:spPr>
          <a:xfrm>
            <a:off x="174247" y="3342704"/>
            <a:ext cx="3891974" cy="1181093"/>
          </a:xfrm>
          <a:prstGeom prst="rect">
            <a:avLst/>
          </a:prstGeom>
          <a:noFill/>
        </p:spPr>
        <p:txBody>
          <a:bodyPr wrap="square" rtlCol="0">
            <a:spAutoFit/>
          </a:bodyPr>
          <a:lstStyle/>
          <a:p>
            <a:pPr algn="just"/>
            <a:r>
              <a:rPr lang="pt-BR" sz="1179" dirty="0">
                <a:latin typeface="Arial" pitchFamily="34" charset="0"/>
                <a:cs typeface="Arial" pitchFamily="34" charset="0"/>
              </a:rPr>
              <a:t>2.1 Antes de usar seu Forno Turbo a gás, efetue a ligação do fio terra, para poder operar sem riscos de sofrer descarga elétrica.</a:t>
            </a:r>
          </a:p>
          <a:p>
            <a:pPr algn="just"/>
            <a:r>
              <a:rPr lang="pt-BR" sz="1179" dirty="0">
                <a:latin typeface="Arial" pitchFamily="34" charset="0"/>
                <a:cs typeface="Arial" pitchFamily="34" charset="0"/>
              </a:rPr>
              <a:t>2.2 Providencie a ligação da água, conectando-a na eletroválvula, que se encontra na parte de trás do forno.</a:t>
            </a:r>
          </a:p>
          <a:p>
            <a:pPr algn="just"/>
            <a:endParaRPr lang="pt-BR" sz="1179" dirty="0">
              <a:latin typeface="Arial" pitchFamily="34" charset="0"/>
              <a:cs typeface="Arial" pitchFamily="34" charset="0"/>
            </a:endParaRPr>
          </a:p>
        </p:txBody>
      </p:sp>
      <p:sp>
        <p:nvSpPr>
          <p:cNvPr id="13" name="Retângulo 12">
            <a:extLst>
              <a:ext uri="{FF2B5EF4-FFF2-40B4-BE49-F238E27FC236}">
                <a16:creationId xmlns:a16="http://schemas.microsoft.com/office/drawing/2014/main" id="{7FFD82F9-C7D0-470B-B271-C9E9CB668485}"/>
              </a:ext>
            </a:extLst>
          </p:cNvPr>
          <p:cNvSpPr/>
          <p:nvPr/>
        </p:nvSpPr>
        <p:spPr>
          <a:xfrm>
            <a:off x="116632" y="6654135"/>
            <a:ext cx="6632208"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3. Descrição do forno</a:t>
            </a:r>
          </a:p>
        </p:txBody>
      </p:sp>
      <p:sp>
        <p:nvSpPr>
          <p:cNvPr id="14" name="CaixaDeTexto 13">
            <a:extLst>
              <a:ext uri="{FF2B5EF4-FFF2-40B4-BE49-F238E27FC236}">
                <a16:creationId xmlns:a16="http://schemas.microsoft.com/office/drawing/2014/main" id="{91292503-C69D-464F-91F7-52B99FFDC2F3}"/>
              </a:ext>
            </a:extLst>
          </p:cNvPr>
          <p:cNvSpPr txBox="1"/>
          <p:nvPr/>
        </p:nvSpPr>
        <p:spPr>
          <a:xfrm>
            <a:off x="209222" y="6952038"/>
            <a:ext cx="1004314"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PAINEL</a:t>
            </a:r>
            <a:endParaRPr lang="pt-BR" sz="1179" b="1" dirty="0">
              <a:solidFill>
                <a:srgbClr val="FF0000"/>
              </a:solidFill>
              <a:latin typeface="Arial" panose="020B0604020202020204" pitchFamily="34" charset="0"/>
              <a:cs typeface="Arial" panose="020B0604020202020204" pitchFamily="34" charset="0"/>
            </a:endParaRPr>
          </a:p>
        </p:txBody>
      </p:sp>
      <p:sp>
        <p:nvSpPr>
          <p:cNvPr id="15" name="CaixaDeTexto 14">
            <a:extLst>
              <a:ext uri="{FF2B5EF4-FFF2-40B4-BE49-F238E27FC236}">
                <a16:creationId xmlns:a16="http://schemas.microsoft.com/office/drawing/2014/main" id="{6B2D2BC9-217F-4A2D-94CB-1D2610BC4123}"/>
              </a:ext>
            </a:extLst>
          </p:cNvPr>
          <p:cNvSpPr txBox="1"/>
          <p:nvPr/>
        </p:nvSpPr>
        <p:spPr>
          <a:xfrm>
            <a:off x="3181294" y="9503743"/>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02</a:t>
            </a:r>
          </a:p>
        </p:txBody>
      </p:sp>
      <p:sp>
        <p:nvSpPr>
          <p:cNvPr id="16" name="Retângulo 15">
            <a:extLst>
              <a:ext uri="{FF2B5EF4-FFF2-40B4-BE49-F238E27FC236}">
                <a16:creationId xmlns:a16="http://schemas.microsoft.com/office/drawing/2014/main" id="{8EE3F7D6-A8DA-4253-AD34-5A187C4DF626}"/>
              </a:ext>
            </a:extLst>
          </p:cNvPr>
          <p:cNvSpPr/>
          <p:nvPr/>
        </p:nvSpPr>
        <p:spPr>
          <a:xfrm>
            <a:off x="156807" y="13071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 Dicas importantes</a:t>
            </a:r>
          </a:p>
        </p:txBody>
      </p:sp>
      <p:pic>
        <p:nvPicPr>
          <p:cNvPr id="17" name="Imagem 16">
            <a:extLst>
              <a:ext uri="{FF2B5EF4-FFF2-40B4-BE49-F238E27FC236}">
                <a16:creationId xmlns:a16="http://schemas.microsoft.com/office/drawing/2014/main" id="{A2BC766E-B9AB-4811-BD18-6A1404814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9001" y="3460128"/>
            <a:ext cx="2578159" cy="1002029"/>
          </a:xfrm>
          <a:prstGeom prst="rect">
            <a:avLst/>
          </a:prstGeom>
        </p:spPr>
      </p:pic>
      <p:sp>
        <p:nvSpPr>
          <p:cNvPr id="18" name="CaixaDeTexto 17">
            <a:extLst>
              <a:ext uri="{FF2B5EF4-FFF2-40B4-BE49-F238E27FC236}">
                <a16:creationId xmlns:a16="http://schemas.microsoft.com/office/drawing/2014/main" id="{27C9E74E-2B2F-4D05-AE96-9162F232A35B}"/>
              </a:ext>
            </a:extLst>
          </p:cNvPr>
          <p:cNvSpPr txBox="1"/>
          <p:nvPr/>
        </p:nvSpPr>
        <p:spPr>
          <a:xfrm>
            <a:off x="135492" y="4426566"/>
            <a:ext cx="6632208" cy="63671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2.3 Certifique-se que não há vazamentos nas válvulas e ligação das mangueiras de passagem do gás. Para isso, use sabão ou detergente. Se produzir bolha é sinal que há vazamento. </a:t>
            </a:r>
            <a:r>
              <a:rPr lang="pt-BR" sz="1179" b="1" dirty="0">
                <a:latin typeface="Arial" panose="020B0604020202020204" pitchFamily="34" charset="0"/>
                <a:cs typeface="Arial" pitchFamily="34" charset="0"/>
              </a:rPr>
              <a:t>Utilize sempre os dois botijões de gás.</a:t>
            </a:r>
            <a:endParaRPr lang="pt-BR" sz="1179" dirty="0">
              <a:latin typeface="Arial" panose="020B0604020202020204" pitchFamily="34" charset="0"/>
              <a:cs typeface="Arial" pitchFamily="34" charset="0"/>
            </a:endParaRPr>
          </a:p>
        </p:txBody>
      </p:sp>
      <p:sp>
        <p:nvSpPr>
          <p:cNvPr id="19" name="CaixaDeTexto 18">
            <a:extLst>
              <a:ext uri="{FF2B5EF4-FFF2-40B4-BE49-F238E27FC236}">
                <a16:creationId xmlns:a16="http://schemas.microsoft.com/office/drawing/2014/main" id="{7C3351EA-B519-4115-BB91-5399D4EA9590}"/>
              </a:ext>
            </a:extLst>
          </p:cNvPr>
          <p:cNvSpPr txBox="1"/>
          <p:nvPr/>
        </p:nvSpPr>
        <p:spPr>
          <a:xfrm>
            <a:off x="153071" y="5215253"/>
            <a:ext cx="3862534" cy="1181093"/>
          </a:xfrm>
          <a:prstGeom prst="rect">
            <a:avLst/>
          </a:prstGeom>
          <a:noFill/>
        </p:spPr>
        <p:txBody>
          <a:bodyPr wrap="square" rtlCol="0">
            <a:spAutoFit/>
          </a:bodyPr>
          <a:lstStyle/>
          <a:p>
            <a:pPr algn="just"/>
            <a:r>
              <a:rPr lang="pt-BR" sz="1179" b="1" dirty="0">
                <a:latin typeface="Arial" panose="020B0604020202020204" pitchFamily="34" charset="0"/>
                <a:cs typeface="Arial" pitchFamily="34" charset="0"/>
              </a:rPr>
              <a:t>REGISTRO DE ALTA PRESSÃO NA SAÍDA DOS BOTIJÕES E VÁLVULA REGULADORA DE PRESSÃO DE GÁS (NÃO ACOMPANHAM O EQUIPAMENTO)</a:t>
            </a:r>
          </a:p>
          <a:p>
            <a:pPr algn="just"/>
            <a:r>
              <a:rPr lang="pt-BR" sz="1179" i="1" dirty="0">
                <a:latin typeface="Arial" panose="020B0604020202020204" pitchFamily="34" charset="0"/>
                <a:cs typeface="Arial" pitchFamily="34" charset="0"/>
              </a:rPr>
              <a:t>Obs.: Para sua segurança substituí-la após a data de validade.</a:t>
            </a:r>
          </a:p>
        </p:txBody>
      </p:sp>
      <p:pic>
        <p:nvPicPr>
          <p:cNvPr id="20" name="Imagem 19">
            <a:extLst>
              <a:ext uri="{FF2B5EF4-FFF2-40B4-BE49-F238E27FC236}">
                <a16:creationId xmlns:a16="http://schemas.microsoft.com/office/drawing/2014/main" id="{90D46F34-7A3B-4FB3-9D19-66E8A5211AF5}"/>
              </a:ext>
            </a:extLst>
          </p:cNvPr>
          <p:cNvPicPr>
            <a:picLocks noChangeAspect="1"/>
          </p:cNvPicPr>
          <p:nvPr/>
        </p:nvPicPr>
        <p:blipFill>
          <a:blip r:embed="rId3" cstate="print">
            <a:extLst>
              <a:ext uri="{BEBA8EAE-BF5A-486C-A8C5-ECC9F3942E4B}">
                <a14:imgProps xmlns:a14="http://schemas.microsoft.com/office/drawing/2010/main">
                  <a14:imgLayer r:embed="rId4">
                    <a14:imgEffect>
                      <a14:artisticPaintStrokes/>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4074031" y="5217099"/>
            <a:ext cx="1218579" cy="1362357"/>
          </a:xfrm>
          <a:prstGeom prst="rect">
            <a:avLst/>
          </a:prstGeom>
        </p:spPr>
      </p:pic>
      <p:cxnSp>
        <p:nvCxnSpPr>
          <p:cNvPr id="21" name="Conector de Seta Reta 20">
            <a:extLst>
              <a:ext uri="{FF2B5EF4-FFF2-40B4-BE49-F238E27FC236}">
                <a16:creationId xmlns:a16="http://schemas.microsoft.com/office/drawing/2014/main" id="{A2BA0F1E-B2A9-4CFD-9FF0-FCF29A5AAD79}"/>
              </a:ext>
            </a:extLst>
          </p:cNvPr>
          <p:cNvCxnSpPr>
            <a:cxnSpLocks/>
          </p:cNvCxnSpPr>
          <p:nvPr/>
        </p:nvCxnSpPr>
        <p:spPr>
          <a:xfrm flipV="1">
            <a:off x="4726584" y="5591198"/>
            <a:ext cx="799631" cy="71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CaixaDeTexto 21">
            <a:extLst>
              <a:ext uri="{FF2B5EF4-FFF2-40B4-BE49-F238E27FC236}">
                <a16:creationId xmlns:a16="http://schemas.microsoft.com/office/drawing/2014/main" id="{ABAB0EAC-9179-428C-897B-38AC2F102F87}"/>
              </a:ext>
            </a:extLst>
          </p:cNvPr>
          <p:cNvSpPr txBox="1"/>
          <p:nvPr/>
        </p:nvSpPr>
        <p:spPr>
          <a:xfrm>
            <a:off x="5515060" y="5067347"/>
            <a:ext cx="1218579" cy="576120"/>
          </a:xfrm>
          <a:prstGeom prst="rect">
            <a:avLst/>
          </a:prstGeom>
          <a:noFill/>
        </p:spPr>
        <p:txBody>
          <a:bodyPr wrap="square" rtlCol="0">
            <a:spAutoFit/>
          </a:bodyPr>
          <a:lstStyle/>
          <a:p>
            <a:r>
              <a:rPr lang="pt-BR" sz="1048" b="1" dirty="0">
                <a:latin typeface="Arial" panose="020B0604020202020204" pitchFamily="34" charset="0"/>
                <a:cs typeface="Arial" panose="020B0604020202020204" pitchFamily="34" charset="0"/>
              </a:rPr>
              <a:t>Válvula reguladora de pressão de gás</a:t>
            </a:r>
          </a:p>
        </p:txBody>
      </p:sp>
      <p:cxnSp>
        <p:nvCxnSpPr>
          <p:cNvPr id="23" name="Conector de Seta Reta 22">
            <a:extLst>
              <a:ext uri="{FF2B5EF4-FFF2-40B4-BE49-F238E27FC236}">
                <a16:creationId xmlns:a16="http://schemas.microsoft.com/office/drawing/2014/main" id="{EE596399-E7D3-4262-AEA4-7E4558F636BF}"/>
              </a:ext>
            </a:extLst>
          </p:cNvPr>
          <p:cNvCxnSpPr>
            <a:cxnSpLocks/>
          </p:cNvCxnSpPr>
          <p:nvPr/>
        </p:nvCxnSpPr>
        <p:spPr>
          <a:xfrm>
            <a:off x="5231245" y="6148039"/>
            <a:ext cx="4387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CaixaDeTexto 23">
            <a:extLst>
              <a:ext uri="{FF2B5EF4-FFF2-40B4-BE49-F238E27FC236}">
                <a16:creationId xmlns:a16="http://schemas.microsoft.com/office/drawing/2014/main" id="{70FAA277-1D33-45A9-97D7-291A7A37913C}"/>
              </a:ext>
            </a:extLst>
          </p:cNvPr>
          <p:cNvSpPr txBox="1"/>
          <p:nvPr/>
        </p:nvSpPr>
        <p:spPr>
          <a:xfrm>
            <a:off x="5626830" y="5960256"/>
            <a:ext cx="1035250" cy="414857"/>
          </a:xfrm>
          <a:prstGeom prst="rect">
            <a:avLst/>
          </a:prstGeom>
          <a:noFill/>
        </p:spPr>
        <p:txBody>
          <a:bodyPr wrap="square" rtlCol="0">
            <a:spAutoFit/>
          </a:bodyPr>
          <a:lstStyle/>
          <a:p>
            <a:r>
              <a:rPr lang="pt-BR" sz="1048" b="1" dirty="0">
                <a:latin typeface="Arial" panose="020B0604020202020204" pitchFamily="34" charset="0"/>
                <a:cs typeface="Arial" panose="020B0604020202020204" pitchFamily="34" charset="0"/>
              </a:rPr>
              <a:t>Registros de alta pressão</a:t>
            </a:r>
          </a:p>
        </p:txBody>
      </p:sp>
      <p:sp>
        <p:nvSpPr>
          <p:cNvPr id="25" name="Elipse 24">
            <a:extLst>
              <a:ext uri="{FF2B5EF4-FFF2-40B4-BE49-F238E27FC236}">
                <a16:creationId xmlns:a16="http://schemas.microsoft.com/office/drawing/2014/main" id="{81CD0D9A-6B93-4A71-9A60-A89AA17FBF7C}"/>
              </a:ext>
            </a:extLst>
          </p:cNvPr>
          <p:cNvSpPr/>
          <p:nvPr/>
        </p:nvSpPr>
        <p:spPr>
          <a:xfrm>
            <a:off x="4179001" y="6005789"/>
            <a:ext cx="1133943" cy="573667"/>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9795" tIns="59898" rIns="119795" bIns="59898" numCol="1" spcCol="0" rtlCol="0" fromWordArt="0" anchor="ctr" anchorCtr="0" forceAA="0" compatLnSpc="1">
            <a:prstTxWarp prst="textNoShape">
              <a:avLst/>
            </a:prstTxWarp>
            <a:noAutofit/>
          </a:bodyPr>
          <a:lstStyle/>
          <a:p>
            <a:pPr algn="ctr"/>
            <a:endParaRPr lang="pt-BR" sz="1179">
              <a:latin typeface="Arial" panose="020B0604020202020204" pitchFamily="34" charset="0"/>
              <a:cs typeface="Arial" panose="020B0604020202020204" pitchFamily="34" charset="0"/>
            </a:endParaRPr>
          </a:p>
        </p:txBody>
      </p:sp>
      <p:pic>
        <p:nvPicPr>
          <p:cNvPr id="26" name="Imagem 25">
            <a:extLst>
              <a:ext uri="{FF2B5EF4-FFF2-40B4-BE49-F238E27FC236}">
                <a16:creationId xmlns:a16="http://schemas.microsoft.com/office/drawing/2014/main" id="{40F45464-5226-41E4-807E-5E094F41D862}"/>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1861089" y="7188501"/>
            <a:ext cx="695731" cy="2235218"/>
          </a:xfrm>
          <a:prstGeom prst="rect">
            <a:avLst/>
          </a:prstGeom>
        </p:spPr>
      </p:pic>
      <p:cxnSp>
        <p:nvCxnSpPr>
          <p:cNvPr id="27" name="Conector de Seta Reta 26">
            <a:extLst>
              <a:ext uri="{FF2B5EF4-FFF2-40B4-BE49-F238E27FC236}">
                <a16:creationId xmlns:a16="http://schemas.microsoft.com/office/drawing/2014/main" id="{D695B828-063E-41DC-8088-42EB78BC1EDF}"/>
              </a:ext>
            </a:extLst>
          </p:cNvPr>
          <p:cNvCxnSpPr/>
          <p:nvPr/>
        </p:nvCxnSpPr>
        <p:spPr>
          <a:xfrm>
            <a:off x="2273807" y="7599366"/>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CaixaDeTexto 27">
            <a:extLst>
              <a:ext uri="{FF2B5EF4-FFF2-40B4-BE49-F238E27FC236}">
                <a16:creationId xmlns:a16="http://schemas.microsoft.com/office/drawing/2014/main" id="{5E358F30-1AE2-48E2-8C12-B5CA3F042FF3}"/>
              </a:ext>
            </a:extLst>
          </p:cNvPr>
          <p:cNvSpPr txBox="1"/>
          <p:nvPr/>
        </p:nvSpPr>
        <p:spPr>
          <a:xfrm>
            <a:off x="3181294" y="7410692"/>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CONTROLADOR DIGITAL</a:t>
            </a:r>
          </a:p>
        </p:txBody>
      </p:sp>
      <p:cxnSp>
        <p:nvCxnSpPr>
          <p:cNvPr id="29" name="Conector de Seta Reta 28">
            <a:extLst>
              <a:ext uri="{FF2B5EF4-FFF2-40B4-BE49-F238E27FC236}">
                <a16:creationId xmlns:a16="http://schemas.microsoft.com/office/drawing/2014/main" id="{14C13C74-3009-470C-8648-685679DF2F55}"/>
              </a:ext>
            </a:extLst>
          </p:cNvPr>
          <p:cNvCxnSpPr/>
          <p:nvPr/>
        </p:nvCxnSpPr>
        <p:spPr>
          <a:xfrm>
            <a:off x="2552547" y="8683621"/>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CaixaDeTexto 29">
            <a:extLst>
              <a:ext uri="{FF2B5EF4-FFF2-40B4-BE49-F238E27FC236}">
                <a16:creationId xmlns:a16="http://schemas.microsoft.com/office/drawing/2014/main" id="{7A40BD13-9A19-4724-A42B-9CB100804FB2}"/>
              </a:ext>
            </a:extLst>
          </p:cNvPr>
          <p:cNvSpPr txBox="1"/>
          <p:nvPr/>
        </p:nvSpPr>
        <p:spPr>
          <a:xfrm>
            <a:off x="3460034" y="8494946"/>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Geral</a:t>
            </a:r>
          </a:p>
        </p:txBody>
      </p:sp>
      <p:cxnSp>
        <p:nvCxnSpPr>
          <p:cNvPr id="31" name="Conector de Seta Reta 30">
            <a:extLst>
              <a:ext uri="{FF2B5EF4-FFF2-40B4-BE49-F238E27FC236}">
                <a16:creationId xmlns:a16="http://schemas.microsoft.com/office/drawing/2014/main" id="{EE7E64EC-5C83-432E-991C-9363A626E175}"/>
              </a:ext>
            </a:extLst>
          </p:cNvPr>
          <p:cNvCxnSpPr/>
          <p:nvPr/>
        </p:nvCxnSpPr>
        <p:spPr>
          <a:xfrm>
            <a:off x="2552547" y="8919232"/>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CaixaDeTexto 31">
            <a:extLst>
              <a:ext uri="{FF2B5EF4-FFF2-40B4-BE49-F238E27FC236}">
                <a16:creationId xmlns:a16="http://schemas.microsoft.com/office/drawing/2014/main" id="{1D524260-978E-4CD4-A8E3-E42D9B58E0E3}"/>
              </a:ext>
            </a:extLst>
          </p:cNvPr>
          <p:cNvSpPr txBox="1"/>
          <p:nvPr/>
        </p:nvSpPr>
        <p:spPr>
          <a:xfrm>
            <a:off x="3460034" y="8730557"/>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Motor</a:t>
            </a:r>
          </a:p>
        </p:txBody>
      </p:sp>
      <p:cxnSp>
        <p:nvCxnSpPr>
          <p:cNvPr id="33" name="Conector de Seta Reta 32">
            <a:extLst>
              <a:ext uri="{FF2B5EF4-FFF2-40B4-BE49-F238E27FC236}">
                <a16:creationId xmlns:a16="http://schemas.microsoft.com/office/drawing/2014/main" id="{7E58DF4A-90B9-4F63-B0D0-BCFD834371AB}"/>
              </a:ext>
            </a:extLst>
          </p:cNvPr>
          <p:cNvCxnSpPr/>
          <p:nvPr/>
        </p:nvCxnSpPr>
        <p:spPr>
          <a:xfrm>
            <a:off x="2552547" y="9165735"/>
            <a:ext cx="8490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CaixaDeTexto 33">
            <a:extLst>
              <a:ext uri="{FF2B5EF4-FFF2-40B4-BE49-F238E27FC236}">
                <a16:creationId xmlns:a16="http://schemas.microsoft.com/office/drawing/2014/main" id="{D8080F09-A8F4-4176-84EB-6D8616C5EBFE}"/>
              </a:ext>
            </a:extLst>
          </p:cNvPr>
          <p:cNvSpPr txBox="1"/>
          <p:nvPr/>
        </p:nvSpPr>
        <p:spPr>
          <a:xfrm>
            <a:off x="3460034" y="8977060"/>
            <a:ext cx="3243367"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Chave Lâmpada</a:t>
            </a:r>
          </a:p>
        </p:txBody>
      </p:sp>
    </p:spTree>
    <p:extLst>
      <p:ext uri="{BB962C8B-B14F-4D97-AF65-F5344CB8AC3E}">
        <p14:creationId xmlns:p14="http://schemas.microsoft.com/office/powerpoint/2010/main" val="3965016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0B8BDDFA-D60B-408B-8130-BE2A0A20B272}"/>
              </a:ext>
            </a:extLst>
          </p:cNvPr>
          <p:cNvSpPr txBox="1"/>
          <p:nvPr/>
        </p:nvSpPr>
        <p:spPr>
          <a:xfrm>
            <a:off x="3149960" y="944136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03</a:t>
            </a:r>
          </a:p>
        </p:txBody>
      </p:sp>
      <p:sp>
        <p:nvSpPr>
          <p:cNvPr id="5" name="Retângulo 4">
            <a:extLst>
              <a:ext uri="{FF2B5EF4-FFF2-40B4-BE49-F238E27FC236}">
                <a16:creationId xmlns:a16="http://schemas.microsoft.com/office/drawing/2014/main" id="{DD51FBEA-71ED-4E84-8669-7BBF5DC9BDAC}"/>
              </a:ext>
            </a:extLst>
          </p:cNvPr>
          <p:cNvSpPr/>
          <p:nvPr/>
        </p:nvSpPr>
        <p:spPr>
          <a:xfrm>
            <a:off x="146049" y="9139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4. Porta</a:t>
            </a:r>
          </a:p>
        </p:txBody>
      </p:sp>
      <p:sp>
        <p:nvSpPr>
          <p:cNvPr id="6" name="Retângulo 5">
            <a:extLst>
              <a:ext uri="{FF2B5EF4-FFF2-40B4-BE49-F238E27FC236}">
                <a16:creationId xmlns:a16="http://schemas.microsoft.com/office/drawing/2014/main" id="{C25B00C5-2EF3-46F7-9481-5DBF5090F415}"/>
              </a:ext>
            </a:extLst>
          </p:cNvPr>
          <p:cNvSpPr/>
          <p:nvPr/>
        </p:nvSpPr>
        <p:spPr>
          <a:xfrm>
            <a:off x="141429" y="461276"/>
            <a:ext cx="6603793" cy="999633"/>
          </a:xfrm>
          <a:prstGeom prst="rect">
            <a:avLst/>
          </a:prstGeom>
        </p:spPr>
        <p:txBody>
          <a:bodyPr wrap="square">
            <a:spAutoFit/>
          </a:bodyPr>
          <a:lstStyle/>
          <a:p>
            <a:pPr algn="just"/>
            <a:r>
              <a:rPr lang="pt-BR" sz="1179" dirty="0">
                <a:latin typeface="Arial" panose="020B0604020202020204" pitchFamily="34" charset="0"/>
                <a:cs typeface="Arial" pitchFamily="34" charset="0"/>
              </a:rPr>
              <a:t>4.1  Para fechar a porta do Forno Turbo, há uma maçaneta, com sistema isolante na extremidade (pegador) para evirar queimaduras. Nos modelos de 8 e 10 esteiras, quando abre-se a porta a ventoinha se desligará automaticamente, devido ao sistema de corte de corrente proporcionado pela chave fim de curso que está localizada no canto superior direito, logo acima da porta. O modelo de 5 esteiras não possui este recurso.</a:t>
            </a:r>
          </a:p>
        </p:txBody>
      </p:sp>
      <p:sp>
        <p:nvSpPr>
          <p:cNvPr id="7" name="Retângulo 6">
            <a:extLst>
              <a:ext uri="{FF2B5EF4-FFF2-40B4-BE49-F238E27FC236}">
                <a16:creationId xmlns:a16="http://schemas.microsoft.com/office/drawing/2014/main" id="{91B987ED-9674-40CB-9167-AFAEB18B8BBA}"/>
              </a:ext>
            </a:extLst>
          </p:cNvPr>
          <p:cNvSpPr/>
          <p:nvPr/>
        </p:nvSpPr>
        <p:spPr>
          <a:xfrm>
            <a:off x="149146" y="151389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5. Luz do forno</a:t>
            </a:r>
          </a:p>
        </p:txBody>
      </p:sp>
      <p:sp>
        <p:nvSpPr>
          <p:cNvPr id="8" name="CaixaDeTexto 7">
            <a:extLst>
              <a:ext uri="{FF2B5EF4-FFF2-40B4-BE49-F238E27FC236}">
                <a16:creationId xmlns:a16="http://schemas.microsoft.com/office/drawing/2014/main" id="{630E0DD9-FC77-4350-AE98-3583E740ABC1}"/>
              </a:ext>
            </a:extLst>
          </p:cNvPr>
          <p:cNvSpPr txBox="1"/>
          <p:nvPr/>
        </p:nvSpPr>
        <p:spPr>
          <a:xfrm>
            <a:off x="195996" y="1851484"/>
            <a:ext cx="3449376" cy="1725472"/>
          </a:xfrm>
          <a:prstGeom prst="rect">
            <a:avLst/>
          </a:prstGeom>
          <a:noFill/>
        </p:spPr>
        <p:txBody>
          <a:bodyPr wrap="square" rtlCol="0">
            <a:spAutoFit/>
          </a:bodyPr>
          <a:lstStyle/>
          <a:p>
            <a:pPr algn="just"/>
            <a:r>
              <a:rPr lang="pt-BR" sz="1179" dirty="0">
                <a:latin typeface="Arial" pitchFamily="34" charset="0"/>
                <a:cs typeface="Arial" pitchFamily="34" charset="0"/>
              </a:rPr>
              <a:t>5.1 Está localizada na lateral da porta oposta a maçaneta. Para acioná-la, utilize a chave correspondente, sendo a posição da lâmpada.</a:t>
            </a:r>
          </a:p>
          <a:p>
            <a:pPr algn="just"/>
            <a:r>
              <a:rPr lang="pt-BR" sz="1179" dirty="0">
                <a:latin typeface="Arial" pitchFamily="34" charset="0"/>
                <a:cs typeface="Arial" pitchFamily="34" charset="0"/>
              </a:rPr>
              <a:t>5.2 Para a troca da lâmpada retire o parafuso de fixação da calha da lâmpada, que localiza-se na parte inferior da porta do forno, conforme figura ao lado; tire a calha e retire a lâmpada para substituí-la.</a:t>
            </a:r>
          </a:p>
          <a:p>
            <a:endParaRPr lang="pt-BR" sz="1179" dirty="0">
              <a:latin typeface="Arial" pitchFamily="34" charset="0"/>
              <a:cs typeface="Arial" pitchFamily="34" charset="0"/>
            </a:endParaRPr>
          </a:p>
        </p:txBody>
      </p:sp>
      <p:sp>
        <p:nvSpPr>
          <p:cNvPr id="9" name="Retângulo 8">
            <a:extLst>
              <a:ext uri="{FF2B5EF4-FFF2-40B4-BE49-F238E27FC236}">
                <a16:creationId xmlns:a16="http://schemas.microsoft.com/office/drawing/2014/main" id="{77D7B2C5-2CB2-4779-A3C9-84566A1A2B1C}"/>
              </a:ext>
            </a:extLst>
          </p:cNvPr>
          <p:cNvSpPr/>
          <p:nvPr/>
        </p:nvSpPr>
        <p:spPr>
          <a:xfrm>
            <a:off x="149146" y="3818515"/>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6. Turbo</a:t>
            </a:r>
          </a:p>
        </p:txBody>
      </p:sp>
      <p:sp>
        <p:nvSpPr>
          <p:cNvPr id="10" name="CaixaDeTexto 9">
            <a:extLst>
              <a:ext uri="{FF2B5EF4-FFF2-40B4-BE49-F238E27FC236}">
                <a16:creationId xmlns:a16="http://schemas.microsoft.com/office/drawing/2014/main" id="{0101BE90-0F39-43C9-9007-57B701F9B764}"/>
              </a:ext>
            </a:extLst>
          </p:cNvPr>
          <p:cNvSpPr txBox="1"/>
          <p:nvPr/>
        </p:nvSpPr>
        <p:spPr>
          <a:xfrm>
            <a:off x="141428" y="4210309"/>
            <a:ext cx="6315373" cy="636713"/>
          </a:xfrm>
          <a:prstGeom prst="rect">
            <a:avLst/>
          </a:prstGeom>
          <a:noFill/>
        </p:spPr>
        <p:txBody>
          <a:bodyPr wrap="square" rtlCol="0">
            <a:spAutoFit/>
          </a:bodyPr>
          <a:lstStyle/>
          <a:p>
            <a:pPr algn="just"/>
            <a:r>
              <a:rPr lang="pt-BR" sz="1179" dirty="0">
                <a:latin typeface="Arial" pitchFamily="34" charset="0"/>
                <a:cs typeface="Arial" pitchFamily="34" charset="0"/>
              </a:rPr>
              <a:t>6.1 Para acionar o motor que move a ventoinha, utilize a chave correspondente, sendo a posição “1” (ligada) e “0” – (desligada).</a:t>
            </a:r>
          </a:p>
          <a:p>
            <a:endParaRPr lang="pt-BR" sz="1179" dirty="0">
              <a:latin typeface="Arial" pitchFamily="34" charset="0"/>
              <a:cs typeface="Arial" pitchFamily="34" charset="0"/>
            </a:endParaRPr>
          </a:p>
        </p:txBody>
      </p:sp>
      <p:sp>
        <p:nvSpPr>
          <p:cNvPr id="11" name="Retângulo de cantos arredondados 6">
            <a:extLst>
              <a:ext uri="{FF2B5EF4-FFF2-40B4-BE49-F238E27FC236}">
                <a16:creationId xmlns:a16="http://schemas.microsoft.com/office/drawing/2014/main" id="{6516132D-725A-439B-B178-B4D9CC6E2286}"/>
              </a:ext>
            </a:extLst>
          </p:cNvPr>
          <p:cNvSpPr/>
          <p:nvPr/>
        </p:nvSpPr>
        <p:spPr>
          <a:xfrm>
            <a:off x="202724" y="4851540"/>
            <a:ext cx="2916940" cy="1349635"/>
          </a:xfrm>
          <a:prstGeom prst="roundRect">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2" name="CaixaDeTexto 11">
            <a:extLst>
              <a:ext uri="{FF2B5EF4-FFF2-40B4-BE49-F238E27FC236}">
                <a16:creationId xmlns:a16="http://schemas.microsoft.com/office/drawing/2014/main" id="{7A5741E3-B112-48DA-A291-AF6C1264C4C5}"/>
              </a:ext>
            </a:extLst>
          </p:cNvPr>
          <p:cNvSpPr txBox="1"/>
          <p:nvPr/>
        </p:nvSpPr>
        <p:spPr>
          <a:xfrm>
            <a:off x="217633" y="4835990"/>
            <a:ext cx="2883246" cy="1181093"/>
          </a:xfrm>
          <a:prstGeom prst="rect">
            <a:avLst/>
          </a:prstGeom>
          <a:noFill/>
        </p:spPr>
        <p:txBody>
          <a:bodyPr wrap="square" rtlCol="0">
            <a:spAutoFit/>
          </a:bodyPr>
          <a:lstStyle/>
          <a:p>
            <a:pPr algn="just"/>
            <a:r>
              <a:rPr lang="pt-BR" sz="1179" b="1" dirty="0">
                <a:latin typeface="Arial" pitchFamily="34" charset="0"/>
                <a:cs typeface="Arial" pitchFamily="34" charset="0"/>
              </a:rPr>
              <a:t>CUIDADO:</a:t>
            </a:r>
          </a:p>
          <a:p>
            <a:pPr algn="just"/>
            <a:r>
              <a:rPr lang="pt-BR" sz="1179" b="1" dirty="0">
                <a:latin typeface="Arial" pitchFamily="34" charset="0"/>
                <a:cs typeface="Arial" pitchFamily="34" charset="0"/>
              </a:rPr>
              <a:t> Antes de abrir a porta do forno 5 esteiras deve-se desligar a chave do motor do painel, pois este modelo não esta equipado com a chave fim de curso.</a:t>
            </a:r>
            <a:endParaRPr lang="pt-BR" sz="1179" dirty="0">
              <a:latin typeface="Arial" panose="020B0604020202020204" pitchFamily="34" charset="0"/>
              <a:cs typeface="Arial" pitchFamily="34" charset="0"/>
            </a:endParaRPr>
          </a:p>
        </p:txBody>
      </p:sp>
      <p:sp>
        <p:nvSpPr>
          <p:cNvPr id="13" name="Retângulo 12">
            <a:extLst>
              <a:ext uri="{FF2B5EF4-FFF2-40B4-BE49-F238E27FC236}">
                <a16:creationId xmlns:a16="http://schemas.microsoft.com/office/drawing/2014/main" id="{EB53ECEB-1015-4B1A-AF07-FE530B8171FD}"/>
              </a:ext>
            </a:extLst>
          </p:cNvPr>
          <p:cNvSpPr/>
          <p:nvPr/>
        </p:nvSpPr>
        <p:spPr>
          <a:xfrm>
            <a:off x="149146" y="714833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7. Queimador</a:t>
            </a:r>
          </a:p>
        </p:txBody>
      </p:sp>
      <p:sp>
        <p:nvSpPr>
          <p:cNvPr id="14" name="CaixaDeTexto 13">
            <a:extLst>
              <a:ext uri="{FF2B5EF4-FFF2-40B4-BE49-F238E27FC236}">
                <a16:creationId xmlns:a16="http://schemas.microsoft.com/office/drawing/2014/main" id="{F7248D0A-AB66-4A9C-B703-94F0260D8D05}"/>
              </a:ext>
            </a:extLst>
          </p:cNvPr>
          <p:cNvSpPr txBox="1"/>
          <p:nvPr/>
        </p:nvSpPr>
        <p:spPr>
          <a:xfrm>
            <a:off x="149973" y="7568199"/>
            <a:ext cx="3577674" cy="99963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7.1 O Forno Turbo possui um queimador em sistema fixo, sendo manipulado apenas por um técnico. Ele possui dois sensores de chama, para que, no caso da chama apagar, seja emitido um alarme e a passagem de gás seja cortada.</a:t>
            </a:r>
          </a:p>
        </p:txBody>
      </p:sp>
      <p:pic>
        <p:nvPicPr>
          <p:cNvPr id="15" name="Imagem 14">
            <a:extLst>
              <a:ext uri="{FF2B5EF4-FFF2-40B4-BE49-F238E27FC236}">
                <a16:creationId xmlns:a16="http://schemas.microsoft.com/office/drawing/2014/main" id="{08A8FE60-B65F-4118-BA68-EC08E9D02E27}"/>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1" t="10844" r="40517"/>
          <a:stretch/>
        </p:blipFill>
        <p:spPr>
          <a:xfrm>
            <a:off x="4026721" y="1917100"/>
            <a:ext cx="2677381" cy="1851383"/>
          </a:xfrm>
          <a:prstGeom prst="rect">
            <a:avLst/>
          </a:prstGeom>
        </p:spPr>
      </p:pic>
      <p:pic>
        <p:nvPicPr>
          <p:cNvPr id="16" name="Imagem 15">
            <a:extLst>
              <a:ext uri="{FF2B5EF4-FFF2-40B4-BE49-F238E27FC236}">
                <a16:creationId xmlns:a16="http://schemas.microsoft.com/office/drawing/2014/main" id="{72385454-6346-4B46-BE64-42BC63B7DF3C}"/>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l="19245" r="15980"/>
          <a:stretch/>
        </p:blipFill>
        <p:spPr>
          <a:xfrm>
            <a:off x="4012355" y="4711814"/>
            <a:ext cx="2667905" cy="2307174"/>
          </a:xfrm>
          <a:prstGeom prst="rect">
            <a:avLst/>
          </a:prstGeom>
        </p:spPr>
      </p:pic>
      <p:pic>
        <p:nvPicPr>
          <p:cNvPr id="17" name="Imagem 16">
            <a:extLst>
              <a:ext uri="{FF2B5EF4-FFF2-40B4-BE49-F238E27FC236}">
                <a16:creationId xmlns:a16="http://schemas.microsoft.com/office/drawing/2014/main" id="{E018C745-2A40-4068-A495-80D3169E5CC8}"/>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l="6721" t="13650" r="25317" b="2416"/>
          <a:stretch/>
        </p:blipFill>
        <p:spPr>
          <a:xfrm>
            <a:off x="4026722" y="7625548"/>
            <a:ext cx="2511413" cy="1744652"/>
          </a:xfrm>
          <a:prstGeom prst="rect">
            <a:avLst/>
          </a:prstGeom>
        </p:spPr>
      </p:pic>
    </p:spTree>
    <p:extLst>
      <p:ext uri="{BB962C8B-B14F-4D97-AF65-F5344CB8AC3E}">
        <p14:creationId xmlns:p14="http://schemas.microsoft.com/office/powerpoint/2010/main" val="241025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BE19F1B5-333E-4FF7-A203-DDBF273FBACF}"/>
              </a:ext>
            </a:extLst>
          </p:cNvPr>
          <p:cNvSpPr txBox="1"/>
          <p:nvPr/>
        </p:nvSpPr>
        <p:spPr>
          <a:xfrm>
            <a:off x="147731" y="185926"/>
            <a:ext cx="6665645" cy="999633"/>
          </a:xfrm>
          <a:prstGeom prst="rect">
            <a:avLst/>
          </a:prstGeom>
          <a:noFill/>
        </p:spPr>
        <p:txBody>
          <a:bodyPr wrap="square" rtlCol="0" anchor="t">
            <a:spAutoFit/>
          </a:bodyPr>
          <a:lstStyle/>
          <a:p>
            <a:pPr algn="ctr"/>
            <a:r>
              <a:rPr lang="pt-BR" sz="1179" b="1" dirty="0">
                <a:latin typeface="Arial" panose="020B0604020202020204" pitchFamily="34" charset="0"/>
                <a:cs typeface="Arial" pitchFamily="34" charset="0"/>
              </a:rPr>
              <a:t>ATENÇÃO</a:t>
            </a:r>
            <a:endParaRPr lang="pt-BR" sz="1179" dirty="0">
              <a:latin typeface="Arial" panose="020B0604020202020204" pitchFamily="34" charset="0"/>
              <a:cs typeface="Arial" pitchFamily="34" charset="0"/>
            </a:endParaRPr>
          </a:p>
          <a:p>
            <a:pPr algn="just"/>
            <a:r>
              <a:rPr lang="pt-BR" sz="1179" b="1" dirty="0">
                <a:latin typeface="Arial" panose="020B0604020202020204" pitchFamily="34" charset="0"/>
                <a:cs typeface="Arial" pitchFamily="34" charset="0"/>
              </a:rPr>
              <a:t>A MANUTENÇÃO DO FORNO DEVERÁ SER REALIZADA POR UM TÉCNICO AUTORIZADO PELA SÓ AÇO INDUSTRIAL, SOB PENA DE INVALIDAR A GARANTIA E CAUSAR PREJUIZOS MAIORES AO EQUIPAMENTO.</a:t>
            </a:r>
          </a:p>
          <a:p>
            <a:pPr algn="ctr"/>
            <a:endParaRPr lang="pt-BR" sz="1179" dirty="0">
              <a:latin typeface="Arial" panose="020B0604020202020204" pitchFamily="34" charset="0"/>
              <a:cs typeface="Arial" pitchFamily="34" charset="0"/>
            </a:endParaRPr>
          </a:p>
        </p:txBody>
      </p:sp>
      <p:sp>
        <p:nvSpPr>
          <p:cNvPr id="5" name="Retângulo 4">
            <a:extLst>
              <a:ext uri="{FF2B5EF4-FFF2-40B4-BE49-F238E27FC236}">
                <a16:creationId xmlns:a16="http://schemas.microsoft.com/office/drawing/2014/main" id="{9E17765A-1AC3-42AF-9091-9F344560714B}"/>
              </a:ext>
            </a:extLst>
          </p:cNvPr>
          <p:cNvSpPr/>
          <p:nvPr/>
        </p:nvSpPr>
        <p:spPr>
          <a:xfrm>
            <a:off x="173137" y="1096678"/>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8. Controlador Digital</a:t>
            </a:r>
          </a:p>
        </p:txBody>
      </p:sp>
      <p:sp>
        <p:nvSpPr>
          <p:cNvPr id="6" name="Retângulo 5">
            <a:extLst>
              <a:ext uri="{FF2B5EF4-FFF2-40B4-BE49-F238E27FC236}">
                <a16:creationId xmlns:a16="http://schemas.microsoft.com/office/drawing/2014/main" id="{E3A0346D-BE9C-4B5A-87E2-9E7924960665}"/>
              </a:ext>
            </a:extLst>
          </p:cNvPr>
          <p:cNvSpPr/>
          <p:nvPr/>
        </p:nvSpPr>
        <p:spPr>
          <a:xfrm>
            <a:off x="128334" y="5565832"/>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9.Programação do forno digital</a:t>
            </a:r>
          </a:p>
        </p:txBody>
      </p:sp>
      <p:sp>
        <p:nvSpPr>
          <p:cNvPr id="7" name="CaixaDeTexto 6">
            <a:extLst>
              <a:ext uri="{FF2B5EF4-FFF2-40B4-BE49-F238E27FC236}">
                <a16:creationId xmlns:a16="http://schemas.microsoft.com/office/drawing/2014/main" id="{69169C96-9B94-480B-9A8E-77243ADA1181}"/>
              </a:ext>
            </a:extLst>
          </p:cNvPr>
          <p:cNvSpPr txBox="1"/>
          <p:nvPr/>
        </p:nvSpPr>
        <p:spPr>
          <a:xfrm>
            <a:off x="128334" y="5896710"/>
            <a:ext cx="6551859" cy="1544012"/>
          </a:xfrm>
          <a:prstGeom prst="rect">
            <a:avLst/>
          </a:prstGeom>
          <a:noFill/>
        </p:spPr>
        <p:txBody>
          <a:bodyPr wrap="square" rtlCol="0">
            <a:spAutoFit/>
          </a:bodyPr>
          <a:lstStyle/>
          <a:p>
            <a:r>
              <a:rPr lang="pt-BR" sz="1179" b="1" dirty="0">
                <a:latin typeface="Arial" panose="020B0604020202020204" pitchFamily="34" charset="0"/>
                <a:cs typeface="Arial" pitchFamily="34" charset="0"/>
              </a:rPr>
              <a:t>9.1 TEMPERATURA E TIMER</a:t>
            </a:r>
          </a:p>
          <a:p>
            <a:r>
              <a:rPr lang="pt-BR" sz="1179" dirty="0">
                <a:latin typeface="Arial" panose="020B0604020202020204" pitchFamily="34" charset="0"/>
                <a:cs typeface="Arial" pitchFamily="34" charset="0"/>
              </a:rPr>
              <a:t>Pressione a tecla </a:t>
            </a:r>
            <a:r>
              <a:rPr lang="pt-BR" sz="1179" b="1" dirty="0">
                <a:latin typeface="Arial" panose="020B0604020202020204" pitchFamily="34" charset="0"/>
                <a:cs typeface="Arial" pitchFamily="34" charset="0"/>
              </a:rPr>
              <a:t>PGM</a:t>
            </a:r>
            <a:r>
              <a:rPr lang="pt-BR" sz="1179" dirty="0">
                <a:latin typeface="Arial" pitchFamily="34" charset="0"/>
                <a:cs typeface="Arial" pitchFamily="34" charset="0"/>
              </a:rPr>
              <a:t> para ter acesso à programação e as teclas                      para ajustar os valores desejados.</a:t>
            </a:r>
          </a:p>
          <a:p>
            <a:endParaRPr lang="pt-BR" sz="1179" dirty="0">
              <a:latin typeface="Arial" pitchFamily="34" charset="0"/>
              <a:cs typeface="Arial" pitchFamily="34" charset="0"/>
            </a:endParaRPr>
          </a:p>
          <a:p>
            <a:r>
              <a:rPr lang="pt-BR" sz="1179" b="1" dirty="0">
                <a:latin typeface="Arial" panose="020B0604020202020204" pitchFamily="34" charset="0"/>
                <a:cs typeface="Arial" pitchFamily="34" charset="0"/>
              </a:rPr>
              <a:t>9.2 TEMPO DE VAPOR </a:t>
            </a:r>
          </a:p>
          <a:p>
            <a:r>
              <a:rPr lang="pt-BR" sz="1179" dirty="0">
                <a:latin typeface="Arial" panose="020B0604020202020204" pitchFamily="34" charset="0"/>
                <a:cs typeface="Arial" pitchFamily="34" charset="0"/>
              </a:rPr>
              <a:t>Pressione as teclas                          para ter acesso à programação e as teclas                     para ajustar o valor desejado.</a:t>
            </a:r>
          </a:p>
          <a:p>
            <a:r>
              <a:rPr lang="pt-BR" sz="1179" b="1" dirty="0">
                <a:latin typeface="Arial" panose="020B0604020202020204" pitchFamily="34" charset="0"/>
                <a:cs typeface="Arial" pitchFamily="34" charset="0"/>
              </a:rPr>
              <a:t> </a:t>
            </a:r>
            <a:endParaRPr lang="pt-BR" sz="1179" dirty="0">
              <a:latin typeface="Arial" panose="020B0604020202020204" pitchFamily="34" charset="0"/>
              <a:cs typeface="Arial" pitchFamily="34" charset="0"/>
            </a:endParaRPr>
          </a:p>
        </p:txBody>
      </p:sp>
      <p:sp>
        <p:nvSpPr>
          <p:cNvPr id="8" name="CaixaDeTexto 7">
            <a:extLst>
              <a:ext uri="{FF2B5EF4-FFF2-40B4-BE49-F238E27FC236}">
                <a16:creationId xmlns:a16="http://schemas.microsoft.com/office/drawing/2014/main" id="{68A4955B-3910-4101-B37A-AA933E889692}"/>
              </a:ext>
            </a:extLst>
          </p:cNvPr>
          <p:cNvSpPr txBox="1"/>
          <p:nvPr/>
        </p:nvSpPr>
        <p:spPr>
          <a:xfrm>
            <a:off x="3120076" y="9498829"/>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04</a:t>
            </a:r>
          </a:p>
        </p:txBody>
      </p:sp>
      <p:sp>
        <p:nvSpPr>
          <p:cNvPr id="9" name="CaixaDeTexto 8">
            <a:extLst>
              <a:ext uri="{FF2B5EF4-FFF2-40B4-BE49-F238E27FC236}">
                <a16:creationId xmlns:a16="http://schemas.microsoft.com/office/drawing/2014/main" id="{8533EAB9-7416-4F29-B371-95FC6F2A0D20}"/>
              </a:ext>
            </a:extLst>
          </p:cNvPr>
          <p:cNvSpPr txBox="1"/>
          <p:nvPr/>
        </p:nvSpPr>
        <p:spPr>
          <a:xfrm>
            <a:off x="147731" y="1445273"/>
            <a:ext cx="3857272" cy="3993722"/>
          </a:xfrm>
          <a:prstGeom prst="rect">
            <a:avLst/>
          </a:prstGeom>
          <a:noFill/>
        </p:spPr>
        <p:txBody>
          <a:bodyPr wrap="square" rtlCol="0">
            <a:spAutoFit/>
          </a:bodyPr>
          <a:lstStyle/>
          <a:p>
            <a:pPr algn="just">
              <a:lnSpc>
                <a:spcPct val="150000"/>
              </a:lnSpc>
            </a:pPr>
            <a:r>
              <a:rPr lang="pt-BR" sz="1179" dirty="0">
                <a:latin typeface="Arial" pitchFamily="34" charset="0"/>
                <a:cs typeface="Arial" pitchFamily="34" charset="0"/>
              </a:rPr>
              <a:t>1 Display que indica a temperatura presente no sensor de temperatura ou os parâmetros programáveis</a:t>
            </a:r>
          </a:p>
          <a:p>
            <a:pPr algn="just">
              <a:lnSpc>
                <a:spcPct val="150000"/>
              </a:lnSpc>
            </a:pPr>
            <a:r>
              <a:rPr lang="pt-BR" sz="1179" dirty="0">
                <a:latin typeface="Arial" pitchFamily="34" charset="0"/>
                <a:cs typeface="Arial" pitchFamily="34" charset="0"/>
              </a:rPr>
              <a:t>2 Display que indica o tempo decorrido ou o valor dos parâmetros programáveis</a:t>
            </a:r>
          </a:p>
          <a:p>
            <a:pPr algn="just">
              <a:lnSpc>
                <a:spcPct val="150000"/>
              </a:lnSpc>
            </a:pPr>
            <a:r>
              <a:rPr lang="pt-BR" sz="1179" dirty="0">
                <a:latin typeface="Arial" pitchFamily="34" charset="0"/>
                <a:cs typeface="Arial" pitchFamily="34" charset="0"/>
              </a:rPr>
              <a:t>3 Tecla de acionamento do tempo de vapor</a:t>
            </a:r>
          </a:p>
          <a:p>
            <a:pPr algn="just">
              <a:lnSpc>
                <a:spcPct val="150000"/>
              </a:lnSpc>
            </a:pPr>
            <a:r>
              <a:rPr lang="pt-BR" sz="1179" dirty="0">
                <a:latin typeface="Arial" pitchFamily="34" charset="0"/>
                <a:cs typeface="Arial" pitchFamily="34" charset="0"/>
              </a:rPr>
              <a:t>4 Tecla de acionamento de temporizador</a:t>
            </a:r>
          </a:p>
          <a:p>
            <a:pPr algn="just">
              <a:lnSpc>
                <a:spcPct val="150000"/>
              </a:lnSpc>
            </a:pPr>
            <a:r>
              <a:rPr lang="pt-BR" sz="1179" dirty="0">
                <a:latin typeface="Arial" pitchFamily="34" charset="0"/>
                <a:cs typeface="Arial" pitchFamily="34" charset="0"/>
              </a:rPr>
              <a:t>5 Tecla </a:t>
            </a:r>
            <a:r>
              <a:rPr lang="pt-BR" sz="1179" dirty="0" err="1">
                <a:latin typeface="Arial" panose="020B0604020202020204" pitchFamily="34" charset="0"/>
                <a:cs typeface="Arial" pitchFamily="34" charset="0"/>
              </a:rPr>
              <a:t>Up</a:t>
            </a:r>
            <a:r>
              <a:rPr lang="pt-BR" sz="1179" dirty="0">
                <a:latin typeface="Arial" pitchFamily="34" charset="0"/>
                <a:cs typeface="Arial" pitchFamily="34" charset="0"/>
              </a:rPr>
              <a:t>: aumenta o valor programado</a:t>
            </a:r>
          </a:p>
          <a:p>
            <a:pPr algn="just">
              <a:lnSpc>
                <a:spcPct val="150000"/>
              </a:lnSpc>
            </a:pPr>
            <a:r>
              <a:rPr lang="pt-BR" sz="1179" dirty="0">
                <a:latin typeface="Arial" pitchFamily="34" charset="0"/>
                <a:cs typeface="Arial" pitchFamily="34" charset="0"/>
              </a:rPr>
              <a:t>6 Tecla Down: diminui o valor programado</a:t>
            </a:r>
          </a:p>
          <a:p>
            <a:pPr algn="just">
              <a:lnSpc>
                <a:spcPct val="150000"/>
              </a:lnSpc>
            </a:pPr>
            <a:r>
              <a:rPr lang="pt-BR" sz="1179" dirty="0">
                <a:latin typeface="Arial" pitchFamily="34" charset="0"/>
                <a:cs typeface="Arial" pitchFamily="34" charset="0"/>
              </a:rPr>
              <a:t>7 Tecla de acesso a programação</a:t>
            </a:r>
          </a:p>
          <a:p>
            <a:pPr algn="just">
              <a:lnSpc>
                <a:spcPct val="150000"/>
              </a:lnSpc>
            </a:pPr>
            <a:r>
              <a:rPr lang="pt-BR" sz="1179" dirty="0">
                <a:latin typeface="Arial" pitchFamily="34" charset="0"/>
                <a:cs typeface="Arial" pitchFamily="34" charset="0"/>
              </a:rPr>
              <a:t>8 Led indicador de saída de aquecimento acionada</a:t>
            </a:r>
          </a:p>
          <a:p>
            <a:pPr algn="just">
              <a:lnSpc>
                <a:spcPct val="150000"/>
              </a:lnSpc>
            </a:pPr>
            <a:r>
              <a:rPr lang="pt-BR" sz="1179" dirty="0">
                <a:latin typeface="Arial" pitchFamily="34" charset="0"/>
                <a:cs typeface="Arial" pitchFamily="34" charset="0"/>
              </a:rPr>
              <a:t>9 Led indicador de temporizador acionado</a:t>
            </a:r>
          </a:p>
          <a:p>
            <a:pPr algn="just">
              <a:lnSpc>
                <a:spcPct val="150000"/>
              </a:lnSpc>
            </a:pPr>
            <a:r>
              <a:rPr lang="pt-BR" sz="1179" dirty="0">
                <a:latin typeface="Arial" pitchFamily="34" charset="0"/>
                <a:cs typeface="Arial" pitchFamily="34" charset="0"/>
              </a:rPr>
              <a:t>10 Led indicador de saída auxiliar acionada.</a:t>
            </a:r>
          </a:p>
          <a:p>
            <a:pPr algn="just">
              <a:lnSpc>
                <a:spcPct val="150000"/>
              </a:lnSpc>
            </a:pPr>
            <a:r>
              <a:rPr lang="pt-BR" sz="1179" dirty="0">
                <a:latin typeface="Arial" pitchFamily="34" charset="0"/>
                <a:cs typeface="Arial" pitchFamily="34" charset="0"/>
              </a:rPr>
              <a:t>11 Led indicador de saída do vapor acionada.</a:t>
            </a:r>
          </a:p>
          <a:p>
            <a:pPr algn="just"/>
            <a:endParaRPr lang="pt-BR" sz="1179" dirty="0">
              <a:latin typeface="Arial" pitchFamily="34" charset="0"/>
              <a:cs typeface="Arial" pitchFamily="34" charset="0"/>
            </a:endParaRPr>
          </a:p>
          <a:p>
            <a:pPr algn="just"/>
            <a:endParaRPr lang="pt-BR" sz="1179" dirty="0">
              <a:latin typeface="Arial" pitchFamily="34" charset="0"/>
              <a:cs typeface="Arial" pitchFamily="34" charset="0"/>
            </a:endParaRPr>
          </a:p>
        </p:txBody>
      </p:sp>
      <p:sp>
        <p:nvSpPr>
          <p:cNvPr id="10" name="Retângulo de cantos arredondados 3">
            <a:extLst>
              <a:ext uri="{FF2B5EF4-FFF2-40B4-BE49-F238E27FC236}">
                <a16:creationId xmlns:a16="http://schemas.microsoft.com/office/drawing/2014/main" id="{2D613639-BC45-4915-8A9D-585A0F3A2F8E}"/>
              </a:ext>
            </a:extLst>
          </p:cNvPr>
          <p:cNvSpPr/>
          <p:nvPr/>
        </p:nvSpPr>
        <p:spPr>
          <a:xfrm>
            <a:off x="528714" y="7902259"/>
            <a:ext cx="5377242" cy="1295933"/>
          </a:xfrm>
          <a:prstGeom prst="roundRect">
            <a:avLst/>
          </a:pr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1" name="CaixaDeTexto 10">
            <a:extLst>
              <a:ext uri="{FF2B5EF4-FFF2-40B4-BE49-F238E27FC236}">
                <a16:creationId xmlns:a16="http://schemas.microsoft.com/office/drawing/2014/main" id="{13C9B27E-35CF-4309-A4F2-DD156F42CB1D}"/>
              </a:ext>
            </a:extLst>
          </p:cNvPr>
          <p:cNvSpPr txBox="1"/>
          <p:nvPr/>
        </p:nvSpPr>
        <p:spPr>
          <a:xfrm>
            <a:off x="699470" y="8029435"/>
            <a:ext cx="5206485" cy="1281761"/>
          </a:xfrm>
          <a:prstGeom prst="rect">
            <a:avLst/>
          </a:prstGeom>
          <a:noFill/>
        </p:spPr>
        <p:txBody>
          <a:bodyPr wrap="square" rtlCol="0">
            <a:spAutoFit/>
          </a:bodyPr>
          <a:lstStyle/>
          <a:p>
            <a:pPr algn="ctr"/>
            <a:r>
              <a:rPr lang="pt-BR" sz="1310" b="1" dirty="0">
                <a:latin typeface="Arial" panose="020B0604020202020204" pitchFamily="34" charset="0"/>
                <a:cs typeface="Arial" pitchFamily="34" charset="0"/>
              </a:rPr>
              <a:t>ATENÇÃO</a:t>
            </a:r>
            <a:endParaRPr lang="pt-BR" sz="1310" dirty="0">
              <a:latin typeface="Arial" pitchFamily="34" charset="0"/>
              <a:cs typeface="Arial" pitchFamily="34" charset="0"/>
            </a:endParaRPr>
          </a:p>
          <a:p>
            <a:pPr algn="ctr"/>
            <a:r>
              <a:rPr lang="pt-BR" sz="1310" dirty="0">
                <a:latin typeface="Arial" pitchFamily="34" charset="0"/>
                <a:cs typeface="Arial" pitchFamily="34" charset="0"/>
              </a:rPr>
              <a:t>As programações de TEMPERATURA, TIMER E TEMPO DE VAPOR são programadas pelo cliente. Já a programação de INTERVALO, ACIONAMENTO e outras, já vêm configurada de fábrica.</a:t>
            </a:r>
          </a:p>
          <a:p>
            <a:endParaRPr lang="pt-BR" sz="1179" dirty="0">
              <a:latin typeface="Arial" pitchFamily="34" charset="0"/>
              <a:cs typeface="Arial" pitchFamily="34" charset="0"/>
            </a:endParaRPr>
          </a:p>
        </p:txBody>
      </p:sp>
      <p:sp>
        <p:nvSpPr>
          <p:cNvPr id="12" name="Elipse 11">
            <a:extLst>
              <a:ext uri="{FF2B5EF4-FFF2-40B4-BE49-F238E27FC236}">
                <a16:creationId xmlns:a16="http://schemas.microsoft.com/office/drawing/2014/main" id="{436173CE-4DD3-44EF-A0A8-AE7E7454ED23}"/>
              </a:ext>
            </a:extLst>
          </p:cNvPr>
          <p:cNvSpPr/>
          <p:nvPr/>
        </p:nvSpPr>
        <p:spPr>
          <a:xfrm>
            <a:off x="222633" y="1549971"/>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3" name="Elipse 12">
            <a:extLst>
              <a:ext uri="{FF2B5EF4-FFF2-40B4-BE49-F238E27FC236}">
                <a16:creationId xmlns:a16="http://schemas.microsoft.com/office/drawing/2014/main" id="{4448E1B5-DD54-4D8E-8033-10F29D4CFEFB}"/>
              </a:ext>
            </a:extLst>
          </p:cNvPr>
          <p:cNvSpPr/>
          <p:nvPr/>
        </p:nvSpPr>
        <p:spPr>
          <a:xfrm>
            <a:off x="170980" y="2082027"/>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4" name="Elipse 13">
            <a:extLst>
              <a:ext uri="{FF2B5EF4-FFF2-40B4-BE49-F238E27FC236}">
                <a16:creationId xmlns:a16="http://schemas.microsoft.com/office/drawing/2014/main" id="{BE6595E2-6B28-4CB5-9821-601C605A6F4E}"/>
              </a:ext>
            </a:extLst>
          </p:cNvPr>
          <p:cNvSpPr/>
          <p:nvPr/>
        </p:nvSpPr>
        <p:spPr>
          <a:xfrm>
            <a:off x="200858" y="2905524"/>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5" name="Elipse 14">
            <a:extLst>
              <a:ext uri="{FF2B5EF4-FFF2-40B4-BE49-F238E27FC236}">
                <a16:creationId xmlns:a16="http://schemas.microsoft.com/office/drawing/2014/main" id="{4A2F69DA-2827-4388-9046-3E3F1EA5DB9E}"/>
              </a:ext>
            </a:extLst>
          </p:cNvPr>
          <p:cNvSpPr/>
          <p:nvPr/>
        </p:nvSpPr>
        <p:spPr>
          <a:xfrm>
            <a:off x="200858" y="3168999"/>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6" name="Elipse 15">
            <a:extLst>
              <a:ext uri="{FF2B5EF4-FFF2-40B4-BE49-F238E27FC236}">
                <a16:creationId xmlns:a16="http://schemas.microsoft.com/office/drawing/2014/main" id="{722D02BD-DDF0-458A-8D48-3F20032FE3C7}"/>
              </a:ext>
            </a:extLst>
          </p:cNvPr>
          <p:cNvSpPr/>
          <p:nvPr/>
        </p:nvSpPr>
        <p:spPr>
          <a:xfrm>
            <a:off x="200858" y="3449166"/>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7" name="Elipse 16">
            <a:extLst>
              <a:ext uri="{FF2B5EF4-FFF2-40B4-BE49-F238E27FC236}">
                <a16:creationId xmlns:a16="http://schemas.microsoft.com/office/drawing/2014/main" id="{9679624F-08F0-4523-91F1-8B003C0B7020}"/>
              </a:ext>
            </a:extLst>
          </p:cNvPr>
          <p:cNvSpPr/>
          <p:nvPr/>
        </p:nvSpPr>
        <p:spPr>
          <a:xfrm>
            <a:off x="200858" y="3715716"/>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8" name="Elipse 17">
            <a:extLst>
              <a:ext uri="{FF2B5EF4-FFF2-40B4-BE49-F238E27FC236}">
                <a16:creationId xmlns:a16="http://schemas.microsoft.com/office/drawing/2014/main" id="{94EBF8CB-D866-49A8-A439-17FB6190EDEB}"/>
              </a:ext>
            </a:extLst>
          </p:cNvPr>
          <p:cNvSpPr/>
          <p:nvPr/>
        </p:nvSpPr>
        <p:spPr>
          <a:xfrm>
            <a:off x="200858" y="3972193"/>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19" name="Elipse 18">
            <a:extLst>
              <a:ext uri="{FF2B5EF4-FFF2-40B4-BE49-F238E27FC236}">
                <a16:creationId xmlns:a16="http://schemas.microsoft.com/office/drawing/2014/main" id="{BB12CB8F-71B7-41A1-AF0A-FB5CB548B6BE}"/>
              </a:ext>
            </a:extLst>
          </p:cNvPr>
          <p:cNvSpPr/>
          <p:nvPr/>
        </p:nvSpPr>
        <p:spPr>
          <a:xfrm>
            <a:off x="200858" y="4252360"/>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0" name="Elipse 19">
            <a:extLst>
              <a:ext uri="{FF2B5EF4-FFF2-40B4-BE49-F238E27FC236}">
                <a16:creationId xmlns:a16="http://schemas.microsoft.com/office/drawing/2014/main" id="{B3393C95-986A-4ABB-A8B3-FAA7071296BA}"/>
              </a:ext>
            </a:extLst>
          </p:cNvPr>
          <p:cNvSpPr/>
          <p:nvPr/>
        </p:nvSpPr>
        <p:spPr>
          <a:xfrm>
            <a:off x="204299" y="4532528"/>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1" name="Elipse 20">
            <a:extLst>
              <a:ext uri="{FF2B5EF4-FFF2-40B4-BE49-F238E27FC236}">
                <a16:creationId xmlns:a16="http://schemas.microsoft.com/office/drawing/2014/main" id="{EFE3FD76-C2A0-4DD1-BD94-FE0285791A54}"/>
              </a:ext>
            </a:extLst>
          </p:cNvPr>
          <p:cNvSpPr/>
          <p:nvPr/>
        </p:nvSpPr>
        <p:spPr>
          <a:xfrm>
            <a:off x="222632" y="4789005"/>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pic>
        <p:nvPicPr>
          <p:cNvPr id="22" name="Imagem 21">
            <a:extLst>
              <a:ext uri="{FF2B5EF4-FFF2-40B4-BE49-F238E27FC236}">
                <a16:creationId xmlns:a16="http://schemas.microsoft.com/office/drawing/2014/main" id="{87EA824C-3B86-4135-B010-F9E8B3E58D86}"/>
              </a:ext>
            </a:extLst>
          </p:cNvPr>
          <p:cNvPicPr>
            <a:picLocks noChangeAspect="1"/>
          </p:cNvPicPr>
          <p:nvPr/>
        </p:nvPicPr>
        <p:blipFill>
          <a:blip r:embed="rId2">
            <a:grayscl/>
            <a:extLst>
              <a:ext uri="{28A0092B-C50C-407E-A947-70E740481C1C}">
                <a14:useLocalDpi xmlns:a14="http://schemas.microsoft.com/office/drawing/2010/main" val="0"/>
              </a:ext>
            </a:extLst>
          </a:blip>
          <a:stretch>
            <a:fillRect/>
          </a:stretch>
        </p:blipFill>
        <p:spPr>
          <a:xfrm>
            <a:off x="4320494" y="1536131"/>
            <a:ext cx="2278406" cy="1977737"/>
          </a:xfrm>
          <a:prstGeom prst="rect">
            <a:avLst/>
          </a:prstGeom>
        </p:spPr>
      </p:pic>
      <p:sp>
        <p:nvSpPr>
          <p:cNvPr id="23" name="Retângulo 22">
            <a:extLst>
              <a:ext uri="{FF2B5EF4-FFF2-40B4-BE49-F238E27FC236}">
                <a16:creationId xmlns:a16="http://schemas.microsoft.com/office/drawing/2014/main" id="{299B7D09-5616-4123-8D86-0A797D124A35}"/>
              </a:ext>
            </a:extLst>
          </p:cNvPr>
          <p:cNvSpPr/>
          <p:nvPr/>
        </p:nvSpPr>
        <p:spPr>
          <a:xfrm>
            <a:off x="4780384" y="1697992"/>
            <a:ext cx="262333" cy="177724"/>
          </a:xfrm>
          <a:prstGeom prst="rect">
            <a:avLst/>
          </a:prstGeom>
          <a:solidFill>
            <a:schemeClr val="bg1">
              <a:lumMod val="85000"/>
            </a:schemeClr>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4" name="Retângulo 23">
            <a:extLst>
              <a:ext uri="{FF2B5EF4-FFF2-40B4-BE49-F238E27FC236}">
                <a16:creationId xmlns:a16="http://schemas.microsoft.com/office/drawing/2014/main" id="{B3B35C71-4EE9-4312-A9DC-F821D8E9A990}"/>
              </a:ext>
            </a:extLst>
          </p:cNvPr>
          <p:cNvSpPr/>
          <p:nvPr/>
        </p:nvSpPr>
        <p:spPr>
          <a:xfrm>
            <a:off x="4823378" y="1696115"/>
            <a:ext cx="262333" cy="177724"/>
          </a:xfrm>
          <a:prstGeom prst="rect">
            <a:avLst/>
          </a:prstGeom>
          <a:solidFill>
            <a:srgbClr val="E4E4E4"/>
          </a:solid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sp>
        <p:nvSpPr>
          <p:cNvPr id="25" name="Elipse 24">
            <a:extLst>
              <a:ext uri="{FF2B5EF4-FFF2-40B4-BE49-F238E27FC236}">
                <a16:creationId xmlns:a16="http://schemas.microsoft.com/office/drawing/2014/main" id="{CD07A557-AA9D-4E59-8FE8-7119DC9C7D08}"/>
              </a:ext>
            </a:extLst>
          </p:cNvPr>
          <p:cNvSpPr/>
          <p:nvPr/>
        </p:nvSpPr>
        <p:spPr>
          <a:xfrm>
            <a:off x="190850" y="2610196"/>
            <a:ext cx="188675" cy="186768"/>
          </a:xfrm>
          <a:prstGeom prst="ellipse">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179">
              <a:latin typeface="Arial" panose="020B0604020202020204" pitchFamily="34" charset="0"/>
              <a:cs typeface="Arial" panose="020B0604020202020204" pitchFamily="34" charset="0"/>
            </a:endParaRPr>
          </a:p>
        </p:txBody>
      </p:sp>
      <p:pic>
        <p:nvPicPr>
          <p:cNvPr id="26" name="Imagem 25">
            <a:extLst>
              <a:ext uri="{FF2B5EF4-FFF2-40B4-BE49-F238E27FC236}">
                <a16:creationId xmlns:a16="http://schemas.microsoft.com/office/drawing/2014/main" id="{E344FBF3-7683-4613-AAE5-B7AEF03A0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5108" y="6838921"/>
            <a:ext cx="982515" cy="220220"/>
          </a:xfrm>
          <a:prstGeom prst="rect">
            <a:avLst/>
          </a:prstGeom>
        </p:spPr>
      </p:pic>
      <p:pic>
        <p:nvPicPr>
          <p:cNvPr id="27" name="Imagem 26">
            <a:extLst>
              <a:ext uri="{FF2B5EF4-FFF2-40B4-BE49-F238E27FC236}">
                <a16:creationId xmlns:a16="http://schemas.microsoft.com/office/drawing/2014/main" id="{4EED3047-444F-4603-B7AD-3B0F9768A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1732" y="6838921"/>
            <a:ext cx="828445" cy="220220"/>
          </a:xfrm>
          <a:prstGeom prst="rect">
            <a:avLst/>
          </a:prstGeom>
        </p:spPr>
      </p:pic>
      <p:pic>
        <p:nvPicPr>
          <p:cNvPr id="28" name="Imagem 27">
            <a:extLst>
              <a:ext uri="{FF2B5EF4-FFF2-40B4-BE49-F238E27FC236}">
                <a16:creationId xmlns:a16="http://schemas.microsoft.com/office/drawing/2014/main" id="{ADB0CB8D-6547-4328-86FE-31E1E69B71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1453" y="6095464"/>
            <a:ext cx="828445" cy="220220"/>
          </a:xfrm>
          <a:prstGeom prst="rect">
            <a:avLst/>
          </a:prstGeom>
        </p:spPr>
      </p:pic>
    </p:spTree>
    <p:extLst>
      <p:ext uri="{BB962C8B-B14F-4D97-AF65-F5344CB8AC3E}">
        <p14:creationId xmlns:p14="http://schemas.microsoft.com/office/powerpoint/2010/main" val="772705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aixaDeTexto 28">
            <a:extLst>
              <a:ext uri="{FF2B5EF4-FFF2-40B4-BE49-F238E27FC236}">
                <a16:creationId xmlns:a16="http://schemas.microsoft.com/office/drawing/2014/main" id="{0E4A6260-FF0F-4B15-93C4-5B9980957673}"/>
              </a:ext>
            </a:extLst>
          </p:cNvPr>
          <p:cNvSpPr txBox="1"/>
          <p:nvPr/>
        </p:nvSpPr>
        <p:spPr>
          <a:xfrm>
            <a:off x="3135435" y="9441367"/>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05</a:t>
            </a:r>
          </a:p>
        </p:txBody>
      </p:sp>
      <p:sp>
        <p:nvSpPr>
          <p:cNvPr id="41" name="Retângulo 40">
            <a:extLst>
              <a:ext uri="{FF2B5EF4-FFF2-40B4-BE49-F238E27FC236}">
                <a16:creationId xmlns:a16="http://schemas.microsoft.com/office/drawing/2014/main" id="{6EDA3D4A-1057-4962-81F6-3347ECCC4230}"/>
              </a:ext>
            </a:extLst>
          </p:cNvPr>
          <p:cNvSpPr/>
          <p:nvPr/>
        </p:nvSpPr>
        <p:spPr>
          <a:xfrm>
            <a:off x="169106" y="128464"/>
            <a:ext cx="6558053" cy="27675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10. Código de falhas</a:t>
            </a:r>
          </a:p>
        </p:txBody>
      </p:sp>
      <p:sp>
        <p:nvSpPr>
          <p:cNvPr id="42" name="CaixaDeTexto 41"/>
          <p:cNvSpPr txBox="1"/>
          <p:nvPr/>
        </p:nvSpPr>
        <p:spPr>
          <a:xfrm>
            <a:off x="144971" y="429077"/>
            <a:ext cx="6226281" cy="636713"/>
          </a:xfrm>
          <a:prstGeom prst="rect">
            <a:avLst/>
          </a:prstGeom>
          <a:noFill/>
        </p:spPr>
        <p:txBody>
          <a:bodyPr wrap="square" rtlCol="0">
            <a:spAutoFit/>
          </a:bodyPr>
          <a:lstStyle/>
          <a:p>
            <a:pPr algn="just"/>
            <a:r>
              <a:rPr lang="pt-BR" sz="1179" dirty="0">
                <a:latin typeface="Arial" panose="020B0604020202020204" pitchFamily="34" charset="0"/>
                <a:cs typeface="Arial" pitchFamily="34" charset="0"/>
              </a:rPr>
              <a:t>O controlador poderá indicar algumas mensagens indicando que ocorreu algum defeito que impede o perfeito funcionamento do sistema.</a:t>
            </a:r>
          </a:p>
          <a:p>
            <a:endParaRPr lang="pt-BR" sz="1179" dirty="0">
              <a:latin typeface="Arial" panose="020B0604020202020204" pitchFamily="34" charset="0"/>
              <a:cs typeface="Arial" pitchFamily="34" charset="0"/>
            </a:endParaRPr>
          </a:p>
        </p:txBody>
      </p:sp>
      <p:pic>
        <p:nvPicPr>
          <p:cNvPr id="43" name="Imagem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28" y="925312"/>
            <a:ext cx="6665643" cy="3317264"/>
          </a:xfrm>
          <a:prstGeom prst="rect">
            <a:avLst/>
          </a:prstGeom>
        </p:spPr>
      </p:pic>
      <p:sp>
        <p:nvSpPr>
          <p:cNvPr id="44" name="Retângulo 43">
            <a:extLst>
              <a:ext uri="{FF2B5EF4-FFF2-40B4-BE49-F238E27FC236}">
                <a16:creationId xmlns:a16="http://schemas.microsoft.com/office/drawing/2014/main" id="{C0BDA508-251E-4B70-8A44-56B55638CB4C}"/>
              </a:ext>
            </a:extLst>
          </p:cNvPr>
          <p:cNvSpPr/>
          <p:nvPr/>
        </p:nvSpPr>
        <p:spPr>
          <a:xfrm>
            <a:off x="172203" y="4052641"/>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11. Acendimento</a:t>
            </a:r>
          </a:p>
        </p:txBody>
      </p:sp>
      <p:sp>
        <p:nvSpPr>
          <p:cNvPr id="47" name="CaixaDeTexto 46"/>
          <p:cNvSpPr txBox="1"/>
          <p:nvPr/>
        </p:nvSpPr>
        <p:spPr>
          <a:xfrm>
            <a:off x="116632" y="4424908"/>
            <a:ext cx="6606876" cy="1964064"/>
          </a:xfrm>
          <a:prstGeom prst="rect">
            <a:avLst/>
          </a:prstGeom>
          <a:noFill/>
        </p:spPr>
        <p:txBody>
          <a:bodyPr wrap="square" rtlCol="0">
            <a:spAutoFit/>
          </a:bodyPr>
          <a:lstStyle/>
          <a:p>
            <a:pPr algn="just">
              <a:lnSpc>
                <a:spcPct val="150000"/>
              </a:lnSpc>
            </a:pPr>
            <a:r>
              <a:rPr lang="pt-BR" sz="1179" dirty="0">
                <a:latin typeface="Arial" panose="020B0604020202020204" pitchFamily="34" charset="0"/>
                <a:cs typeface="Arial" pitchFamily="34" charset="0"/>
              </a:rPr>
              <a:t>Passo 1 - Coloque o forno na rede elétrica. </a:t>
            </a:r>
            <a:r>
              <a:rPr lang="pt-BR" sz="1179" b="1" dirty="0">
                <a:latin typeface="Arial" panose="020B0604020202020204" pitchFamily="34" charset="0"/>
                <a:cs typeface="Arial" pitchFamily="34" charset="0"/>
              </a:rPr>
              <a:t>CERTIFIQUE-SE QUE EXISTE ATERRAMENTO.</a:t>
            </a:r>
            <a:endParaRPr lang="pt-BR" sz="1179" dirty="0">
              <a:latin typeface="Arial" pitchFamily="34" charset="0"/>
              <a:cs typeface="Arial" pitchFamily="34" charset="0"/>
            </a:endParaRPr>
          </a:p>
          <a:p>
            <a:pPr algn="just">
              <a:lnSpc>
                <a:spcPct val="150000"/>
              </a:lnSpc>
            </a:pPr>
            <a:r>
              <a:rPr lang="pt-BR" sz="1179" dirty="0">
                <a:latin typeface="Arial" pitchFamily="34" charset="0"/>
                <a:cs typeface="Arial" pitchFamily="34" charset="0"/>
              </a:rPr>
              <a:t>Passo 2 - Conecte as mangueiras de gás aos botijões.</a:t>
            </a:r>
          </a:p>
          <a:p>
            <a:pPr algn="just">
              <a:lnSpc>
                <a:spcPct val="150000"/>
              </a:lnSpc>
            </a:pPr>
            <a:r>
              <a:rPr lang="pt-BR" sz="1179" dirty="0">
                <a:latin typeface="Arial" pitchFamily="34" charset="0"/>
                <a:cs typeface="Arial" pitchFamily="34" charset="0"/>
              </a:rPr>
              <a:t>Passo 3 - Abra o registro do botijão de gás.</a:t>
            </a:r>
          </a:p>
          <a:p>
            <a:pPr algn="just">
              <a:lnSpc>
                <a:spcPct val="150000"/>
              </a:lnSpc>
            </a:pPr>
            <a:r>
              <a:rPr lang="pt-BR" sz="1179" dirty="0">
                <a:latin typeface="Arial" pitchFamily="34" charset="0"/>
                <a:cs typeface="Arial" pitchFamily="34" charset="0"/>
              </a:rPr>
              <a:t>Passo 4 - Ligue a chave geral, que acionará automaticamente o queimador do forno;</a:t>
            </a:r>
          </a:p>
          <a:p>
            <a:pPr algn="just">
              <a:lnSpc>
                <a:spcPct val="150000"/>
              </a:lnSpc>
            </a:pPr>
            <a:r>
              <a:rPr lang="pt-BR" sz="1179" dirty="0">
                <a:latin typeface="Arial" pitchFamily="34" charset="0"/>
                <a:cs typeface="Arial" pitchFamily="34" charset="0"/>
              </a:rPr>
              <a:t>Passo 5 - Ligue o motor.</a:t>
            </a:r>
          </a:p>
          <a:p>
            <a:pPr algn="just">
              <a:lnSpc>
                <a:spcPct val="150000"/>
              </a:lnSpc>
            </a:pPr>
            <a:r>
              <a:rPr lang="pt-BR" sz="1179" dirty="0">
                <a:latin typeface="Arial" pitchFamily="34" charset="0"/>
                <a:cs typeface="Arial" pitchFamily="34" charset="0"/>
              </a:rPr>
              <a:t>Sobre a temperatura a ser programada no forno: por causa do sensor, sempre deverá ser programada acima da temperatura ambiente de onde o forno está localizado.</a:t>
            </a:r>
          </a:p>
        </p:txBody>
      </p:sp>
      <p:sp>
        <p:nvSpPr>
          <p:cNvPr id="48" name="CaixaDeTexto 47"/>
          <p:cNvSpPr txBox="1"/>
          <p:nvPr/>
        </p:nvSpPr>
        <p:spPr>
          <a:xfrm>
            <a:off x="419041" y="7836271"/>
            <a:ext cx="6117418" cy="636713"/>
          </a:xfrm>
          <a:prstGeom prst="rect">
            <a:avLst/>
          </a:prstGeom>
          <a:noFill/>
        </p:spPr>
        <p:txBody>
          <a:bodyPr wrap="square" rtlCol="0">
            <a:spAutoFit/>
          </a:bodyPr>
          <a:lstStyle/>
          <a:p>
            <a:pPr algn="ctr"/>
            <a:r>
              <a:rPr lang="pt-BR" sz="1179" b="1" dirty="0">
                <a:latin typeface="Arial" panose="020B0604020202020204" pitchFamily="34" charset="0"/>
                <a:cs typeface="Arial" pitchFamily="34" charset="0"/>
              </a:rPr>
              <a:t>SEMPRE QUE O FORNO ESTIVER EM FUNCIONAMENTO, O MOTOR DEVE ESTÁ EM FUNCIONAMNETO TAMBÉM.</a:t>
            </a:r>
          </a:p>
          <a:p>
            <a:pPr algn="ctr"/>
            <a:endParaRPr lang="pt-BR" sz="1179" dirty="0">
              <a:latin typeface="Arial" panose="020B0604020202020204" pitchFamily="34" charset="0"/>
              <a:cs typeface="Arial" pitchFamily="34" charset="0"/>
            </a:endParaRPr>
          </a:p>
        </p:txBody>
      </p:sp>
      <p:sp>
        <p:nvSpPr>
          <p:cNvPr id="63" name="Retângulo 62">
            <a:extLst>
              <a:ext uri="{FF2B5EF4-FFF2-40B4-BE49-F238E27FC236}">
                <a16:creationId xmlns:a16="http://schemas.microsoft.com/office/drawing/2014/main" id="{5FB5353D-EE4D-4F5F-B916-169B51D60116}"/>
              </a:ext>
            </a:extLst>
          </p:cNvPr>
          <p:cNvSpPr/>
          <p:nvPr/>
        </p:nvSpPr>
        <p:spPr>
          <a:xfrm>
            <a:off x="142868" y="6828506"/>
            <a:ext cx="6554401" cy="603114"/>
          </a:xfrm>
          <a:prstGeom prst="rect">
            <a:avLst/>
          </a:prstGeom>
        </p:spPr>
        <p:txBody>
          <a:bodyPr wrap="square">
            <a:spAutoFit/>
          </a:bodyPr>
          <a:lstStyle/>
          <a:p>
            <a:pPr algn="just">
              <a:lnSpc>
                <a:spcPct val="150000"/>
              </a:lnSpc>
            </a:pPr>
            <a:r>
              <a:rPr lang="pt-BR" sz="1179" b="1" dirty="0">
                <a:latin typeface="Arial" panose="020B0604020202020204" pitchFamily="34" charset="0"/>
                <a:cs typeface="Arial" pitchFamily="34" charset="0"/>
              </a:rPr>
              <a:t>ATENÇÃO</a:t>
            </a:r>
            <a:r>
              <a:rPr lang="pt-BR" sz="1179" dirty="0">
                <a:latin typeface="Arial" panose="020B0604020202020204" pitchFamily="34" charset="0"/>
                <a:cs typeface="Arial" pitchFamily="34" charset="0"/>
              </a:rPr>
              <a:t>: no caso do fogo se apagar, a saída do gás será bloqueada. Para ligá-la novamente, desligue a chave geral e ligue-a novamente.</a:t>
            </a:r>
          </a:p>
        </p:txBody>
      </p:sp>
    </p:spTree>
    <p:extLst>
      <p:ext uri="{BB962C8B-B14F-4D97-AF65-F5344CB8AC3E}">
        <p14:creationId xmlns:p14="http://schemas.microsoft.com/office/powerpoint/2010/main" val="1698261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tângulo 26">
            <a:extLst>
              <a:ext uri="{FF2B5EF4-FFF2-40B4-BE49-F238E27FC236}">
                <a16:creationId xmlns:a16="http://schemas.microsoft.com/office/drawing/2014/main" id="{7654965F-F501-4195-A963-C00089B80FE9}"/>
              </a:ext>
            </a:extLst>
          </p:cNvPr>
          <p:cNvSpPr/>
          <p:nvPr/>
        </p:nvSpPr>
        <p:spPr>
          <a:xfrm>
            <a:off x="172210" y="1846536"/>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12. Limpeza</a:t>
            </a:r>
          </a:p>
        </p:txBody>
      </p:sp>
      <p:sp>
        <p:nvSpPr>
          <p:cNvPr id="28" name="Retângulo 27">
            <a:extLst>
              <a:ext uri="{FF2B5EF4-FFF2-40B4-BE49-F238E27FC236}">
                <a16:creationId xmlns:a16="http://schemas.microsoft.com/office/drawing/2014/main" id="{3A3F4D4B-D67C-4346-A366-ED7B0EEAA78C}"/>
              </a:ext>
            </a:extLst>
          </p:cNvPr>
          <p:cNvSpPr/>
          <p:nvPr/>
        </p:nvSpPr>
        <p:spPr>
          <a:xfrm>
            <a:off x="188654" y="3412087"/>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13. Alimentação</a:t>
            </a:r>
          </a:p>
        </p:txBody>
      </p:sp>
      <p:sp>
        <p:nvSpPr>
          <p:cNvPr id="30" name="CaixaDeTexto 29">
            <a:extLst>
              <a:ext uri="{FF2B5EF4-FFF2-40B4-BE49-F238E27FC236}">
                <a16:creationId xmlns:a16="http://schemas.microsoft.com/office/drawing/2014/main" id="{6D3751E9-5CFF-4F08-8252-CF9AE83A0EA3}"/>
              </a:ext>
            </a:extLst>
          </p:cNvPr>
          <p:cNvSpPr txBox="1"/>
          <p:nvPr/>
        </p:nvSpPr>
        <p:spPr>
          <a:xfrm>
            <a:off x="3208572" y="9489574"/>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06</a:t>
            </a:r>
          </a:p>
        </p:txBody>
      </p:sp>
      <p:sp>
        <p:nvSpPr>
          <p:cNvPr id="31" name="CaixaDeTexto 30">
            <a:extLst>
              <a:ext uri="{FF2B5EF4-FFF2-40B4-BE49-F238E27FC236}">
                <a16:creationId xmlns:a16="http://schemas.microsoft.com/office/drawing/2014/main" id="{9F3426F1-24CB-4424-A352-C3B513BA7C14}"/>
              </a:ext>
            </a:extLst>
          </p:cNvPr>
          <p:cNvSpPr txBox="1"/>
          <p:nvPr/>
        </p:nvSpPr>
        <p:spPr>
          <a:xfrm>
            <a:off x="176321" y="2131757"/>
            <a:ext cx="6568303" cy="1181093"/>
          </a:xfrm>
          <a:prstGeom prst="rect">
            <a:avLst/>
          </a:prstGeom>
          <a:noFill/>
        </p:spPr>
        <p:txBody>
          <a:bodyPr wrap="square" rtlCol="0">
            <a:spAutoFit/>
          </a:bodyPr>
          <a:lstStyle/>
          <a:p>
            <a:pPr algn="just"/>
            <a:r>
              <a:rPr lang="pt-BR" sz="1179" dirty="0">
                <a:latin typeface="Arial" pitchFamily="34" charset="0"/>
                <a:cs typeface="Arial" pitchFamily="34" charset="0"/>
              </a:rPr>
              <a:t>12.1 Para a realização da limpeza, o equipamento deve estar desligado da tomada, evitando assim qualquer acidente. Prefira uma esponja de tecido ou plástico com detergente doméstico neutro e água. Nunca use materiais pontiagudos ou produtos abrasivos (que possuem na fórmula elementos corrosivos). Tenha em mente que a limpeza constante e correta é fundamental para o perfeito funcionamento do equipamento.</a:t>
            </a:r>
          </a:p>
          <a:p>
            <a:pPr algn="just"/>
            <a:endParaRPr lang="pt-BR" sz="1179" dirty="0">
              <a:latin typeface="Arial" pitchFamily="34" charset="0"/>
              <a:cs typeface="Arial" pitchFamily="34" charset="0"/>
            </a:endParaRPr>
          </a:p>
        </p:txBody>
      </p:sp>
      <p:sp>
        <p:nvSpPr>
          <p:cNvPr id="34" name="Retângulo de cantos arredondados 18">
            <a:extLst>
              <a:ext uri="{FF2B5EF4-FFF2-40B4-BE49-F238E27FC236}">
                <a16:creationId xmlns:a16="http://schemas.microsoft.com/office/drawing/2014/main" id="{C22EAB02-BA0B-4524-A6A3-6B867F9BC850}"/>
              </a:ext>
            </a:extLst>
          </p:cNvPr>
          <p:cNvSpPr/>
          <p:nvPr/>
        </p:nvSpPr>
        <p:spPr>
          <a:xfrm>
            <a:off x="620688" y="128464"/>
            <a:ext cx="5801096" cy="1560273"/>
          </a:xfrm>
          <a:prstGeom prst="round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19795" tIns="59898" rIns="119795" bIns="59898" numCol="1" spcCol="0" rtlCol="0" fromWordArt="0" anchor="ctr" anchorCtr="0" forceAA="0" compatLnSpc="1">
            <a:prstTxWarp prst="textNoShape">
              <a:avLst/>
            </a:prstTxWarp>
            <a:noAutofit/>
          </a:bodyPr>
          <a:lstStyle/>
          <a:p>
            <a:endParaRPr lang="pt-BR" sz="1179">
              <a:latin typeface="Arial" panose="020B0604020202020204" pitchFamily="34" charset="0"/>
              <a:cs typeface="Arial" panose="020B0604020202020204" pitchFamily="34" charset="0"/>
            </a:endParaRPr>
          </a:p>
        </p:txBody>
      </p:sp>
      <p:sp>
        <p:nvSpPr>
          <p:cNvPr id="35" name="Caixa de texto 4">
            <a:extLst>
              <a:ext uri="{FF2B5EF4-FFF2-40B4-BE49-F238E27FC236}">
                <a16:creationId xmlns:a16="http://schemas.microsoft.com/office/drawing/2014/main" id="{50A68CEF-5FFA-40E2-85FE-7D17A1BD9E42}"/>
              </a:ext>
            </a:extLst>
          </p:cNvPr>
          <p:cNvSpPr txBox="1"/>
          <p:nvPr/>
        </p:nvSpPr>
        <p:spPr>
          <a:xfrm>
            <a:off x="746761" y="176671"/>
            <a:ext cx="5675023" cy="147843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119795" tIns="59898" rIns="119795" bIns="59898" numCol="1" spcCol="0" rtlCol="0" fromWordArt="0" anchor="t" anchorCtr="0" forceAA="0" compatLnSpc="1">
            <a:prstTxWarp prst="textNoShape">
              <a:avLst/>
            </a:prstTxWarp>
            <a:noAutofit/>
          </a:bodyPr>
          <a:lstStyle/>
          <a:p>
            <a:pPr>
              <a:lnSpc>
                <a:spcPct val="107000"/>
              </a:lnSpc>
              <a:spcAft>
                <a:spcPts val="1048"/>
              </a:spcAft>
            </a:pPr>
            <a:r>
              <a:rPr lang="pt-BR" sz="1179" b="1" dirty="0">
                <a:latin typeface="Arial" panose="020B0604020202020204" pitchFamily="34" charset="0"/>
                <a:ea typeface="Calibri"/>
                <a:cs typeface="Arial" pitchFamily="34" charset="0"/>
              </a:rPr>
              <a:t>USO DO FORNO</a:t>
            </a:r>
            <a:endParaRPr lang="pt-BR" sz="1179" dirty="0">
              <a:latin typeface="Arial" pitchFamily="34" charset="0"/>
              <a:ea typeface="Calibri"/>
              <a:cs typeface="Arial" pitchFamily="34" charset="0"/>
            </a:endParaRPr>
          </a:p>
          <a:p>
            <a:pPr algn="just">
              <a:lnSpc>
                <a:spcPct val="107000"/>
              </a:lnSpc>
              <a:spcAft>
                <a:spcPts val="1048"/>
              </a:spcAft>
            </a:pPr>
            <a:r>
              <a:rPr lang="pt-BR" sz="1179" dirty="0">
                <a:latin typeface="Arial" pitchFamily="34" charset="0"/>
                <a:ea typeface="Calibri"/>
                <a:cs typeface="Arial" pitchFamily="34" charset="0"/>
              </a:rPr>
              <a:t>Deixe a tinta protetora, que reveste o interior do forno, queimar por cerca de 30 minutos a 150°C. Antes de abrir a porta, desligue a chave geral do forno, apagando a chama. Deixe por 10 minutos aberto o forno para que resfrie. Fazendo esse procedimento, você estará apto a utilizar o forno.</a:t>
            </a:r>
          </a:p>
        </p:txBody>
      </p:sp>
      <p:sp>
        <p:nvSpPr>
          <p:cNvPr id="36" name="Retângulo 35">
            <a:extLst>
              <a:ext uri="{FF2B5EF4-FFF2-40B4-BE49-F238E27FC236}">
                <a16:creationId xmlns:a16="http://schemas.microsoft.com/office/drawing/2014/main" id="{187FD6DC-3641-4D03-B21A-0C7D6DCB616F}"/>
              </a:ext>
            </a:extLst>
          </p:cNvPr>
          <p:cNvSpPr/>
          <p:nvPr/>
        </p:nvSpPr>
        <p:spPr>
          <a:xfrm>
            <a:off x="172210" y="3724268"/>
            <a:ext cx="6560081" cy="455253"/>
          </a:xfrm>
          <a:prstGeom prst="rect">
            <a:avLst/>
          </a:prstGeom>
        </p:spPr>
        <p:txBody>
          <a:bodyPr wrap="square">
            <a:spAutoFit/>
          </a:bodyPr>
          <a:lstStyle/>
          <a:p>
            <a:pPr algn="just"/>
            <a:r>
              <a:rPr lang="pt-BR" sz="1179" dirty="0">
                <a:latin typeface="Arial" panose="020B0604020202020204" pitchFamily="34" charset="0"/>
                <a:cs typeface="Arial" pitchFamily="34" charset="0"/>
              </a:rPr>
              <a:t>13.1 O forno Turbo deve ser alimentado por pelo menos 2 botijões de 13 kg ligados em paralelo. Garantindo com isso, que o forno opere a uma temperatura de gás 280mm de coluna d’água.</a:t>
            </a:r>
          </a:p>
        </p:txBody>
      </p:sp>
      <p:sp>
        <p:nvSpPr>
          <p:cNvPr id="37" name="Retângulo 36">
            <a:extLst>
              <a:ext uri="{FF2B5EF4-FFF2-40B4-BE49-F238E27FC236}">
                <a16:creationId xmlns:a16="http://schemas.microsoft.com/office/drawing/2014/main" id="{8D8222E0-E330-409C-B8B6-23BE0AA55EDB}"/>
              </a:ext>
            </a:extLst>
          </p:cNvPr>
          <p:cNvSpPr/>
          <p:nvPr/>
        </p:nvSpPr>
        <p:spPr>
          <a:xfrm>
            <a:off x="188654" y="4508097"/>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14. Controlador de pressão e umidade</a:t>
            </a:r>
          </a:p>
        </p:txBody>
      </p:sp>
      <p:sp>
        <p:nvSpPr>
          <p:cNvPr id="38" name="Retângulo 37">
            <a:extLst>
              <a:ext uri="{FF2B5EF4-FFF2-40B4-BE49-F238E27FC236}">
                <a16:creationId xmlns:a16="http://schemas.microsoft.com/office/drawing/2014/main" id="{03B7F15A-AEF0-4A09-85DF-EA46D93B70F2}"/>
              </a:ext>
            </a:extLst>
          </p:cNvPr>
          <p:cNvSpPr/>
          <p:nvPr/>
        </p:nvSpPr>
        <p:spPr>
          <a:xfrm>
            <a:off x="164546" y="4880722"/>
            <a:ext cx="3263175" cy="1181093"/>
          </a:xfrm>
          <a:prstGeom prst="rect">
            <a:avLst/>
          </a:prstGeom>
        </p:spPr>
        <p:txBody>
          <a:bodyPr wrap="square">
            <a:spAutoFit/>
          </a:bodyPr>
          <a:lstStyle/>
          <a:p>
            <a:pPr algn="just"/>
            <a:r>
              <a:rPr lang="pt-BR" sz="1179" dirty="0">
                <a:latin typeface="Arial" panose="020B0604020202020204" pitchFamily="34" charset="0"/>
                <a:cs typeface="Arial" pitchFamily="34" charset="0"/>
              </a:rPr>
              <a:t>14.1 Para controlar os índices de umidade e pressão, o forno Ciclone possui uma válvula de controle na parte superior externa. Para acioná-la, basta puxá-la e, automaticamente, haverá a diminuição da pressão interna do forno. O mesmo vale para a umidade.</a:t>
            </a:r>
          </a:p>
        </p:txBody>
      </p:sp>
      <p:sp>
        <p:nvSpPr>
          <p:cNvPr id="39" name="Retângulo 38">
            <a:extLst>
              <a:ext uri="{FF2B5EF4-FFF2-40B4-BE49-F238E27FC236}">
                <a16:creationId xmlns:a16="http://schemas.microsoft.com/office/drawing/2014/main" id="{C003EF6A-AED7-4FF6-863F-7E51B38BD861}"/>
              </a:ext>
            </a:extLst>
          </p:cNvPr>
          <p:cNvSpPr/>
          <p:nvPr/>
        </p:nvSpPr>
        <p:spPr>
          <a:xfrm>
            <a:off x="188654" y="6624310"/>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15. Medidas dos fornos</a:t>
            </a:r>
          </a:p>
        </p:txBody>
      </p:sp>
      <p:pic>
        <p:nvPicPr>
          <p:cNvPr id="40" name="Imagem 39">
            <a:extLst>
              <a:ext uri="{FF2B5EF4-FFF2-40B4-BE49-F238E27FC236}">
                <a16:creationId xmlns:a16="http://schemas.microsoft.com/office/drawing/2014/main" id="{8F6A3E86-D9FD-463E-82FE-CBDD16F0C9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2174" y="4890474"/>
            <a:ext cx="2107036" cy="1537381"/>
          </a:xfrm>
          <a:prstGeom prst="rect">
            <a:avLst/>
          </a:prstGeom>
        </p:spPr>
      </p:pic>
      <p:cxnSp>
        <p:nvCxnSpPr>
          <p:cNvPr id="41" name="Conector de Seta Reta 40">
            <a:extLst>
              <a:ext uri="{FF2B5EF4-FFF2-40B4-BE49-F238E27FC236}">
                <a16:creationId xmlns:a16="http://schemas.microsoft.com/office/drawing/2014/main" id="{D62536E6-A0B9-4B59-84AE-EF1188C687BB}"/>
              </a:ext>
            </a:extLst>
          </p:cNvPr>
          <p:cNvCxnSpPr>
            <a:cxnSpLocks/>
          </p:cNvCxnSpPr>
          <p:nvPr/>
        </p:nvCxnSpPr>
        <p:spPr>
          <a:xfrm flipH="1" flipV="1">
            <a:off x="4187837" y="5099685"/>
            <a:ext cx="377350" cy="2830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Conector de Seta Reta 45">
            <a:extLst>
              <a:ext uri="{FF2B5EF4-FFF2-40B4-BE49-F238E27FC236}">
                <a16:creationId xmlns:a16="http://schemas.microsoft.com/office/drawing/2014/main" id="{FEA638DD-495A-4A21-B299-52237F99115B}"/>
              </a:ext>
            </a:extLst>
          </p:cNvPr>
          <p:cNvCxnSpPr>
            <a:cxnSpLocks/>
          </p:cNvCxnSpPr>
          <p:nvPr/>
        </p:nvCxnSpPr>
        <p:spPr>
          <a:xfrm>
            <a:off x="4990890" y="5248659"/>
            <a:ext cx="423336" cy="3279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CaixaDeTexto 46">
            <a:extLst>
              <a:ext uri="{FF2B5EF4-FFF2-40B4-BE49-F238E27FC236}">
                <a16:creationId xmlns:a16="http://schemas.microsoft.com/office/drawing/2014/main" id="{F3D56F7C-2ADB-4C8D-B036-F77C878780F1}"/>
              </a:ext>
            </a:extLst>
          </p:cNvPr>
          <p:cNvSpPr txBox="1"/>
          <p:nvPr/>
        </p:nvSpPr>
        <p:spPr>
          <a:xfrm>
            <a:off x="3666547" y="5005351"/>
            <a:ext cx="671921"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Abre</a:t>
            </a:r>
          </a:p>
        </p:txBody>
      </p:sp>
      <p:sp>
        <p:nvSpPr>
          <p:cNvPr id="48" name="CaixaDeTexto 47">
            <a:extLst>
              <a:ext uri="{FF2B5EF4-FFF2-40B4-BE49-F238E27FC236}">
                <a16:creationId xmlns:a16="http://schemas.microsoft.com/office/drawing/2014/main" id="{CCA7F429-32D9-47D9-830F-27B782469FB8}"/>
              </a:ext>
            </a:extLst>
          </p:cNvPr>
          <p:cNvSpPr txBox="1"/>
          <p:nvPr/>
        </p:nvSpPr>
        <p:spPr>
          <a:xfrm>
            <a:off x="5214182" y="5101586"/>
            <a:ext cx="806324" cy="273793"/>
          </a:xfrm>
          <a:prstGeom prst="rect">
            <a:avLst/>
          </a:prstGeom>
          <a:noFill/>
        </p:spPr>
        <p:txBody>
          <a:bodyPr wrap="square" rtlCol="0">
            <a:spAutoFit/>
          </a:bodyPr>
          <a:lstStyle/>
          <a:p>
            <a:r>
              <a:rPr lang="pt-BR" sz="1179" b="1" dirty="0">
                <a:latin typeface="Arial" panose="020B0604020202020204" pitchFamily="34" charset="0"/>
                <a:cs typeface="Arial" panose="020B0604020202020204" pitchFamily="34" charset="0"/>
              </a:rPr>
              <a:t>Fecha</a:t>
            </a:r>
          </a:p>
        </p:txBody>
      </p:sp>
      <p:cxnSp>
        <p:nvCxnSpPr>
          <p:cNvPr id="49" name="Conector reto 48">
            <a:extLst>
              <a:ext uri="{FF2B5EF4-FFF2-40B4-BE49-F238E27FC236}">
                <a16:creationId xmlns:a16="http://schemas.microsoft.com/office/drawing/2014/main" id="{C9F322A7-7B1B-44C5-A4C3-E99260F30AEB}"/>
              </a:ext>
            </a:extLst>
          </p:cNvPr>
          <p:cNvCxnSpPr>
            <a:cxnSpLocks/>
          </p:cNvCxnSpPr>
          <p:nvPr/>
        </p:nvCxnSpPr>
        <p:spPr>
          <a:xfrm flipH="1">
            <a:off x="5579759" y="7396522"/>
            <a:ext cx="3658" cy="1187657"/>
          </a:xfrm>
          <a:prstGeom prst="line">
            <a:avLst/>
          </a:prstGeom>
        </p:spPr>
        <p:style>
          <a:lnRef idx="1">
            <a:schemeClr val="dk1"/>
          </a:lnRef>
          <a:fillRef idx="0">
            <a:schemeClr val="dk1"/>
          </a:fillRef>
          <a:effectRef idx="0">
            <a:schemeClr val="dk1"/>
          </a:effectRef>
          <a:fontRef idx="minor">
            <a:schemeClr val="tx1"/>
          </a:fontRef>
        </p:style>
      </p:cxnSp>
      <p:cxnSp>
        <p:nvCxnSpPr>
          <p:cNvPr id="50" name="Conector reto 49">
            <a:extLst>
              <a:ext uri="{FF2B5EF4-FFF2-40B4-BE49-F238E27FC236}">
                <a16:creationId xmlns:a16="http://schemas.microsoft.com/office/drawing/2014/main" id="{2BAFC40D-3F73-4E74-84FC-F6865CA3BCC9}"/>
              </a:ext>
            </a:extLst>
          </p:cNvPr>
          <p:cNvCxnSpPr>
            <a:cxnSpLocks/>
          </p:cNvCxnSpPr>
          <p:nvPr/>
        </p:nvCxnSpPr>
        <p:spPr>
          <a:xfrm flipH="1">
            <a:off x="5319888" y="8581710"/>
            <a:ext cx="259871" cy="453762"/>
          </a:xfrm>
          <a:prstGeom prst="line">
            <a:avLst/>
          </a:prstGeom>
        </p:spPr>
        <p:style>
          <a:lnRef idx="1">
            <a:schemeClr val="dk1"/>
          </a:lnRef>
          <a:fillRef idx="0">
            <a:schemeClr val="dk1"/>
          </a:fillRef>
          <a:effectRef idx="0">
            <a:schemeClr val="dk1"/>
          </a:effectRef>
          <a:fontRef idx="minor">
            <a:schemeClr val="tx1"/>
          </a:fontRef>
        </p:style>
      </p:cxnSp>
      <p:cxnSp>
        <p:nvCxnSpPr>
          <p:cNvPr id="51" name="Conector reto 50">
            <a:extLst>
              <a:ext uri="{FF2B5EF4-FFF2-40B4-BE49-F238E27FC236}">
                <a16:creationId xmlns:a16="http://schemas.microsoft.com/office/drawing/2014/main" id="{30A4B4CB-B486-4810-AEF4-6BC270ED5970}"/>
              </a:ext>
            </a:extLst>
          </p:cNvPr>
          <p:cNvCxnSpPr>
            <a:cxnSpLocks/>
          </p:cNvCxnSpPr>
          <p:nvPr/>
        </p:nvCxnSpPr>
        <p:spPr>
          <a:xfrm>
            <a:off x="4529458" y="8905923"/>
            <a:ext cx="790430" cy="129548"/>
          </a:xfrm>
          <a:prstGeom prst="line">
            <a:avLst/>
          </a:prstGeom>
        </p:spPr>
        <p:style>
          <a:lnRef idx="1">
            <a:schemeClr val="dk1"/>
          </a:lnRef>
          <a:fillRef idx="0">
            <a:schemeClr val="dk1"/>
          </a:fillRef>
          <a:effectRef idx="0">
            <a:schemeClr val="dk1"/>
          </a:effectRef>
          <a:fontRef idx="minor">
            <a:schemeClr val="tx1"/>
          </a:fontRef>
        </p:style>
      </p:cxnSp>
      <p:cxnSp>
        <p:nvCxnSpPr>
          <p:cNvPr id="52" name="Conector reto 51">
            <a:extLst>
              <a:ext uri="{FF2B5EF4-FFF2-40B4-BE49-F238E27FC236}">
                <a16:creationId xmlns:a16="http://schemas.microsoft.com/office/drawing/2014/main" id="{DF3DEB71-ED7D-4D2D-AA38-DACFD3082FBC}"/>
              </a:ext>
            </a:extLst>
          </p:cNvPr>
          <p:cNvCxnSpPr>
            <a:cxnSpLocks/>
          </p:cNvCxnSpPr>
          <p:nvPr/>
        </p:nvCxnSpPr>
        <p:spPr>
          <a:xfrm>
            <a:off x="5485421" y="7396522"/>
            <a:ext cx="188675" cy="0"/>
          </a:xfrm>
          <a:prstGeom prst="line">
            <a:avLst/>
          </a:prstGeom>
        </p:spPr>
        <p:style>
          <a:lnRef idx="1">
            <a:schemeClr val="dk1"/>
          </a:lnRef>
          <a:fillRef idx="0">
            <a:schemeClr val="dk1"/>
          </a:fillRef>
          <a:effectRef idx="0">
            <a:schemeClr val="dk1"/>
          </a:effectRef>
          <a:fontRef idx="minor">
            <a:schemeClr val="tx1"/>
          </a:fontRef>
        </p:style>
      </p:cxnSp>
      <p:cxnSp>
        <p:nvCxnSpPr>
          <p:cNvPr id="53" name="Conector reto 52">
            <a:extLst>
              <a:ext uri="{FF2B5EF4-FFF2-40B4-BE49-F238E27FC236}">
                <a16:creationId xmlns:a16="http://schemas.microsoft.com/office/drawing/2014/main" id="{82F439EC-832F-4078-B9D5-48F04A3ED77F}"/>
              </a:ext>
            </a:extLst>
          </p:cNvPr>
          <p:cNvCxnSpPr>
            <a:cxnSpLocks/>
          </p:cNvCxnSpPr>
          <p:nvPr/>
        </p:nvCxnSpPr>
        <p:spPr>
          <a:xfrm>
            <a:off x="5508563" y="8581710"/>
            <a:ext cx="108781" cy="2470"/>
          </a:xfrm>
          <a:prstGeom prst="line">
            <a:avLst/>
          </a:prstGeom>
        </p:spPr>
        <p:style>
          <a:lnRef idx="1">
            <a:schemeClr val="dk1"/>
          </a:lnRef>
          <a:fillRef idx="0">
            <a:schemeClr val="dk1"/>
          </a:fillRef>
          <a:effectRef idx="0">
            <a:schemeClr val="dk1"/>
          </a:effectRef>
          <a:fontRef idx="minor">
            <a:schemeClr val="tx1"/>
          </a:fontRef>
        </p:style>
      </p:cxnSp>
      <p:sp>
        <p:nvSpPr>
          <p:cNvPr id="54" name="CaixaDeTexto 53">
            <a:extLst>
              <a:ext uri="{FF2B5EF4-FFF2-40B4-BE49-F238E27FC236}">
                <a16:creationId xmlns:a16="http://schemas.microsoft.com/office/drawing/2014/main" id="{9B3C00AB-96DE-4191-AC6A-84C31B371C2C}"/>
              </a:ext>
            </a:extLst>
          </p:cNvPr>
          <p:cNvSpPr txBox="1"/>
          <p:nvPr/>
        </p:nvSpPr>
        <p:spPr>
          <a:xfrm>
            <a:off x="5510884" y="7730113"/>
            <a:ext cx="661726" cy="374590"/>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Altura (A)</a:t>
            </a:r>
          </a:p>
        </p:txBody>
      </p:sp>
      <p:sp>
        <p:nvSpPr>
          <p:cNvPr id="55" name="CaixaDeTexto 54">
            <a:extLst>
              <a:ext uri="{FF2B5EF4-FFF2-40B4-BE49-F238E27FC236}">
                <a16:creationId xmlns:a16="http://schemas.microsoft.com/office/drawing/2014/main" id="{32858088-1BE1-4315-9D14-5D5D05412449}"/>
              </a:ext>
            </a:extLst>
          </p:cNvPr>
          <p:cNvSpPr txBox="1"/>
          <p:nvPr/>
        </p:nvSpPr>
        <p:spPr>
          <a:xfrm>
            <a:off x="5394743" y="8702816"/>
            <a:ext cx="1225627" cy="233462"/>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Profundidade (P)</a:t>
            </a:r>
          </a:p>
        </p:txBody>
      </p:sp>
      <p:graphicFrame>
        <p:nvGraphicFramePr>
          <p:cNvPr id="56" name="Tabela 55">
            <a:extLst>
              <a:ext uri="{FF2B5EF4-FFF2-40B4-BE49-F238E27FC236}">
                <a16:creationId xmlns:a16="http://schemas.microsoft.com/office/drawing/2014/main" id="{D41D2D3A-34C8-436A-9C37-D772758FBD91}"/>
              </a:ext>
            </a:extLst>
          </p:cNvPr>
          <p:cNvGraphicFramePr>
            <a:graphicFrameLocks noGrp="1"/>
          </p:cNvGraphicFramePr>
          <p:nvPr>
            <p:extLst>
              <p:ext uri="{D42A27DB-BD31-4B8C-83A1-F6EECF244321}">
                <p14:modId xmlns:p14="http://schemas.microsoft.com/office/powerpoint/2010/main" val="175362304"/>
              </p:ext>
            </p:extLst>
          </p:nvPr>
        </p:nvGraphicFramePr>
        <p:xfrm>
          <a:off x="225564" y="7121289"/>
          <a:ext cx="3440986" cy="2135510"/>
        </p:xfrm>
        <a:graphic>
          <a:graphicData uri="http://schemas.openxmlformats.org/drawingml/2006/table">
            <a:tbl>
              <a:tblPr firstRow="1" bandRow="1">
                <a:tableStyleId>{073A0DAA-6AF3-43AB-8588-CEC1D06C72B9}</a:tableStyleId>
              </a:tblPr>
              <a:tblGrid>
                <a:gridCol w="377445">
                  <a:extLst>
                    <a:ext uri="{9D8B030D-6E8A-4147-A177-3AD203B41FA5}">
                      <a16:colId xmlns:a16="http://schemas.microsoft.com/office/drawing/2014/main" val="213900621"/>
                    </a:ext>
                  </a:extLst>
                </a:gridCol>
                <a:gridCol w="998950">
                  <a:extLst>
                    <a:ext uri="{9D8B030D-6E8A-4147-A177-3AD203B41FA5}">
                      <a16:colId xmlns:a16="http://schemas.microsoft.com/office/drawing/2014/main" val="3601951597"/>
                    </a:ext>
                  </a:extLst>
                </a:gridCol>
                <a:gridCol w="688197">
                  <a:extLst>
                    <a:ext uri="{9D8B030D-6E8A-4147-A177-3AD203B41FA5}">
                      <a16:colId xmlns:a16="http://schemas.microsoft.com/office/drawing/2014/main" val="3401902064"/>
                    </a:ext>
                  </a:extLst>
                </a:gridCol>
                <a:gridCol w="688197">
                  <a:extLst>
                    <a:ext uri="{9D8B030D-6E8A-4147-A177-3AD203B41FA5}">
                      <a16:colId xmlns:a16="http://schemas.microsoft.com/office/drawing/2014/main" val="1116212401"/>
                    </a:ext>
                  </a:extLst>
                </a:gridCol>
                <a:gridCol w="688197">
                  <a:extLst>
                    <a:ext uri="{9D8B030D-6E8A-4147-A177-3AD203B41FA5}">
                      <a16:colId xmlns:a16="http://schemas.microsoft.com/office/drawing/2014/main" val="3473079812"/>
                    </a:ext>
                  </a:extLst>
                </a:gridCol>
              </a:tblGrid>
              <a:tr h="319454">
                <a:tc gridSpan="2">
                  <a:txBody>
                    <a:bodyPr/>
                    <a:lstStyle/>
                    <a:p>
                      <a:r>
                        <a:rPr lang="pt-BR" sz="1300" dirty="0"/>
                        <a:t>Forno/ Medidas </a:t>
                      </a:r>
                    </a:p>
                  </a:txBody>
                  <a:tcPr marL="119795" marR="119795" marT="59898" marB="59898"/>
                </a:tc>
                <a:tc hMerge="1">
                  <a:txBody>
                    <a:bodyPr/>
                    <a:lstStyle/>
                    <a:p>
                      <a:endParaRPr lang="pt-BR" sz="1000" dirty="0"/>
                    </a:p>
                  </a:txBody>
                  <a:tcPr/>
                </a:tc>
                <a:tc>
                  <a:txBody>
                    <a:bodyPr/>
                    <a:lstStyle/>
                    <a:p>
                      <a:pPr algn="ctr"/>
                      <a:r>
                        <a:rPr lang="pt-BR" sz="1300" dirty="0"/>
                        <a:t>A</a:t>
                      </a:r>
                    </a:p>
                  </a:txBody>
                  <a:tcPr marL="119795" marR="119795" marT="59898" marB="59898"/>
                </a:tc>
                <a:tc>
                  <a:txBody>
                    <a:bodyPr/>
                    <a:lstStyle/>
                    <a:p>
                      <a:pPr algn="ctr"/>
                      <a:r>
                        <a:rPr lang="pt-BR" sz="1300" dirty="0"/>
                        <a:t>P</a:t>
                      </a:r>
                    </a:p>
                  </a:txBody>
                  <a:tcPr marL="119795" marR="119795" marT="59898" marB="59898"/>
                </a:tc>
                <a:tc>
                  <a:txBody>
                    <a:bodyPr/>
                    <a:lstStyle/>
                    <a:p>
                      <a:pPr algn="ctr"/>
                      <a:r>
                        <a:rPr lang="pt-BR" sz="1300" dirty="0"/>
                        <a:t>L</a:t>
                      </a:r>
                    </a:p>
                  </a:txBody>
                  <a:tcPr marL="119795" marR="119795" marT="59898" marB="59898"/>
                </a:tc>
                <a:extLst>
                  <a:ext uri="{0D108BD9-81ED-4DB2-BD59-A6C34878D82A}">
                    <a16:rowId xmlns:a16="http://schemas.microsoft.com/office/drawing/2014/main" val="1233693647"/>
                  </a:ext>
                </a:extLst>
              </a:tr>
              <a:tr h="299489">
                <a:tc rowSpan="3">
                  <a:txBody>
                    <a:bodyPr/>
                    <a:lstStyle/>
                    <a:p>
                      <a:pPr algn="ctr"/>
                      <a:r>
                        <a:rPr lang="pt-BR" sz="1200" dirty="0"/>
                        <a:t>Externa</a:t>
                      </a:r>
                    </a:p>
                  </a:txBody>
                  <a:tcPr marL="119795" marR="119795" marT="59898" marB="59898" vert="vert270"/>
                </a:tc>
                <a:tc>
                  <a:txBody>
                    <a:bodyPr/>
                    <a:lstStyle/>
                    <a:p>
                      <a:r>
                        <a:rPr lang="pt-BR" sz="1200" dirty="0"/>
                        <a:t>5 esteiras</a:t>
                      </a:r>
                    </a:p>
                  </a:txBody>
                  <a:tcPr marL="119795" marR="119795" marT="59898" marB="59898"/>
                </a:tc>
                <a:tc>
                  <a:txBody>
                    <a:bodyPr/>
                    <a:lstStyle/>
                    <a:p>
                      <a:r>
                        <a:rPr lang="pt-BR" sz="1200" dirty="0"/>
                        <a:t>1750</a:t>
                      </a:r>
                    </a:p>
                  </a:txBody>
                  <a:tcPr marL="119795" marR="119795" marT="59898" marB="59898"/>
                </a:tc>
                <a:tc>
                  <a:txBody>
                    <a:bodyPr/>
                    <a:lstStyle/>
                    <a:p>
                      <a:r>
                        <a:rPr lang="pt-BR" sz="1200" dirty="0"/>
                        <a:t>1280</a:t>
                      </a:r>
                    </a:p>
                  </a:txBody>
                  <a:tcPr marL="119795" marR="119795" marT="59898" marB="59898"/>
                </a:tc>
                <a:tc>
                  <a:txBody>
                    <a:bodyPr/>
                    <a:lstStyle/>
                    <a:p>
                      <a:r>
                        <a:rPr lang="pt-BR" sz="1200" dirty="0"/>
                        <a:t>1015</a:t>
                      </a:r>
                    </a:p>
                  </a:txBody>
                  <a:tcPr marL="119795" marR="119795" marT="59898" marB="59898"/>
                </a:tc>
                <a:extLst>
                  <a:ext uri="{0D108BD9-81ED-4DB2-BD59-A6C34878D82A}">
                    <a16:rowId xmlns:a16="http://schemas.microsoft.com/office/drawing/2014/main" val="3730291777"/>
                  </a:ext>
                </a:extLst>
              </a:tr>
              <a:tr h="299489">
                <a:tc vMerge="1">
                  <a:txBody>
                    <a:bodyPr/>
                    <a:lstStyle/>
                    <a:p>
                      <a:endParaRPr lang="pt-BR" sz="900" dirty="0"/>
                    </a:p>
                  </a:txBody>
                  <a:tcPr/>
                </a:tc>
                <a:tc>
                  <a:txBody>
                    <a:bodyPr/>
                    <a:lstStyle/>
                    <a:p>
                      <a:r>
                        <a:rPr lang="pt-BR" sz="1200" dirty="0"/>
                        <a:t>8 esteiras</a:t>
                      </a:r>
                    </a:p>
                  </a:txBody>
                  <a:tcPr marL="119795" marR="119795" marT="59898" marB="59898"/>
                </a:tc>
                <a:tc>
                  <a:txBody>
                    <a:bodyPr/>
                    <a:lstStyle/>
                    <a:p>
                      <a:r>
                        <a:rPr lang="pt-BR" sz="1200" dirty="0"/>
                        <a:t>1790</a:t>
                      </a:r>
                    </a:p>
                  </a:txBody>
                  <a:tcPr marL="119795" marR="119795" marT="59898" marB="59898"/>
                </a:tc>
                <a:tc>
                  <a:txBody>
                    <a:bodyPr/>
                    <a:lstStyle/>
                    <a:p>
                      <a:r>
                        <a:rPr lang="pt-BR" sz="1200" dirty="0"/>
                        <a:t>1110</a:t>
                      </a:r>
                    </a:p>
                  </a:txBody>
                  <a:tcPr marL="119795" marR="119795" marT="59898" marB="59898"/>
                </a:tc>
                <a:tc>
                  <a:txBody>
                    <a:bodyPr/>
                    <a:lstStyle/>
                    <a:p>
                      <a:r>
                        <a:rPr lang="pt-BR" sz="1200" dirty="0"/>
                        <a:t>1230</a:t>
                      </a:r>
                    </a:p>
                  </a:txBody>
                  <a:tcPr marL="119795" marR="119795" marT="59898" marB="59898"/>
                </a:tc>
                <a:extLst>
                  <a:ext uri="{0D108BD9-81ED-4DB2-BD59-A6C34878D82A}">
                    <a16:rowId xmlns:a16="http://schemas.microsoft.com/office/drawing/2014/main" val="2840980177"/>
                  </a:ext>
                </a:extLst>
              </a:tr>
              <a:tr h="299489">
                <a:tc vMerge="1">
                  <a:txBody>
                    <a:bodyPr/>
                    <a:lstStyle/>
                    <a:p>
                      <a:endParaRPr lang="pt-BR" sz="800" dirty="0"/>
                    </a:p>
                  </a:txBody>
                  <a:tcPr/>
                </a:tc>
                <a:tc>
                  <a:txBody>
                    <a:bodyPr/>
                    <a:lstStyle/>
                    <a:p>
                      <a:r>
                        <a:rPr lang="pt-BR" sz="1000" dirty="0"/>
                        <a:t>10 esteiras</a:t>
                      </a:r>
                    </a:p>
                  </a:txBody>
                  <a:tcPr marL="119795" marR="119795" marT="59898" marB="59898"/>
                </a:tc>
                <a:tc>
                  <a:txBody>
                    <a:bodyPr/>
                    <a:lstStyle/>
                    <a:p>
                      <a:r>
                        <a:rPr lang="pt-BR" sz="1200" dirty="0"/>
                        <a:t>1760</a:t>
                      </a:r>
                    </a:p>
                  </a:txBody>
                  <a:tcPr marL="119795" marR="119795" marT="59898" marB="59898"/>
                </a:tc>
                <a:tc>
                  <a:txBody>
                    <a:bodyPr/>
                    <a:lstStyle/>
                    <a:p>
                      <a:r>
                        <a:rPr lang="pt-BR" sz="1200" dirty="0"/>
                        <a:t>1000</a:t>
                      </a:r>
                    </a:p>
                  </a:txBody>
                  <a:tcPr marL="119795" marR="119795" marT="59898" marB="59898"/>
                </a:tc>
                <a:tc>
                  <a:txBody>
                    <a:bodyPr/>
                    <a:lstStyle/>
                    <a:p>
                      <a:r>
                        <a:rPr lang="pt-BR" sz="1200" dirty="0"/>
                        <a:t>1230</a:t>
                      </a:r>
                    </a:p>
                  </a:txBody>
                  <a:tcPr marL="119795" marR="119795" marT="59898" marB="59898"/>
                </a:tc>
                <a:extLst>
                  <a:ext uri="{0D108BD9-81ED-4DB2-BD59-A6C34878D82A}">
                    <a16:rowId xmlns:a16="http://schemas.microsoft.com/office/drawing/2014/main" val="1394041850"/>
                  </a:ext>
                </a:extLst>
              </a:tr>
              <a:tr h="299489">
                <a:tc rowSpan="3">
                  <a:txBody>
                    <a:bodyPr/>
                    <a:lstStyle/>
                    <a:p>
                      <a:pPr algn="ctr"/>
                      <a:r>
                        <a:rPr lang="pt-BR" sz="1200" dirty="0"/>
                        <a:t>Interna</a:t>
                      </a:r>
                    </a:p>
                  </a:txBody>
                  <a:tcPr marL="119795" marR="119795" marT="59898" marB="59898" vert="vert270"/>
                </a:tc>
                <a:tc>
                  <a:txBody>
                    <a:bodyPr/>
                    <a:lstStyle/>
                    <a:p>
                      <a:r>
                        <a:rPr lang="pt-BR" sz="1200" dirty="0"/>
                        <a:t>5 esteiras</a:t>
                      </a:r>
                    </a:p>
                  </a:txBody>
                  <a:tcPr marL="119795" marR="119795" marT="59898" marB="59898"/>
                </a:tc>
                <a:tc>
                  <a:txBody>
                    <a:bodyPr/>
                    <a:lstStyle/>
                    <a:p>
                      <a:r>
                        <a:rPr lang="pt-BR" sz="1200" dirty="0"/>
                        <a:t>450</a:t>
                      </a:r>
                    </a:p>
                  </a:txBody>
                  <a:tcPr marL="119795" marR="119795" marT="59898" marB="59898"/>
                </a:tc>
                <a:tc>
                  <a:txBody>
                    <a:bodyPr/>
                    <a:lstStyle/>
                    <a:p>
                      <a:r>
                        <a:rPr lang="pt-BR" sz="1200" dirty="0"/>
                        <a:t>600</a:t>
                      </a:r>
                    </a:p>
                  </a:txBody>
                  <a:tcPr marL="119795" marR="119795" marT="59898" marB="59898"/>
                </a:tc>
                <a:tc>
                  <a:txBody>
                    <a:bodyPr/>
                    <a:lstStyle/>
                    <a:p>
                      <a:r>
                        <a:rPr lang="pt-BR" sz="1200" dirty="0"/>
                        <a:t>680</a:t>
                      </a:r>
                    </a:p>
                  </a:txBody>
                  <a:tcPr marL="119795" marR="119795" marT="59898" marB="59898"/>
                </a:tc>
                <a:extLst>
                  <a:ext uri="{0D108BD9-81ED-4DB2-BD59-A6C34878D82A}">
                    <a16:rowId xmlns:a16="http://schemas.microsoft.com/office/drawing/2014/main" val="3832540821"/>
                  </a:ext>
                </a:extLst>
              </a:tr>
              <a:tr h="299489">
                <a:tc vMerge="1">
                  <a:txBody>
                    <a:bodyPr/>
                    <a:lstStyle/>
                    <a:p>
                      <a:pPr algn="ctr"/>
                      <a:endParaRPr lang="pt-BR" sz="900" dirty="0"/>
                    </a:p>
                  </a:txBody>
                  <a:tcPr vert="vert270"/>
                </a:tc>
                <a:tc>
                  <a:txBody>
                    <a:bodyPr/>
                    <a:lstStyle/>
                    <a:p>
                      <a:r>
                        <a:rPr lang="pt-BR" sz="1200" dirty="0"/>
                        <a:t>8 esteiras</a:t>
                      </a:r>
                    </a:p>
                  </a:txBody>
                  <a:tcPr marL="119795" marR="119795" marT="59898" marB="59898"/>
                </a:tc>
                <a:tc>
                  <a:txBody>
                    <a:bodyPr/>
                    <a:lstStyle/>
                    <a:p>
                      <a:r>
                        <a:rPr lang="pt-BR" sz="1200" dirty="0"/>
                        <a:t>850</a:t>
                      </a:r>
                    </a:p>
                  </a:txBody>
                  <a:tcPr marL="119795" marR="119795" marT="59898" marB="59898"/>
                </a:tc>
                <a:tc>
                  <a:txBody>
                    <a:bodyPr/>
                    <a:lstStyle/>
                    <a:p>
                      <a:r>
                        <a:rPr lang="pt-BR" sz="1200"/>
                        <a:t>740</a:t>
                      </a:r>
                      <a:endParaRPr lang="pt-BR" sz="1200" dirty="0"/>
                    </a:p>
                  </a:txBody>
                  <a:tcPr marL="119795" marR="119795" marT="59898" marB="59898"/>
                </a:tc>
                <a:tc>
                  <a:txBody>
                    <a:bodyPr/>
                    <a:lstStyle/>
                    <a:p>
                      <a:r>
                        <a:rPr lang="pt-BR" sz="1200" dirty="0"/>
                        <a:t>910</a:t>
                      </a:r>
                    </a:p>
                  </a:txBody>
                  <a:tcPr marL="119795" marR="119795" marT="59898" marB="59898"/>
                </a:tc>
                <a:extLst>
                  <a:ext uri="{0D108BD9-81ED-4DB2-BD59-A6C34878D82A}">
                    <a16:rowId xmlns:a16="http://schemas.microsoft.com/office/drawing/2014/main" val="3372496099"/>
                  </a:ext>
                </a:extLst>
              </a:tr>
              <a:tr h="299489">
                <a:tc vMerge="1">
                  <a:txBody>
                    <a:bodyPr/>
                    <a:lstStyle/>
                    <a:p>
                      <a:pPr algn="ctr"/>
                      <a:endParaRPr lang="pt-BR" sz="900" dirty="0"/>
                    </a:p>
                  </a:txBody>
                  <a:tcPr vert="vert270"/>
                </a:tc>
                <a:tc>
                  <a:txBody>
                    <a:bodyPr/>
                    <a:lstStyle/>
                    <a:p>
                      <a:r>
                        <a:rPr lang="pt-BR" sz="1000" dirty="0"/>
                        <a:t>10 esteiras</a:t>
                      </a:r>
                    </a:p>
                  </a:txBody>
                  <a:tcPr marL="119795" marR="119795" marT="59898" marB="59898"/>
                </a:tc>
                <a:tc>
                  <a:txBody>
                    <a:bodyPr/>
                    <a:lstStyle/>
                    <a:p>
                      <a:r>
                        <a:rPr lang="pt-BR" sz="1200" dirty="0"/>
                        <a:t>1060</a:t>
                      </a:r>
                    </a:p>
                  </a:txBody>
                  <a:tcPr marL="119795" marR="119795" marT="59898" marB="59898"/>
                </a:tc>
                <a:tc>
                  <a:txBody>
                    <a:bodyPr/>
                    <a:lstStyle/>
                    <a:p>
                      <a:r>
                        <a:rPr lang="pt-BR" sz="1200" dirty="0"/>
                        <a:t>730</a:t>
                      </a:r>
                    </a:p>
                  </a:txBody>
                  <a:tcPr marL="119795" marR="119795" marT="59898" marB="59898"/>
                </a:tc>
                <a:tc>
                  <a:txBody>
                    <a:bodyPr/>
                    <a:lstStyle/>
                    <a:p>
                      <a:r>
                        <a:rPr lang="pt-BR" sz="1200" dirty="0"/>
                        <a:t>910</a:t>
                      </a:r>
                    </a:p>
                  </a:txBody>
                  <a:tcPr marL="119795" marR="119795" marT="59898" marB="59898"/>
                </a:tc>
                <a:extLst>
                  <a:ext uri="{0D108BD9-81ED-4DB2-BD59-A6C34878D82A}">
                    <a16:rowId xmlns:a16="http://schemas.microsoft.com/office/drawing/2014/main" val="2732897014"/>
                  </a:ext>
                </a:extLst>
              </a:tr>
            </a:tbl>
          </a:graphicData>
        </a:graphic>
      </p:graphicFrame>
      <p:pic>
        <p:nvPicPr>
          <p:cNvPr id="57" name="Imagem 56">
            <a:extLst>
              <a:ext uri="{FF2B5EF4-FFF2-40B4-BE49-F238E27FC236}">
                <a16:creationId xmlns:a16="http://schemas.microsoft.com/office/drawing/2014/main" id="{B1F3CFD9-4FC7-40F5-AEB7-D887644B19EA}"/>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4311812" y="7228589"/>
            <a:ext cx="1206573" cy="1707454"/>
          </a:xfrm>
          <a:prstGeom prst="rect">
            <a:avLst/>
          </a:prstGeom>
        </p:spPr>
      </p:pic>
      <p:cxnSp>
        <p:nvCxnSpPr>
          <p:cNvPr id="58" name="Conector reto 57">
            <a:extLst>
              <a:ext uri="{FF2B5EF4-FFF2-40B4-BE49-F238E27FC236}">
                <a16:creationId xmlns:a16="http://schemas.microsoft.com/office/drawing/2014/main" id="{6878F837-7E35-4721-9811-06B1355F45C4}"/>
              </a:ext>
            </a:extLst>
          </p:cNvPr>
          <p:cNvCxnSpPr>
            <a:cxnSpLocks/>
          </p:cNvCxnSpPr>
          <p:nvPr/>
        </p:nvCxnSpPr>
        <p:spPr>
          <a:xfrm flipH="1" flipV="1">
            <a:off x="5309067" y="8950192"/>
            <a:ext cx="20244" cy="141459"/>
          </a:xfrm>
          <a:prstGeom prst="line">
            <a:avLst/>
          </a:prstGeom>
        </p:spPr>
        <p:style>
          <a:lnRef idx="1">
            <a:schemeClr val="dk1"/>
          </a:lnRef>
          <a:fillRef idx="0">
            <a:schemeClr val="dk1"/>
          </a:fillRef>
          <a:effectRef idx="0">
            <a:schemeClr val="dk1"/>
          </a:effectRef>
          <a:fontRef idx="minor">
            <a:schemeClr val="tx1"/>
          </a:fontRef>
        </p:style>
      </p:cxnSp>
      <p:cxnSp>
        <p:nvCxnSpPr>
          <p:cNvPr id="59" name="Conector reto 58">
            <a:extLst>
              <a:ext uri="{FF2B5EF4-FFF2-40B4-BE49-F238E27FC236}">
                <a16:creationId xmlns:a16="http://schemas.microsoft.com/office/drawing/2014/main" id="{DD48C587-3A26-475C-8759-B522731B9826}"/>
              </a:ext>
            </a:extLst>
          </p:cNvPr>
          <p:cNvCxnSpPr>
            <a:cxnSpLocks/>
          </p:cNvCxnSpPr>
          <p:nvPr/>
        </p:nvCxnSpPr>
        <p:spPr>
          <a:xfrm>
            <a:off x="4507665" y="8811587"/>
            <a:ext cx="45043" cy="156495"/>
          </a:xfrm>
          <a:prstGeom prst="line">
            <a:avLst/>
          </a:prstGeom>
        </p:spPr>
        <p:style>
          <a:lnRef idx="1">
            <a:schemeClr val="dk1"/>
          </a:lnRef>
          <a:fillRef idx="0">
            <a:schemeClr val="dk1"/>
          </a:fillRef>
          <a:effectRef idx="0">
            <a:schemeClr val="dk1"/>
          </a:effectRef>
          <a:fontRef idx="minor">
            <a:schemeClr val="tx1"/>
          </a:fontRef>
        </p:style>
      </p:cxnSp>
      <p:sp>
        <p:nvSpPr>
          <p:cNvPr id="60" name="CaixaDeTexto 59">
            <a:extLst>
              <a:ext uri="{FF2B5EF4-FFF2-40B4-BE49-F238E27FC236}">
                <a16:creationId xmlns:a16="http://schemas.microsoft.com/office/drawing/2014/main" id="{D7DBAFB4-DAB1-4DDE-8373-2B9CB4365A0C}"/>
              </a:ext>
            </a:extLst>
          </p:cNvPr>
          <p:cNvSpPr txBox="1"/>
          <p:nvPr/>
        </p:nvSpPr>
        <p:spPr>
          <a:xfrm>
            <a:off x="4187837" y="8979238"/>
            <a:ext cx="943373" cy="233462"/>
          </a:xfrm>
          <a:prstGeom prst="rect">
            <a:avLst/>
          </a:prstGeom>
          <a:noFill/>
        </p:spPr>
        <p:txBody>
          <a:bodyPr wrap="square" rtlCol="0">
            <a:spAutoFit/>
          </a:bodyPr>
          <a:lstStyle/>
          <a:p>
            <a:r>
              <a:rPr lang="pt-BR" sz="917" dirty="0">
                <a:latin typeface="Arial" panose="020B0604020202020204" pitchFamily="34" charset="0"/>
                <a:cs typeface="Arial" panose="020B0604020202020204" pitchFamily="34" charset="0"/>
              </a:rPr>
              <a:t>Largura (L)</a:t>
            </a:r>
          </a:p>
        </p:txBody>
      </p:sp>
    </p:spTree>
    <p:extLst>
      <p:ext uri="{BB962C8B-B14F-4D97-AF65-F5344CB8AC3E}">
        <p14:creationId xmlns:p14="http://schemas.microsoft.com/office/powerpoint/2010/main" val="223244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tângulo 34">
            <a:extLst>
              <a:ext uri="{FF2B5EF4-FFF2-40B4-BE49-F238E27FC236}">
                <a16:creationId xmlns:a16="http://schemas.microsoft.com/office/drawing/2014/main" id="{87478026-0394-4E16-8668-BEF17DF2D2C1}"/>
              </a:ext>
            </a:extLst>
          </p:cNvPr>
          <p:cNvSpPr/>
          <p:nvPr/>
        </p:nvSpPr>
        <p:spPr>
          <a:xfrm>
            <a:off x="181396" y="1815018"/>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79" b="1" dirty="0">
                <a:solidFill>
                  <a:schemeClr val="tx1"/>
                </a:solidFill>
                <a:latin typeface="Arial" panose="020B0604020202020204" pitchFamily="34" charset="0"/>
                <a:cs typeface="Arial" panose="020B0604020202020204" pitchFamily="34" charset="0"/>
              </a:rPr>
              <a:t>16. Esquema de ligações</a:t>
            </a:r>
          </a:p>
        </p:txBody>
      </p:sp>
      <p:sp>
        <p:nvSpPr>
          <p:cNvPr id="36" name="CaixaDeTexto 35">
            <a:extLst>
              <a:ext uri="{FF2B5EF4-FFF2-40B4-BE49-F238E27FC236}">
                <a16:creationId xmlns:a16="http://schemas.microsoft.com/office/drawing/2014/main" id="{06D9D1E2-62D0-4B12-8853-D4906F7FE40A}"/>
              </a:ext>
            </a:extLst>
          </p:cNvPr>
          <p:cNvSpPr txBox="1"/>
          <p:nvPr/>
        </p:nvSpPr>
        <p:spPr>
          <a:xfrm>
            <a:off x="3154526" y="9457666"/>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07</a:t>
            </a:r>
          </a:p>
        </p:txBody>
      </p:sp>
      <p:graphicFrame>
        <p:nvGraphicFramePr>
          <p:cNvPr id="37" name="Tabela 36">
            <a:extLst>
              <a:ext uri="{FF2B5EF4-FFF2-40B4-BE49-F238E27FC236}">
                <a16:creationId xmlns:a16="http://schemas.microsoft.com/office/drawing/2014/main" id="{F35EDA03-C4B1-411A-A2B0-A583F6EF48A7}"/>
              </a:ext>
            </a:extLst>
          </p:cNvPr>
          <p:cNvGraphicFramePr>
            <a:graphicFrameLocks noGrp="1"/>
          </p:cNvGraphicFramePr>
          <p:nvPr>
            <p:extLst>
              <p:ext uri="{D42A27DB-BD31-4B8C-83A1-F6EECF244321}">
                <p14:modId xmlns:p14="http://schemas.microsoft.com/office/powerpoint/2010/main" val="2648503233"/>
              </p:ext>
            </p:extLst>
          </p:nvPr>
        </p:nvGraphicFramePr>
        <p:xfrm>
          <a:off x="206611" y="160091"/>
          <a:ext cx="6240308" cy="1427141"/>
        </p:xfrm>
        <a:graphic>
          <a:graphicData uri="http://schemas.openxmlformats.org/drawingml/2006/table">
            <a:tbl>
              <a:tblPr firstRow="1" bandRow="1">
                <a:tableStyleId>{073A0DAA-6AF3-43AB-8588-CEC1D06C72B9}</a:tableStyleId>
              </a:tblPr>
              <a:tblGrid>
                <a:gridCol w="1560077">
                  <a:extLst>
                    <a:ext uri="{9D8B030D-6E8A-4147-A177-3AD203B41FA5}">
                      <a16:colId xmlns:a16="http://schemas.microsoft.com/office/drawing/2014/main" val="2233656265"/>
                    </a:ext>
                  </a:extLst>
                </a:gridCol>
                <a:gridCol w="1560077">
                  <a:extLst>
                    <a:ext uri="{9D8B030D-6E8A-4147-A177-3AD203B41FA5}">
                      <a16:colId xmlns:a16="http://schemas.microsoft.com/office/drawing/2014/main" val="3401902064"/>
                    </a:ext>
                  </a:extLst>
                </a:gridCol>
                <a:gridCol w="1560077">
                  <a:extLst>
                    <a:ext uri="{9D8B030D-6E8A-4147-A177-3AD203B41FA5}">
                      <a16:colId xmlns:a16="http://schemas.microsoft.com/office/drawing/2014/main" val="1116212401"/>
                    </a:ext>
                  </a:extLst>
                </a:gridCol>
                <a:gridCol w="1560077">
                  <a:extLst>
                    <a:ext uri="{9D8B030D-6E8A-4147-A177-3AD203B41FA5}">
                      <a16:colId xmlns:a16="http://schemas.microsoft.com/office/drawing/2014/main" val="3473079812"/>
                    </a:ext>
                  </a:extLst>
                </a:gridCol>
              </a:tblGrid>
              <a:tr h="519113">
                <a:tc>
                  <a:txBody>
                    <a:bodyPr/>
                    <a:lstStyle/>
                    <a:p>
                      <a:pPr algn="ctr"/>
                      <a:r>
                        <a:rPr lang="pt-BR" sz="1300" dirty="0"/>
                        <a:t>Forno Turbo</a:t>
                      </a:r>
                    </a:p>
                  </a:txBody>
                  <a:tcPr marL="119795" marR="119795" marT="59898" marB="59898"/>
                </a:tc>
                <a:tc>
                  <a:txBody>
                    <a:bodyPr/>
                    <a:lstStyle/>
                    <a:p>
                      <a:pPr algn="ctr"/>
                      <a:r>
                        <a:rPr lang="pt-BR" sz="1300" dirty="0"/>
                        <a:t>Consumo de Gás (GLP – kg/h)</a:t>
                      </a:r>
                    </a:p>
                  </a:txBody>
                  <a:tcPr marL="119795" marR="119795" marT="59898" marB="59898"/>
                </a:tc>
                <a:tc>
                  <a:txBody>
                    <a:bodyPr/>
                    <a:lstStyle/>
                    <a:p>
                      <a:pPr algn="ctr"/>
                      <a:r>
                        <a:rPr lang="pt-BR" sz="1300" dirty="0"/>
                        <a:t>Potência do motor (CV)</a:t>
                      </a:r>
                    </a:p>
                  </a:txBody>
                  <a:tcPr marL="119795" marR="119795" marT="59898" marB="59898"/>
                </a:tc>
                <a:tc>
                  <a:txBody>
                    <a:bodyPr/>
                    <a:lstStyle/>
                    <a:p>
                      <a:pPr algn="ctr"/>
                      <a:r>
                        <a:rPr lang="pt-BR" sz="1300" dirty="0"/>
                        <a:t>Consumo total do motor (kW/h)</a:t>
                      </a:r>
                    </a:p>
                  </a:txBody>
                  <a:tcPr marL="119795" marR="119795" marT="59898" marB="59898"/>
                </a:tc>
                <a:extLst>
                  <a:ext uri="{0D108BD9-81ED-4DB2-BD59-A6C34878D82A}">
                    <a16:rowId xmlns:a16="http://schemas.microsoft.com/office/drawing/2014/main" val="1233693647"/>
                  </a:ext>
                </a:extLst>
              </a:tr>
              <a:tr h="299489">
                <a:tc>
                  <a:txBody>
                    <a:bodyPr/>
                    <a:lstStyle/>
                    <a:p>
                      <a:r>
                        <a:rPr lang="pt-BR" sz="1200" dirty="0"/>
                        <a:t>5 esteiras</a:t>
                      </a:r>
                    </a:p>
                  </a:txBody>
                  <a:tcPr marL="119795" marR="119795" marT="59898" marB="59898"/>
                </a:tc>
                <a:tc>
                  <a:txBody>
                    <a:bodyPr/>
                    <a:lstStyle/>
                    <a:p>
                      <a:pPr algn="ctr"/>
                      <a:r>
                        <a:rPr lang="pt-BR" sz="1200" dirty="0"/>
                        <a:t>2,80</a:t>
                      </a:r>
                    </a:p>
                  </a:txBody>
                  <a:tcPr marL="119795" marR="119795" marT="59898" marB="59898"/>
                </a:tc>
                <a:tc>
                  <a:txBody>
                    <a:bodyPr/>
                    <a:lstStyle/>
                    <a:p>
                      <a:pPr algn="ctr"/>
                      <a:r>
                        <a:rPr lang="pt-BR" sz="1200" dirty="0"/>
                        <a:t>1/2</a:t>
                      </a:r>
                    </a:p>
                  </a:txBody>
                  <a:tcPr marL="119795" marR="119795" marT="59898" marB="59898"/>
                </a:tc>
                <a:tc>
                  <a:txBody>
                    <a:bodyPr/>
                    <a:lstStyle/>
                    <a:p>
                      <a:pPr algn="ctr"/>
                      <a:r>
                        <a:rPr lang="pt-BR" sz="1200" dirty="0"/>
                        <a:t>0,38</a:t>
                      </a:r>
                    </a:p>
                  </a:txBody>
                  <a:tcPr marL="119795" marR="119795" marT="59898" marB="59898"/>
                </a:tc>
                <a:extLst>
                  <a:ext uri="{0D108BD9-81ED-4DB2-BD59-A6C34878D82A}">
                    <a16:rowId xmlns:a16="http://schemas.microsoft.com/office/drawing/2014/main" val="3730291777"/>
                  </a:ext>
                </a:extLst>
              </a:tr>
              <a:tr h="299489">
                <a:tc>
                  <a:txBody>
                    <a:bodyPr/>
                    <a:lstStyle/>
                    <a:p>
                      <a:r>
                        <a:rPr lang="pt-BR" sz="1200" dirty="0"/>
                        <a:t>8 esteiras</a:t>
                      </a:r>
                    </a:p>
                  </a:txBody>
                  <a:tcPr marL="119795" marR="119795"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2,80</a:t>
                      </a:r>
                    </a:p>
                  </a:txBody>
                  <a:tcPr marL="119795" marR="119795" marT="59898" marB="59898"/>
                </a:tc>
                <a:tc>
                  <a:txBody>
                    <a:bodyPr/>
                    <a:lstStyle/>
                    <a:p>
                      <a:pPr algn="ctr"/>
                      <a:r>
                        <a:rPr lang="pt-BR" sz="1200" dirty="0"/>
                        <a:t>1</a:t>
                      </a:r>
                    </a:p>
                  </a:txBody>
                  <a:tcPr marL="119795" marR="119795" marT="59898" marB="59898"/>
                </a:tc>
                <a:tc>
                  <a:txBody>
                    <a:bodyPr/>
                    <a:lstStyle/>
                    <a:p>
                      <a:pPr algn="ctr"/>
                      <a:r>
                        <a:rPr lang="pt-BR" sz="1200" dirty="0"/>
                        <a:t>0,75</a:t>
                      </a:r>
                    </a:p>
                  </a:txBody>
                  <a:tcPr marL="119795" marR="119795" marT="59898" marB="59898"/>
                </a:tc>
                <a:extLst>
                  <a:ext uri="{0D108BD9-81ED-4DB2-BD59-A6C34878D82A}">
                    <a16:rowId xmlns:a16="http://schemas.microsoft.com/office/drawing/2014/main" val="2840980177"/>
                  </a:ext>
                </a:extLst>
              </a:tr>
              <a:tr h="299489">
                <a:tc>
                  <a:txBody>
                    <a:bodyPr/>
                    <a:lstStyle/>
                    <a:p>
                      <a:r>
                        <a:rPr lang="pt-BR" sz="1000" dirty="0"/>
                        <a:t>10 esteiras</a:t>
                      </a:r>
                    </a:p>
                  </a:txBody>
                  <a:tcPr marL="119795" marR="119795"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1200" dirty="0"/>
                        <a:t>2,80</a:t>
                      </a:r>
                    </a:p>
                  </a:txBody>
                  <a:tcPr marL="119795" marR="119795" marT="59898" marB="59898"/>
                </a:tc>
                <a:tc>
                  <a:txBody>
                    <a:bodyPr/>
                    <a:lstStyle/>
                    <a:p>
                      <a:pPr algn="ctr"/>
                      <a:r>
                        <a:rPr lang="pt-BR" sz="1200" dirty="0"/>
                        <a:t>1</a:t>
                      </a:r>
                    </a:p>
                  </a:txBody>
                  <a:tcPr marL="119795" marR="119795" marT="59898" marB="59898"/>
                </a:tc>
                <a:tc>
                  <a:txBody>
                    <a:bodyPr/>
                    <a:lstStyle/>
                    <a:p>
                      <a:pPr algn="ctr"/>
                      <a:r>
                        <a:rPr lang="pt-BR" sz="1200" dirty="0"/>
                        <a:t>0,75</a:t>
                      </a:r>
                    </a:p>
                  </a:txBody>
                  <a:tcPr marL="119795" marR="119795" marT="59898" marB="59898"/>
                </a:tc>
                <a:extLst>
                  <a:ext uri="{0D108BD9-81ED-4DB2-BD59-A6C34878D82A}">
                    <a16:rowId xmlns:a16="http://schemas.microsoft.com/office/drawing/2014/main" val="1394041850"/>
                  </a:ext>
                </a:extLst>
              </a:tr>
            </a:tbl>
          </a:graphicData>
        </a:graphic>
      </p:graphicFrame>
      <p:pic>
        <p:nvPicPr>
          <p:cNvPr id="38" name="Imagem 37">
            <a:extLst>
              <a:ext uri="{FF2B5EF4-FFF2-40B4-BE49-F238E27FC236}">
                <a16:creationId xmlns:a16="http://schemas.microsoft.com/office/drawing/2014/main" id="{7C2C61CC-4ACA-410F-8FEA-B68C063C96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2178" y="5540729"/>
            <a:ext cx="4514743" cy="3187982"/>
          </a:xfrm>
          <a:prstGeom prst="rect">
            <a:avLst/>
          </a:prstGeom>
        </p:spPr>
      </p:pic>
      <p:pic>
        <p:nvPicPr>
          <p:cNvPr id="39" name="Imagem 38">
            <a:extLst>
              <a:ext uri="{FF2B5EF4-FFF2-40B4-BE49-F238E27FC236}">
                <a16:creationId xmlns:a16="http://schemas.microsoft.com/office/drawing/2014/main" id="{656EA26F-B16D-4BB9-AEE6-798FE6F23FA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965" y="2266916"/>
            <a:ext cx="4079596" cy="3099201"/>
          </a:xfrm>
          <a:prstGeom prst="rect">
            <a:avLst/>
          </a:prstGeom>
        </p:spPr>
      </p:pic>
      <p:sp>
        <p:nvSpPr>
          <p:cNvPr id="40" name="CaixaDeTexto 39">
            <a:extLst>
              <a:ext uri="{FF2B5EF4-FFF2-40B4-BE49-F238E27FC236}">
                <a16:creationId xmlns:a16="http://schemas.microsoft.com/office/drawing/2014/main" id="{960E725E-54CC-4208-92EF-03A0CC82505D}"/>
              </a:ext>
            </a:extLst>
          </p:cNvPr>
          <p:cNvSpPr txBox="1"/>
          <p:nvPr/>
        </p:nvSpPr>
        <p:spPr>
          <a:xfrm>
            <a:off x="4408735" y="3311370"/>
            <a:ext cx="2476500"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Forno 5 esteiras</a:t>
            </a:r>
          </a:p>
        </p:txBody>
      </p:sp>
      <p:sp>
        <p:nvSpPr>
          <p:cNvPr id="41" name="CaixaDeTexto 40">
            <a:extLst>
              <a:ext uri="{FF2B5EF4-FFF2-40B4-BE49-F238E27FC236}">
                <a16:creationId xmlns:a16="http://schemas.microsoft.com/office/drawing/2014/main" id="{D83FD460-324F-444D-8739-ADF71C745303}"/>
              </a:ext>
            </a:extLst>
          </p:cNvPr>
          <p:cNvSpPr txBox="1"/>
          <p:nvPr/>
        </p:nvSpPr>
        <p:spPr>
          <a:xfrm>
            <a:off x="166205" y="6896298"/>
            <a:ext cx="2476500" cy="45525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Forno de 8 e </a:t>
            </a:r>
          </a:p>
          <a:p>
            <a:r>
              <a:rPr lang="pt-BR" sz="1179" dirty="0">
                <a:latin typeface="Arial" panose="020B0604020202020204" pitchFamily="34" charset="0"/>
                <a:cs typeface="Arial" panose="020B0604020202020204" pitchFamily="34" charset="0"/>
              </a:rPr>
              <a:t>10 esteiras</a:t>
            </a:r>
          </a:p>
        </p:txBody>
      </p:sp>
      <p:sp>
        <p:nvSpPr>
          <p:cNvPr id="42" name="CaixaDeTexto 41">
            <a:extLst>
              <a:ext uri="{FF2B5EF4-FFF2-40B4-BE49-F238E27FC236}">
                <a16:creationId xmlns:a16="http://schemas.microsoft.com/office/drawing/2014/main" id="{245C3929-94B3-4BA5-BE37-3D38DEC165CF}"/>
              </a:ext>
            </a:extLst>
          </p:cNvPr>
          <p:cNvSpPr txBox="1"/>
          <p:nvPr/>
        </p:nvSpPr>
        <p:spPr>
          <a:xfrm>
            <a:off x="128964" y="9030346"/>
            <a:ext cx="6412294" cy="455253"/>
          </a:xfrm>
          <a:prstGeom prst="rect">
            <a:avLst/>
          </a:prstGeom>
          <a:noFill/>
        </p:spPr>
        <p:txBody>
          <a:bodyPr wrap="square" rtlCol="0">
            <a:spAutoFit/>
          </a:bodyPr>
          <a:lstStyle/>
          <a:p>
            <a:pPr algn="just"/>
            <a:r>
              <a:rPr lang="pt-BR" sz="1179" dirty="0">
                <a:latin typeface="Arial" panose="020B0604020202020204" pitchFamily="34" charset="0"/>
                <a:cs typeface="Arial" panose="020B0604020202020204" pitchFamily="34" charset="0"/>
              </a:rPr>
              <a:t>ATENÇÃO: Verificar se a tensão da rede elétrica é igual ao indicado para instalação do aparelho</a:t>
            </a:r>
          </a:p>
        </p:txBody>
      </p:sp>
    </p:spTree>
    <p:extLst>
      <p:ext uri="{BB962C8B-B14F-4D97-AF65-F5344CB8AC3E}">
        <p14:creationId xmlns:p14="http://schemas.microsoft.com/office/powerpoint/2010/main" val="214759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7F41CC9-DF63-4FBC-BDF1-58AF320FDB46}"/>
              </a:ext>
            </a:extLst>
          </p:cNvPr>
          <p:cNvSpPr txBox="1"/>
          <p:nvPr/>
        </p:nvSpPr>
        <p:spPr>
          <a:xfrm>
            <a:off x="3102253" y="9387663"/>
            <a:ext cx="521882"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08</a:t>
            </a:r>
          </a:p>
        </p:txBody>
      </p:sp>
      <p:sp>
        <p:nvSpPr>
          <p:cNvPr id="7" name="Retângulo 6">
            <a:extLst>
              <a:ext uri="{FF2B5EF4-FFF2-40B4-BE49-F238E27FC236}">
                <a16:creationId xmlns:a16="http://schemas.microsoft.com/office/drawing/2014/main" id="{AF463E29-3219-4747-91EF-D9E57E5FBB2B}"/>
              </a:ext>
            </a:extLst>
          </p:cNvPr>
          <p:cNvSpPr/>
          <p:nvPr/>
        </p:nvSpPr>
        <p:spPr>
          <a:xfrm>
            <a:off x="100942" y="128464"/>
            <a:ext cx="6656116" cy="32753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17.  Vista Explodida</a:t>
            </a:r>
          </a:p>
        </p:txBody>
      </p:sp>
      <p:pic>
        <p:nvPicPr>
          <p:cNvPr id="10" name="Imagem 9">
            <a:extLst>
              <a:ext uri="{FF2B5EF4-FFF2-40B4-BE49-F238E27FC236}">
                <a16:creationId xmlns:a16="http://schemas.microsoft.com/office/drawing/2014/main" id="{B8113842-64D1-49DF-99A2-AE9961DB6D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164" y="627277"/>
            <a:ext cx="6260829" cy="8784758"/>
          </a:xfrm>
          <a:prstGeom prst="rect">
            <a:avLst/>
          </a:prstGeom>
        </p:spPr>
      </p:pic>
    </p:spTree>
    <p:extLst>
      <p:ext uri="{BB962C8B-B14F-4D97-AF65-F5344CB8AC3E}">
        <p14:creationId xmlns:p14="http://schemas.microsoft.com/office/powerpoint/2010/main" val="372152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aixaDeTexto 14">
            <a:extLst>
              <a:ext uri="{FF2B5EF4-FFF2-40B4-BE49-F238E27FC236}">
                <a16:creationId xmlns:a16="http://schemas.microsoft.com/office/drawing/2014/main" id="{AA40001A-6B67-49CF-AE1A-9FBE376D7136}"/>
              </a:ext>
            </a:extLst>
          </p:cNvPr>
          <p:cNvSpPr txBox="1"/>
          <p:nvPr/>
        </p:nvSpPr>
        <p:spPr>
          <a:xfrm>
            <a:off x="3352100" y="9575751"/>
            <a:ext cx="495411" cy="273793"/>
          </a:xfrm>
          <a:prstGeom prst="rect">
            <a:avLst/>
          </a:prstGeom>
          <a:noFill/>
        </p:spPr>
        <p:txBody>
          <a:bodyPr wrap="square" rtlCol="0">
            <a:spAutoFit/>
          </a:bodyPr>
          <a:lstStyle/>
          <a:p>
            <a:r>
              <a:rPr lang="pt-BR" sz="1179" dirty="0">
                <a:latin typeface="Arial" panose="020B0604020202020204" pitchFamily="34" charset="0"/>
                <a:cs typeface="Arial" panose="020B0604020202020204" pitchFamily="34" charset="0"/>
              </a:rPr>
              <a:t>09</a:t>
            </a:r>
          </a:p>
        </p:txBody>
      </p:sp>
      <p:sp>
        <p:nvSpPr>
          <p:cNvPr id="16" name="Retângulo 15">
            <a:extLst>
              <a:ext uri="{FF2B5EF4-FFF2-40B4-BE49-F238E27FC236}">
                <a16:creationId xmlns:a16="http://schemas.microsoft.com/office/drawing/2014/main" id="{F3799DE8-5719-4D16-8406-9BFAD4FA0F54}"/>
              </a:ext>
            </a:extLst>
          </p:cNvPr>
          <p:cNvSpPr/>
          <p:nvPr/>
        </p:nvSpPr>
        <p:spPr>
          <a:xfrm>
            <a:off x="153070" y="60013"/>
            <a:ext cx="6551859" cy="300525"/>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441" b="1" dirty="0">
                <a:solidFill>
                  <a:schemeClr val="tx1"/>
                </a:solidFill>
              </a:rPr>
              <a:t>Lista de componentes</a:t>
            </a:r>
          </a:p>
        </p:txBody>
      </p:sp>
      <p:graphicFrame>
        <p:nvGraphicFramePr>
          <p:cNvPr id="17" name="Tabela 16">
            <a:extLst>
              <a:ext uri="{FF2B5EF4-FFF2-40B4-BE49-F238E27FC236}">
                <a16:creationId xmlns:a16="http://schemas.microsoft.com/office/drawing/2014/main" id="{6FDAD5A4-24E0-4656-8383-EB71973F8666}"/>
              </a:ext>
            </a:extLst>
          </p:cNvPr>
          <p:cNvGraphicFramePr>
            <a:graphicFrameLocks noGrp="1"/>
          </p:cNvGraphicFramePr>
          <p:nvPr>
            <p:extLst>
              <p:ext uri="{D42A27DB-BD31-4B8C-83A1-F6EECF244321}">
                <p14:modId xmlns:p14="http://schemas.microsoft.com/office/powerpoint/2010/main" val="292206574"/>
              </p:ext>
            </p:extLst>
          </p:nvPr>
        </p:nvGraphicFramePr>
        <p:xfrm>
          <a:off x="163676" y="450276"/>
          <a:ext cx="2990730" cy="9128496"/>
        </p:xfrm>
        <a:graphic>
          <a:graphicData uri="http://schemas.openxmlformats.org/drawingml/2006/table">
            <a:tbl>
              <a:tblPr firstRow="1" bandRow="1">
                <a:tableStyleId>{9D7B26C5-4107-4FEC-AEDC-1716B250A1EF}</a:tableStyleId>
              </a:tblPr>
              <a:tblGrid>
                <a:gridCol w="457012">
                  <a:extLst>
                    <a:ext uri="{9D8B030D-6E8A-4147-A177-3AD203B41FA5}">
                      <a16:colId xmlns:a16="http://schemas.microsoft.com/office/drawing/2014/main" val="2700491385"/>
                    </a:ext>
                  </a:extLst>
                </a:gridCol>
                <a:gridCol w="1590341">
                  <a:extLst>
                    <a:ext uri="{9D8B030D-6E8A-4147-A177-3AD203B41FA5}">
                      <a16:colId xmlns:a16="http://schemas.microsoft.com/office/drawing/2014/main" val="2056339938"/>
                    </a:ext>
                  </a:extLst>
                </a:gridCol>
                <a:gridCol w="943377">
                  <a:extLst>
                    <a:ext uri="{9D8B030D-6E8A-4147-A177-3AD203B41FA5}">
                      <a16:colId xmlns:a16="http://schemas.microsoft.com/office/drawing/2014/main" val="485456538"/>
                    </a:ext>
                  </a:extLst>
                </a:gridCol>
              </a:tblGrid>
              <a:tr h="239591">
                <a:tc>
                  <a:txBody>
                    <a:bodyPr/>
                    <a:lstStyle/>
                    <a:p>
                      <a:pPr marL="0" indent="0" algn="ctr">
                        <a:tabLst/>
                      </a:pPr>
                      <a:r>
                        <a:rPr lang="pt-BR" sz="800" dirty="0">
                          <a:latin typeface="Arial" panose="020B0604020202020204" pitchFamily="34" charset="0"/>
                          <a:cs typeface="Arial" panose="020B0604020202020204" pitchFamily="34" charset="0"/>
                        </a:rPr>
                        <a:t>Item</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800" b="1" kern="1200" dirty="0">
                          <a:solidFill>
                            <a:schemeClr val="tx1"/>
                          </a:solidFill>
                          <a:latin typeface="Arial" panose="020B0604020202020204" pitchFamily="34" charset="0"/>
                          <a:ea typeface="+mn-ea"/>
                          <a:cs typeface="Arial" panose="020B0604020202020204" pitchFamily="34" charset="0"/>
                        </a:rPr>
                        <a:t>Descrição do componente</a:t>
                      </a:r>
                    </a:p>
                  </a:txBody>
                  <a:tcPr marL="119795" marR="119795" marT="59898" marB="59898"/>
                </a:tc>
                <a:tc>
                  <a:txBody>
                    <a:bodyPr/>
                    <a:lstStyle/>
                    <a:p>
                      <a:pPr marL="0" indent="0" algn="ctr" defTabSz="1043056" rtl="0" eaLnBrk="1" latinLnBrk="0" hangingPunct="1">
                        <a:tabLst/>
                      </a:pPr>
                      <a:r>
                        <a:rPr lang="pt-BR" sz="800" b="1" kern="1200" dirty="0">
                          <a:solidFill>
                            <a:schemeClr val="tx1"/>
                          </a:solidFill>
                          <a:latin typeface="Arial" panose="020B0604020202020204" pitchFamily="34" charset="0"/>
                          <a:ea typeface="+mn-ea"/>
                          <a:cs typeface="Arial" panose="020B0604020202020204" pitchFamily="34" charset="0"/>
                        </a:rPr>
                        <a:t>Modelo</a:t>
                      </a:r>
                    </a:p>
                  </a:txBody>
                  <a:tcPr marL="119795" marR="119795" marT="59898" marB="59898"/>
                </a:tc>
                <a:extLst>
                  <a:ext uri="{0D108BD9-81ED-4DB2-BD59-A6C34878D82A}">
                    <a16:rowId xmlns:a16="http://schemas.microsoft.com/office/drawing/2014/main" val="1658415043"/>
                  </a:ext>
                </a:extLst>
              </a:tr>
              <a:tr h="219625">
                <a:tc>
                  <a:txBody>
                    <a:bodyPr/>
                    <a:lstStyle/>
                    <a:p>
                      <a:r>
                        <a:rPr lang="pt-BR" sz="700" dirty="0">
                          <a:latin typeface="Arial" panose="020B0604020202020204" pitchFamily="34" charset="0"/>
                          <a:cs typeface="Arial" panose="020B0604020202020204" pitchFamily="34" charset="0"/>
                        </a:rPr>
                        <a:t>01</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Caixa proteção motor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77117856"/>
                  </a:ext>
                </a:extLst>
              </a:tr>
              <a:tr h="319454">
                <a:tc>
                  <a:txBody>
                    <a:bodyPr/>
                    <a:lstStyle/>
                    <a:p>
                      <a:r>
                        <a:rPr lang="pt-BR" sz="700" dirty="0">
                          <a:latin typeface="Arial" panose="020B0604020202020204" pitchFamily="34" charset="0"/>
                          <a:cs typeface="Arial" panose="020B0604020202020204" pitchFamily="34" charset="0"/>
                        </a:rPr>
                        <a:t>02</a:t>
                      </a:r>
                    </a:p>
                  </a:txBody>
                  <a:tcPr marL="119795" marR="119795" marT="59898" marB="59898"/>
                </a:tc>
                <a:tc>
                  <a:txBody>
                    <a:bodyPr/>
                    <a:lstStyle/>
                    <a:p>
                      <a:pPr defTabSz="1076325"/>
                      <a:r>
                        <a:rPr lang="pt-BR" sz="700" dirty="0">
                          <a:latin typeface="Arial" panose="020B0604020202020204" pitchFamily="34" charset="0"/>
                          <a:cs typeface="Arial" panose="020B0604020202020204" pitchFamily="34" charset="0"/>
                        </a:rPr>
                        <a:t>Tampa da caixa solenoide água/gás/usina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270933329"/>
                  </a:ext>
                </a:extLst>
              </a:tr>
              <a:tr h="219625">
                <a:tc>
                  <a:txBody>
                    <a:bodyPr/>
                    <a:lstStyle/>
                    <a:p>
                      <a:r>
                        <a:rPr lang="pt-BR" sz="700" dirty="0">
                          <a:latin typeface="Arial" panose="020B0604020202020204" pitchFamily="34" charset="0"/>
                          <a:cs typeface="Arial" panose="020B0604020202020204" pitchFamily="34" charset="0"/>
                        </a:rPr>
                        <a:t>03</a:t>
                      </a:r>
                    </a:p>
                  </a:txBody>
                  <a:tcPr marL="119795" marR="119795" marT="59898" marB="59898"/>
                </a:tc>
                <a:tc>
                  <a:txBody>
                    <a:bodyPr/>
                    <a:lstStyle/>
                    <a:p>
                      <a:r>
                        <a:rPr lang="pt-BR" sz="700" dirty="0" err="1">
                          <a:latin typeface="Arial" panose="020B0604020202020204" pitchFamily="34" charset="0"/>
                          <a:cs typeface="Arial" panose="020B0604020202020204" pitchFamily="34" charset="0"/>
                        </a:rPr>
                        <a:t>Ignitron</a:t>
                      </a:r>
                      <a:r>
                        <a:rPr lang="pt-BR" sz="700" dirty="0">
                          <a:latin typeface="Arial" panose="020B0604020202020204" pitchFamily="34" charset="0"/>
                          <a:cs typeface="Arial" panose="020B0604020202020204" pitchFamily="34" charset="0"/>
                        </a:rPr>
                        <a:t> 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726172683"/>
                  </a:ext>
                </a:extLst>
              </a:tr>
              <a:tr h="319454">
                <a:tc>
                  <a:txBody>
                    <a:bodyPr/>
                    <a:lstStyle/>
                    <a:p>
                      <a:r>
                        <a:rPr lang="pt-BR" sz="700" dirty="0">
                          <a:latin typeface="Arial" panose="020B0604020202020204" pitchFamily="34" charset="0"/>
                          <a:cs typeface="Arial" panose="020B0604020202020204" pitchFamily="34" charset="0"/>
                        </a:rPr>
                        <a:t>04</a:t>
                      </a:r>
                    </a:p>
                  </a:txBody>
                  <a:tcPr marL="119795" marR="119795"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Válvula solenoide gás 220V 60hz/uxa262co90</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4391251"/>
                  </a:ext>
                </a:extLst>
              </a:tr>
              <a:tr h="319454">
                <a:tc>
                  <a:txBody>
                    <a:bodyPr/>
                    <a:lstStyle/>
                    <a:p>
                      <a:r>
                        <a:rPr lang="pt-BR" sz="700" dirty="0">
                          <a:latin typeface="Arial" panose="020B0604020202020204" pitchFamily="34" charset="0"/>
                          <a:cs typeface="Arial" panose="020B0604020202020204" pitchFamily="34" charset="0"/>
                        </a:rPr>
                        <a:t>05</a:t>
                      </a:r>
                    </a:p>
                  </a:txBody>
                  <a:tcPr marL="119795" marR="119795" marT="59898" marB="59898"/>
                </a:tc>
                <a:tc>
                  <a:txBody>
                    <a:bodyPr/>
                    <a:lstStyle/>
                    <a:p>
                      <a:r>
                        <a:rPr lang="pt-BR" sz="700" dirty="0">
                          <a:latin typeface="Arial" panose="020B0604020202020204" pitchFamily="34" charset="0"/>
                          <a:cs typeface="Arial" panose="020B0604020202020204" pitchFamily="34" charset="0"/>
                        </a:rPr>
                        <a:t>Válvula solenoide água 220V EVA 02.2.A.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57311216"/>
                  </a:ext>
                </a:extLst>
              </a:tr>
              <a:tr h="219625">
                <a:tc>
                  <a:txBody>
                    <a:bodyPr/>
                    <a:lstStyle/>
                    <a:p>
                      <a:r>
                        <a:rPr lang="pt-BR" sz="700" dirty="0">
                          <a:latin typeface="Arial" panose="020B0604020202020204" pitchFamily="34" charset="0"/>
                          <a:cs typeface="Arial" panose="020B0604020202020204" pitchFamily="34" charset="0"/>
                        </a:rPr>
                        <a:t>06</a:t>
                      </a:r>
                    </a:p>
                  </a:txBody>
                  <a:tcPr marL="119795" marR="119795" marT="59898" marB="59898"/>
                </a:tc>
                <a:tc>
                  <a:txBody>
                    <a:bodyPr/>
                    <a:lstStyle/>
                    <a:p>
                      <a:r>
                        <a:rPr lang="pt-BR" sz="700" dirty="0">
                          <a:latin typeface="Arial" panose="020B0604020202020204" pitchFamily="34" charset="0"/>
                          <a:cs typeface="Arial" panose="020B0604020202020204" pitchFamily="34" charset="0"/>
                        </a:rPr>
                        <a:t>Mangueira trançada 3/8"x2,5mm</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856392232"/>
                  </a:ext>
                </a:extLst>
              </a:tr>
              <a:tr h="219625">
                <a:tc>
                  <a:txBody>
                    <a:bodyPr/>
                    <a:lstStyle/>
                    <a:p>
                      <a:r>
                        <a:rPr lang="pt-BR" sz="700" dirty="0">
                          <a:latin typeface="Arial" panose="020B0604020202020204" pitchFamily="34" charset="0"/>
                          <a:cs typeface="Arial" panose="020B0604020202020204" pitchFamily="34" charset="0"/>
                        </a:rPr>
                        <a:t>07</a:t>
                      </a:r>
                    </a:p>
                  </a:txBody>
                  <a:tcPr marL="119795" marR="119795" marT="59898" marB="59898"/>
                </a:tc>
                <a:tc>
                  <a:txBody>
                    <a:bodyPr/>
                    <a:lstStyle/>
                    <a:p>
                      <a:r>
                        <a:rPr lang="pt-BR" sz="700" dirty="0">
                          <a:latin typeface="Arial" panose="020B0604020202020204" pitchFamily="34" charset="0"/>
                          <a:cs typeface="Arial" panose="020B0604020202020204" pitchFamily="34" charset="0"/>
                        </a:rPr>
                        <a:t>Caixa solenoide água/gás/usina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60328315"/>
                  </a:ext>
                </a:extLst>
              </a:tr>
              <a:tr h="519113">
                <a:tc>
                  <a:txBody>
                    <a:bodyPr/>
                    <a:lstStyle/>
                    <a:p>
                      <a:r>
                        <a:rPr lang="pt-BR" sz="700" dirty="0">
                          <a:latin typeface="Arial" panose="020B0604020202020204" pitchFamily="34" charset="0"/>
                          <a:cs typeface="Arial" panose="020B0604020202020204" pitchFamily="34" charset="0"/>
                        </a:rPr>
                        <a:t>08</a:t>
                      </a:r>
                    </a:p>
                  </a:txBody>
                  <a:tcPr marL="119795" marR="119795" marT="59898" marB="59898"/>
                </a:tc>
                <a:tc>
                  <a:txBody>
                    <a:bodyPr/>
                    <a:lstStyle/>
                    <a:p>
                      <a:r>
                        <a:rPr lang="pt-BR" sz="700" dirty="0">
                          <a:latin typeface="Arial" panose="020B0604020202020204" pitchFamily="34" charset="0"/>
                          <a:cs typeface="Arial" panose="020B0604020202020204" pitchFamily="34" charset="0"/>
                        </a:rPr>
                        <a:t>Motor monofásico 1/2cv 127/220v 4p 50/60hz</a:t>
                      </a:r>
                    </a:p>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Motor monofásico 1cv 4 polos 127/220v 50/60hz</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92221427"/>
                  </a:ext>
                </a:extLst>
              </a:tr>
              <a:tr h="219625">
                <a:tc>
                  <a:txBody>
                    <a:bodyPr/>
                    <a:lstStyle/>
                    <a:p>
                      <a:r>
                        <a:rPr lang="pt-BR" sz="700" kern="1200" dirty="0">
                          <a:solidFill>
                            <a:schemeClr val="tx1"/>
                          </a:solidFill>
                          <a:latin typeface="Arial" panose="020B0604020202020204" pitchFamily="34" charset="0"/>
                          <a:ea typeface="+mn-ea"/>
                          <a:cs typeface="Arial" panose="020B0604020202020204" pitchFamily="34" charset="0"/>
                        </a:rPr>
                        <a:t>09</a:t>
                      </a:r>
                    </a:p>
                  </a:txBody>
                  <a:tcPr marL="119795" marR="119795" marT="59898" marB="59898"/>
                </a:tc>
                <a:tc>
                  <a:txBody>
                    <a:bodyPr/>
                    <a:lstStyle/>
                    <a:p>
                      <a:r>
                        <a:rPr lang="pt-BR" sz="700" dirty="0">
                          <a:latin typeface="Arial" panose="020B0604020202020204" pitchFamily="34" charset="0"/>
                          <a:cs typeface="Arial" panose="020B0604020202020204" pitchFamily="34" charset="0"/>
                        </a:rPr>
                        <a:t>Espiga válvula de água 35x42" c/rosca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7364889"/>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10</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Conjunto chicote</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4234614718"/>
                  </a:ext>
                </a:extLst>
              </a:tr>
              <a:tr h="219625">
                <a:tc>
                  <a:txBody>
                    <a:bodyPr/>
                    <a:lstStyle/>
                    <a:p>
                      <a:r>
                        <a:rPr lang="pt-BR" sz="700" dirty="0">
                          <a:latin typeface="Arial" panose="020B0604020202020204" pitchFamily="34" charset="0"/>
                          <a:cs typeface="Arial" panose="020B0604020202020204" pitchFamily="34" charset="0"/>
                        </a:rPr>
                        <a:t>11</a:t>
                      </a:r>
                    </a:p>
                  </a:txBody>
                  <a:tcPr marL="119795" marR="119795" marT="59898" marB="59898"/>
                </a:tc>
                <a:tc>
                  <a:txBody>
                    <a:bodyPr/>
                    <a:lstStyle/>
                    <a:p>
                      <a:r>
                        <a:rPr lang="pt-BR" sz="700" dirty="0">
                          <a:latin typeface="Arial" panose="020B0604020202020204" pitchFamily="34" charset="0"/>
                          <a:cs typeface="Arial" panose="020B0604020202020204" pitchFamily="34" charset="0"/>
                        </a:rPr>
                        <a:t>Suporte fixação motor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7346248"/>
                  </a:ext>
                </a:extLst>
              </a:tr>
              <a:tr h="219625">
                <a:tc>
                  <a:txBody>
                    <a:bodyPr/>
                    <a:lstStyle/>
                    <a:p>
                      <a:r>
                        <a:rPr lang="pt-BR" sz="700" dirty="0">
                          <a:latin typeface="Arial" panose="020B0604020202020204" pitchFamily="34" charset="0"/>
                          <a:cs typeface="Arial" panose="020B0604020202020204" pitchFamily="34" charset="0"/>
                        </a:rPr>
                        <a:t>12</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Cobertura superior saia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319691272"/>
                  </a:ext>
                </a:extLst>
              </a:tr>
              <a:tr h="219625">
                <a:tc>
                  <a:txBody>
                    <a:bodyPr/>
                    <a:lstStyle/>
                    <a:p>
                      <a:r>
                        <a:rPr lang="pt-BR" sz="700" dirty="0">
                          <a:latin typeface="Arial" panose="020B0604020202020204" pitchFamily="34" charset="0"/>
                          <a:cs typeface="Arial" panose="020B0604020202020204" pitchFamily="34" charset="0"/>
                        </a:rPr>
                        <a:t>13</a:t>
                      </a:r>
                    </a:p>
                  </a:txBody>
                  <a:tcPr marL="119795" marR="119795" marT="59898" marB="59898"/>
                </a:tc>
                <a:tc>
                  <a:txBody>
                    <a:bodyPr/>
                    <a:lstStyle/>
                    <a:p>
                      <a:r>
                        <a:rPr lang="pt-BR" sz="700" dirty="0">
                          <a:latin typeface="Arial" panose="020B0604020202020204" pitchFamily="34" charset="0"/>
                          <a:cs typeface="Arial" panose="020B0604020202020204" pitchFamily="34" charset="0"/>
                        </a:rPr>
                        <a:t>Teto externo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648092497"/>
                  </a:ext>
                </a:extLst>
              </a:tr>
              <a:tr h="219625">
                <a:tc>
                  <a:txBody>
                    <a:bodyPr/>
                    <a:lstStyle/>
                    <a:p>
                      <a:r>
                        <a:rPr lang="pt-BR" sz="700" dirty="0">
                          <a:latin typeface="Arial" panose="020B0604020202020204" pitchFamily="34" charset="0"/>
                          <a:cs typeface="Arial" panose="020B0604020202020204" pitchFamily="34" charset="0"/>
                        </a:rPr>
                        <a:t>14</a:t>
                      </a:r>
                    </a:p>
                  </a:txBody>
                  <a:tcPr marL="119795" marR="119795" marT="59898" marB="59898"/>
                </a:tc>
                <a:tc>
                  <a:txBody>
                    <a:bodyPr/>
                    <a:lstStyle/>
                    <a:p>
                      <a:r>
                        <a:rPr lang="pt-BR" sz="700" dirty="0">
                          <a:latin typeface="Arial" panose="020B0604020202020204" pitchFamily="34" charset="0"/>
                          <a:cs typeface="Arial" panose="020B0604020202020204" pitchFamily="34" charset="0"/>
                        </a:rPr>
                        <a:t>Costa externa do forno turbo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215983173"/>
                  </a:ext>
                </a:extLst>
              </a:tr>
              <a:tr h="219625">
                <a:tc>
                  <a:txBody>
                    <a:bodyPr/>
                    <a:lstStyle/>
                    <a:p>
                      <a:r>
                        <a:rPr lang="pt-BR" sz="700" dirty="0">
                          <a:latin typeface="Arial" panose="020B0604020202020204" pitchFamily="34" charset="0"/>
                          <a:cs typeface="Arial" panose="020B0604020202020204" pitchFamily="34" charset="0"/>
                        </a:rPr>
                        <a:t>15</a:t>
                      </a:r>
                    </a:p>
                  </a:txBody>
                  <a:tcPr marL="119795" marR="119795" marT="59898" marB="59898"/>
                </a:tc>
                <a:tc>
                  <a:txBody>
                    <a:bodyPr/>
                    <a:lstStyle/>
                    <a:p>
                      <a:r>
                        <a:rPr lang="pt-BR" sz="700" dirty="0">
                          <a:latin typeface="Arial" panose="020B0604020202020204" pitchFamily="34" charset="0"/>
                          <a:cs typeface="Arial" panose="020B0604020202020204" pitchFamily="34" charset="0"/>
                        </a:rPr>
                        <a:t>Kit abafador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109331574"/>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16</a:t>
                      </a:r>
                    </a:p>
                  </a:txBody>
                  <a:tcPr marL="119795" marR="119795" marT="59898" marB="59898"/>
                </a:tc>
                <a:tc>
                  <a:txBody>
                    <a:bodyPr/>
                    <a:lstStyle/>
                    <a:p>
                      <a:r>
                        <a:rPr lang="pt-BR" sz="700" dirty="0">
                          <a:latin typeface="Arial" panose="020B0604020202020204" pitchFamily="34" charset="0"/>
                          <a:cs typeface="Arial" panose="020B0604020202020204" pitchFamily="34" charset="0"/>
                        </a:rPr>
                        <a:t>Lã de vidro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282204406"/>
                  </a:ext>
                </a:extLst>
              </a:tr>
              <a:tr h="219625">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17</a:t>
                      </a:r>
                    </a:p>
                  </a:txBody>
                  <a:tcPr marL="119795" marR="119795" marT="59898" marB="59898"/>
                </a:tc>
                <a:tc>
                  <a:txBody>
                    <a:bodyPr/>
                    <a:lstStyle/>
                    <a:p>
                      <a:r>
                        <a:rPr lang="pt-BR" sz="700" dirty="0">
                          <a:latin typeface="Arial" panose="020B0604020202020204" pitchFamily="34" charset="0"/>
                          <a:cs typeface="Arial" panose="020B0604020202020204" pitchFamily="34" charset="0"/>
                        </a:rPr>
                        <a:t>Eixo da porta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046918342"/>
                  </a:ext>
                </a:extLst>
              </a:tr>
              <a:tr h="219625">
                <a:tc>
                  <a:txBody>
                    <a:bodyPr/>
                    <a:lstStyle/>
                    <a:p>
                      <a:r>
                        <a:rPr lang="pt-BR" sz="700" dirty="0">
                          <a:latin typeface="Arial" panose="020B0604020202020204" pitchFamily="34" charset="0"/>
                          <a:cs typeface="Arial" panose="020B0604020202020204" pitchFamily="34" charset="0"/>
                        </a:rPr>
                        <a:t>18</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Turbina forno turbo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02921717"/>
                  </a:ext>
                </a:extLst>
              </a:tr>
              <a:tr h="219625">
                <a:tc>
                  <a:txBody>
                    <a:bodyPr/>
                    <a:lstStyle/>
                    <a:p>
                      <a:r>
                        <a:rPr lang="pt-BR" sz="700" dirty="0">
                          <a:latin typeface="Arial" panose="020B0604020202020204" pitchFamily="34" charset="0"/>
                          <a:cs typeface="Arial" panose="020B0604020202020204" pitchFamily="34" charset="0"/>
                        </a:rPr>
                        <a:t>19</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Bucha traseira turbina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760655045"/>
                  </a:ext>
                </a:extLst>
              </a:tr>
              <a:tr h="219625">
                <a:tc>
                  <a:txBody>
                    <a:bodyPr/>
                    <a:lstStyle/>
                    <a:p>
                      <a:r>
                        <a:rPr lang="pt-BR" sz="700" dirty="0">
                          <a:latin typeface="Arial" panose="020B0604020202020204" pitchFamily="34" charset="0"/>
                          <a:cs typeface="Arial" panose="020B0604020202020204" pitchFamily="34" charset="0"/>
                        </a:rPr>
                        <a:t>20</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Bucha rodízio porta aço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810639131"/>
                  </a:ext>
                </a:extLst>
              </a:tr>
              <a:tr h="219625">
                <a:tc>
                  <a:txBody>
                    <a:bodyPr/>
                    <a:lstStyle/>
                    <a:p>
                      <a:r>
                        <a:rPr lang="pt-BR" sz="700" dirty="0">
                          <a:latin typeface="Arial" panose="020B0604020202020204" pitchFamily="34" charset="0"/>
                          <a:cs typeface="Arial" panose="020B0604020202020204" pitchFamily="34" charset="0"/>
                        </a:rPr>
                        <a:t>21</a:t>
                      </a:r>
                    </a:p>
                  </a:txBody>
                  <a:tcPr marL="119795" marR="119795" marT="59898" marB="59898"/>
                </a:tc>
                <a:tc>
                  <a:txBody>
                    <a:bodyPr/>
                    <a:lstStyle/>
                    <a:p>
                      <a:r>
                        <a:rPr lang="pt-BR" sz="700" dirty="0">
                          <a:latin typeface="Arial" panose="020B0604020202020204" pitchFamily="34" charset="0"/>
                          <a:cs typeface="Arial" panose="020B0604020202020204" pitchFamily="34" charset="0"/>
                        </a:rPr>
                        <a:t>Grade protetora turbina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609976679"/>
                  </a:ext>
                </a:extLst>
              </a:tr>
              <a:tr h="319454">
                <a:tc>
                  <a:txBody>
                    <a:bodyPr/>
                    <a:lstStyle/>
                    <a:p>
                      <a:r>
                        <a:rPr lang="pt-BR" sz="700" dirty="0">
                          <a:latin typeface="Arial" panose="020B0604020202020204" pitchFamily="34" charset="0"/>
                          <a:cs typeface="Arial" panose="020B0604020202020204" pitchFamily="34" charset="0"/>
                        </a:rPr>
                        <a:t>22</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Termopar tipo J 4,7x70mm cabo 750mm</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800969784"/>
                  </a:ext>
                </a:extLst>
              </a:tr>
              <a:tr h="219625">
                <a:tc>
                  <a:txBody>
                    <a:bodyPr/>
                    <a:lstStyle/>
                    <a:p>
                      <a:r>
                        <a:rPr lang="pt-BR" sz="700" dirty="0">
                          <a:latin typeface="Arial" panose="020B0604020202020204" pitchFamily="34" charset="0"/>
                          <a:cs typeface="Arial" panose="020B0604020202020204" pitchFamily="34" charset="0"/>
                        </a:rPr>
                        <a:t>23</a:t>
                      </a:r>
                    </a:p>
                  </a:txBody>
                  <a:tcPr marL="119795" marR="119795" marT="59898" marB="59898"/>
                </a:tc>
                <a:tc>
                  <a:txBody>
                    <a:bodyPr/>
                    <a:lstStyle/>
                    <a:p>
                      <a:r>
                        <a:rPr lang="pt-BR" sz="700" dirty="0">
                          <a:latin typeface="Arial" panose="020B0604020202020204" pitchFamily="34" charset="0"/>
                          <a:cs typeface="Arial" panose="020B0604020202020204" pitchFamily="34" charset="0"/>
                        </a:rPr>
                        <a:t>Lateral esquerda do forno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349215365"/>
                  </a:ext>
                </a:extLst>
              </a:tr>
              <a:tr h="219625">
                <a:tc>
                  <a:txBody>
                    <a:bodyPr/>
                    <a:lstStyle/>
                    <a:p>
                      <a:r>
                        <a:rPr lang="pt-BR" sz="700" dirty="0">
                          <a:latin typeface="Arial" panose="020B0604020202020204" pitchFamily="34" charset="0"/>
                          <a:cs typeface="Arial" panose="020B0604020202020204" pitchFamily="34" charset="0"/>
                        </a:rPr>
                        <a:t>24</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Tampa da Caixa de Comando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330689163"/>
                  </a:ext>
                </a:extLst>
              </a:tr>
              <a:tr h="219625">
                <a:tc>
                  <a:txBody>
                    <a:bodyPr/>
                    <a:lstStyle/>
                    <a:p>
                      <a:r>
                        <a:rPr lang="pt-BR" sz="700" dirty="0">
                          <a:latin typeface="Arial" panose="020B0604020202020204" pitchFamily="34" charset="0"/>
                          <a:cs typeface="Arial" panose="020B0604020202020204" pitchFamily="34" charset="0"/>
                        </a:rPr>
                        <a:t>25</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Lateral direita do forno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20819718"/>
                  </a:ext>
                </a:extLst>
              </a:tr>
              <a:tr h="219625">
                <a:tc>
                  <a:txBody>
                    <a:bodyPr/>
                    <a:lstStyle/>
                    <a:p>
                      <a:r>
                        <a:rPr lang="pt-BR" sz="700" dirty="0">
                          <a:latin typeface="Arial" panose="020B0604020202020204" pitchFamily="34" charset="0"/>
                          <a:cs typeface="Arial" panose="020B0604020202020204" pitchFamily="34" charset="0"/>
                        </a:rPr>
                        <a:t>26</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Gabinete interno forno turbo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477220496"/>
                  </a:ext>
                </a:extLst>
              </a:tr>
              <a:tr h="219625">
                <a:tc>
                  <a:txBody>
                    <a:bodyPr/>
                    <a:lstStyle/>
                    <a:p>
                      <a:r>
                        <a:rPr lang="pt-BR" sz="700" dirty="0">
                          <a:latin typeface="Arial" panose="020B0604020202020204" pitchFamily="34" charset="0"/>
                          <a:cs typeface="Arial" panose="020B0604020202020204" pitchFamily="34" charset="0"/>
                        </a:rPr>
                        <a:t>27</a:t>
                      </a:r>
                    </a:p>
                  </a:txBody>
                  <a:tcPr marL="119795" marR="119795"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Conjunto cano gás inferior</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047039231"/>
                  </a:ext>
                </a:extLst>
              </a:tr>
              <a:tr h="219625">
                <a:tc>
                  <a:txBody>
                    <a:bodyPr/>
                    <a:lstStyle/>
                    <a:p>
                      <a:r>
                        <a:rPr lang="pt-BR" sz="700" dirty="0">
                          <a:latin typeface="Arial" panose="020B0604020202020204" pitchFamily="34" charset="0"/>
                          <a:cs typeface="Arial" panose="020B0604020202020204" pitchFamily="34" charset="0"/>
                        </a:rPr>
                        <a:t>28</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Conjunto trilho para bandejas</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662089827"/>
                  </a:ext>
                </a:extLst>
              </a:tr>
              <a:tr h="219625">
                <a:tc>
                  <a:txBody>
                    <a:bodyPr/>
                    <a:lstStyle/>
                    <a:p>
                      <a:r>
                        <a:rPr lang="pt-BR" sz="700" dirty="0">
                          <a:latin typeface="Arial" panose="020B0604020202020204" pitchFamily="34" charset="0"/>
                          <a:cs typeface="Arial" panose="020B0604020202020204" pitchFamily="34" charset="0"/>
                        </a:rPr>
                        <a:t>29</a:t>
                      </a:r>
                    </a:p>
                  </a:txBody>
                  <a:tcPr marL="119795" marR="119795" marT="59898" marB="59898"/>
                </a:tc>
                <a:tc>
                  <a:txBody>
                    <a:bodyPr/>
                    <a:lstStyle/>
                    <a:p>
                      <a:r>
                        <a:rPr lang="pt-BR" sz="700" dirty="0">
                          <a:latin typeface="Arial" panose="020B0604020202020204" pitchFamily="34" charset="0"/>
                          <a:cs typeface="Arial" panose="020B0604020202020204" pitchFamily="34" charset="0"/>
                        </a:rPr>
                        <a:t>Micro interruptor fim de curso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8-10 ESTEIRAS</a:t>
                      </a:r>
                    </a:p>
                  </a:txBody>
                  <a:tcPr marL="119795" marR="119795" marT="59898" marB="59898"/>
                </a:tc>
                <a:extLst>
                  <a:ext uri="{0D108BD9-81ED-4DB2-BD59-A6C34878D82A}">
                    <a16:rowId xmlns:a16="http://schemas.microsoft.com/office/drawing/2014/main" val="2215794468"/>
                  </a:ext>
                </a:extLst>
              </a:tr>
              <a:tr h="219625">
                <a:tc>
                  <a:txBody>
                    <a:bodyPr/>
                    <a:lstStyle/>
                    <a:p>
                      <a:r>
                        <a:rPr lang="pt-BR" sz="700" dirty="0">
                          <a:latin typeface="Arial" panose="020B0604020202020204" pitchFamily="34" charset="0"/>
                          <a:cs typeface="Arial" panose="020B0604020202020204" pitchFamily="34" charset="0"/>
                        </a:rPr>
                        <a:t>30</a:t>
                      </a:r>
                    </a:p>
                  </a:txBody>
                  <a:tcPr marL="119795" marR="119795" marT="59898" marB="59898"/>
                </a:tc>
                <a:tc>
                  <a:txBody>
                    <a:bodyPr/>
                    <a:lstStyle/>
                    <a:p>
                      <a:r>
                        <a:rPr lang="pt-BR" sz="700" dirty="0">
                          <a:latin typeface="Arial" panose="020B0604020202020204" pitchFamily="34" charset="0"/>
                          <a:cs typeface="Arial" panose="020B0604020202020204" pitchFamily="34" charset="0"/>
                        </a:rPr>
                        <a:t>Suporte fim de curso liso</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8-10 ESTEIRAS</a:t>
                      </a:r>
                    </a:p>
                  </a:txBody>
                  <a:tcPr marL="119795" marR="119795" marT="59898" marB="59898"/>
                </a:tc>
                <a:extLst>
                  <a:ext uri="{0D108BD9-81ED-4DB2-BD59-A6C34878D82A}">
                    <a16:rowId xmlns:a16="http://schemas.microsoft.com/office/drawing/2014/main" val="2817276624"/>
                  </a:ext>
                </a:extLst>
              </a:tr>
              <a:tr h="219625">
                <a:tc>
                  <a:txBody>
                    <a:bodyPr/>
                    <a:lstStyle/>
                    <a:p>
                      <a:r>
                        <a:rPr lang="pt-BR" sz="700" dirty="0">
                          <a:latin typeface="Arial" panose="020B0604020202020204" pitchFamily="34" charset="0"/>
                          <a:cs typeface="Arial" panose="020B0604020202020204" pitchFamily="34" charset="0"/>
                        </a:rPr>
                        <a:t>31</a:t>
                      </a:r>
                    </a:p>
                  </a:txBody>
                  <a:tcPr marL="119795" marR="119795"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Suporte para lâmpada porcelana</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2777275910"/>
                  </a:ext>
                </a:extLst>
              </a:tr>
              <a:tr h="219625">
                <a:tc>
                  <a:txBody>
                    <a:bodyPr/>
                    <a:lstStyle/>
                    <a:p>
                      <a:r>
                        <a:rPr lang="pt-BR" sz="700" dirty="0">
                          <a:latin typeface="Arial" panose="020B0604020202020204" pitchFamily="34" charset="0"/>
                          <a:cs typeface="Arial" panose="020B0604020202020204" pitchFamily="34" charset="0"/>
                        </a:rPr>
                        <a:t>32</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Lâmpada Geladeira/Fogão 40W 220V</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997023612"/>
                  </a:ext>
                </a:extLst>
              </a:tr>
              <a:tr h="219625">
                <a:tc>
                  <a:txBody>
                    <a:bodyPr/>
                    <a:lstStyle/>
                    <a:p>
                      <a:r>
                        <a:rPr lang="pt-BR" sz="700" dirty="0">
                          <a:latin typeface="Arial" panose="020B0604020202020204" pitchFamily="34" charset="0"/>
                          <a:cs typeface="Arial" panose="020B0604020202020204" pitchFamily="34" charset="0"/>
                        </a:rPr>
                        <a:t>33</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Kit Maçaneta </a:t>
                      </a:r>
                    </a:p>
                  </a:txBody>
                  <a:tcPr marL="119795" marR="119795" marT="59898" marB="59898"/>
                </a:tc>
                <a:tc>
                  <a:txBody>
                    <a:bodyPr/>
                    <a:lstStyle/>
                    <a:p>
                      <a:pPr algn="ctr"/>
                      <a:r>
                        <a:rPr lang="pt-BR" sz="700" dirty="0">
                          <a:solidFill>
                            <a:schemeClr val="tx1"/>
                          </a:solidFill>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229010151"/>
                  </a:ext>
                </a:extLst>
              </a:tr>
              <a:tr h="219625">
                <a:tc>
                  <a:txBody>
                    <a:bodyPr/>
                    <a:lstStyle/>
                    <a:p>
                      <a:r>
                        <a:rPr lang="pt-BR" sz="700" dirty="0">
                          <a:latin typeface="Arial" panose="020B0604020202020204" pitchFamily="34" charset="0"/>
                          <a:cs typeface="Arial" panose="020B0604020202020204" pitchFamily="34" charset="0"/>
                        </a:rPr>
                        <a:t>34</a:t>
                      </a:r>
                    </a:p>
                  </a:txBody>
                  <a:tcPr marL="119795" marR="119795"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Porta do forno turbo </a:t>
                      </a:r>
                    </a:p>
                  </a:txBody>
                  <a:tcPr marL="119795" marR="119795"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3940892858"/>
                  </a:ext>
                </a:extLst>
              </a:tr>
              <a:tr h="219625">
                <a:tc>
                  <a:txBody>
                    <a:bodyPr/>
                    <a:lstStyle/>
                    <a:p>
                      <a:pPr algn="ctr"/>
                      <a:r>
                        <a:rPr lang="pt-BR" sz="700" dirty="0">
                          <a:latin typeface="Arial" panose="020B0604020202020204" pitchFamily="34" charset="0"/>
                          <a:cs typeface="Arial" panose="020B0604020202020204" pitchFamily="34" charset="0"/>
                        </a:rPr>
                        <a:t>35</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Calha de proteção da Lâmpada</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119795" marR="119795" marT="59898" marB="59898"/>
                </a:tc>
                <a:extLst>
                  <a:ext uri="{0D108BD9-81ED-4DB2-BD59-A6C34878D82A}">
                    <a16:rowId xmlns:a16="http://schemas.microsoft.com/office/drawing/2014/main" val="1213962584"/>
                  </a:ext>
                </a:extLst>
              </a:tr>
            </a:tbl>
          </a:graphicData>
        </a:graphic>
      </p:graphicFrame>
      <p:graphicFrame>
        <p:nvGraphicFramePr>
          <p:cNvPr id="18" name="Tabela 17">
            <a:extLst>
              <a:ext uri="{FF2B5EF4-FFF2-40B4-BE49-F238E27FC236}">
                <a16:creationId xmlns:a16="http://schemas.microsoft.com/office/drawing/2014/main" id="{63CBBF2E-8DDB-4BC2-B490-8342F311B852}"/>
              </a:ext>
            </a:extLst>
          </p:cNvPr>
          <p:cNvGraphicFramePr>
            <a:graphicFrameLocks noGrp="1"/>
          </p:cNvGraphicFramePr>
          <p:nvPr>
            <p:extLst>
              <p:ext uri="{D42A27DB-BD31-4B8C-83A1-F6EECF244321}">
                <p14:modId xmlns:p14="http://schemas.microsoft.com/office/powerpoint/2010/main" val="305221667"/>
              </p:ext>
            </p:extLst>
          </p:nvPr>
        </p:nvGraphicFramePr>
        <p:xfrm>
          <a:off x="3599806" y="450275"/>
          <a:ext cx="3114899" cy="3867607"/>
        </p:xfrm>
        <a:graphic>
          <a:graphicData uri="http://schemas.openxmlformats.org/drawingml/2006/table">
            <a:tbl>
              <a:tblPr firstRow="1" bandRow="1">
                <a:tableStyleId>{9D7B26C5-4107-4FEC-AEDC-1716B250A1EF}</a:tableStyleId>
              </a:tblPr>
              <a:tblGrid>
                <a:gridCol w="336364">
                  <a:extLst>
                    <a:ext uri="{9D8B030D-6E8A-4147-A177-3AD203B41FA5}">
                      <a16:colId xmlns:a16="http://schemas.microsoft.com/office/drawing/2014/main" val="2700491385"/>
                    </a:ext>
                  </a:extLst>
                </a:gridCol>
                <a:gridCol w="1889519">
                  <a:extLst>
                    <a:ext uri="{9D8B030D-6E8A-4147-A177-3AD203B41FA5}">
                      <a16:colId xmlns:a16="http://schemas.microsoft.com/office/drawing/2014/main" val="2056339938"/>
                    </a:ext>
                  </a:extLst>
                </a:gridCol>
                <a:gridCol w="889016">
                  <a:extLst>
                    <a:ext uri="{9D8B030D-6E8A-4147-A177-3AD203B41FA5}">
                      <a16:colId xmlns:a16="http://schemas.microsoft.com/office/drawing/2014/main" val="3623192741"/>
                    </a:ext>
                  </a:extLst>
                </a:gridCol>
              </a:tblGrid>
              <a:tr h="239591">
                <a:tc>
                  <a:txBody>
                    <a:bodyPr/>
                    <a:lstStyle/>
                    <a:p>
                      <a:pPr marL="0" indent="0" algn="ctr">
                        <a:tabLst/>
                      </a:pPr>
                      <a:r>
                        <a:rPr lang="pt-BR" sz="800" dirty="0">
                          <a:latin typeface="Arial" panose="020B0604020202020204" pitchFamily="34" charset="0"/>
                          <a:cs typeface="Arial" panose="020B0604020202020204" pitchFamily="34" charset="0"/>
                        </a:rPr>
                        <a:t>Item</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800" b="1" kern="1200" dirty="0">
                          <a:solidFill>
                            <a:schemeClr val="tx1"/>
                          </a:solidFill>
                          <a:latin typeface="Arial" panose="020B0604020202020204" pitchFamily="34" charset="0"/>
                          <a:ea typeface="+mn-ea"/>
                          <a:cs typeface="Arial" panose="020B0604020202020204" pitchFamily="34" charset="0"/>
                        </a:rPr>
                        <a:t>Descrição do componente</a:t>
                      </a:r>
                    </a:p>
                  </a:txBody>
                  <a:tcPr marL="59898" marR="59898" marT="59898" marB="59898"/>
                </a:tc>
                <a:tc>
                  <a:txBody>
                    <a:bodyPr/>
                    <a:lstStyle/>
                    <a:p>
                      <a:pPr marL="0" indent="0" algn="ctr" defTabSz="1043056" rtl="0" eaLnBrk="1" latinLnBrk="0" hangingPunct="1">
                        <a:tabLst/>
                      </a:pPr>
                      <a:r>
                        <a:rPr lang="pt-BR" sz="800" b="1" kern="1200">
                          <a:solidFill>
                            <a:schemeClr val="tx1"/>
                          </a:solidFill>
                          <a:latin typeface="Arial" panose="020B0604020202020204" pitchFamily="34" charset="0"/>
                          <a:ea typeface="+mn-ea"/>
                          <a:cs typeface="Arial" panose="020B0604020202020204" pitchFamily="34" charset="0"/>
                        </a:rPr>
                        <a:t>Modelo</a:t>
                      </a:r>
                      <a:endParaRPr lang="pt-BR" sz="800" b="1" kern="1200" dirty="0">
                        <a:solidFill>
                          <a:schemeClr val="tx1"/>
                        </a:solidFill>
                        <a:latin typeface="Arial" panose="020B0604020202020204" pitchFamily="34" charset="0"/>
                        <a:ea typeface="+mn-ea"/>
                        <a:cs typeface="Arial" panose="020B0604020202020204" pitchFamily="34" charset="0"/>
                      </a:endParaRPr>
                    </a:p>
                  </a:txBody>
                  <a:tcPr marL="59898" marR="59898" marT="59898" marB="59898"/>
                </a:tc>
                <a:extLst>
                  <a:ext uri="{0D108BD9-81ED-4DB2-BD59-A6C34878D82A}">
                    <a16:rowId xmlns:a16="http://schemas.microsoft.com/office/drawing/2014/main" val="1658415043"/>
                  </a:ext>
                </a:extLst>
              </a:tr>
              <a:tr h="319454">
                <a:tc>
                  <a:txBody>
                    <a:bodyPr/>
                    <a:lstStyle/>
                    <a:p>
                      <a:r>
                        <a:rPr lang="pt-BR" sz="700" dirty="0">
                          <a:latin typeface="Arial" panose="020B0604020202020204" pitchFamily="34" charset="0"/>
                          <a:cs typeface="Arial" panose="020B0604020202020204" pitchFamily="34" charset="0"/>
                        </a:rPr>
                        <a:t>36</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Candela 164/k</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p>
                      <a:pPr algn="ctr"/>
                      <a:endParaRPr lang="pt-BR" sz="700" dirty="0">
                        <a:latin typeface="Arial" panose="020B0604020202020204" pitchFamily="34" charset="0"/>
                        <a:cs typeface="Arial" panose="020B0604020202020204" pitchFamily="34" charset="0"/>
                      </a:endParaRPr>
                    </a:p>
                  </a:txBody>
                  <a:tcPr marL="59898" marR="59898" marT="59898" marB="59898"/>
                </a:tc>
                <a:extLst>
                  <a:ext uri="{0D108BD9-81ED-4DB2-BD59-A6C34878D82A}">
                    <a16:rowId xmlns:a16="http://schemas.microsoft.com/office/drawing/2014/main" val="2377117856"/>
                  </a:ext>
                </a:extLst>
              </a:tr>
              <a:tr h="219625">
                <a:tc>
                  <a:txBody>
                    <a:bodyPr/>
                    <a:lstStyle/>
                    <a:p>
                      <a:r>
                        <a:rPr lang="pt-BR" sz="700" dirty="0">
                          <a:latin typeface="Arial" panose="020B0604020202020204" pitchFamily="34" charset="0"/>
                          <a:cs typeface="Arial" panose="020B0604020202020204" pitchFamily="34" charset="0"/>
                        </a:rPr>
                        <a:t>37</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Eletrodo de ignição</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3270933329"/>
                  </a:ext>
                </a:extLst>
              </a:tr>
              <a:tr h="219625">
                <a:tc>
                  <a:txBody>
                    <a:bodyPr/>
                    <a:lstStyle/>
                    <a:p>
                      <a:r>
                        <a:rPr lang="pt-BR" sz="700" dirty="0">
                          <a:latin typeface="Arial" panose="020B0604020202020204" pitchFamily="34" charset="0"/>
                          <a:cs typeface="Arial" panose="020B0604020202020204" pitchFamily="34" charset="0"/>
                        </a:rPr>
                        <a:t>38</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Suporte fixador sensor</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726172683"/>
                  </a:ext>
                </a:extLst>
              </a:tr>
              <a:tr h="219625">
                <a:tc>
                  <a:txBody>
                    <a:bodyPr/>
                    <a:lstStyle/>
                    <a:p>
                      <a:r>
                        <a:rPr lang="pt-BR" sz="700" dirty="0">
                          <a:latin typeface="Arial" panose="020B0604020202020204" pitchFamily="34" charset="0"/>
                          <a:cs typeface="Arial" panose="020B0604020202020204" pitchFamily="34" charset="0"/>
                        </a:rPr>
                        <a:t>39</a:t>
                      </a:r>
                    </a:p>
                  </a:txBody>
                  <a:tcPr marL="59898" marR="59898" marT="59898" marB="59898"/>
                </a:tc>
                <a:tc>
                  <a:txBody>
                    <a:bodyPr/>
                    <a:lstStyle/>
                    <a:p>
                      <a:pPr marL="0" marR="0" indent="0" algn="l" defTabSz="1043056"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Painel Queimador</a:t>
                      </a:r>
                    </a:p>
                  </a:txBody>
                  <a:tcPr marL="59898" marR="59898" marT="59898" marB="59898"/>
                </a:tc>
                <a:tc>
                  <a:txBody>
                    <a:bodyPr/>
                    <a:lstStyle/>
                    <a:p>
                      <a:pPr marL="0" marR="0" lvl="0" indent="0" algn="ctr"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34391251"/>
                  </a:ext>
                </a:extLst>
              </a:tr>
              <a:tr h="219625">
                <a:tc>
                  <a:txBody>
                    <a:bodyPr/>
                    <a:lstStyle/>
                    <a:p>
                      <a:r>
                        <a:rPr lang="pt-BR" sz="700" dirty="0">
                          <a:latin typeface="Arial" panose="020B0604020202020204" pitchFamily="34" charset="0"/>
                          <a:cs typeface="Arial" panose="020B0604020202020204" pitchFamily="34" charset="0"/>
                        </a:rPr>
                        <a:t>40</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Queimador do forno turbo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3657311216"/>
                  </a:ext>
                </a:extLst>
              </a:tr>
              <a:tr h="219625">
                <a:tc>
                  <a:txBody>
                    <a:bodyPr/>
                    <a:lstStyle/>
                    <a:p>
                      <a:r>
                        <a:rPr lang="pt-BR" sz="700" dirty="0">
                          <a:latin typeface="Arial" panose="020B0604020202020204" pitchFamily="34" charset="0"/>
                          <a:cs typeface="Arial" panose="020B0604020202020204" pitchFamily="34" charset="0"/>
                        </a:rPr>
                        <a:t>41</a:t>
                      </a:r>
                    </a:p>
                  </a:txBody>
                  <a:tcPr marL="59898" marR="59898" marT="59898" marB="59898"/>
                </a:tc>
                <a:tc>
                  <a:txBody>
                    <a:bodyPr/>
                    <a:lstStyle/>
                    <a:p>
                      <a:pPr marL="0" marR="0" indent="0" algn="l" defTabSz="1076325"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Rodizio Giratório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856392232"/>
                  </a:ext>
                </a:extLst>
              </a:tr>
              <a:tr h="219625">
                <a:tc>
                  <a:txBody>
                    <a:bodyPr/>
                    <a:lstStyle/>
                    <a:p>
                      <a:r>
                        <a:rPr lang="pt-BR" sz="700" dirty="0">
                          <a:latin typeface="Arial" panose="020B0604020202020204" pitchFamily="34" charset="0"/>
                          <a:cs typeface="Arial" panose="020B0604020202020204" pitchFamily="34" charset="0"/>
                        </a:rPr>
                        <a:t>42</a:t>
                      </a:r>
                    </a:p>
                  </a:txBody>
                  <a:tcPr marL="59898" marR="59898" marT="59898" marB="59898"/>
                </a:tc>
                <a:tc>
                  <a:txBody>
                    <a:bodyPr/>
                    <a:lstStyle/>
                    <a:p>
                      <a:r>
                        <a:rPr lang="pt-BR" sz="700" kern="1200" dirty="0">
                          <a:solidFill>
                            <a:schemeClr val="tx1"/>
                          </a:solidFill>
                          <a:latin typeface="Arial" panose="020B0604020202020204" pitchFamily="34" charset="0"/>
                          <a:ea typeface="+mn-ea"/>
                          <a:cs typeface="Arial" panose="020B0604020202020204" pitchFamily="34" charset="0"/>
                        </a:rPr>
                        <a:t>Base do forno turbo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60328315"/>
                  </a:ext>
                </a:extLst>
              </a:tr>
              <a:tr h="219625">
                <a:tc>
                  <a:txBody>
                    <a:bodyPr/>
                    <a:lstStyle/>
                    <a:p>
                      <a:r>
                        <a:rPr lang="pt-BR" sz="700" kern="1200" dirty="0">
                          <a:solidFill>
                            <a:schemeClr val="tx1"/>
                          </a:solidFill>
                          <a:latin typeface="Arial" panose="020B0604020202020204" pitchFamily="34" charset="0"/>
                          <a:ea typeface="+mn-ea"/>
                          <a:cs typeface="Arial" panose="020B0604020202020204" pitchFamily="34" charset="0"/>
                        </a:rPr>
                        <a:t>43</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Cabo </a:t>
                      </a:r>
                      <a:r>
                        <a:rPr lang="pt-BR" sz="700" kern="1200" dirty="0" err="1">
                          <a:solidFill>
                            <a:schemeClr val="tx1"/>
                          </a:solidFill>
                          <a:latin typeface="Arial" panose="020B0604020202020204" pitchFamily="34" charset="0"/>
                          <a:ea typeface="+mn-ea"/>
                          <a:cs typeface="Arial" panose="020B0604020202020204" pitchFamily="34" charset="0"/>
                        </a:rPr>
                        <a:t>Plug</a:t>
                      </a:r>
                      <a:r>
                        <a:rPr lang="pt-BR" sz="700" kern="1200" dirty="0">
                          <a:solidFill>
                            <a:schemeClr val="tx1"/>
                          </a:solidFill>
                          <a:latin typeface="Arial" panose="020B0604020202020204" pitchFamily="34" charset="0"/>
                          <a:ea typeface="+mn-ea"/>
                          <a:cs typeface="Arial" panose="020B0604020202020204" pitchFamily="34" charset="0"/>
                        </a:rPr>
                        <a:t> PP 3 x 2,50mm x 2,0m 20A</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92221427"/>
                  </a:ext>
                </a:extLst>
              </a:tr>
              <a:tr h="268099">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44</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Passa Fio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7364889"/>
                  </a:ext>
                </a:extLst>
              </a:tr>
              <a:tr h="219625">
                <a:tc>
                  <a:txBody>
                    <a:bodyPr/>
                    <a:lstStyle/>
                    <a:p>
                      <a:r>
                        <a:rPr lang="pt-BR" sz="700" dirty="0">
                          <a:latin typeface="Arial" panose="020B0604020202020204" pitchFamily="34" charset="0"/>
                          <a:cs typeface="Arial" panose="020B0604020202020204" pitchFamily="34" charset="0"/>
                        </a:rPr>
                        <a:t>45</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err="1">
                          <a:latin typeface="Arial" panose="020B0604020202020204" pitchFamily="34" charset="0"/>
                          <a:cs typeface="Arial" panose="020B0604020202020204" pitchFamily="34" charset="0"/>
                        </a:rPr>
                        <a:t>Sonalarme</a:t>
                      </a:r>
                      <a:endParaRPr lang="pt-BR" sz="700" dirty="0">
                        <a:latin typeface="Arial" panose="020B0604020202020204" pitchFamily="34" charset="0"/>
                        <a:cs typeface="Arial" panose="020B0604020202020204" pitchFamily="34" charset="0"/>
                      </a:endParaRP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4234614718"/>
                  </a:ext>
                </a:extLst>
              </a:tr>
              <a:tr h="219625">
                <a:tc>
                  <a:txBody>
                    <a:bodyPr/>
                    <a:lstStyle/>
                    <a:p>
                      <a:r>
                        <a:rPr lang="pt-BR" sz="700" dirty="0">
                          <a:latin typeface="Arial" panose="020B0604020202020204" pitchFamily="34" charset="0"/>
                          <a:cs typeface="Arial" panose="020B0604020202020204" pitchFamily="34" charset="0"/>
                        </a:rPr>
                        <a:t>46</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dirty="0">
                          <a:latin typeface="Arial" panose="020B0604020202020204" pitchFamily="34" charset="0"/>
                          <a:cs typeface="Arial" panose="020B0604020202020204" pitchFamily="34" charset="0"/>
                        </a:rPr>
                        <a:t>Caixa de Comando</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37346248"/>
                  </a:ext>
                </a:extLst>
              </a:tr>
              <a:tr h="219625">
                <a:tc>
                  <a:txBody>
                    <a:bodyPr/>
                    <a:lstStyle/>
                    <a:p>
                      <a:r>
                        <a:rPr lang="pt-BR" sz="700" dirty="0">
                          <a:latin typeface="Arial" panose="020B0604020202020204" pitchFamily="34" charset="0"/>
                          <a:cs typeface="Arial" panose="020B0604020202020204" pitchFamily="34" charset="0"/>
                        </a:rPr>
                        <a:t>47</a:t>
                      </a:r>
                    </a:p>
                  </a:txBody>
                  <a:tcPr marL="59898" marR="59898" marT="59898" marB="59898"/>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700" kern="1200" dirty="0">
                          <a:solidFill>
                            <a:schemeClr val="tx1"/>
                          </a:solidFill>
                          <a:latin typeface="Arial" panose="020B0604020202020204" pitchFamily="34" charset="0"/>
                          <a:ea typeface="+mn-ea"/>
                          <a:cs typeface="Arial" panose="020B0604020202020204" pitchFamily="34" charset="0"/>
                        </a:rPr>
                        <a:t>Controlador digital</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1319691272"/>
                  </a:ext>
                </a:extLst>
              </a:tr>
              <a:tr h="718773">
                <a:tc>
                  <a:txBody>
                    <a:bodyPr/>
                    <a:lstStyle/>
                    <a:p>
                      <a:r>
                        <a:rPr lang="pt-BR" sz="700" dirty="0">
                          <a:latin typeface="Arial" panose="020B0604020202020204" pitchFamily="34" charset="0"/>
                          <a:cs typeface="Arial" panose="020B0604020202020204" pitchFamily="34" charset="0"/>
                        </a:rPr>
                        <a:t>48</a:t>
                      </a:r>
                    </a:p>
                  </a:txBody>
                  <a:tcPr marL="59898" marR="59898" marT="59898" marB="59898"/>
                </a:tc>
                <a:tc>
                  <a:txBody>
                    <a:bodyPr/>
                    <a:lstStyle/>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azul 250vca c/capa de silicone</a:t>
                      </a:r>
                    </a:p>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verde 250vca c/capa de silicone</a:t>
                      </a:r>
                    </a:p>
                    <a:p>
                      <a:pPr marL="0" algn="l" defTabSz="1043056" rtl="0" eaLnBrk="1" latinLnBrk="0" hangingPunct="1"/>
                      <a:r>
                        <a:rPr lang="pt-BR" sz="700" kern="1200" dirty="0">
                          <a:solidFill>
                            <a:schemeClr val="tx1"/>
                          </a:solidFill>
                          <a:latin typeface="Arial" panose="020B0604020202020204" pitchFamily="34" charset="0"/>
                          <a:ea typeface="+mn-ea"/>
                          <a:cs typeface="Arial" panose="020B0604020202020204" pitchFamily="34" charset="0"/>
                        </a:rPr>
                        <a:t>Interruptor bip. 16 A amar. 250vca c/capa de silicone</a:t>
                      </a:r>
                    </a:p>
                  </a:txBody>
                  <a:tcPr marL="59898" marR="59898" marT="59898" marB="59898"/>
                </a:tc>
                <a:tc>
                  <a:txBody>
                    <a:bodyPr/>
                    <a:lstStyle/>
                    <a:p>
                      <a:pPr algn="ctr"/>
                      <a:r>
                        <a:rPr lang="pt-BR" sz="700" dirty="0">
                          <a:latin typeface="Arial" panose="020B0604020202020204" pitchFamily="34" charset="0"/>
                          <a:cs typeface="Arial" panose="020B0604020202020204" pitchFamily="34" charset="0"/>
                        </a:rPr>
                        <a:t>TODOS</a:t>
                      </a:r>
                    </a:p>
                  </a:txBody>
                  <a:tcPr marL="59898" marR="59898" marT="59898" marB="59898"/>
                </a:tc>
                <a:extLst>
                  <a:ext uri="{0D108BD9-81ED-4DB2-BD59-A6C34878D82A}">
                    <a16:rowId xmlns:a16="http://schemas.microsoft.com/office/drawing/2014/main" val="2648092497"/>
                  </a:ext>
                </a:extLst>
              </a:tr>
            </a:tbl>
          </a:graphicData>
        </a:graphic>
      </p:graphicFrame>
    </p:spTree>
    <p:extLst>
      <p:ext uri="{BB962C8B-B14F-4D97-AF65-F5344CB8AC3E}">
        <p14:creationId xmlns:p14="http://schemas.microsoft.com/office/powerpoint/2010/main" val="341500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aixaDeTexto 13">
            <a:extLst>
              <a:ext uri="{FF2B5EF4-FFF2-40B4-BE49-F238E27FC236}">
                <a16:creationId xmlns:a16="http://schemas.microsoft.com/office/drawing/2014/main" id="{1F673228-8E71-465F-BD2A-0F69D20BE420}"/>
              </a:ext>
            </a:extLst>
          </p:cNvPr>
          <p:cNvSpPr txBox="1"/>
          <p:nvPr/>
        </p:nvSpPr>
        <p:spPr>
          <a:xfrm>
            <a:off x="3183184" y="9575751"/>
            <a:ext cx="495411" cy="273793"/>
          </a:xfrm>
          <a:prstGeom prst="rect">
            <a:avLst/>
          </a:prstGeom>
          <a:noFill/>
        </p:spPr>
        <p:txBody>
          <a:bodyPr wrap="square" rtlCol="0">
            <a:spAutoFit/>
          </a:bodyPr>
          <a:lstStyle/>
          <a:p>
            <a:pPr algn="ctr"/>
            <a:r>
              <a:rPr lang="pt-BR" sz="1179" dirty="0">
                <a:latin typeface="Arial" panose="020B0604020202020204" pitchFamily="34" charset="0"/>
                <a:cs typeface="Arial" panose="020B0604020202020204" pitchFamily="34" charset="0"/>
              </a:rPr>
              <a:t>10</a:t>
            </a:r>
          </a:p>
        </p:txBody>
      </p:sp>
      <p:sp>
        <p:nvSpPr>
          <p:cNvPr id="8" name="Retângulo 7">
            <a:extLst>
              <a:ext uri="{FF2B5EF4-FFF2-40B4-BE49-F238E27FC236}">
                <a16:creationId xmlns:a16="http://schemas.microsoft.com/office/drawing/2014/main" id="{D59F919C-DBA6-4EB2-AEF3-474276DC37B9}"/>
              </a:ext>
            </a:extLst>
          </p:cNvPr>
          <p:cNvSpPr/>
          <p:nvPr/>
        </p:nvSpPr>
        <p:spPr>
          <a:xfrm>
            <a:off x="32860" y="109158"/>
            <a:ext cx="6792280" cy="374590"/>
          </a:xfrm>
          <a:prstGeom prst="rect">
            <a:avLst/>
          </a:prstGeom>
          <a:solidFill>
            <a:schemeClr val="bg1">
              <a:lumMod val="85000"/>
            </a:schemeClr>
          </a:solidFill>
        </p:spPr>
        <p:txBody>
          <a:bodyPr wrap="square" rtlCol="0" anchor="ctr">
            <a:spAutoFit/>
          </a:bodyPr>
          <a:lstStyle/>
          <a:p>
            <a:pPr algn="ctr"/>
            <a:r>
              <a:rPr lang="pt-BR" sz="1834" b="1" dirty="0">
                <a:latin typeface="Arial" panose="020B0604020202020204" pitchFamily="34" charset="0"/>
                <a:cs typeface="Arial" panose="020B0604020202020204" pitchFamily="34" charset="0"/>
              </a:rPr>
              <a:t>TERMO DE GARANTIA</a:t>
            </a:r>
          </a:p>
        </p:txBody>
      </p:sp>
      <p:sp>
        <p:nvSpPr>
          <p:cNvPr id="10" name="CaixaDeTexto 9">
            <a:extLst>
              <a:ext uri="{FF2B5EF4-FFF2-40B4-BE49-F238E27FC236}">
                <a16:creationId xmlns:a16="http://schemas.microsoft.com/office/drawing/2014/main" id="{04E06F2E-75BB-43AB-95F7-94712243D490}"/>
              </a:ext>
            </a:extLst>
          </p:cNvPr>
          <p:cNvSpPr txBox="1"/>
          <p:nvPr/>
        </p:nvSpPr>
        <p:spPr>
          <a:xfrm>
            <a:off x="32856" y="501456"/>
            <a:ext cx="6792280" cy="6780318"/>
          </a:xfrm>
          <a:prstGeom prst="rect">
            <a:avLst/>
          </a:prstGeom>
          <a:noFill/>
        </p:spPr>
        <p:txBody>
          <a:bodyPr wrap="square" rtlCol="0">
            <a:spAutoFit/>
          </a:bodyPr>
          <a:lstStyle/>
          <a:p>
            <a:pPr algn="just"/>
            <a:r>
              <a:rPr lang="pt-BR" sz="1060" dirty="0">
                <a:latin typeface="Arial" panose="020B0604020202020204" pitchFamily="34" charset="0"/>
                <a:cs typeface="Arial" panose="020B0604020202020204" pitchFamily="34" charset="0"/>
              </a:rPr>
              <a:t>Os produtos Só Aço são garantidos pela Só Aço, na forma estabelecida:</a:t>
            </a:r>
          </a:p>
          <a:p>
            <a:pPr algn="just"/>
            <a:endParaRPr lang="pt-BR" sz="1060" dirty="0">
              <a:latin typeface="Arial" panose="020B0604020202020204" pitchFamily="34" charset="0"/>
              <a:cs typeface="Arial" panose="020B0604020202020204" pitchFamily="34" charset="0"/>
            </a:endParaRPr>
          </a:p>
          <a:p>
            <a:pPr marL="176213" indent="-176213" algn="just">
              <a:buAutoNum type="arabicPeriod"/>
            </a:pPr>
            <a:r>
              <a:rPr lang="pt-BR" sz="1060" b="1" i="1" dirty="0">
                <a:latin typeface="Arial" panose="020B0604020202020204" pitchFamily="34" charset="0"/>
                <a:cs typeface="Arial" panose="020B0604020202020204" pitchFamily="34" charset="0"/>
              </a:rPr>
              <a:t>Condições gerais de garantia:</a:t>
            </a:r>
          </a:p>
          <a:p>
            <a:pPr marL="176213" indent="-176213" algn="just">
              <a:buAutoNum type="alphaLcParenR"/>
            </a:pPr>
            <a:r>
              <a:rPr lang="pt-BR" sz="106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176213" indent="-176213" algn="just">
              <a:buAutoNum type="alphaLcParenR"/>
            </a:pPr>
            <a:r>
              <a:rPr lang="pt-BR" sz="106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176213" indent="-176213" algn="just">
              <a:buAutoNum type="alphaLcParenR"/>
            </a:pPr>
            <a:r>
              <a:rPr lang="pt-BR" sz="106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176213" indent="-176213" algn="just">
              <a:buAutoNum type="alphaLcParenR"/>
            </a:pPr>
            <a:r>
              <a:rPr lang="pt-BR" sz="106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176213" indent="-176213" algn="just">
              <a:buAutoNum type="alphaLcParenR"/>
            </a:pPr>
            <a:r>
              <a:rPr lang="pt-BR" sz="106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060" b="1" dirty="0">
                <a:latin typeface="Arial" panose="020B0604020202020204" pitchFamily="34" charset="0"/>
                <a:cs typeface="Arial" panose="020B0604020202020204" pitchFamily="34" charset="0"/>
              </a:rPr>
              <a:t>Observação:</a:t>
            </a:r>
            <a:r>
              <a:rPr lang="pt-BR" sz="106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1060" dirty="0">
              <a:latin typeface="Arial" panose="020B0604020202020204" pitchFamily="34" charset="0"/>
              <a:cs typeface="Arial" panose="020B0604020202020204" pitchFamily="34" charset="0"/>
            </a:endParaRPr>
          </a:p>
          <a:p>
            <a:pPr algn="just"/>
            <a:r>
              <a:rPr lang="pt-BR" sz="1060" b="1" i="1" dirty="0">
                <a:latin typeface="Arial" panose="020B0604020202020204" pitchFamily="34" charset="0"/>
                <a:cs typeface="Arial" panose="020B0604020202020204" pitchFamily="34" charset="0"/>
              </a:rPr>
              <a:t>2. Serviços de Garantia</a:t>
            </a:r>
          </a:p>
          <a:p>
            <a:pPr algn="just"/>
            <a:r>
              <a:rPr lang="pt-BR" sz="106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06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060" b="1" dirty="0">
              <a:latin typeface="Arial" panose="020B0604020202020204" pitchFamily="34" charset="0"/>
              <a:cs typeface="Arial" panose="020B0604020202020204" pitchFamily="34" charset="0"/>
            </a:endParaRPr>
          </a:p>
          <a:p>
            <a:pPr algn="just"/>
            <a:r>
              <a:rPr lang="pt-BR" sz="1060" b="1" dirty="0">
                <a:latin typeface="Arial" panose="020B0604020202020204" pitchFamily="34" charset="0"/>
                <a:cs typeface="Arial" panose="020B0604020202020204" pitchFamily="34" charset="0"/>
              </a:rPr>
              <a:t>3. Extinção da garantia</a:t>
            </a:r>
          </a:p>
          <a:p>
            <a:pPr algn="just"/>
            <a:r>
              <a:rPr lang="pt-BR" sz="106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1060" dirty="0">
                <a:latin typeface="Arial" panose="020B0604020202020204" pitchFamily="34" charset="0"/>
                <a:cs typeface="Arial" panose="020B0604020202020204" pitchFamily="34" charset="0"/>
              </a:rPr>
              <a:t>ATENÇÃO</a:t>
            </a:r>
          </a:p>
          <a:p>
            <a:pPr marL="176213" indent="-176213" algn="just">
              <a:buAutoNum type="alphaLcParenR"/>
            </a:pPr>
            <a:r>
              <a:rPr lang="pt-BR" sz="106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176213" indent="-176213" algn="just">
              <a:buAutoNum type="alphaLcParenR"/>
            </a:pPr>
            <a:r>
              <a:rPr lang="pt-BR" sz="106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176213" indent="-176213" algn="just">
              <a:buAutoNum type="alphaLcParenR"/>
            </a:pPr>
            <a:r>
              <a:rPr lang="pt-BR" sz="106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11" name="Tabela 10">
            <a:extLst>
              <a:ext uri="{FF2B5EF4-FFF2-40B4-BE49-F238E27FC236}">
                <a16:creationId xmlns:a16="http://schemas.microsoft.com/office/drawing/2014/main" id="{2EEB7DED-4CB5-4459-9BF7-2BBC86CC6CAF}"/>
              </a:ext>
            </a:extLst>
          </p:cNvPr>
          <p:cNvGraphicFramePr>
            <a:graphicFrameLocks noGrp="1"/>
          </p:cNvGraphicFramePr>
          <p:nvPr>
            <p:extLst>
              <p:ext uri="{D42A27DB-BD31-4B8C-83A1-F6EECF244321}">
                <p14:modId xmlns:p14="http://schemas.microsoft.com/office/powerpoint/2010/main" val="684941782"/>
              </p:ext>
            </p:extLst>
          </p:nvPr>
        </p:nvGraphicFramePr>
        <p:xfrm>
          <a:off x="57215" y="7386839"/>
          <a:ext cx="6743562" cy="1742625"/>
        </p:xfrm>
        <a:graphic>
          <a:graphicData uri="http://schemas.openxmlformats.org/drawingml/2006/table">
            <a:tbl>
              <a:tblPr firstRow="1" bandRow="1">
                <a:tableStyleId>{2D5ABB26-0587-4C30-8999-92F81FD0307C}</a:tableStyleId>
              </a:tblPr>
              <a:tblGrid>
                <a:gridCol w="1123927">
                  <a:extLst>
                    <a:ext uri="{9D8B030D-6E8A-4147-A177-3AD203B41FA5}">
                      <a16:colId xmlns:a16="http://schemas.microsoft.com/office/drawing/2014/main" val="1713468828"/>
                    </a:ext>
                  </a:extLst>
                </a:gridCol>
                <a:gridCol w="1123927">
                  <a:extLst>
                    <a:ext uri="{9D8B030D-6E8A-4147-A177-3AD203B41FA5}">
                      <a16:colId xmlns:a16="http://schemas.microsoft.com/office/drawing/2014/main" val="2269615378"/>
                    </a:ext>
                  </a:extLst>
                </a:gridCol>
                <a:gridCol w="1123927">
                  <a:extLst>
                    <a:ext uri="{9D8B030D-6E8A-4147-A177-3AD203B41FA5}">
                      <a16:colId xmlns:a16="http://schemas.microsoft.com/office/drawing/2014/main" val="3517463195"/>
                    </a:ext>
                  </a:extLst>
                </a:gridCol>
                <a:gridCol w="1123927">
                  <a:extLst>
                    <a:ext uri="{9D8B030D-6E8A-4147-A177-3AD203B41FA5}">
                      <a16:colId xmlns:a16="http://schemas.microsoft.com/office/drawing/2014/main" val="3012284916"/>
                    </a:ext>
                  </a:extLst>
                </a:gridCol>
                <a:gridCol w="1123927">
                  <a:extLst>
                    <a:ext uri="{9D8B030D-6E8A-4147-A177-3AD203B41FA5}">
                      <a16:colId xmlns:a16="http://schemas.microsoft.com/office/drawing/2014/main" val="3103919278"/>
                    </a:ext>
                  </a:extLst>
                </a:gridCol>
                <a:gridCol w="1123927">
                  <a:extLst>
                    <a:ext uri="{9D8B030D-6E8A-4147-A177-3AD203B41FA5}">
                      <a16:colId xmlns:a16="http://schemas.microsoft.com/office/drawing/2014/main" val="2449578342"/>
                    </a:ext>
                  </a:extLst>
                </a:gridCol>
              </a:tblGrid>
              <a:tr h="415420">
                <a:tc gridSpan="6">
                  <a:txBody>
                    <a:bodyPr/>
                    <a:lstStyle/>
                    <a:p>
                      <a:pPr algn="ctr"/>
                      <a:r>
                        <a:rPr lang="pt-BR" sz="1600" b="1" dirty="0">
                          <a:latin typeface="Arial" panose="020B0604020202020204" pitchFamily="34" charset="0"/>
                          <a:cs typeface="Arial" panose="020B0604020202020204" pitchFamily="34" charset="0"/>
                        </a:rPr>
                        <a:t>Dados necessários para abertura do atendimento</a:t>
                      </a:r>
                      <a:endParaRPr lang="pt-BR" sz="1800" b="1"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496365">
                <a:tc>
                  <a:txBody>
                    <a:bodyPr/>
                    <a:lstStyle/>
                    <a:p>
                      <a:r>
                        <a:rPr lang="pt-BR" sz="1100" dirty="0">
                          <a:latin typeface="Arial" panose="020B0604020202020204" pitchFamily="34" charset="0"/>
                          <a:cs typeface="Arial" panose="020B0604020202020204" pitchFamily="34" charset="0"/>
                        </a:rPr>
                        <a:t>Data de Compra</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Cliente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Estado</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415420">
                <a:tc>
                  <a:txBody>
                    <a:bodyPr/>
                    <a:lstStyle/>
                    <a:p>
                      <a:r>
                        <a:rPr lang="pt-BR" sz="1100" dirty="0">
                          <a:latin typeface="Arial" panose="020B0604020202020204" pitchFamily="34" charset="0"/>
                          <a:cs typeface="Arial" panose="020B0604020202020204" pitchFamily="34" charset="0"/>
                        </a:rPr>
                        <a:t>Nota Fiscal</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100" dirty="0">
                          <a:latin typeface="Arial" panose="020B0604020202020204" pitchFamily="34" charset="0"/>
                          <a:cs typeface="Arial" panose="020B0604020202020204" pitchFamily="34" charset="0"/>
                        </a:rPr>
                        <a:t>Telefone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rial" panose="020B0604020202020204" pitchFamily="34" charset="0"/>
                          <a:cs typeface="Arial" panose="020B0604020202020204" pitchFamily="34" charset="0"/>
                        </a:rPr>
                        <a:t>Endereço</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415420">
                <a:tc>
                  <a:txBody>
                    <a:bodyPr/>
                    <a:lstStyle/>
                    <a:p>
                      <a:r>
                        <a:rPr lang="pt-BR" sz="1100" dirty="0">
                          <a:latin typeface="Arial" panose="020B0604020202020204" pitchFamily="34" charset="0"/>
                          <a:cs typeface="Arial" panose="020B0604020202020204" pitchFamily="34" charset="0"/>
                        </a:rPr>
                        <a:t>Revendedor</a:t>
                      </a:r>
                    </a:p>
                  </a:txBody>
                  <a:tcPr marL="156943" marR="156943" marT="78472" marB="78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Cidade</a:t>
                      </a:r>
                    </a:p>
                  </a:txBody>
                  <a:tcPr marL="156943" marR="156943" marT="78472" marB="784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100" dirty="0">
                          <a:latin typeface="Arial" panose="020B0604020202020204" pitchFamily="34" charset="0"/>
                          <a:cs typeface="Arial" panose="020B0604020202020204" pitchFamily="34" charset="0"/>
                        </a:rPr>
                        <a:t>Série</a:t>
                      </a: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100" dirty="0">
                        <a:latin typeface="Arial" panose="020B0604020202020204" pitchFamily="34" charset="0"/>
                        <a:cs typeface="Arial" panose="020B0604020202020204" pitchFamily="34" charset="0"/>
                      </a:endParaRPr>
                    </a:p>
                  </a:txBody>
                  <a:tcPr marL="156943" marR="156943" marT="78472" marB="784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745526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to 3">
            <a:extLst>
              <a:ext uri="{FF2B5EF4-FFF2-40B4-BE49-F238E27FC236}">
                <a16:creationId xmlns:a16="http://schemas.microsoft.com/office/drawing/2014/main" id="{91A7B154-0A0F-4351-A5AA-3B8916893062}"/>
              </a:ext>
            </a:extLst>
          </p:cNvPr>
          <p:cNvCxnSpPr>
            <a:cxnSpLocks/>
          </p:cNvCxnSpPr>
          <p:nvPr/>
        </p:nvCxnSpPr>
        <p:spPr>
          <a:xfrm>
            <a:off x="86786" y="56456"/>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 name="Conector reto 4">
            <a:extLst>
              <a:ext uri="{FF2B5EF4-FFF2-40B4-BE49-F238E27FC236}">
                <a16:creationId xmlns:a16="http://schemas.microsoft.com/office/drawing/2014/main" id="{2361F0DF-E976-428F-B823-EF3D93BD7402}"/>
              </a:ext>
            </a:extLst>
          </p:cNvPr>
          <p:cNvCxnSpPr>
            <a:cxnSpLocks/>
          </p:cNvCxnSpPr>
          <p:nvPr/>
        </p:nvCxnSpPr>
        <p:spPr>
          <a:xfrm>
            <a:off x="86786" y="489189"/>
            <a:ext cx="672374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Imagem 5">
            <a:extLst>
              <a:ext uri="{FF2B5EF4-FFF2-40B4-BE49-F238E27FC236}">
                <a16:creationId xmlns:a16="http://schemas.microsoft.com/office/drawing/2014/main" id="{B040655D-488A-460D-A96E-060939B29F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96" y="9508153"/>
            <a:ext cx="915445" cy="274332"/>
          </a:xfrm>
          <a:prstGeom prst="rect">
            <a:avLst/>
          </a:prstGeom>
        </p:spPr>
      </p:pic>
      <p:pic>
        <p:nvPicPr>
          <p:cNvPr id="7" name="Imagem 6">
            <a:extLst>
              <a:ext uri="{FF2B5EF4-FFF2-40B4-BE49-F238E27FC236}">
                <a16:creationId xmlns:a16="http://schemas.microsoft.com/office/drawing/2014/main" id="{EE9DD695-CA03-4939-A9BC-3154B1730E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6334" y="9508153"/>
            <a:ext cx="915445" cy="274332"/>
          </a:xfrm>
          <a:prstGeom prst="rect">
            <a:avLst/>
          </a:prstGeom>
        </p:spPr>
      </p:pic>
      <p:pic>
        <p:nvPicPr>
          <p:cNvPr id="8" name="Imagem 7">
            <a:extLst>
              <a:ext uri="{FF2B5EF4-FFF2-40B4-BE49-F238E27FC236}">
                <a16:creationId xmlns:a16="http://schemas.microsoft.com/office/drawing/2014/main" id="{F58402C3-C43C-479F-A24B-7FD4997CE7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94873" y="9508153"/>
            <a:ext cx="915445" cy="274332"/>
          </a:xfrm>
          <a:prstGeom prst="rect">
            <a:avLst/>
          </a:prstGeom>
        </p:spPr>
      </p:pic>
      <p:pic>
        <p:nvPicPr>
          <p:cNvPr id="9" name="Imagem 8">
            <a:extLst>
              <a:ext uri="{FF2B5EF4-FFF2-40B4-BE49-F238E27FC236}">
                <a16:creationId xmlns:a16="http://schemas.microsoft.com/office/drawing/2014/main" id="{3DC516CB-66A7-4A1B-A11C-78971E17FB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3412" y="9508153"/>
            <a:ext cx="915445" cy="274332"/>
          </a:xfrm>
          <a:prstGeom prst="rect">
            <a:avLst/>
          </a:prstGeom>
        </p:spPr>
      </p:pic>
      <p:pic>
        <p:nvPicPr>
          <p:cNvPr id="10" name="Imagem 9">
            <a:extLst>
              <a:ext uri="{FF2B5EF4-FFF2-40B4-BE49-F238E27FC236}">
                <a16:creationId xmlns:a16="http://schemas.microsoft.com/office/drawing/2014/main" id="{CCF5D331-B6F4-4151-B3E3-815AE4802C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1950" y="9508153"/>
            <a:ext cx="915445" cy="274332"/>
          </a:xfrm>
          <a:prstGeom prst="rect">
            <a:avLst/>
          </a:prstGeom>
        </p:spPr>
      </p:pic>
      <p:pic>
        <p:nvPicPr>
          <p:cNvPr id="11" name="Imagem 10">
            <a:extLst>
              <a:ext uri="{FF2B5EF4-FFF2-40B4-BE49-F238E27FC236}">
                <a16:creationId xmlns:a16="http://schemas.microsoft.com/office/drawing/2014/main" id="{5B51C155-8F75-4F23-BEF9-CFB44E735E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0489" y="9508153"/>
            <a:ext cx="915445" cy="274332"/>
          </a:xfrm>
          <a:prstGeom prst="rect">
            <a:avLst/>
          </a:prstGeom>
        </p:spPr>
      </p:pic>
      <p:cxnSp>
        <p:nvCxnSpPr>
          <p:cNvPr id="12" name="Conector reto 11">
            <a:extLst>
              <a:ext uri="{FF2B5EF4-FFF2-40B4-BE49-F238E27FC236}">
                <a16:creationId xmlns:a16="http://schemas.microsoft.com/office/drawing/2014/main" id="{038AF0CB-CC6A-430C-A2E2-951C540FE00E}"/>
              </a:ext>
            </a:extLst>
          </p:cNvPr>
          <p:cNvCxnSpPr>
            <a:cxnSpLocks/>
          </p:cNvCxnSpPr>
          <p:nvPr/>
        </p:nvCxnSpPr>
        <p:spPr>
          <a:xfrm>
            <a:off x="85896" y="9849544"/>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Conector reto 12">
            <a:extLst>
              <a:ext uri="{FF2B5EF4-FFF2-40B4-BE49-F238E27FC236}">
                <a16:creationId xmlns:a16="http://schemas.microsoft.com/office/drawing/2014/main" id="{96F6C41A-6AB2-400B-B2CC-AD923F3D1B36}"/>
              </a:ext>
            </a:extLst>
          </p:cNvPr>
          <p:cNvCxnSpPr>
            <a:cxnSpLocks/>
          </p:cNvCxnSpPr>
          <p:nvPr/>
        </p:nvCxnSpPr>
        <p:spPr>
          <a:xfrm>
            <a:off x="85896" y="9478743"/>
            <a:ext cx="672552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3E37197A-2A4E-495A-B680-BD97AC2A8B01}"/>
              </a:ext>
            </a:extLst>
          </p:cNvPr>
          <p:cNvSpPr txBox="1"/>
          <p:nvPr/>
        </p:nvSpPr>
        <p:spPr>
          <a:xfrm>
            <a:off x="280573" y="113914"/>
            <a:ext cx="6226281" cy="374590"/>
          </a:xfrm>
          <a:prstGeom prst="rect">
            <a:avLst/>
          </a:prstGeom>
          <a:noFill/>
        </p:spPr>
        <p:txBody>
          <a:bodyPr wrap="square" rtlCol="0">
            <a:spAutoFit/>
          </a:bodyPr>
          <a:lstStyle>
            <a:defPPr>
              <a:defRPr lang="pt-BR"/>
            </a:defPPr>
            <a:lvl1pPr algn="ctr">
              <a:defRPr sz="2000">
                <a:latin typeface="Bookman Old Style" panose="02050604050505020204" pitchFamily="18" charset="0"/>
              </a:defRPr>
            </a:lvl1pPr>
          </a:lstStyle>
          <a:p>
            <a:pPr defTabSz="1366508">
              <a:defRPr/>
            </a:pPr>
            <a:r>
              <a:rPr lang="pt-BR" sz="1834" b="1" dirty="0">
                <a:ln w="0"/>
                <a:effectLst>
                  <a:outerShdw blurRad="38100" dist="19050" dir="2700000" algn="tl" rotWithShape="0">
                    <a:schemeClr val="dk1">
                      <a:alpha val="40000"/>
                    </a:schemeClr>
                  </a:outerShdw>
                </a:effectLst>
                <a:latin typeface="Monda" pitchFamily="2" charset="0"/>
              </a:rPr>
              <a:t>FORNO INTELIGENTE TURBO A GÁS</a:t>
            </a:r>
          </a:p>
        </p:txBody>
      </p:sp>
      <p:pic>
        <p:nvPicPr>
          <p:cNvPr id="15" name="Imagem 14">
            <a:extLst>
              <a:ext uri="{FF2B5EF4-FFF2-40B4-BE49-F238E27FC236}">
                <a16:creationId xmlns:a16="http://schemas.microsoft.com/office/drawing/2014/main" id="{3EEF02FA-BB86-4C9C-A2D8-5C53AFD860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4" y="560512"/>
            <a:ext cx="1559003" cy="365525"/>
          </a:xfrm>
          <a:prstGeom prst="rect">
            <a:avLst/>
          </a:prstGeom>
        </p:spPr>
      </p:pic>
      <p:pic>
        <p:nvPicPr>
          <p:cNvPr id="16" name="Imagem 15">
            <a:extLst>
              <a:ext uri="{FF2B5EF4-FFF2-40B4-BE49-F238E27FC236}">
                <a16:creationId xmlns:a16="http://schemas.microsoft.com/office/drawing/2014/main" id="{9E489543-ACD1-4015-908C-1F3CDFC07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260" y="560512"/>
            <a:ext cx="1559003" cy="365525"/>
          </a:xfrm>
          <a:prstGeom prst="rect">
            <a:avLst/>
          </a:prstGeom>
        </p:spPr>
      </p:pic>
      <p:pic>
        <p:nvPicPr>
          <p:cNvPr id="17" name="Imagem 16">
            <a:extLst>
              <a:ext uri="{FF2B5EF4-FFF2-40B4-BE49-F238E27FC236}">
                <a16:creationId xmlns:a16="http://schemas.microsoft.com/office/drawing/2014/main" id="{522EACDC-6FFB-4E1B-B243-02F9055A06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7567" y="560512"/>
            <a:ext cx="1559003" cy="365525"/>
          </a:xfrm>
          <a:prstGeom prst="rect">
            <a:avLst/>
          </a:prstGeom>
        </p:spPr>
      </p:pic>
      <p:pic>
        <p:nvPicPr>
          <p:cNvPr id="18" name="Imagem 17">
            <a:extLst>
              <a:ext uri="{FF2B5EF4-FFF2-40B4-BE49-F238E27FC236}">
                <a16:creationId xmlns:a16="http://schemas.microsoft.com/office/drawing/2014/main" id="{0853B6A7-F7FE-48E7-9FA1-107911ABFD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0874" y="560512"/>
            <a:ext cx="1559003" cy="365525"/>
          </a:xfrm>
          <a:prstGeom prst="rect">
            <a:avLst/>
          </a:prstGeom>
        </p:spPr>
      </p:pic>
      <p:pic>
        <p:nvPicPr>
          <p:cNvPr id="19" name="Imagem 18">
            <a:extLst>
              <a:ext uri="{FF2B5EF4-FFF2-40B4-BE49-F238E27FC236}">
                <a16:creationId xmlns:a16="http://schemas.microsoft.com/office/drawing/2014/main" id="{90367FA2-E5F2-4940-A458-ECDBC252FE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07" y="947941"/>
            <a:ext cx="1559003" cy="365525"/>
          </a:xfrm>
          <a:prstGeom prst="rect">
            <a:avLst/>
          </a:prstGeom>
        </p:spPr>
      </p:pic>
      <p:pic>
        <p:nvPicPr>
          <p:cNvPr id="20" name="Imagem 19">
            <a:extLst>
              <a:ext uri="{FF2B5EF4-FFF2-40B4-BE49-F238E27FC236}">
                <a16:creationId xmlns:a16="http://schemas.microsoft.com/office/drawing/2014/main" id="{D3EFBA9E-2B9E-4E0C-B55D-BF04013E42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3313" y="947941"/>
            <a:ext cx="1559003" cy="365525"/>
          </a:xfrm>
          <a:prstGeom prst="rect">
            <a:avLst/>
          </a:prstGeom>
        </p:spPr>
      </p:pic>
      <p:pic>
        <p:nvPicPr>
          <p:cNvPr id="21" name="Imagem 20">
            <a:extLst>
              <a:ext uri="{FF2B5EF4-FFF2-40B4-BE49-F238E27FC236}">
                <a16:creationId xmlns:a16="http://schemas.microsoft.com/office/drawing/2014/main" id="{52A5CD2B-D84F-47CB-83CA-F158B490D0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6620" y="947941"/>
            <a:ext cx="1559003" cy="365525"/>
          </a:xfrm>
          <a:prstGeom prst="rect">
            <a:avLst/>
          </a:prstGeom>
        </p:spPr>
      </p:pic>
      <p:pic>
        <p:nvPicPr>
          <p:cNvPr id="22" name="Imagem 21">
            <a:extLst>
              <a:ext uri="{FF2B5EF4-FFF2-40B4-BE49-F238E27FC236}">
                <a16:creationId xmlns:a16="http://schemas.microsoft.com/office/drawing/2014/main" id="{557E26BB-D3E3-42CA-9235-1EA24AF308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9927" y="947941"/>
            <a:ext cx="1559003" cy="365525"/>
          </a:xfrm>
          <a:prstGeom prst="rect">
            <a:avLst/>
          </a:prstGeom>
        </p:spPr>
      </p:pic>
      <p:pic>
        <p:nvPicPr>
          <p:cNvPr id="23" name="Imagem 22">
            <a:extLst>
              <a:ext uri="{FF2B5EF4-FFF2-40B4-BE49-F238E27FC236}">
                <a16:creationId xmlns:a16="http://schemas.microsoft.com/office/drawing/2014/main" id="{06558AB2-15AF-43B8-8AE1-317EAB337E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39" y="1376398"/>
            <a:ext cx="1559003" cy="365525"/>
          </a:xfrm>
          <a:prstGeom prst="rect">
            <a:avLst/>
          </a:prstGeom>
        </p:spPr>
      </p:pic>
      <p:pic>
        <p:nvPicPr>
          <p:cNvPr id="24" name="Imagem 23">
            <a:extLst>
              <a:ext uri="{FF2B5EF4-FFF2-40B4-BE49-F238E27FC236}">
                <a16:creationId xmlns:a16="http://schemas.microsoft.com/office/drawing/2014/main" id="{072BD65A-DE6D-4480-930F-5831467B23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3545" y="1376398"/>
            <a:ext cx="1559003" cy="365525"/>
          </a:xfrm>
          <a:prstGeom prst="rect">
            <a:avLst/>
          </a:prstGeom>
        </p:spPr>
      </p:pic>
      <p:pic>
        <p:nvPicPr>
          <p:cNvPr id="25" name="Imagem 24">
            <a:extLst>
              <a:ext uri="{FF2B5EF4-FFF2-40B4-BE49-F238E27FC236}">
                <a16:creationId xmlns:a16="http://schemas.microsoft.com/office/drawing/2014/main" id="{819057CA-C372-4F35-876E-B13FED61AF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6851" y="1376398"/>
            <a:ext cx="1559003" cy="365525"/>
          </a:xfrm>
          <a:prstGeom prst="rect">
            <a:avLst/>
          </a:prstGeom>
        </p:spPr>
      </p:pic>
      <p:pic>
        <p:nvPicPr>
          <p:cNvPr id="26" name="Imagem 25">
            <a:extLst>
              <a:ext uri="{FF2B5EF4-FFF2-40B4-BE49-F238E27FC236}">
                <a16:creationId xmlns:a16="http://schemas.microsoft.com/office/drawing/2014/main" id="{06CE8CD4-A993-4BD2-8779-9AF3A2E1F5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0159" y="1376398"/>
            <a:ext cx="1559003" cy="365525"/>
          </a:xfrm>
          <a:prstGeom prst="rect">
            <a:avLst/>
          </a:prstGeom>
        </p:spPr>
      </p:pic>
      <p:pic>
        <p:nvPicPr>
          <p:cNvPr id="27" name="Imagem 26">
            <a:extLst>
              <a:ext uri="{FF2B5EF4-FFF2-40B4-BE49-F238E27FC236}">
                <a16:creationId xmlns:a16="http://schemas.microsoft.com/office/drawing/2014/main" id="{3F92CD3E-12B7-4C53-8101-96E3D80064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33" y="1798497"/>
            <a:ext cx="1559003" cy="365525"/>
          </a:xfrm>
          <a:prstGeom prst="rect">
            <a:avLst/>
          </a:prstGeom>
        </p:spPr>
      </p:pic>
      <p:pic>
        <p:nvPicPr>
          <p:cNvPr id="28" name="Imagem 27">
            <a:extLst>
              <a:ext uri="{FF2B5EF4-FFF2-40B4-BE49-F238E27FC236}">
                <a16:creationId xmlns:a16="http://schemas.microsoft.com/office/drawing/2014/main" id="{6A50CE9E-7B10-47ED-99F7-49E7150D53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7840" y="1798497"/>
            <a:ext cx="1559003" cy="365525"/>
          </a:xfrm>
          <a:prstGeom prst="rect">
            <a:avLst/>
          </a:prstGeom>
        </p:spPr>
      </p:pic>
      <p:pic>
        <p:nvPicPr>
          <p:cNvPr id="29" name="Imagem 28">
            <a:extLst>
              <a:ext uri="{FF2B5EF4-FFF2-40B4-BE49-F238E27FC236}">
                <a16:creationId xmlns:a16="http://schemas.microsoft.com/office/drawing/2014/main" id="{331C798A-9D27-44C6-B684-87205EE581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1146" y="1798497"/>
            <a:ext cx="1559003" cy="365525"/>
          </a:xfrm>
          <a:prstGeom prst="rect">
            <a:avLst/>
          </a:prstGeom>
        </p:spPr>
      </p:pic>
      <p:pic>
        <p:nvPicPr>
          <p:cNvPr id="30" name="Imagem 29">
            <a:extLst>
              <a:ext uri="{FF2B5EF4-FFF2-40B4-BE49-F238E27FC236}">
                <a16:creationId xmlns:a16="http://schemas.microsoft.com/office/drawing/2014/main" id="{5435646F-8A41-471A-8364-5D211E03E7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4454" y="1798497"/>
            <a:ext cx="1559003" cy="365525"/>
          </a:xfrm>
          <a:prstGeom prst="rect">
            <a:avLst/>
          </a:prstGeom>
        </p:spPr>
      </p:pic>
      <p:pic>
        <p:nvPicPr>
          <p:cNvPr id="31" name="Imagem 30">
            <a:extLst>
              <a:ext uri="{FF2B5EF4-FFF2-40B4-BE49-F238E27FC236}">
                <a16:creationId xmlns:a16="http://schemas.microsoft.com/office/drawing/2014/main" id="{A997F1EB-2F9D-403C-AF62-58FA1FF1E2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86" y="2226955"/>
            <a:ext cx="1559003" cy="365525"/>
          </a:xfrm>
          <a:prstGeom prst="rect">
            <a:avLst/>
          </a:prstGeom>
        </p:spPr>
      </p:pic>
      <p:pic>
        <p:nvPicPr>
          <p:cNvPr id="32" name="Imagem 31">
            <a:extLst>
              <a:ext uri="{FF2B5EF4-FFF2-40B4-BE49-F238E27FC236}">
                <a16:creationId xmlns:a16="http://schemas.microsoft.com/office/drawing/2014/main" id="{BC699CDE-09A2-453B-8D37-5C493ED128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6892" y="2226955"/>
            <a:ext cx="1559003" cy="365525"/>
          </a:xfrm>
          <a:prstGeom prst="rect">
            <a:avLst/>
          </a:prstGeom>
        </p:spPr>
      </p:pic>
      <p:pic>
        <p:nvPicPr>
          <p:cNvPr id="33" name="Imagem 32">
            <a:extLst>
              <a:ext uri="{FF2B5EF4-FFF2-40B4-BE49-F238E27FC236}">
                <a16:creationId xmlns:a16="http://schemas.microsoft.com/office/drawing/2014/main" id="{16C43270-E2D7-4AB4-A571-A89F5B43C3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0199" y="2226955"/>
            <a:ext cx="1559003" cy="365525"/>
          </a:xfrm>
          <a:prstGeom prst="rect">
            <a:avLst/>
          </a:prstGeom>
        </p:spPr>
      </p:pic>
      <p:pic>
        <p:nvPicPr>
          <p:cNvPr id="34" name="Imagem 33">
            <a:extLst>
              <a:ext uri="{FF2B5EF4-FFF2-40B4-BE49-F238E27FC236}">
                <a16:creationId xmlns:a16="http://schemas.microsoft.com/office/drawing/2014/main" id="{8D2EFDDD-06D0-477E-AA5C-24D0D6054F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3506" y="2226955"/>
            <a:ext cx="1559003" cy="365525"/>
          </a:xfrm>
          <a:prstGeom prst="rect">
            <a:avLst/>
          </a:prstGeom>
        </p:spPr>
      </p:pic>
      <p:pic>
        <p:nvPicPr>
          <p:cNvPr id="35" name="Imagem 34">
            <a:extLst>
              <a:ext uri="{FF2B5EF4-FFF2-40B4-BE49-F238E27FC236}">
                <a16:creationId xmlns:a16="http://schemas.microsoft.com/office/drawing/2014/main" id="{22AF0834-4AC4-4302-8863-74C6A27B3D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18" y="2655412"/>
            <a:ext cx="1559003" cy="365525"/>
          </a:xfrm>
          <a:prstGeom prst="rect">
            <a:avLst/>
          </a:prstGeom>
        </p:spPr>
      </p:pic>
      <p:pic>
        <p:nvPicPr>
          <p:cNvPr id="36" name="Imagem 35">
            <a:extLst>
              <a:ext uri="{FF2B5EF4-FFF2-40B4-BE49-F238E27FC236}">
                <a16:creationId xmlns:a16="http://schemas.microsoft.com/office/drawing/2014/main" id="{DAE9EEEB-D94F-4A30-A146-69952EA8D6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7124" y="2655412"/>
            <a:ext cx="1559003" cy="365525"/>
          </a:xfrm>
          <a:prstGeom prst="rect">
            <a:avLst/>
          </a:prstGeom>
        </p:spPr>
      </p:pic>
      <p:pic>
        <p:nvPicPr>
          <p:cNvPr id="37" name="Imagem 36">
            <a:extLst>
              <a:ext uri="{FF2B5EF4-FFF2-40B4-BE49-F238E27FC236}">
                <a16:creationId xmlns:a16="http://schemas.microsoft.com/office/drawing/2014/main" id="{AB616972-745B-4655-B14F-E934303F8C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431" y="2655412"/>
            <a:ext cx="1559003" cy="365525"/>
          </a:xfrm>
          <a:prstGeom prst="rect">
            <a:avLst/>
          </a:prstGeom>
        </p:spPr>
      </p:pic>
      <p:pic>
        <p:nvPicPr>
          <p:cNvPr id="38" name="Imagem 37">
            <a:extLst>
              <a:ext uri="{FF2B5EF4-FFF2-40B4-BE49-F238E27FC236}">
                <a16:creationId xmlns:a16="http://schemas.microsoft.com/office/drawing/2014/main" id="{5FA8D8A0-F7E0-4F2F-B1F8-8F35AF374D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3738" y="2655412"/>
            <a:ext cx="1559003" cy="365525"/>
          </a:xfrm>
          <a:prstGeom prst="rect">
            <a:avLst/>
          </a:prstGeom>
        </p:spPr>
      </p:pic>
      <p:pic>
        <p:nvPicPr>
          <p:cNvPr id="39" name="Imagem 38">
            <a:extLst>
              <a:ext uri="{FF2B5EF4-FFF2-40B4-BE49-F238E27FC236}">
                <a16:creationId xmlns:a16="http://schemas.microsoft.com/office/drawing/2014/main" id="{1E49DC9E-76B7-4AEC-BC12-50AD077374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07" y="3079910"/>
            <a:ext cx="1559003" cy="365525"/>
          </a:xfrm>
          <a:prstGeom prst="rect">
            <a:avLst/>
          </a:prstGeom>
        </p:spPr>
      </p:pic>
      <p:pic>
        <p:nvPicPr>
          <p:cNvPr id="40" name="Imagem 39">
            <a:extLst>
              <a:ext uri="{FF2B5EF4-FFF2-40B4-BE49-F238E27FC236}">
                <a16:creationId xmlns:a16="http://schemas.microsoft.com/office/drawing/2014/main" id="{E76C59B4-23F6-4B8E-8173-66B822BAEF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3313" y="3079910"/>
            <a:ext cx="1559003" cy="365525"/>
          </a:xfrm>
          <a:prstGeom prst="rect">
            <a:avLst/>
          </a:prstGeom>
        </p:spPr>
      </p:pic>
      <p:pic>
        <p:nvPicPr>
          <p:cNvPr id="41" name="Imagem 40">
            <a:extLst>
              <a:ext uri="{FF2B5EF4-FFF2-40B4-BE49-F238E27FC236}">
                <a16:creationId xmlns:a16="http://schemas.microsoft.com/office/drawing/2014/main" id="{A7E75C2D-47D1-44E4-AEA1-DE0ED1D1DF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6620" y="3079910"/>
            <a:ext cx="1559003" cy="365525"/>
          </a:xfrm>
          <a:prstGeom prst="rect">
            <a:avLst/>
          </a:prstGeom>
        </p:spPr>
      </p:pic>
      <p:pic>
        <p:nvPicPr>
          <p:cNvPr id="42" name="Imagem 41">
            <a:extLst>
              <a:ext uri="{FF2B5EF4-FFF2-40B4-BE49-F238E27FC236}">
                <a16:creationId xmlns:a16="http://schemas.microsoft.com/office/drawing/2014/main" id="{D477DC77-2D2B-47A5-90EF-356DB729F1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9927" y="3079910"/>
            <a:ext cx="1559003" cy="365525"/>
          </a:xfrm>
          <a:prstGeom prst="rect">
            <a:avLst/>
          </a:prstGeom>
        </p:spPr>
      </p:pic>
      <p:pic>
        <p:nvPicPr>
          <p:cNvPr id="43" name="Imagem 42">
            <a:extLst>
              <a:ext uri="{FF2B5EF4-FFF2-40B4-BE49-F238E27FC236}">
                <a16:creationId xmlns:a16="http://schemas.microsoft.com/office/drawing/2014/main" id="{8FC5D8E5-79C8-46D0-AF74-C583217923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60" y="3508367"/>
            <a:ext cx="1559003" cy="365525"/>
          </a:xfrm>
          <a:prstGeom prst="rect">
            <a:avLst/>
          </a:prstGeom>
        </p:spPr>
      </p:pic>
      <p:pic>
        <p:nvPicPr>
          <p:cNvPr id="44" name="Imagem 43">
            <a:extLst>
              <a:ext uri="{FF2B5EF4-FFF2-40B4-BE49-F238E27FC236}">
                <a16:creationId xmlns:a16="http://schemas.microsoft.com/office/drawing/2014/main" id="{7A7F3925-A3BC-4F4C-B490-1DA172E25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366" y="3508367"/>
            <a:ext cx="1559003" cy="365525"/>
          </a:xfrm>
          <a:prstGeom prst="rect">
            <a:avLst/>
          </a:prstGeom>
        </p:spPr>
      </p:pic>
      <p:pic>
        <p:nvPicPr>
          <p:cNvPr id="45" name="Imagem 44">
            <a:extLst>
              <a:ext uri="{FF2B5EF4-FFF2-40B4-BE49-F238E27FC236}">
                <a16:creationId xmlns:a16="http://schemas.microsoft.com/office/drawing/2014/main" id="{7B164F12-462A-4597-99DF-AE02E7975E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5672" y="3508367"/>
            <a:ext cx="1559003" cy="365525"/>
          </a:xfrm>
          <a:prstGeom prst="rect">
            <a:avLst/>
          </a:prstGeom>
        </p:spPr>
      </p:pic>
      <p:pic>
        <p:nvPicPr>
          <p:cNvPr id="46" name="Imagem 45">
            <a:extLst>
              <a:ext uri="{FF2B5EF4-FFF2-40B4-BE49-F238E27FC236}">
                <a16:creationId xmlns:a16="http://schemas.microsoft.com/office/drawing/2014/main" id="{44E05728-2964-4A4A-81CE-DE2B78E03A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980" y="3508367"/>
            <a:ext cx="1559003" cy="365525"/>
          </a:xfrm>
          <a:prstGeom prst="rect">
            <a:avLst/>
          </a:prstGeom>
        </p:spPr>
      </p:pic>
      <p:pic>
        <p:nvPicPr>
          <p:cNvPr id="47" name="Imagem 46">
            <a:extLst>
              <a:ext uri="{FF2B5EF4-FFF2-40B4-BE49-F238E27FC236}">
                <a16:creationId xmlns:a16="http://schemas.microsoft.com/office/drawing/2014/main" id="{858E436B-47C6-41EF-B10E-10E5CED57C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91" y="3936825"/>
            <a:ext cx="1559003" cy="365525"/>
          </a:xfrm>
          <a:prstGeom prst="rect">
            <a:avLst/>
          </a:prstGeom>
        </p:spPr>
      </p:pic>
      <p:pic>
        <p:nvPicPr>
          <p:cNvPr id="48" name="Imagem 47">
            <a:extLst>
              <a:ext uri="{FF2B5EF4-FFF2-40B4-BE49-F238E27FC236}">
                <a16:creationId xmlns:a16="http://schemas.microsoft.com/office/drawing/2014/main" id="{17ADF0E0-F108-4F04-85E0-9ED8D2F643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2598" y="3936825"/>
            <a:ext cx="1559003" cy="365525"/>
          </a:xfrm>
          <a:prstGeom prst="rect">
            <a:avLst/>
          </a:prstGeom>
        </p:spPr>
      </p:pic>
      <p:pic>
        <p:nvPicPr>
          <p:cNvPr id="49" name="Imagem 48">
            <a:extLst>
              <a:ext uri="{FF2B5EF4-FFF2-40B4-BE49-F238E27FC236}">
                <a16:creationId xmlns:a16="http://schemas.microsoft.com/office/drawing/2014/main" id="{26897C1B-6919-422B-AA93-94C31789C2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5904" y="3936825"/>
            <a:ext cx="1559003" cy="365525"/>
          </a:xfrm>
          <a:prstGeom prst="rect">
            <a:avLst/>
          </a:prstGeom>
        </p:spPr>
      </p:pic>
      <p:pic>
        <p:nvPicPr>
          <p:cNvPr id="50" name="Imagem 49">
            <a:extLst>
              <a:ext uri="{FF2B5EF4-FFF2-40B4-BE49-F238E27FC236}">
                <a16:creationId xmlns:a16="http://schemas.microsoft.com/office/drawing/2014/main" id="{D5C03C5D-28FC-40A2-AE9E-A1EF83C3BD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9212" y="3936825"/>
            <a:ext cx="1559003" cy="365525"/>
          </a:xfrm>
          <a:prstGeom prst="rect">
            <a:avLst/>
          </a:prstGeom>
        </p:spPr>
      </p:pic>
      <p:pic>
        <p:nvPicPr>
          <p:cNvPr id="51" name="Imagem 50">
            <a:extLst>
              <a:ext uri="{FF2B5EF4-FFF2-40B4-BE49-F238E27FC236}">
                <a16:creationId xmlns:a16="http://schemas.microsoft.com/office/drawing/2014/main" id="{969D8284-3AF3-4438-9D94-1BC385586B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86" y="4358924"/>
            <a:ext cx="1559003" cy="365525"/>
          </a:xfrm>
          <a:prstGeom prst="rect">
            <a:avLst/>
          </a:prstGeom>
        </p:spPr>
      </p:pic>
      <p:pic>
        <p:nvPicPr>
          <p:cNvPr id="52" name="Imagem 51">
            <a:extLst>
              <a:ext uri="{FF2B5EF4-FFF2-40B4-BE49-F238E27FC236}">
                <a16:creationId xmlns:a16="http://schemas.microsoft.com/office/drawing/2014/main" id="{452AC714-E1CD-46A6-92B2-637668FB6E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6892" y="4358924"/>
            <a:ext cx="1559003" cy="365525"/>
          </a:xfrm>
          <a:prstGeom prst="rect">
            <a:avLst/>
          </a:prstGeom>
        </p:spPr>
      </p:pic>
      <p:pic>
        <p:nvPicPr>
          <p:cNvPr id="53" name="Imagem 52">
            <a:extLst>
              <a:ext uri="{FF2B5EF4-FFF2-40B4-BE49-F238E27FC236}">
                <a16:creationId xmlns:a16="http://schemas.microsoft.com/office/drawing/2014/main" id="{C995A533-517C-4767-80E5-03A86E5AE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0199" y="4358924"/>
            <a:ext cx="1559003" cy="365525"/>
          </a:xfrm>
          <a:prstGeom prst="rect">
            <a:avLst/>
          </a:prstGeom>
        </p:spPr>
      </p:pic>
      <p:pic>
        <p:nvPicPr>
          <p:cNvPr id="54" name="Imagem 53">
            <a:extLst>
              <a:ext uri="{FF2B5EF4-FFF2-40B4-BE49-F238E27FC236}">
                <a16:creationId xmlns:a16="http://schemas.microsoft.com/office/drawing/2014/main" id="{8612BCDD-EAD1-45FB-80AB-FDCA1B988A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3506" y="4358924"/>
            <a:ext cx="1559003" cy="365525"/>
          </a:xfrm>
          <a:prstGeom prst="rect">
            <a:avLst/>
          </a:prstGeom>
        </p:spPr>
      </p:pic>
      <p:pic>
        <p:nvPicPr>
          <p:cNvPr id="55" name="Imagem 54">
            <a:extLst>
              <a:ext uri="{FF2B5EF4-FFF2-40B4-BE49-F238E27FC236}">
                <a16:creationId xmlns:a16="http://schemas.microsoft.com/office/drawing/2014/main" id="{34BC7930-5074-4E40-8E22-7D58C3F32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39" y="4787381"/>
            <a:ext cx="1559003" cy="365525"/>
          </a:xfrm>
          <a:prstGeom prst="rect">
            <a:avLst/>
          </a:prstGeom>
        </p:spPr>
      </p:pic>
      <p:pic>
        <p:nvPicPr>
          <p:cNvPr id="56" name="Imagem 55">
            <a:extLst>
              <a:ext uri="{FF2B5EF4-FFF2-40B4-BE49-F238E27FC236}">
                <a16:creationId xmlns:a16="http://schemas.microsoft.com/office/drawing/2014/main" id="{1033DE65-DCC9-4A03-BF15-B3E15982B8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945" y="4787381"/>
            <a:ext cx="1559003" cy="365525"/>
          </a:xfrm>
          <a:prstGeom prst="rect">
            <a:avLst/>
          </a:prstGeom>
        </p:spPr>
      </p:pic>
      <p:pic>
        <p:nvPicPr>
          <p:cNvPr id="57" name="Imagem 56">
            <a:extLst>
              <a:ext uri="{FF2B5EF4-FFF2-40B4-BE49-F238E27FC236}">
                <a16:creationId xmlns:a16="http://schemas.microsoft.com/office/drawing/2014/main" id="{F11698C0-B7B6-4320-BE46-41B960CAF7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9252" y="4787381"/>
            <a:ext cx="1559003" cy="365525"/>
          </a:xfrm>
          <a:prstGeom prst="rect">
            <a:avLst/>
          </a:prstGeom>
        </p:spPr>
      </p:pic>
      <p:pic>
        <p:nvPicPr>
          <p:cNvPr id="58" name="Imagem 57">
            <a:extLst>
              <a:ext uri="{FF2B5EF4-FFF2-40B4-BE49-F238E27FC236}">
                <a16:creationId xmlns:a16="http://schemas.microsoft.com/office/drawing/2014/main" id="{99B7573E-9683-4284-9F7A-68319AAAC3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2559" y="4787381"/>
            <a:ext cx="1559003" cy="365525"/>
          </a:xfrm>
          <a:prstGeom prst="rect">
            <a:avLst/>
          </a:prstGeom>
        </p:spPr>
      </p:pic>
      <p:pic>
        <p:nvPicPr>
          <p:cNvPr id="59" name="Imagem 58">
            <a:extLst>
              <a:ext uri="{FF2B5EF4-FFF2-40B4-BE49-F238E27FC236}">
                <a16:creationId xmlns:a16="http://schemas.microsoft.com/office/drawing/2014/main" id="{CD968BE2-0743-4EEF-BB02-48B381B7A5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71" y="5215839"/>
            <a:ext cx="1559003" cy="365525"/>
          </a:xfrm>
          <a:prstGeom prst="rect">
            <a:avLst/>
          </a:prstGeom>
        </p:spPr>
      </p:pic>
      <p:pic>
        <p:nvPicPr>
          <p:cNvPr id="60" name="Imagem 59">
            <a:extLst>
              <a:ext uri="{FF2B5EF4-FFF2-40B4-BE49-F238E27FC236}">
                <a16:creationId xmlns:a16="http://schemas.microsoft.com/office/drawing/2014/main" id="{4B2EB7DE-2478-405E-B771-6B1BB759E4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6177" y="5215839"/>
            <a:ext cx="1559003" cy="365525"/>
          </a:xfrm>
          <a:prstGeom prst="rect">
            <a:avLst/>
          </a:prstGeom>
        </p:spPr>
      </p:pic>
      <p:pic>
        <p:nvPicPr>
          <p:cNvPr id="61" name="Imagem 60">
            <a:extLst>
              <a:ext uri="{FF2B5EF4-FFF2-40B4-BE49-F238E27FC236}">
                <a16:creationId xmlns:a16="http://schemas.microsoft.com/office/drawing/2014/main" id="{F6E34796-FFAF-4CAB-ADD0-563473FFC6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9483" y="5215839"/>
            <a:ext cx="1559003" cy="365525"/>
          </a:xfrm>
          <a:prstGeom prst="rect">
            <a:avLst/>
          </a:prstGeom>
        </p:spPr>
      </p:pic>
      <p:pic>
        <p:nvPicPr>
          <p:cNvPr id="62" name="Imagem 61">
            <a:extLst>
              <a:ext uri="{FF2B5EF4-FFF2-40B4-BE49-F238E27FC236}">
                <a16:creationId xmlns:a16="http://schemas.microsoft.com/office/drawing/2014/main" id="{A0C068B3-9619-4590-ABD9-BDFA6BEC49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2791" y="5215839"/>
            <a:ext cx="1559003" cy="365525"/>
          </a:xfrm>
          <a:prstGeom prst="rect">
            <a:avLst/>
          </a:prstGeom>
        </p:spPr>
      </p:pic>
      <p:pic>
        <p:nvPicPr>
          <p:cNvPr id="63" name="Imagem 62">
            <a:extLst>
              <a:ext uri="{FF2B5EF4-FFF2-40B4-BE49-F238E27FC236}">
                <a16:creationId xmlns:a16="http://schemas.microsoft.com/office/drawing/2014/main" id="{ED6DCAC7-7FFF-4752-842C-AF32FB20E2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60" y="5665927"/>
            <a:ext cx="1559003" cy="365525"/>
          </a:xfrm>
          <a:prstGeom prst="rect">
            <a:avLst/>
          </a:prstGeom>
        </p:spPr>
      </p:pic>
      <p:pic>
        <p:nvPicPr>
          <p:cNvPr id="64" name="Imagem 63">
            <a:extLst>
              <a:ext uri="{FF2B5EF4-FFF2-40B4-BE49-F238E27FC236}">
                <a16:creationId xmlns:a16="http://schemas.microsoft.com/office/drawing/2014/main" id="{859CA6E3-859B-4C6B-8409-C7D3C3A67E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366" y="5665927"/>
            <a:ext cx="1559003" cy="365525"/>
          </a:xfrm>
          <a:prstGeom prst="rect">
            <a:avLst/>
          </a:prstGeom>
        </p:spPr>
      </p:pic>
      <p:pic>
        <p:nvPicPr>
          <p:cNvPr id="65" name="Imagem 64">
            <a:extLst>
              <a:ext uri="{FF2B5EF4-FFF2-40B4-BE49-F238E27FC236}">
                <a16:creationId xmlns:a16="http://schemas.microsoft.com/office/drawing/2014/main" id="{912604E4-C8CE-4C53-9251-49587D2D97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5672" y="5665927"/>
            <a:ext cx="1559003" cy="365525"/>
          </a:xfrm>
          <a:prstGeom prst="rect">
            <a:avLst/>
          </a:prstGeom>
        </p:spPr>
      </p:pic>
      <p:pic>
        <p:nvPicPr>
          <p:cNvPr id="66" name="Imagem 65">
            <a:extLst>
              <a:ext uri="{FF2B5EF4-FFF2-40B4-BE49-F238E27FC236}">
                <a16:creationId xmlns:a16="http://schemas.microsoft.com/office/drawing/2014/main" id="{F9C26FF7-0844-4948-A150-82DD982336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980" y="5665927"/>
            <a:ext cx="1559003" cy="365525"/>
          </a:xfrm>
          <a:prstGeom prst="rect">
            <a:avLst/>
          </a:prstGeom>
        </p:spPr>
      </p:pic>
      <p:pic>
        <p:nvPicPr>
          <p:cNvPr id="67" name="Imagem 66">
            <a:extLst>
              <a:ext uri="{FF2B5EF4-FFF2-40B4-BE49-F238E27FC236}">
                <a16:creationId xmlns:a16="http://schemas.microsoft.com/office/drawing/2014/main" id="{64603B78-77DC-4103-8015-AEC43FB3B6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12" y="6094384"/>
            <a:ext cx="1559003" cy="365525"/>
          </a:xfrm>
          <a:prstGeom prst="rect">
            <a:avLst/>
          </a:prstGeom>
        </p:spPr>
      </p:pic>
      <p:pic>
        <p:nvPicPr>
          <p:cNvPr id="68" name="Imagem 67">
            <a:extLst>
              <a:ext uri="{FF2B5EF4-FFF2-40B4-BE49-F238E27FC236}">
                <a16:creationId xmlns:a16="http://schemas.microsoft.com/office/drawing/2014/main" id="{5A8D1207-CF3B-4863-869C-CB2D9B946A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1419" y="6094384"/>
            <a:ext cx="1559003" cy="365525"/>
          </a:xfrm>
          <a:prstGeom prst="rect">
            <a:avLst/>
          </a:prstGeom>
        </p:spPr>
      </p:pic>
      <p:pic>
        <p:nvPicPr>
          <p:cNvPr id="69" name="Imagem 68">
            <a:extLst>
              <a:ext uri="{FF2B5EF4-FFF2-40B4-BE49-F238E27FC236}">
                <a16:creationId xmlns:a16="http://schemas.microsoft.com/office/drawing/2014/main" id="{0CB0AB3F-843E-4D1C-A2E1-BE378B4A74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4725" y="6094384"/>
            <a:ext cx="1559003" cy="365525"/>
          </a:xfrm>
          <a:prstGeom prst="rect">
            <a:avLst/>
          </a:prstGeom>
        </p:spPr>
      </p:pic>
      <p:pic>
        <p:nvPicPr>
          <p:cNvPr id="70" name="Imagem 69">
            <a:extLst>
              <a:ext uri="{FF2B5EF4-FFF2-40B4-BE49-F238E27FC236}">
                <a16:creationId xmlns:a16="http://schemas.microsoft.com/office/drawing/2014/main" id="{B6E34F8F-5C6F-4CA2-B647-F2A2FAD006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8033" y="6094384"/>
            <a:ext cx="1559003" cy="365525"/>
          </a:xfrm>
          <a:prstGeom prst="rect">
            <a:avLst/>
          </a:prstGeom>
        </p:spPr>
      </p:pic>
      <p:pic>
        <p:nvPicPr>
          <p:cNvPr id="71" name="Imagem 70">
            <a:extLst>
              <a:ext uri="{FF2B5EF4-FFF2-40B4-BE49-F238E27FC236}">
                <a16:creationId xmlns:a16="http://schemas.microsoft.com/office/drawing/2014/main" id="{9516277A-EB98-4D27-96DC-8BB632F401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44" y="6522842"/>
            <a:ext cx="1559003" cy="365525"/>
          </a:xfrm>
          <a:prstGeom prst="rect">
            <a:avLst/>
          </a:prstGeom>
        </p:spPr>
      </p:pic>
      <p:pic>
        <p:nvPicPr>
          <p:cNvPr id="72" name="Imagem 71">
            <a:extLst>
              <a:ext uri="{FF2B5EF4-FFF2-40B4-BE49-F238E27FC236}">
                <a16:creationId xmlns:a16="http://schemas.microsoft.com/office/drawing/2014/main" id="{1982DD89-0628-4288-BBC5-F830DF6555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1651" y="6522842"/>
            <a:ext cx="1559003" cy="365525"/>
          </a:xfrm>
          <a:prstGeom prst="rect">
            <a:avLst/>
          </a:prstGeom>
        </p:spPr>
      </p:pic>
      <p:pic>
        <p:nvPicPr>
          <p:cNvPr id="73" name="Imagem 72">
            <a:extLst>
              <a:ext uri="{FF2B5EF4-FFF2-40B4-BE49-F238E27FC236}">
                <a16:creationId xmlns:a16="http://schemas.microsoft.com/office/drawing/2014/main" id="{018D67B3-E8AE-4220-88D6-298E6A2FCD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4957" y="6522842"/>
            <a:ext cx="1559003" cy="365525"/>
          </a:xfrm>
          <a:prstGeom prst="rect">
            <a:avLst/>
          </a:prstGeom>
        </p:spPr>
      </p:pic>
      <p:pic>
        <p:nvPicPr>
          <p:cNvPr id="74" name="Imagem 73">
            <a:extLst>
              <a:ext uri="{FF2B5EF4-FFF2-40B4-BE49-F238E27FC236}">
                <a16:creationId xmlns:a16="http://schemas.microsoft.com/office/drawing/2014/main" id="{AB6C84A7-AF15-4BA8-9D23-20CAC72458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8265" y="6522842"/>
            <a:ext cx="1559003" cy="365525"/>
          </a:xfrm>
          <a:prstGeom prst="rect">
            <a:avLst/>
          </a:prstGeom>
        </p:spPr>
      </p:pic>
      <p:pic>
        <p:nvPicPr>
          <p:cNvPr id="75" name="Imagem 74">
            <a:extLst>
              <a:ext uri="{FF2B5EF4-FFF2-40B4-BE49-F238E27FC236}">
                <a16:creationId xmlns:a16="http://schemas.microsoft.com/office/drawing/2014/main" id="{42733CC7-90E0-4A42-9CAD-40649867F7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39" y="6944941"/>
            <a:ext cx="1559003" cy="365525"/>
          </a:xfrm>
          <a:prstGeom prst="rect">
            <a:avLst/>
          </a:prstGeom>
        </p:spPr>
      </p:pic>
      <p:pic>
        <p:nvPicPr>
          <p:cNvPr id="76" name="Imagem 75">
            <a:extLst>
              <a:ext uri="{FF2B5EF4-FFF2-40B4-BE49-F238E27FC236}">
                <a16:creationId xmlns:a16="http://schemas.microsoft.com/office/drawing/2014/main" id="{2B840645-6198-4160-9FA2-5C85AFE09A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945" y="6944941"/>
            <a:ext cx="1559003" cy="365525"/>
          </a:xfrm>
          <a:prstGeom prst="rect">
            <a:avLst/>
          </a:prstGeom>
        </p:spPr>
      </p:pic>
      <p:pic>
        <p:nvPicPr>
          <p:cNvPr id="77" name="Imagem 76">
            <a:extLst>
              <a:ext uri="{FF2B5EF4-FFF2-40B4-BE49-F238E27FC236}">
                <a16:creationId xmlns:a16="http://schemas.microsoft.com/office/drawing/2014/main" id="{21B622CE-3710-4B30-96AA-EF511783C8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9252" y="6944941"/>
            <a:ext cx="1559003" cy="365525"/>
          </a:xfrm>
          <a:prstGeom prst="rect">
            <a:avLst/>
          </a:prstGeom>
        </p:spPr>
      </p:pic>
      <p:pic>
        <p:nvPicPr>
          <p:cNvPr id="78" name="Imagem 77">
            <a:extLst>
              <a:ext uri="{FF2B5EF4-FFF2-40B4-BE49-F238E27FC236}">
                <a16:creationId xmlns:a16="http://schemas.microsoft.com/office/drawing/2014/main" id="{77064454-7CE0-48BB-9470-05F8327422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2559" y="6944941"/>
            <a:ext cx="1559003" cy="365525"/>
          </a:xfrm>
          <a:prstGeom prst="rect">
            <a:avLst/>
          </a:prstGeom>
        </p:spPr>
      </p:pic>
      <p:pic>
        <p:nvPicPr>
          <p:cNvPr id="79" name="Imagem 78">
            <a:extLst>
              <a:ext uri="{FF2B5EF4-FFF2-40B4-BE49-F238E27FC236}">
                <a16:creationId xmlns:a16="http://schemas.microsoft.com/office/drawing/2014/main" id="{07575C62-9919-45DB-BEAD-B46BAF595B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92" y="7373398"/>
            <a:ext cx="1559003" cy="365525"/>
          </a:xfrm>
          <a:prstGeom prst="rect">
            <a:avLst/>
          </a:prstGeom>
        </p:spPr>
      </p:pic>
      <p:pic>
        <p:nvPicPr>
          <p:cNvPr id="80" name="Imagem 79">
            <a:extLst>
              <a:ext uri="{FF2B5EF4-FFF2-40B4-BE49-F238E27FC236}">
                <a16:creationId xmlns:a16="http://schemas.microsoft.com/office/drawing/2014/main" id="{6D882AB7-72A1-423F-BC79-2CA8E10D40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4998" y="7373398"/>
            <a:ext cx="1559003" cy="365525"/>
          </a:xfrm>
          <a:prstGeom prst="rect">
            <a:avLst/>
          </a:prstGeom>
        </p:spPr>
      </p:pic>
      <p:pic>
        <p:nvPicPr>
          <p:cNvPr id="81" name="Imagem 80">
            <a:extLst>
              <a:ext uri="{FF2B5EF4-FFF2-40B4-BE49-F238E27FC236}">
                <a16:creationId xmlns:a16="http://schemas.microsoft.com/office/drawing/2014/main" id="{C2D205C5-6600-4A18-A293-3F84B1DC80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304" y="7373398"/>
            <a:ext cx="1559003" cy="365525"/>
          </a:xfrm>
          <a:prstGeom prst="rect">
            <a:avLst/>
          </a:prstGeom>
        </p:spPr>
      </p:pic>
      <p:pic>
        <p:nvPicPr>
          <p:cNvPr id="82" name="Imagem 81">
            <a:extLst>
              <a:ext uri="{FF2B5EF4-FFF2-40B4-BE49-F238E27FC236}">
                <a16:creationId xmlns:a16="http://schemas.microsoft.com/office/drawing/2014/main" id="{212284CB-DFDB-4FB9-B32C-3EF284EA8E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612" y="7373398"/>
            <a:ext cx="1559003" cy="365525"/>
          </a:xfrm>
          <a:prstGeom prst="rect">
            <a:avLst/>
          </a:prstGeom>
        </p:spPr>
      </p:pic>
      <p:pic>
        <p:nvPicPr>
          <p:cNvPr id="83" name="Imagem 82">
            <a:extLst>
              <a:ext uri="{FF2B5EF4-FFF2-40B4-BE49-F238E27FC236}">
                <a16:creationId xmlns:a16="http://schemas.microsoft.com/office/drawing/2014/main" id="{6CB20E85-C9DA-4EE3-8636-64822028B5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23" y="7801856"/>
            <a:ext cx="1559003" cy="365525"/>
          </a:xfrm>
          <a:prstGeom prst="rect">
            <a:avLst/>
          </a:prstGeom>
        </p:spPr>
      </p:pic>
      <p:pic>
        <p:nvPicPr>
          <p:cNvPr id="84" name="Imagem 83">
            <a:extLst>
              <a:ext uri="{FF2B5EF4-FFF2-40B4-BE49-F238E27FC236}">
                <a16:creationId xmlns:a16="http://schemas.microsoft.com/office/drawing/2014/main" id="{3308CA7D-A229-4B42-AD09-37C2040A95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5230" y="7801856"/>
            <a:ext cx="1559003" cy="365525"/>
          </a:xfrm>
          <a:prstGeom prst="rect">
            <a:avLst/>
          </a:prstGeom>
        </p:spPr>
      </p:pic>
      <p:pic>
        <p:nvPicPr>
          <p:cNvPr id="85" name="Imagem 84">
            <a:extLst>
              <a:ext uri="{FF2B5EF4-FFF2-40B4-BE49-F238E27FC236}">
                <a16:creationId xmlns:a16="http://schemas.microsoft.com/office/drawing/2014/main" id="{6692CEB0-2128-43B6-A846-B1333FF67A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8536" y="7801856"/>
            <a:ext cx="1559003" cy="365525"/>
          </a:xfrm>
          <a:prstGeom prst="rect">
            <a:avLst/>
          </a:prstGeom>
        </p:spPr>
      </p:pic>
      <p:pic>
        <p:nvPicPr>
          <p:cNvPr id="86" name="Imagem 85">
            <a:extLst>
              <a:ext uri="{FF2B5EF4-FFF2-40B4-BE49-F238E27FC236}">
                <a16:creationId xmlns:a16="http://schemas.microsoft.com/office/drawing/2014/main" id="{3962DD41-F66F-41E3-9126-D71DFDC67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1844" y="7801856"/>
            <a:ext cx="1559003" cy="365525"/>
          </a:xfrm>
          <a:prstGeom prst="rect">
            <a:avLst/>
          </a:prstGeom>
        </p:spPr>
      </p:pic>
      <p:pic>
        <p:nvPicPr>
          <p:cNvPr id="87" name="Imagem 86">
            <a:extLst>
              <a:ext uri="{FF2B5EF4-FFF2-40B4-BE49-F238E27FC236}">
                <a16:creationId xmlns:a16="http://schemas.microsoft.com/office/drawing/2014/main" id="{6D0B0B66-C2F5-48A8-8C86-B01FC785F6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8231412"/>
            <a:ext cx="1559003" cy="365525"/>
          </a:xfrm>
          <a:prstGeom prst="rect">
            <a:avLst/>
          </a:prstGeom>
        </p:spPr>
      </p:pic>
      <p:pic>
        <p:nvPicPr>
          <p:cNvPr id="88" name="Imagem 87">
            <a:extLst>
              <a:ext uri="{FF2B5EF4-FFF2-40B4-BE49-F238E27FC236}">
                <a16:creationId xmlns:a16="http://schemas.microsoft.com/office/drawing/2014/main" id="{C823DAA1-1AEB-4623-89D9-C8238C86F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8231412"/>
            <a:ext cx="1559003" cy="365525"/>
          </a:xfrm>
          <a:prstGeom prst="rect">
            <a:avLst/>
          </a:prstGeom>
        </p:spPr>
      </p:pic>
      <p:pic>
        <p:nvPicPr>
          <p:cNvPr id="89" name="Imagem 88">
            <a:extLst>
              <a:ext uri="{FF2B5EF4-FFF2-40B4-BE49-F238E27FC236}">
                <a16:creationId xmlns:a16="http://schemas.microsoft.com/office/drawing/2014/main" id="{D9F973B2-05AC-4052-BCE9-D049E505AC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8231412"/>
            <a:ext cx="1559003" cy="365525"/>
          </a:xfrm>
          <a:prstGeom prst="rect">
            <a:avLst/>
          </a:prstGeom>
        </p:spPr>
      </p:pic>
      <p:pic>
        <p:nvPicPr>
          <p:cNvPr id="90" name="Imagem 89">
            <a:extLst>
              <a:ext uri="{FF2B5EF4-FFF2-40B4-BE49-F238E27FC236}">
                <a16:creationId xmlns:a16="http://schemas.microsoft.com/office/drawing/2014/main" id="{1793AE13-23AC-4872-9B6C-796BE02AA4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8231412"/>
            <a:ext cx="1559003" cy="365525"/>
          </a:xfrm>
          <a:prstGeom prst="rect">
            <a:avLst/>
          </a:prstGeom>
        </p:spPr>
      </p:pic>
      <p:pic>
        <p:nvPicPr>
          <p:cNvPr id="91" name="Imagem 90">
            <a:extLst>
              <a:ext uri="{FF2B5EF4-FFF2-40B4-BE49-F238E27FC236}">
                <a16:creationId xmlns:a16="http://schemas.microsoft.com/office/drawing/2014/main" id="{8ECB9E94-338C-42DA-B07B-D0EC007B35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8625408"/>
            <a:ext cx="1559003" cy="365525"/>
          </a:xfrm>
          <a:prstGeom prst="rect">
            <a:avLst/>
          </a:prstGeom>
        </p:spPr>
      </p:pic>
      <p:pic>
        <p:nvPicPr>
          <p:cNvPr id="92" name="Imagem 91">
            <a:extLst>
              <a:ext uri="{FF2B5EF4-FFF2-40B4-BE49-F238E27FC236}">
                <a16:creationId xmlns:a16="http://schemas.microsoft.com/office/drawing/2014/main" id="{6C42768B-9DA5-4943-A0A8-49B8D856B4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8625408"/>
            <a:ext cx="1559003" cy="365525"/>
          </a:xfrm>
          <a:prstGeom prst="rect">
            <a:avLst/>
          </a:prstGeom>
        </p:spPr>
      </p:pic>
      <p:pic>
        <p:nvPicPr>
          <p:cNvPr id="93" name="Imagem 92">
            <a:extLst>
              <a:ext uri="{FF2B5EF4-FFF2-40B4-BE49-F238E27FC236}">
                <a16:creationId xmlns:a16="http://schemas.microsoft.com/office/drawing/2014/main" id="{602C01AD-7A3E-4565-B7CD-45814E3B75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8625408"/>
            <a:ext cx="1559003" cy="365525"/>
          </a:xfrm>
          <a:prstGeom prst="rect">
            <a:avLst/>
          </a:prstGeom>
        </p:spPr>
      </p:pic>
      <p:pic>
        <p:nvPicPr>
          <p:cNvPr id="94" name="Imagem 93">
            <a:extLst>
              <a:ext uri="{FF2B5EF4-FFF2-40B4-BE49-F238E27FC236}">
                <a16:creationId xmlns:a16="http://schemas.microsoft.com/office/drawing/2014/main" id="{8C158C1D-EFEE-49B9-AE93-76C502C474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8625408"/>
            <a:ext cx="1559003" cy="365525"/>
          </a:xfrm>
          <a:prstGeom prst="rect">
            <a:avLst/>
          </a:prstGeom>
        </p:spPr>
      </p:pic>
      <p:sp>
        <p:nvSpPr>
          <p:cNvPr id="95" name="CaixaDeTexto 94">
            <a:extLst>
              <a:ext uri="{FF2B5EF4-FFF2-40B4-BE49-F238E27FC236}">
                <a16:creationId xmlns:a16="http://schemas.microsoft.com/office/drawing/2014/main" id="{A68C2FD1-7CE7-49B4-BCE9-9E59DE2EA6AB}"/>
              </a:ext>
            </a:extLst>
          </p:cNvPr>
          <p:cNvSpPr txBox="1"/>
          <p:nvPr/>
        </p:nvSpPr>
        <p:spPr>
          <a:xfrm>
            <a:off x="476583" y="6472232"/>
            <a:ext cx="5944150" cy="1987339"/>
          </a:xfrm>
          <a:prstGeom prst="rect">
            <a:avLst/>
          </a:prstGeom>
          <a:solidFill>
            <a:schemeClr val="bg1"/>
          </a:solidFill>
          <a:ln>
            <a:noFill/>
          </a:ln>
        </p:spPr>
        <p:txBody>
          <a:bodyPr wrap="square" rtlCol="0">
            <a:spAutoFit/>
          </a:bodyPr>
          <a:lstStyle/>
          <a:p>
            <a:pPr algn="ctr"/>
            <a:r>
              <a:rPr lang="pt-BR" sz="1834" b="1" dirty="0">
                <a:ln>
                  <a:solidFill>
                    <a:srgbClr val="002060"/>
                  </a:solidFill>
                </a:ln>
                <a:solidFill>
                  <a:srgbClr val="002060"/>
                </a:solidFill>
                <a:latin typeface="Monda" panose="02000503000000000000" pitchFamily="2" charset="0"/>
              </a:rPr>
              <a:t>Só Aço Industrial Ltda</a:t>
            </a:r>
            <a:endParaRPr lang="pt-BR" sz="1310" b="1"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CNPJ:  04.041.754/0001-40</a:t>
            </a:r>
          </a:p>
          <a:p>
            <a:pPr algn="ctr"/>
            <a:r>
              <a:rPr lang="pt-BR" sz="1310"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310" dirty="0">
                <a:ln>
                  <a:solidFill>
                    <a:srgbClr val="002060"/>
                  </a:solidFill>
                </a:ln>
                <a:solidFill>
                  <a:srgbClr val="002060"/>
                </a:solidFill>
                <a:latin typeface="Monda" panose="02000503000000000000" pitchFamily="2" charset="0"/>
              </a:rPr>
              <a:t>Telefones: (86) 3219 1200/1300</a:t>
            </a:r>
          </a:p>
          <a:p>
            <a:pPr algn="ctr"/>
            <a:r>
              <a:rPr lang="pt-BR" sz="1310" dirty="0">
                <a:ln>
                  <a:solidFill>
                    <a:srgbClr val="002060"/>
                  </a:solidFill>
                </a:ln>
                <a:solidFill>
                  <a:srgbClr val="002060"/>
                </a:solidFill>
                <a:latin typeface="Monda" panose="02000503000000000000" pitchFamily="2" charset="0"/>
              </a:rPr>
              <a:t>Teresina – Piauí</a:t>
            </a:r>
          </a:p>
          <a:p>
            <a:pPr algn="ctr"/>
            <a:r>
              <a:rPr lang="pt-BR" sz="1310" dirty="0">
                <a:ln>
                  <a:solidFill>
                    <a:srgbClr val="002060"/>
                  </a:solidFill>
                </a:ln>
                <a:solidFill>
                  <a:srgbClr val="002060"/>
                </a:solidFill>
                <a:latin typeface="Monda" panose="02000503000000000000" pitchFamily="2" charset="0"/>
              </a:rPr>
              <a:t>Site: </a:t>
            </a:r>
            <a:r>
              <a:rPr lang="pt-BR" sz="1310" dirty="0">
                <a:ln>
                  <a:solidFill>
                    <a:srgbClr val="002060"/>
                  </a:solidFill>
                </a:ln>
                <a:solidFill>
                  <a:srgbClr val="002060"/>
                </a:solidFill>
                <a:latin typeface="Monda" panose="02000503000000000000" pitchFamily="2" charset="0"/>
                <a:hlinkClick r:id="rId4"/>
              </a:rPr>
              <a:t>www.soacoindustrial.com.br</a:t>
            </a:r>
            <a:endParaRPr lang="pt-BR" sz="1310"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Ouvidoria/SAC: </a:t>
            </a:r>
            <a:r>
              <a:rPr lang="pt-BR" sz="1310" dirty="0">
                <a:ln>
                  <a:solidFill>
                    <a:srgbClr val="002060"/>
                  </a:solidFill>
                </a:ln>
                <a:solidFill>
                  <a:srgbClr val="002060"/>
                </a:solidFill>
                <a:latin typeface="Monda" panose="02000503000000000000" pitchFamily="2" charset="0"/>
                <a:hlinkClick r:id="rId5"/>
              </a:rPr>
              <a:t>sac@soacoindustrial.com.br</a:t>
            </a:r>
            <a:endParaRPr lang="pt-BR" sz="1310" dirty="0">
              <a:ln>
                <a:solidFill>
                  <a:srgbClr val="002060"/>
                </a:solidFill>
              </a:ln>
              <a:solidFill>
                <a:srgbClr val="002060"/>
              </a:solidFill>
              <a:latin typeface="Monda" panose="02000503000000000000" pitchFamily="2" charset="0"/>
            </a:endParaRPr>
          </a:p>
          <a:p>
            <a:pPr algn="ctr"/>
            <a:r>
              <a:rPr lang="pt-BR" sz="1310" dirty="0">
                <a:ln>
                  <a:solidFill>
                    <a:srgbClr val="002060"/>
                  </a:solidFill>
                </a:ln>
                <a:solidFill>
                  <a:srgbClr val="002060"/>
                </a:solidFill>
                <a:latin typeface="Monda" panose="02000503000000000000" pitchFamily="2" charset="0"/>
              </a:rPr>
              <a:t>MP-SA-0004.Rev. 0</a:t>
            </a:r>
          </a:p>
        </p:txBody>
      </p:sp>
      <p:pic>
        <p:nvPicPr>
          <p:cNvPr id="96" name="Imagem 95">
            <a:extLst>
              <a:ext uri="{FF2B5EF4-FFF2-40B4-BE49-F238E27FC236}">
                <a16:creationId xmlns:a16="http://schemas.microsoft.com/office/drawing/2014/main" id="{E29E92D4-6DEC-4957-AF47-53FBA2FFE6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78" y="9051971"/>
            <a:ext cx="1559003" cy="365525"/>
          </a:xfrm>
          <a:prstGeom prst="rect">
            <a:avLst/>
          </a:prstGeom>
        </p:spPr>
      </p:pic>
      <p:pic>
        <p:nvPicPr>
          <p:cNvPr id="97" name="Imagem 96">
            <a:extLst>
              <a:ext uri="{FF2B5EF4-FFF2-40B4-BE49-F238E27FC236}">
                <a16:creationId xmlns:a16="http://schemas.microsoft.com/office/drawing/2014/main" id="{EB7F4BBF-361B-43FB-9705-F2BAF5A813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285" y="9051971"/>
            <a:ext cx="1559003" cy="365525"/>
          </a:xfrm>
          <a:prstGeom prst="rect">
            <a:avLst/>
          </a:prstGeom>
        </p:spPr>
      </p:pic>
      <p:pic>
        <p:nvPicPr>
          <p:cNvPr id="98" name="Imagem 97">
            <a:extLst>
              <a:ext uri="{FF2B5EF4-FFF2-40B4-BE49-F238E27FC236}">
                <a16:creationId xmlns:a16="http://schemas.microsoft.com/office/drawing/2014/main" id="{3518A472-CA52-4EBF-A82C-63A07CE7A4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8591" y="9051971"/>
            <a:ext cx="1559003" cy="365525"/>
          </a:xfrm>
          <a:prstGeom prst="rect">
            <a:avLst/>
          </a:prstGeom>
        </p:spPr>
      </p:pic>
      <p:pic>
        <p:nvPicPr>
          <p:cNvPr id="99" name="Imagem 98">
            <a:extLst>
              <a:ext uri="{FF2B5EF4-FFF2-40B4-BE49-F238E27FC236}">
                <a16:creationId xmlns:a16="http://schemas.microsoft.com/office/drawing/2014/main" id="{CB689BE3-9CB1-4AFB-BB4E-681DD544B6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1899" y="9051971"/>
            <a:ext cx="1559003" cy="365525"/>
          </a:xfrm>
          <a:prstGeom prst="rect">
            <a:avLst/>
          </a:prstGeom>
        </p:spPr>
      </p:pic>
    </p:spTree>
    <p:extLst>
      <p:ext uri="{BB962C8B-B14F-4D97-AF65-F5344CB8AC3E}">
        <p14:creationId xmlns:p14="http://schemas.microsoft.com/office/powerpoint/2010/main" val="3387111589"/>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4217256</TotalTime>
  <Words>2517</Words>
  <Application>Microsoft Office PowerPoint</Application>
  <PresentationFormat>Papel A4 (210 x 297 mm)</PresentationFormat>
  <Paragraphs>418</Paragraphs>
  <Slides>12</Slides>
  <Notes>8</Notes>
  <HiddenSlides>0</HiddenSlides>
  <MMClips>0</MMClips>
  <ScaleCrop>false</ScaleCrop>
  <HeadingPairs>
    <vt:vector size="6" baseType="variant">
      <vt:variant>
        <vt:lpstr>Fontes usadas</vt:lpstr>
      </vt:variant>
      <vt:variant>
        <vt:i4>4</vt:i4>
      </vt:variant>
      <vt:variant>
        <vt:lpstr>Tema</vt:lpstr>
      </vt:variant>
      <vt:variant>
        <vt:i4>2</vt:i4>
      </vt:variant>
      <vt:variant>
        <vt:lpstr>Títulos de slides</vt:lpstr>
      </vt:variant>
      <vt:variant>
        <vt:i4>12</vt:i4>
      </vt:variant>
    </vt:vector>
  </HeadingPairs>
  <TitlesOfParts>
    <vt:vector size="18" baseType="lpstr">
      <vt:lpstr>Arial</vt:lpstr>
      <vt:lpstr>Calibri</vt:lpstr>
      <vt:lpstr>Monda</vt:lpstr>
      <vt:lpstr>Wingdings</vt:lpstr>
      <vt:lpstr>Tema do Office</vt:lpstr>
      <vt:lpstr>1_Tema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Eliel Lima</cp:lastModifiedBy>
  <cp:revision>405</cp:revision>
  <cp:lastPrinted>2018-08-30T18:04:44Z</cp:lastPrinted>
  <dcterms:created xsi:type="dcterms:W3CDTF">2017-01-16T11:13:17Z</dcterms:created>
  <dcterms:modified xsi:type="dcterms:W3CDTF">2021-12-15T10:29:58Z</dcterms:modified>
</cp:coreProperties>
</file>