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278" r:id="rId4"/>
    <p:sldId id="282" r:id="rId5"/>
    <p:sldId id="283" r:id="rId6"/>
    <p:sldId id="284" r:id="rId7"/>
    <p:sldId id="272" r:id="rId8"/>
    <p:sldId id="270" r:id="rId9"/>
    <p:sldId id="277" r:id="rId10"/>
    <p:sldId id="279" r:id="rId11"/>
    <p:sldId id="280" r:id="rId12"/>
    <p:sldId id="257" r:id="rId13"/>
    <p:sldId id="281" r:id="rId14"/>
  </p:sldIdLst>
  <p:sldSz cx="6858000" cy="9906000" type="A4"/>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a:srgbClr val="E4E4E4"/>
    <a:srgbClr val="E3E3E3"/>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Estilo E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6859" autoAdjust="0"/>
  </p:normalViewPr>
  <p:slideViewPr>
    <p:cSldViewPr showGuides="1">
      <p:cViewPr>
        <p:scale>
          <a:sx n="90" d="100"/>
          <a:sy n="90" d="100"/>
        </p:scale>
        <p:origin x="1482" y="-378"/>
      </p:cViewPr>
      <p:guideLst>
        <p:guide orient="horz" pos="3119"/>
        <p:guide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25/02/2022</a:t>
            </a:fld>
            <a:endParaRPr lang="pt-BR"/>
          </a:p>
        </p:txBody>
      </p:sp>
      <p:sp>
        <p:nvSpPr>
          <p:cNvPr id="4" name="Espaço Reservado para Imagem de Slide 3"/>
          <p:cNvSpPr>
            <a:spLocks noGrp="1" noRot="1" noChangeAspect="1"/>
          </p:cNvSpPr>
          <p:nvPr>
            <p:ph type="sldImg" idx="2"/>
          </p:nvPr>
        </p:nvSpPr>
        <p:spPr>
          <a:xfrm>
            <a:off x="2143125" y="750888"/>
            <a:ext cx="260191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30"/>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8384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2</a:t>
            </a:fld>
            <a:endParaRPr lang="pt-BR"/>
          </a:p>
        </p:txBody>
      </p:sp>
    </p:spTree>
    <p:extLst>
      <p:ext uri="{BB962C8B-B14F-4D97-AF65-F5344CB8AC3E}">
        <p14:creationId xmlns:p14="http://schemas.microsoft.com/office/powerpoint/2010/main" val="1846241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6</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7</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8</a:t>
            </a:fld>
            <a:endParaRPr lang="pt-BR"/>
          </a:p>
        </p:txBody>
      </p:sp>
    </p:spTree>
    <p:extLst>
      <p:ext uri="{BB962C8B-B14F-4D97-AF65-F5344CB8AC3E}">
        <p14:creationId xmlns:p14="http://schemas.microsoft.com/office/powerpoint/2010/main" val="150818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9</a:t>
            </a:fld>
            <a:endParaRPr lang="pt-BR"/>
          </a:p>
        </p:txBody>
      </p:sp>
    </p:spTree>
    <p:extLst>
      <p:ext uri="{BB962C8B-B14F-4D97-AF65-F5344CB8AC3E}">
        <p14:creationId xmlns:p14="http://schemas.microsoft.com/office/powerpoint/2010/main" val="3188025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10</a:t>
            </a:fld>
            <a:endParaRPr lang="pt-BR"/>
          </a:p>
        </p:txBody>
      </p:sp>
    </p:spTree>
    <p:extLst>
      <p:ext uri="{BB962C8B-B14F-4D97-AF65-F5344CB8AC3E}">
        <p14:creationId xmlns:p14="http://schemas.microsoft.com/office/powerpoint/2010/main" val="525106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11</a:t>
            </a:fld>
            <a:endParaRPr lang="pt-BR"/>
          </a:p>
        </p:txBody>
      </p:sp>
    </p:spTree>
    <p:extLst>
      <p:ext uri="{BB962C8B-B14F-4D97-AF65-F5344CB8AC3E}">
        <p14:creationId xmlns:p14="http://schemas.microsoft.com/office/powerpoint/2010/main" val="274581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11AC81D-F00A-4827-A703-3C0D445EB022}" type="datetime1">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D1D2AD8-56C7-4730-81A3-F6C5FAADA359}" type="datetime1">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E29E6F26-40DE-4B52-A781-4BC8EFF4F8A4}" type="datetime1">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3F7730DF-6810-4948-876A-5238452348F4}" type="datetime1">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EF6986-E8F5-4AE8-84CE-76D530498E52}" type="datetime1">
              <a:rPr lang="pt-BR" smtClean="0"/>
              <a:t>25/02/2022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BB8614-5CD0-4073-B427-9822F8FE630A}" type="datetime1">
              <a:rPr lang="pt-BR" smtClean="0"/>
              <a:t>25/02/2022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A113F0-2AEE-472C-84E2-03C9B57727C0}" type="datetime1">
              <a:rPr lang="pt-BR" smtClean="0"/>
              <a:t>25/02/2022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8E070D2-94BC-48E5-B127-F2DFB91F768A}" type="datetime1">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880EC5B0-C529-45C5-8187-D18054ED49EE}" type="datetime1">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5DB8301-19F6-49C6-9F02-EA6B70895F07}" type="datetime1">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E58C0016-1382-42F4-A486-D110CC0B9456}" type="datetime1">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45783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531031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58863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120161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25/02/2022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714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25/02/2022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983702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25/02/2022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9021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465306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25/02/2022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231251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661561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2753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D71D3B16-BA37-4540-B7FD-29529CECC0E0}" type="datetime1">
              <a:rPr lang="pt-BR" smtClean="0"/>
              <a:t>25/02/2022</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4AD7A122-14BC-4870-B74C-82AB71BD4EFB}" type="datetimeFigureOut">
              <a:rPr lang="pt-BR" smtClean="0"/>
              <a:t>25/02/2022</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948341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jpeg"/><Relationship Id="rId5" Type="http://schemas.openxmlformats.org/officeDocument/2006/relationships/image" Target="../media/image2.jpe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mp"/><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6.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5.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8.wdp"/><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1" name="CaixaDeTexto 140"/>
          <p:cNvSpPr txBox="1"/>
          <p:nvPr/>
        </p:nvSpPr>
        <p:spPr>
          <a:xfrm>
            <a:off x="294710" y="69089"/>
            <a:ext cx="6226281" cy="374590"/>
          </a:xfrm>
          <a:prstGeom prst="rect">
            <a:avLst/>
          </a:prstGeom>
          <a:noFill/>
        </p:spPr>
        <p:txBody>
          <a:bodyPr wrap="square" rtlCol="0">
            <a:spAutoFit/>
          </a:bodyPr>
          <a:lstStyle>
            <a:defPPr>
              <a:defRPr lang="pt-BR"/>
            </a:defPPr>
            <a:lvl1pPr algn="ctr">
              <a:defRPr sz="2000">
                <a:latin typeface="Bookman Old Style" panose="02050604050505020204" pitchFamily="18" charset="0"/>
              </a:defRPr>
            </a:lvl1pPr>
          </a:lstStyle>
          <a:p>
            <a:pPr defTabSz="1366508">
              <a:defRPr/>
            </a:pPr>
            <a:r>
              <a:rPr lang="pt-BR" sz="1834" b="1" dirty="0">
                <a:ln w="0"/>
                <a:effectLst>
                  <a:outerShdw blurRad="38100" dist="19050" dir="2700000" algn="tl" rotWithShape="0">
                    <a:schemeClr val="dk1">
                      <a:alpha val="40000"/>
                    </a:schemeClr>
                  </a:outerShdw>
                </a:effectLst>
                <a:latin typeface="Monda" pitchFamily="2" charset="0"/>
              </a:rPr>
              <a:t>FORNO INTELIGENTE TURBO A GÁS</a:t>
            </a:r>
          </a:p>
        </p:txBody>
      </p:sp>
      <p:cxnSp>
        <p:nvCxnSpPr>
          <p:cNvPr id="3" name="Conector reto 2">
            <a:extLst>
              <a:ext uri="{FF2B5EF4-FFF2-40B4-BE49-F238E27FC236}">
                <a16:creationId xmlns:a16="http://schemas.microsoft.com/office/drawing/2014/main" id="{028337A0-0653-400B-861B-19331BCEEE53}"/>
              </a:ext>
            </a:extLst>
          </p:cNvPr>
          <p:cNvCxnSpPr/>
          <p:nvPr/>
        </p:nvCxnSpPr>
        <p:spPr>
          <a:xfrm>
            <a:off x="44624" y="56456"/>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p:nvPr/>
        </p:nvCxnSpPr>
        <p:spPr>
          <a:xfrm>
            <a:off x="44624" y="483129"/>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1A6FB963-CC61-4B50-85F2-FDE336ACBEB4}"/>
              </a:ext>
            </a:extLst>
          </p:cNvPr>
          <p:cNvSpPr txBox="1"/>
          <p:nvPr/>
        </p:nvSpPr>
        <p:spPr>
          <a:xfrm>
            <a:off x="3886877" y="5979817"/>
            <a:ext cx="2827302" cy="1180901"/>
          </a:xfrm>
          <a:prstGeom prst="rect">
            <a:avLst/>
          </a:prstGeom>
          <a:noFill/>
        </p:spPr>
        <p:txBody>
          <a:bodyPr wrap="square" rtlCol="0">
            <a:spAutoFit/>
          </a:bodyPr>
          <a:lstStyle/>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Instruções</a:t>
            </a:r>
          </a:p>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Especificações</a:t>
            </a:r>
          </a:p>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Garantia</a:t>
            </a:r>
          </a:p>
        </p:txBody>
      </p:sp>
      <p:cxnSp>
        <p:nvCxnSpPr>
          <p:cNvPr id="62" name="Conector reto 61">
            <a:extLst>
              <a:ext uri="{FF2B5EF4-FFF2-40B4-BE49-F238E27FC236}">
                <a16:creationId xmlns:a16="http://schemas.microsoft.com/office/drawing/2014/main" id="{E4EC445A-7A7F-4A99-821C-370A70C4C94C}"/>
              </a:ext>
            </a:extLst>
          </p:cNvPr>
          <p:cNvCxnSpPr>
            <a:cxnSpLocks/>
          </p:cNvCxnSpPr>
          <p:nvPr/>
        </p:nvCxnSpPr>
        <p:spPr>
          <a:xfrm>
            <a:off x="44624" y="9470589"/>
            <a:ext cx="6725523" cy="660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C998D1FA-B843-43EC-8E70-EF066069FAC3}"/>
              </a:ext>
            </a:extLst>
          </p:cNvPr>
          <p:cNvCxnSpPr>
            <a:cxnSpLocks/>
          </p:cNvCxnSpPr>
          <p:nvPr/>
        </p:nvCxnSpPr>
        <p:spPr>
          <a:xfrm>
            <a:off x="44624" y="9828120"/>
            <a:ext cx="6725523" cy="2142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041A7CB0-8B4D-427E-A547-A67EB8EF1759}"/>
              </a:ext>
            </a:extLst>
          </p:cNvPr>
          <p:cNvSpPr txBox="1"/>
          <p:nvPr/>
        </p:nvSpPr>
        <p:spPr>
          <a:xfrm>
            <a:off x="3771750" y="7771269"/>
            <a:ext cx="3057559" cy="1200970"/>
          </a:xfrm>
          <a:prstGeom prst="rect">
            <a:avLst/>
          </a:prstGeom>
          <a:noFill/>
        </p:spPr>
        <p:txBody>
          <a:bodyPr wrap="square" rtlCol="0">
            <a:spAutoFit/>
          </a:bodyPr>
          <a:lstStyle/>
          <a:p>
            <a:pPr algn="just" defTabSz="1366508">
              <a:defRPr/>
            </a:pPr>
            <a:r>
              <a:rPr lang="pt-BR" sz="1441" dirty="0">
                <a:solidFill>
                  <a:prstClr val="black"/>
                </a:solidFill>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2" name="Imagem 1"/>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5018" r="7056"/>
          <a:stretch/>
        </p:blipFill>
        <p:spPr>
          <a:xfrm>
            <a:off x="1172058" y="3246416"/>
            <a:ext cx="2454681" cy="3950631"/>
          </a:xfrm>
          <a:prstGeom prst="rect">
            <a:avLst/>
          </a:prstGeom>
          <a:ln>
            <a:noFill/>
          </a:ln>
          <a:effectLst>
            <a:outerShdw blurRad="292100" dist="139700" dir="2700000" algn="tl" rotWithShape="0">
              <a:srgbClr val="333333">
                <a:alpha val="65000"/>
              </a:srgbClr>
            </a:outerShdw>
          </a:effectLst>
        </p:spPr>
      </p:pic>
      <p:pic>
        <p:nvPicPr>
          <p:cNvPr id="169" name="Imagem 168">
            <a:extLst>
              <a:ext uri="{FF2B5EF4-FFF2-40B4-BE49-F238E27FC236}">
                <a16:creationId xmlns:a16="http://schemas.microsoft.com/office/drawing/2014/main" id="{BEA82876-8A3B-4B4B-BF91-FA72B1E2A7D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24" y="9523124"/>
            <a:ext cx="915445" cy="274332"/>
          </a:xfrm>
          <a:prstGeom prst="rect">
            <a:avLst/>
          </a:prstGeom>
        </p:spPr>
      </p:pic>
      <p:pic>
        <p:nvPicPr>
          <p:cNvPr id="170" name="Imagem 169">
            <a:extLst>
              <a:ext uri="{FF2B5EF4-FFF2-40B4-BE49-F238E27FC236}">
                <a16:creationId xmlns:a16="http://schemas.microsoft.com/office/drawing/2014/main" id="{8DEB471D-2F74-4DD0-BD34-2D8A62FF44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7047" y="9523124"/>
            <a:ext cx="915445" cy="274332"/>
          </a:xfrm>
          <a:prstGeom prst="rect">
            <a:avLst/>
          </a:prstGeom>
        </p:spPr>
      </p:pic>
      <p:pic>
        <p:nvPicPr>
          <p:cNvPr id="171" name="Imagem 170">
            <a:extLst>
              <a:ext uri="{FF2B5EF4-FFF2-40B4-BE49-F238E27FC236}">
                <a16:creationId xmlns:a16="http://schemas.microsoft.com/office/drawing/2014/main" id="{5690F77D-BE88-47B4-B34B-B530697A5A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69470" y="9523124"/>
            <a:ext cx="915445" cy="274332"/>
          </a:xfrm>
          <a:prstGeom prst="rect">
            <a:avLst/>
          </a:prstGeom>
        </p:spPr>
      </p:pic>
      <p:pic>
        <p:nvPicPr>
          <p:cNvPr id="172" name="Imagem 171">
            <a:extLst>
              <a:ext uri="{FF2B5EF4-FFF2-40B4-BE49-F238E27FC236}">
                <a16:creationId xmlns:a16="http://schemas.microsoft.com/office/drawing/2014/main" id="{7E078482-47AD-4264-A0A3-321E0F2AF6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31894" y="9523124"/>
            <a:ext cx="915445" cy="274332"/>
          </a:xfrm>
          <a:prstGeom prst="rect">
            <a:avLst/>
          </a:prstGeom>
        </p:spPr>
      </p:pic>
      <p:pic>
        <p:nvPicPr>
          <p:cNvPr id="173" name="Imagem 172">
            <a:extLst>
              <a:ext uri="{FF2B5EF4-FFF2-40B4-BE49-F238E27FC236}">
                <a16:creationId xmlns:a16="http://schemas.microsoft.com/office/drawing/2014/main" id="{C641466B-6A9A-4503-ABA9-F4948CE8B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4317" y="9523124"/>
            <a:ext cx="915445" cy="274332"/>
          </a:xfrm>
          <a:prstGeom prst="rect">
            <a:avLst/>
          </a:prstGeom>
        </p:spPr>
      </p:pic>
      <p:pic>
        <p:nvPicPr>
          <p:cNvPr id="174" name="Imagem 173">
            <a:extLst>
              <a:ext uri="{FF2B5EF4-FFF2-40B4-BE49-F238E27FC236}">
                <a16:creationId xmlns:a16="http://schemas.microsoft.com/office/drawing/2014/main" id="{CBD1B14D-2AD3-4FF9-97CC-CCBFBFB65A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56737" y="9523124"/>
            <a:ext cx="915445" cy="274332"/>
          </a:xfrm>
          <a:prstGeom prst="rect">
            <a:avLst/>
          </a:prstGeom>
        </p:spPr>
      </p:pic>
      <p:sp>
        <p:nvSpPr>
          <p:cNvPr id="197" name="CaixaDeTexto 196">
            <a:extLst>
              <a:ext uri="{FF2B5EF4-FFF2-40B4-BE49-F238E27FC236}">
                <a16:creationId xmlns:a16="http://schemas.microsoft.com/office/drawing/2014/main" id="{1DBE23E3-7AD5-457B-AA4F-7D0A86B7015C}"/>
              </a:ext>
            </a:extLst>
          </p:cNvPr>
          <p:cNvSpPr txBox="1"/>
          <p:nvPr/>
        </p:nvSpPr>
        <p:spPr>
          <a:xfrm>
            <a:off x="1302037" y="1161654"/>
            <a:ext cx="4210698" cy="1705082"/>
          </a:xfrm>
          <a:prstGeom prst="rect">
            <a:avLst/>
          </a:prstGeom>
          <a:noFill/>
        </p:spPr>
        <p:txBody>
          <a:bodyPr wrap="square" rtlCol="0">
            <a:spAutoFit/>
          </a:bodyPr>
          <a:lstStyle/>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sp>
        <p:nvSpPr>
          <p:cNvPr id="7" name="Retângulo 6">
            <a:extLst>
              <a:ext uri="{FF2B5EF4-FFF2-40B4-BE49-F238E27FC236}">
                <a16:creationId xmlns:a16="http://schemas.microsoft.com/office/drawing/2014/main" id="{779C8118-E500-42DE-B575-448E23CEFC42}"/>
              </a:ext>
            </a:extLst>
          </p:cNvPr>
          <p:cNvSpPr/>
          <p:nvPr/>
        </p:nvSpPr>
        <p:spPr>
          <a:xfrm rot="16200000">
            <a:off x="-224749" y="5647780"/>
            <a:ext cx="2690455" cy="39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17" dirty="0">
                <a:solidFill>
                  <a:schemeClr val="tx1"/>
                </a:solidFill>
                <a:latin typeface="Monda" pitchFamily="2" charset="0"/>
              </a:rPr>
              <a:t>Forno turbo a gás com 08 assadeiras - 220V</a:t>
            </a:r>
          </a:p>
        </p:txBody>
      </p:sp>
      <p:pic>
        <p:nvPicPr>
          <p:cNvPr id="198" name="Picture 2" descr="https://www.ecointeligencia.com/wp-content/uploads/2013/04/apara-elec.jpg">
            <a:extLst>
              <a:ext uri="{FF2B5EF4-FFF2-40B4-BE49-F238E27FC236}">
                <a16:creationId xmlns:a16="http://schemas.microsoft.com/office/drawing/2014/main" id="{0A17776E-7B50-4CD6-8B51-C628B01FC73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7828" y="8693621"/>
            <a:ext cx="889761" cy="68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91794" y="342735"/>
            <a:ext cx="6603631" cy="1866345"/>
          </a:xfrm>
          <a:prstGeom prst="rect">
            <a:avLst/>
          </a:prstGeom>
          <a:noFill/>
        </p:spPr>
        <p:txBody>
          <a:bodyPr wrap="square" rtlCol="0">
            <a:spAutoFit/>
          </a:bodyPr>
          <a:lstStyle/>
          <a:p>
            <a:pPr algn="just"/>
            <a:r>
              <a:rPr lang="pt-BR" sz="1310" dirty="0"/>
              <a:t>Gostaríamos de parabeniza-lo(a)  pela aquisição de seu novo produto “Forno Ciclone” fabricado pela </a:t>
            </a:r>
            <a:r>
              <a:rPr lang="pt-BR" sz="1310" i="1" dirty="0"/>
              <a:t>Só Aço Industrial LTDA</a:t>
            </a:r>
            <a:r>
              <a:rPr lang="pt-BR" sz="1310" dirty="0"/>
              <a:t>. Buscando a melhor análise de custo/beneficio pelo cliente, a Só Aço Industrial, sempre busca inovar em seus processos, aumentar a eficiência com que atende o cliente e inserir no mercado produtos de alta qualidade.</a:t>
            </a:r>
          </a:p>
          <a:p>
            <a:pPr algn="just"/>
            <a:r>
              <a:rPr lang="pt-BR" sz="1310" dirty="0"/>
              <a:t>Portanto, sugerimos a leitura  deste manual de maneira minuciosa e qualquer dúvida ficaremos satisfeitos em sana-las.</a:t>
            </a:r>
          </a:p>
          <a:p>
            <a:pPr algn="just"/>
            <a:endParaRPr lang="pt-BR" sz="1310" dirty="0"/>
          </a:p>
          <a:p>
            <a:pPr algn="r"/>
            <a:r>
              <a:rPr lang="pt-BR" sz="1310" b="1" dirty="0"/>
              <a:t>Só Aço Industrial LTDA</a:t>
            </a:r>
            <a:r>
              <a:rPr lang="pt-BR" sz="1310" dirty="0"/>
              <a:t> </a:t>
            </a:r>
          </a:p>
          <a:p>
            <a:pPr algn="just"/>
            <a:r>
              <a:rPr lang="pt-BR" sz="1048" dirty="0"/>
              <a:t> </a:t>
            </a:r>
          </a:p>
        </p:txBody>
      </p:sp>
      <p:sp>
        <p:nvSpPr>
          <p:cNvPr id="2" name="CaixaDeTexto 1">
            <a:extLst>
              <a:ext uri="{FF2B5EF4-FFF2-40B4-BE49-F238E27FC236}">
                <a16:creationId xmlns:a16="http://schemas.microsoft.com/office/drawing/2014/main" id="{68D55697-2B46-4B29-B96B-8BE932CFF598}"/>
              </a:ext>
            </a:extLst>
          </p:cNvPr>
          <p:cNvSpPr txBox="1"/>
          <p:nvPr/>
        </p:nvSpPr>
        <p:spPr>
          <a:xfrm>
            <a:off x="101641" y="2111852"/>
            <a:ext cx="6603631" cy="908839"/>
          </a:xfrm>
          <a:prstGeom prst="rect">
            <a:avLst/>
          </a:prstGeom>
          <a:noFill/>
        </p:spPr>
        <p:txBody>
          <a:bodyPr wrap="square" rtlCol="0">
            <a:spAutoFit/>
          </a:bodyPr>
          <a:lstStyle/>
          <a:p>
            <a:pPr algn="just"/>
            <a:r>
              <a:rPr lang="pt-BR" sz="1376" b="1" dirty="0"/>
              <a:t>NOTA: </a:t>
            </a:r>
            <a:r>
              <a:rPr lang="pt-BR" sz="1310" i="1" dirty="0"/>
              <a:t>Guarde a </a:t>
            </a:r>
            <a:r>
              <a:rPr lang="pt-BR" sz="1310" i="1" u="sng" dirty="0"/>
              <a:t>Nota fiscal </a:t>
            </a:r>
            <a:r>
              <a:rPr lang="pt-BR" sz="131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 name="Retângulo 2">
            <a:extLst>
              <a:ext uri="{FF2B5EF4-FFF2-40B4-BE49-F238E27FC236}">
                <a16:creationId xmlns:a16="http://schemas.microsoft.com/office/drawing/2014/main" id="{CD107282-333D-4746-982F-87E1388086CA}"/>
              </a:ext>
            </a:extLst>
          </p:cNvPr>
          <p:cNvSpPr/>
          <p:nvPr/>
        </p:nvSpPr>
        <p:spPr>
          <a:xfrm>
            <a:off x="92203" y="3009313"/>
            <a:ext cx="672117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41" b="1" dirty="0">
                <a:solidFill>
                  <a:schemeClr val="tx1"/>
                </a:solidFill>
              </a:rPr>
              <a:t>Índice</a:t>
            </a:r>
          </a:p>
        </p:txBody>
      </p:sp>
      <p:sp>
        <p:nvSpPr>
          <p:cNvPr id="10" name="CaixaDeTexto 9">
            <a:extLst>
              <a:ext uri="{FF2B5EF4-FFF2-40B4-BE49-F238E27FC236}">
                <a16:creationId xmlns:a16="http://schemas.microsoft.com/office/drawing/2014/main" id="{CE87DAD6-2E8E-48FE-BFD6-31CEFD67260E}"/>
              </a:ext>
            </a:extLst>
          </p:cNvPr>
          <p:cNvSpPr txBox="1"/>
          <p:nvPr/>
        </p:nvSpPr>
        <p:spPr>
          <a:xfrm>
            <a:off x="3155751" y="938256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01</a:t>
            </a:r>
          </a:p>
        </p:txBody>
      </p:sp>
      <p:sp>
        <p:nvSpPr>
          <p:cNvPr id="4" name="CaixaDeTexto 3"/>
          <p:cNvSpPr txBox="1"/>
          <p:nvPr/>
        </p:nvSpPr>
        <p:spPr>
          <a:xfrm>
            <a:off x="101641" y="0"/>
            <a:ext cx="5094230" cy="314060"/>
          </a:xfrm>
          <a:prstGeom prst="rect">
            <a:avLst/>
          </a:prstGeom>
          <a:noFill/>
        </p:spPr>
        <p:txBody>
          <a:bodyPr wrap="square" rtlCol="0">
            <a:spAutoFit/>
          </a:bodyPr>
          <a:lstStyle/>
          <a:p>
            <a:r>
              <a:rPr lang="pt-BR" sz="1441" b="1" dirty="0">
                <a:latin typeface="Arial" pitchFamily="34" charset="0"/>
                <a:cs typeface="Arial" pitchFamily="34" charset="0"/>
              </a:rPr>
              <a:t>APRESENTAÇÃO</a:t>
            </a:r>
          </a:p>
        </p:txBody>
      </p:sp>
      <p:graphicFrame>
        <p:nvGraphicFramePr>
          <p:cNvPr id="5" name="Tabela 4">
            <a:extLst>
              <a:ext uri="{FF2B5EF4-FFF2-40B4-BE49-F238E27FC236}">
                <a16:creationId xmlns:a16="http://schemas.microsoft.com/office/drawing/2014/main" id="{E8CD2820-2A7B-4C3F-B6E5-5819695CE349}"/>
              </a:ext>
            </a:extLst>
          </p:cNvPr>
          <p:cNvGraphicFramePr>
            <a:graphicFrameLocks noGrp="1"/>
          </p:cNvGraphicFramePr>
          <p:nvPr>
            <p:extLst>
              <p:ext uri="{D42A27DB-BD31-4B8C-83A1-F6EECF244321}">
                <p14:modId xmlns:p14="http://schemas.microsoft.com/office/powerpoint/2010/main" val="259658913"/>
              </p:ext>
            </p:extLst>
          </p:nvPr>
        </p:nvGraphicFramePr>
        <p:xfrm>
          <a:off x="147584" y="3300892"/>
          <a:ext cx="6593784" cy="6116604"/>
        </p:xfrm>
        <a:graphic>
          <a:graphicData uri="http://schemas.openxmlformats.org/drawingml/2006/table">
            <a:tbl>
              <a:tblPr firstRow="1" bandRow="1">
                <a:tableStyleId>{2D5ABB26-0587-4C30-8999-92F81FD0307C}</a:tableStyleId>
              </a:tblPr>
              <a:tblGrid>
                <a:gridCol w="1691956">
                  <a:extLst>
                    <a:ext uri="{9D8B030D-6E8A-4147-A177-3AD203B41FA5}">
                      <a16:colId xmlns:a16="http://schemas.microsoft.com/office/drawing/2014/main" val="3946449252"/>
                    </a:ext>
                  </a:extLst>
                </a:gridCol>
                <a:gridCol w="4468847">
                  <a:extLst>
                    <a:ext uri="{9D8B030D-6E8A-4147-A177-3AD203B41FA5}">
                      <a16:colId xmlns:a16="http://schemas.microsoft.com/office/drawing/2014/main" val="3954161385"/>
                    </a:ext>
                  </a:extLst>
                </a:gridCol>
                <a:gridCol w="432981">
                  <a:extLst>
                    <a:ext uri="{9D8B030D-6E8A-4147-A177-3AD203B41FA5}">
                      <a16:colId xmlns:a16="http://schemas.microsoft.com/office/drawing/2014/main" val="4290746406"/>
                    </a:ext>
                  </a:extLst>
                </a:gridCol>
              </a:tblGrid>
              <a:tr h="299489">
                <a:tc>
                  <a:txBody>
                    <a:bodyPr/>
                    <a:lstStyle/>
                    <a:p>
                      <a:r>
                        <a:rPr lang="pt-BR" sz="1200" u="none" strike="noStrike" kern="1200" dirty="0">
                          <a:solidFill>
                            <a:schemeClr val="dk1"/>
                          </a:solidFill>
                          <a:effectLst/>
                          <a:latin typeface="Arial" panose="020B0604020202020204" pitchFamily="34" charset="0"/>
                          <a:ea typeface="+mn-ea"/>
                          <a:cs typeface="Arial" panose="020B0604020202020204" pitchFamily="34" charset="0"/>
                        </a:rPr>
                        <a:t>Apresentação</a:t>
                      </a:r>
                    </a:p>
                  </a:txBody>
                  <a:tcPr marL="119795" marR="119795" marT="59898" marB="59898"/>
                </a:tc>
                <a:tc>
                  <a:txBody>
                    <a:bodyPr/>
                    <a:lstStyle/>
                    <a:p>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pPr marL="0" indent="0"/>
                      <a:r>
                        <a:rPr lang="pt-BR" sz="1200" dirty="0">
                          <a:latin typeface="Arial" panose="020B0604020202020204" pitchFamily="34" charset="0"/>
                          <a:cs typeface="Arial" panose="020B0604020202020204" pitchFamily="34" charset="0"/>
                        </a:rPr>
                        <a:t>01</a:t>
                      </a:r>
                    </a:p>
                  </a:txBody>
                  <a:tcPr marL="119795" marR="119795" marT="59898" marB="59898"/>
                </a:tc>
                <a:extLst>
                  <a:ext uri="{0D108BD9-81ED-4DB2-BD59-A6C34878D82A}">
                    <a16:rowId xmlns:a16="http://schemas.microsoft.com/office/drawing/2014/main" val="1101373252"/>
                  </a:ext>
                </a:extLst>
              </a:tr>
              <a:tr h="299489">
                <a:tc>
                  <a:txBody>
                    <a:bodyPr/>
                    <a:lstStyle/>
                    <a:p>
                      <a:r>
                        <a:rPr lang="pt-BR" sz="1200" dirty="0">
                          <a:latin typeface="Arial" panose="020B0604020202020204" pitchFamily="34" charset="0"/>
                          <a:cs typeface="Arial" panose="020B0604020202020204" pitchFamily="34" charset="0"/>
                        </a:rPr>
                        <a:t>Dicas importantes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200759808"/>
                  </a:ext>
                </a:extLst>
              </a:tr>
              <a:tr h="299489">
                <a:tc>
                  <a:txBody>
                    <a:bodyPr/>
                    <a:lstStyle/>
                    <a:p>
                      <a:r>
                        <a:rPr lang="pt-BR" sz="1200" dirty="0">
                          <a:latin typeface="Arial" panose="020B0604020202020204" pitchFamily="34" charset="0"/>
                          <a:cs typeface="Arial" panose="020B0604020202020204" pitchFamily="34" charset="0"/>
                        </a:rPr>
                        <a:t>Instalação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228538172"/>
                  </a:ext>
                </a:extLst>
              </a:tr>
              <a:tr h="299489">
                <a:tc>
                  <a:txBody>
                    <a:bodyPr/>
                    <a:lstStyle/>
                    <a:p>
                      <a:r>
                        <a:rPr lang="pt-BR" sz="1200" dirty="0">
                          <a:latin typeface="Arial" panose="020B0604020202020204" pitchFamily="34" charset="0"/>
                          <a:cs typeface="Arial" panose="020B0604020202020204" pitchFamily="34" charset="0"/>
                        </a:rPr>
                        <a:t>Descrição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946835011"/>
                  </a:ext>
                </a:extLst>
              </a:tr>
              <a:tr h="299489">
                <a:tc>
                  <a:txBody>
                    <a:bodyPr/>
                    <a:lstStyle/>
                    <a:p>
                      <a:r>
                        <a:rPr lang="pt-BR" sz="1200" dirty="0">
                          <a:latin typeface="Arial" panose="020B0604020202020204" pitchFamily="34" charset="0"/>
                          <a:cs typeface="Arial" panose="020B0604020202020204" pitchFamily="34" charset="0"/>
                        </a:rPr>
                        <a:t>Porta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3178435739"/>
                  </a:ext>
                </a:extLst>
              </a:tr>
              <a:tr h="299489">
                <a:tc>
                  <a:txBody>
                    <a:bodyPr/>
                    <a:lstStyle/>
                    <a:p>
                      <a:r>
                        <a:rPr lang="pt-BR" sz="1200" dirty="0">
                          <a:latin typeface="Arial" panose="020B0604020202020204" pitchFamily="34" charset="0"/>
                          <a:cs typeface="Arial" panose="020B0604020202020204" pitchFamily="34" charset="0"/>
                        </a:rPr>
                        <a:t>Luz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2657325433"/>
                  </a:ext>
                </a:extLst>
              </a:tr>
              <a:tr h="299489">
                <a:tc>
                  <a:txBody>
                    <a:bodyPr/>
                    <a:lstStyle/>
                    <a:p>
                      <a:r>
                        <a:rPr lang="pt-BR" sz="1200" dirty="0">
                          <a:latin typeface="Arial" panose="020B0604020202020204" pitchFamily="34" charset="0"/>
                          <a:cs typeface="Arial" panose="020B0604020202020204" pitchFamily="34" charset="0"/>
                        </a:rPr>
                        <a:t>Turbo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369875972"/>
                  </a:ext>
                </a:extLst>
              </a:tr>
              <a:tr h="299489">
                <a:tc>
                  <a:txBody>
                    <a:bodyPr/>
                    <a:lstStyle/>
                    <a:p>
                      <a:r>
                        <a:rPr lang="pt-BR" sz="1200" dirty="0">
                          <a:latin typeface="Arial" panose="020B0604020202020204" pitchFamily="34" charset="0"/>
                          <a:cs typeface="Arial" panose="020B0604020202020204" pitchFamily="34" charset="0"/>
                        </a:rPr>
                        <a:t>Queimador</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1673951737"/>
                  </a:ext>
                </a:extLst>
              </a:tr>
              <a:tr h="299489">
                <a:tc>
                  <a:txBody>
                    <a:bodyPr/>
                    <a:lstStyle/>
                    <a:p>
                      <a:r>
                        <a:rPr lang="pt-BR" sz="1200" dirty="0">
                          <a:latin typeface="Arial" panose="020B0604020202020204" pitchFamily="34" charset="0"/>
                          <a:cs typeface="Arial" panose="020B0604020202020204" pitchFamily="34" charset="0"/>
                        </a:rPr>
                        <a:t>Controlador digital</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04</a:t>
                      </a:r>
                    </a:p>
                  </a:txBody>
                  <a:tcPr marL="119795" marR="119795" marT="59898" marB="59898"/>
                </a:tc>
                <a:extLst>
                  <a:ext uri="{0D108BD9-81ED-4DB2-BD59-A6C34878D82A}">
                    <a16:rowId xmlns:a16="http://schemas.microsoft.com/office/drawing/2014/main" val="2494977238"/>
                  </a:ext>
                </a:extLst>
              </a:tr>
              <a:tr h="479182">
                <a:tc>
                  <a:txBody>
                    <a:bodyPr/>
                    <a:lstStyle/>
                    <a:p>
                      <a:r>
                        <a:rPr lang="pt-BR" sz="1200" dirty="0">
                          <a:latin typeface="Arial" panose="020B0604020202020204" pitchFamily="34" charset="0"/>
                          <a:cs typeface="Arial" panose="020B0604020202020204" pitchFamily="34" charset="0"/>
                        </a:rPr>
                        <a:t>Programação do forno digital</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04</a:t>
                      </a:r>
                    </a:p>
                  </a:txBody>
                  <a:tcPr marL="119795" marR="119795" marT="59898" marB="59898"/>
                </a:tc>
                <a:extLst>
                  <a:ext uri="{0D108BD9-81ED-4DB2-BD59-A6C34878D82A}">
                    <a16:rowId xmlns:a16="http://schemas.microsoft.com/office/drawing/2014/main" val="1321125327"/>
                  </a:ext>
                </a:extLst>
              </a:tr>
              <a:tr h="299489">
                <a:tc>
                  <a:txBody>
                    <a:bodyPr/>
                    <a:lstStyle/>
                    <a:p>
                      <a:r>
                        <a:rPr lang="pt-BR" sz="1200" dirty="0">
                          <a:latin typeface="Arial" panose="020B0604020202020204" pitchFamily="34" charset="0"/>
                          <a:cs typeface="Arial" panose="020B0604020202020204" pitchFamily="34" charset="0"/>
                        </a:rPr>
                        <a:t>Códigos de falhas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05</a:t>
                      </a:r>
                    </a:p>
                  </a:txBody>
                  <a:tcPr marL="119795" marR="119795" marT="59898" marB="59898"/>
                </a:tc>
                <a:extLst>
                  <a:ext uri="{0D108BD9-81ED-4DB2-BD59-A6C34878D82A}">
                    <a16:rowId xmlns:a16="http://schemas.microsoft.com/office/drawing/2014/main" val="4294782624"/>
                  </a:ext>
                </a:extLst>
              </a:tr>
              <a:tr h="299489">
                <a:tc>
                  <a:txBody>
                    <a:bodyPr/>
                    <a:lstStyle/>
                    <a:p>
                      <a:r>
                        <a:rPr lang="pt-BR" sz="1200" dirty="0">
                          <a:latin typeface="Arial" panose="020B0604020202020204" pitchFamily="34" charset="0"/>
                          <a:cs typeface="Arial" panose="020B0604020202020204" pitchFamily="34" charset="0"/>
                        </a:rPr>
                        <a:t>Acendimento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05</a:t>
                      </a:r>
                    </a:p>
                  </a:txBody>
                  <a:tcPr marL="119795" marR="119795" marT="59898" marB="59898"/>
                </a:tc>
                <a:extLst>
                  <a:ext uri="{0D108BD9-81ED-4DB2-BD59-A6C34878D82A}">
                    <a16:rowId xmlns:a16="http://schemas.microsoft.com/office/drawing/2014/main" val="865552348"/>
                  </a:ext>
                </a:extLst>
              </a:tr>
              <a:tr h="299489">
                <a:tc>
                  <a:txBody>
                    <a:bodyPr/>
                    <a:lstStyle/>
                    <a:p>
                      <a:r>
                        <a:rPr lang="pt-BR" sz="1200" dirty="0">
                          <a:latin typeface="Arial" panose="020B0604020202020204" pitchFamily="34" charset="0"/>
                          <a:cs typeface="Arial" panose="020B0604020202020204" pitchFamily="34" charset="0"/>
                        </a:rPr>
                        <a:t>Limpeza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1355992496"/>
                  </a:ext>
                </a:extLst>
              </a:tr>
              <a:tr h="299489">
                <a:tc>
                  <a:txBody>
                    <a:bodyPr/>
                    <a:lstStyle/>
                    <a:p>
                      <a:r>
                        <a:rPr lang="pt-BR" sz="1200" dirty="0">
                          <a:latin typeface="Arial" panose="020B0604020202020204" pitchFamily="34" charset="0"/>
                          <a:cs typeface="Arial" panose="020B0604020202020204" pitchFamily="34" charset="0"/>
                        </a:rPr>
                        <a:t>Alimentação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2591299060"/>
                  </a:ext>
                </a:extLst>
              </a:tr>
              <a:tr h="479182">
                <a:tc>
                  <a:txBody>
                    <a:bodyPr/>
                    <a:lstStyle/>
                    <a:p>
                      <a:r>
                        <a:rPr lang="pt-BR" sz="1200" dirty="0">
                          <a:latin typeface="Arial" panose="020B0604020202020204" pitchFamily="34" charset="0"/>
                          <a:cs typeface="Arial" panose="020B0604020202020204" pitchFamily="34" charset="0"/>
                        </a:rPr>
                        <a:t>Controlador de pressão e umidade</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1136103246"/>
                  </a:ext>
                </a:extLst>
              </a:tr>
              <a:tr h="299489">
                <a:tc>
                  <a:txBody>
                    <a:bodyPr/>
                    <a:lstStyle/>
                    <a:p>
                      <a:r>
                        <a:rPr lang="pt-BR" sz="1200" dirty="0">
                          <a:latin typeface="Arial" panose="020B0604020202020204" pitchFamily="34" charset="0"/>
                          <a:cs typeface="Arial" panose="020B0604020202020204" pitchFamily="34" charset="0"/>
                        </a:rPr>
                        <a:t>Medidas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3389538389"/>
                  </a:ext>
                </a:extLst>
              </a:tr>
              <a:tr h="299489">
                <a:tc>
                  <a:txBody>
                    <a:bodyPr/>
                    <a:lstStyle/>
                    <a:p>
                      <a:r>
                        <a:rPr lang="pt-BR" sz="1200" dirty="0">
                          <a:latin typeface="Arial" panose="020B0604020202020204" pitchFamily="34" charset="0"/>
                          <a:cs typeface="Arial" panose="020B0604020202020204" pitchFamily="34" charset="0"/>
                        </a:rPr>
                        <a:t>Esquema de ligações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07</a:t>
                      </a:r>
                    </a:p>
                  </a:txBody>
                  <a:tcPr marL="119795" marR="119795" marT="59898" marB="59898"/>
                </a:tc>
                <a:extLst>
                  <a:ext uri="{0D108BD9-81ED-4DB2-BD59-A6C34878D82A}">
                    <a16:rowId xmlns:a16="http://schemas.microsoft.com/office/drawing/2014/main" val="4027581846"/>
                  </a:ext>
                </a:extLst>
              </a:tr>
              <a:tr h="299489">
                <a:tc>
                  <a:txBody>
                    <a:bodyPr/>
                    <a:lstStyle/>
                    <a:p>
                      <a:r>
                        <a:rPr lang="pt-BR" sz="1200" dirty="0">
                          <a:latin typeface="Arial" panose="020B0604020202020204" pitchFamily="34" charset="0"/>
                          <a:cs typeface="Arial" panose="020B0604020202020204" pitchFamily="34" charset="0"/>
                        </a:rPr>
                        <a:t>Vista explodida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08</a:t>
                      </a:r>
                    </a:p>
                  </a:txBody>
                  <a:tcPr marL="119795" marR="119795" marT="59898" marB="59898"/>
                </a:tc>
                <a:extLst>
                  <a:ext uri="{0D108BD9-81ED-4DB2-BD59-A6C34878D82A}">
                    <a16:rowId xmlns:a16="http://schemas.microsoft.com/office/drawing/2014/main" val="632701"/>
                  </a:ext>
                </a:extLst>
              </a:tr>
              <a:tr h="299489">
                <a:tc>
                  <a:txBody>
                    <a:bodyPr/>
                    <a:lstStyle/>
                    <a:p>
                      <a:r>
                        <a:rPr lang="pt-BR" sz="1200" dirty="0">
                          <a:latin typeface="Arial" panose="020B0604020202020204" pitchFamily="34" charset="0"/>
                          <a:cs typeface="Arial" panose="020B0604020202020204" pitchFamily="34" charset="0"/>
                        </a:rPr>
                        <a:t>Termo de garantia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11</a:t>
                      </a:r>
                    </a:p>
                  </a:txBody>
                  <a:tcPr marL="119795" marR="119795" marT="59898" marB="59898"/>
                </a:tc>
                <a:extLst>
                  <a:ext uri="{0D108BD9-81ED-4DB2-BD59-A6C34878D82A}">
                    <a16:rowId xmlns:a16="http://schemas.microsoft.com/office/drawing/2014/main" val="2711186377"/>
                  </a:ext>
                </a:extLst>
              </a:tr>
            </a:tbl>
          </a:graphicData>
        </a:graphic>
      </p:graphicFrame>
    </p:spTree>
    <p:extLst>
      <p:ext uri="{BB962C8B-B14F-4D97-AF65-F5344CB8AC3E}">
        <p14:creationId xmlns:p14="http://schemas.microsoft.com/office/powerpoint/2010/main" val="93668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611D8128-1566-4627-9914-3052E7C4CAD5}"/>
              </a:ext>
            </a:extLst>
          </p:cNvPr>
          <p:cNvSpPr txBox="1"/>
          <p:nvPr/>
        </p:nvSpPr>
        <p:spPr>
          <a:xfrm>
            <a:off x="131749" y="425287"/>
            <a:ext cx="6530332" cy="2632772"/>
          </a:xfrm>
          <a:prstGeom prst="rect">
            <a:avLst/>
          </a:prstGeom>
          <a:noFill/>
        </p:spPr>
        <p:txBody>
          <a:bodyPr wrap="square" rtlCol="0" anchor="t">
            <a:spAutoFit/>
          </a:bodyPr>
          <a:lstStyle/>
          <a:p>
            <a:pPr algn="just"/>
            <a:r>
              <a:rPr lang="pt-BR" sz="1179" dirty="0">
                <a:latin typeface="Arial" pitchFamily="34" charset="0"/>
                <a:cs typeface="Arial" pitchFamily="34" charset="0"/>
              </a:rPr>
              <a:t>1.1 A instalação deve ser feita de acordo com as instruções do fabricante e por pessoas qualificadas e autorizadas;</a:t>
            </a:r>
          </a:p>
          <a:p>
            <a:pPr algn="just"/>
            <a:r>
              <a:rPr lang="pt-BR" sz="1179" dirty="0">
                <a:latin typeface="Arial" pitchFamily="34" charset="0"/>
                <a:cs typeface="Arial" pitchFamily="34" charset="0"/>
              </a:rPr>
              <a:t>1.2 Para eventuais reparos, dirija-se exclusivamente a um centro de assistência técnica autorizado pelo fabricante e solicite peças de reposição originais;</a:t>
            </a:r>
          </a:p>
          <a:p>
            <a:pPr algn="just"/>
            <a:r>
              <a:rPr lang="pt-BR" sz="1179" dirty="0">
                <a:latin typeface="Arial" pitchFamily="34" charset="0"/>
                <a:cs typeface="Arial" pitchFamily="34" charset="0"/>
              </a:rPr>
              <a:t>1.3 O não cumprimento dos avisos contidos neste manual pode comprometer a segurança do operador;</a:t>
            </a:r>
          </a:p>
          <a:p>
            <a:pPr algn="just"/>
            <a:r>
              <a:rPr lang="pt-BR" sz="1179" dirty="0">
                <a:latin typeface="Arial" pitchFamily="34" charset="0"/>
                <a:cs typeface="Arial" pitchFamily="34" charset="0"/>
              </a:rPr>
              <a:t>1.4 Entre em contato com o distribuidor de sua confiança para conseguir o endereço da autorizada mais próxima de você.</a:t>
            </a:r>
          </a:p>
          <a:p>
            <a:pPr algn="just"/>
            <a:r>
              <a:rPr lang="pt-BR" sz="1179" dirty="0">
                <a:latin typeface="Arial" pitchFamily="34" charset="0"/>
                <a:cs typeface="Arial" pitchFamily="34" charset="0"/>
              </a:rPr>
              <a:t>1.5 Conservar em local adequado este manual para qualquer consulta.</a:t>
            </a:r>
          </a:p>
          <a:p>
            <a:pPr algn="just"/>
            <a:r>
              <a:rPr lang="pt-BR" sz="1179" dirty="0">
                <a:latin typeface="Arial" pitchFamily="34" charset="0"/>
                <a:cs typeface="Arial" pitchFamily="34" charset="0"/>
              </a:rPr>
              <a:t>1.6 O fabricante reserva-se o direito de modificar em qualquer momento e sem aviso prévio o conteúdo deste manual.</a:t>
            </a:r>
          </a:p>
          <a:p>
            <a:pPr algn="just"/>
            <a:r>
              <a:rPr lang="pt-BR" sz="1179" dirty="0">
                <a:latin typeface="Arial" pitchFamily="34" charset="0"/>
                <a:cs typeface="Arial" pitchFamily="34" charset="0"/>
              </a:rPr>
              <a:t>1.7 A Só Aço se reserva do direito de alterar as características dos seus produtos sem aviso prévio.</a:t>
            </a:r>
          </a:p>
          <a:p>
            <a:pPr algn="just"/>
            <a:endParaRPr lang="pt-BR" sz="1179" dirty="0">
              <a:latin typeface="Arial" pitchFamily="34" charset="0"/>
              <a:cs typeface="Arial" pitchFamily="34" charset="0"/>
            </a:endParaRPr>
          </a:p>
        </p:txBody>
      </p:sp>
      <p:sp>
        <p:nvSpPr>
          <p:cNvPr id="11" name="Retângulo 10">
            <a:extLst>
              <a:ext uri="{FF2B5EF4-FFF2-40B4-BE49-F238E27FC236}">
                <a16:creationId xmlns:a16="http://schemas.microsoft.com/office/drawing/2014/main" id="{A5241CD7-1878-44BD-9BE4-7558038A80D1}"/>
              </a:ext>
            </a:extLst>
          </p:cNvPr>
          <p:cNvSpPr/>
          <p:nvPr/>
        </p:nvSpPr>
        <p:spPr>
          <a:xfrm>
            <a:off x="156807" y="3104439"/>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2. Instalação</a:t>
            </a:r>
          </a:p>
        </p:txBody>
      </p:sp>
      <p:sp>
        <p:nvSpPr>
          <p:cNvPr id="12" name="CaixaDeTexto 11">
            <a:extLst>
              <a:ext uri="{FF2B5EF4-FFF2-40B4-BE49-F238E27FC236}">
                <a16:creationId xmlns:a16="http://schemas.microsoft.com/office/drawing/2014/main" id="{EB0FD5D4-8B17-4B4D-9B77-2C0C00839FA3}"/>
              </a:ext>
            </a:extLst>
          </p:cNvPr>
          <p:cNvSpPr txBox="1"/>
          <p:nvPr/>
        </p:nvSpPr>
        <p:spPr>
          <a:xfrm>
            <a:off x="174247" y="3342704"/>
            <a:ext cx="3891974" cy="1181093"/>
          </a:xfrm>
          <a:prstGeom prst="rect">
            <a:avLst/>
          </a:prstGeom>
          <a:noFill/>
        </p:spPr>
        <p:txBody>
          <a:bodyPr wrap="square" rtlCol="0">
            <a:spAutoFit/>
          </a:bodyPr>
          <a:lstStyle/>
          <a:p>
            <a:pPr algn="just"/>
            <a:r>
              <a:rPr lang="pt-BR" sz="1179" dirty="0">
                <a:latin typeface="Arial" pitchFamily="34" charset="0"/>
                <a:cs typeface="Arial" pitchFamily="34" charset="0"/>
              </a:rPr>
              <a:t>2.1 Antes de usar seu Forno Turbo a gás, efetue a ligação do fio terra, para poder operar sem riscos de sofrer descarga elétrica.</a:t>
            </a:r>
          </a:p>
          <a:p>
            <a:pPr algn="just"/>
            <a:r>
              <a:rPr lang="pt-BR" sz="1179" dirty="0">
                <a:latin typeface="Arial" pitchFamily="34" charset="0"/>
                <a:cs typeface="Arial" pitchFamily="34" charset="0"/>
              </a:rPr>
              <a:t>2.2 Providencie a ligação da água, conectando-a na eletroválvula, que se encontra na parte de trás do forno.</a:t>
            </a:r>
          </a:p>
          <a:p>
            <a:pPr algn="just"/>
            <a:endParaRPr lang="pt-BR" sz="1179" dirty="0">
              <a:latin typeface="Arial" pitchFamily="34" charset="0"/>
              <a:cs typeface="Arial" pitchFamily="34" charset="0"/>
            </a:endParaRPr>
          </a:p>
        </p:txBody>
      </p:sp>
      <p:sp>
        <p:nvSpPr>
          <p:cNvPr id="13" name="Retângulo 12">
            <a:extLst>
              <a:ext uri="{FF2B5EF4-FFF2-40B4-BE49-F238E27FC236}">
                <a16:creationId xmlns:a16="http://schemas.microsoft.com/office/drawing/2014/main" id="{7FFD82F9-C7D0-470B-B271-C9E9CB668485}"/>
              </a:ext>
            </a:extLst>
          </p:cNvPr>
          <p:cNvSpPr/>
          <p:nvPr/>
        </p:nvSpPr>
        <p:spPr>
          <a:xfrm>
            <a:off x="116632" y="6654135"/>
            <a:ext cx="6632208"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3. Descrição do forno</a:t>
            </a:r>
          </a:p>
        </p:txBody>
      </p:sp>
      <p:sp>
        <p:nvSpPr>
          <p:cNvPr id="14" name="CaixaDeTexto 13">
            <a:extLst>
              <a:ext uri="{FF2B5EF4-FFF2-40B4-BE49-F238E27FC236}">
                <a16:creationId xmlns:a16="http://schemas.microsoft.com/office/drawing/2014/main" id="{91292503-C69D-464F-91F7-52B99FFDC2F3}"/>
              </a:ext>
            </a:extLst>
          </p:cNvPr>
          <p:cNvSpPr txBox="1"/>
          <p:nvPr/>
        </p:nvSpPr>
        <p:spPr>
          <a:xfrm>
            <a:off x="209222" y="6952038"/>
            <a:ext cx="1004314"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PAINEL</a:t>
            </a:r>
            <a:endParaRPr lang="pt-BR" sz="1179" b="1" dirty="0">
              <a:solidFill>
                <a:srgbClr val="FF0000"/>
              </a:solidFill>
              <a:latin typeface="Arial" panose="020B0604020202020204" pitchFamily="34" charset="0"/>
              <a:cs typeface="Arial" panose="020B0604020202020204" pitchFamily="34" charset="0"/>
            </a:endParaRPr>
          </a:p>
        </p:txBody>
      </p:sp>
      <p:sp>
        <p:nvSpPr>
          <p:cNvPr id="15" name="CaixaDeTexto 14">
            <a:extLst>
              <a:ext uri="{FF2B5EF4-FFF2-40B4-BE49-F238E27FC236}">
                <a16:creationId xmlns:a16="http://schemas.microsoft.com/office/drawing/2014/main" id="{6B2D2BC9-217F-4A2D-94CB-1D2610BC4123}"/>
              </a:ext>
            </a:extLst>
          </p:cNvPr>
          <p:cNvSpPr txBox="1"/>
          <p:nvPr/>
        </p:nvSpPr>
        <p:spPr>
          <a:xfrm>
            <a:off x="3181294" y="9503743"/>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02</a:t>
            </a:r>
          </a:p>
        </p:txBody>
      </p:sp>
      <p:sp>
        <p:nvSpPr>
          <p:cNvPr id="16" name="Retângulo 15">
            <a:extLst>
              <a:ext uri="{FF2B5EF4-FFF2-40B4-BE49-F238E27FC236}">
                <a16:creationId xmlns:a16="http://schemas.microsoft.com/office/drawing/2014/main" id="{8EE3F7D6-A8DA-4253-AD34-5A187C4DF626}"/>
              </a:ext>
            </a:extLst>
          </p:cNvPr>
          <p:cNvSpPr/>
          <p:nvPr/>
        </p:nvSpPr>
        <p:spPr>
          <a:xfrm>
            <a:off x="156807" y="13071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 Dicas importantes</a:t>
            </a:r>
          </a:p>
        </p:txBody>
      </p:sp>
      <p:pic>
        <p:nvPicPr>
          <p:cNvPr id="17" name="Imagem 16">
            <a:extLst>
              <a:ext uri="{FF2B5EF4-FFF2-40B4-BE49-F238E27FC236}">
                <a16:creationId xmlns:a16="http://schemas.microsoft.com/office/drawing/2014/main" id="{A2BC766E-B9AB-4811-BD18-6A1404814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9001" y="3460128"/>
            <a:ext cx="2578159" cy="1002029"/>
          </a:xfrm>
          <a:prstGeom prst="rect">
            <a:avLst/>
          </a:prstGeom>
        </p:spPr>
      </p:pic>
      <p:sp>
        <p:nvSpPr>
          <p:cNvPr id="18" name="CaixaDeTexto 17">
            <a:extLst>
              <a:ext uri="{FF2B5EF4-FFF2-40B4-BE49-F238E27FC236}">
                <a16:creationId xmlns:a16="http://schemas.microsoft.com/office/drawing/2014/main" id="{27C9E74E-2B2F-4D05-AE96-9162F232A35B}"/>
              </a:ext>
            </a:extLst>
          </p:cNvPr>
          <p:cNvSpPr txBox="1"/>
          <p:nvPr/>
        </p:nvSpPr>
        <p:spPr>
          <a:xfrm>
            <a:off x="135492" y="4426566"/>
            <a:ext cx="6632208" cy="63671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2.3 Certifique-se que não há vazamentos nas válvulas e ligação das mangueiras de passagem do gás. Para isso, use sabão ou detergente. Se produzir bolha é sinal que há vazamento. </a:t>
            </a:r>
            <a:r>
              <a:rPr lang="pt-BR" sz="1179" b="1" dirty="0">
                <a:latin typeface="Arial" panose="020B0604020202020204" pitchFamily="34" charset="0"/>
                <a:cs typeface="Arial" pitchFamily="34" charset="0"/>
              </a:rPr>
              <a:t>Utilize sempre os dois botijões de gás.</a:t>
            </a:r>
            <a:endParaRPr lang="pt-BR" sz="1179" dirty="0">
              <a:latin typeface="Arial" panose="020B0604020202020204" pitchFamily="34" charset="0"/>
              <a:cs typeface="Arial" pitchFamily="34" charset="0"/>
            </a:endParaRPr>
          </a:p>
        </p:txBody>
      </p:sp>
      <p:sp>
        <p:nvSpPr>
          <p:cNvPr id="19" name="CaixaDeTexto 18">
            <a:extLst>
              <a:ext uri="{FF2B5EF4-FFF2-40B4-BE49-F238E27FC236}">
                <a16:creationId xmlns:a16="http://schemas.microsoft.com/office/drawing/2014/main" id="{7C3351EA-B519-4115-BB91-5399D4EA9590}"/>
              </a:ext>
            </a:extLst>
          </p:cNvPr>
          <p:cNvSpPr txBox="1"/>
          <p:nvPr/>
        </p:nvSpPr>
        <p:spPr>
          <a:xfrm>
            <a:off x="153071" y="5215253"/>
            <a:ext cx="3862534" cy="1181093"/>
          </a:xfrm>
          <a:prstGeom prst="rect">
            <a:avLst/>
          </a:prstGeom>
          <a:noFill/>
        </p:spPr>
        <p:txBody>
          <a:bodyPr wrap="square" rtlCol="0">
            <a:spAutoFit/>
          </a:bodyPr>
          <a:lstStyle/>
          <a:p>
            <a:pPr algn="just"/>
            <a:r>
              <a:rPr lang="pt-BR" sz="1179" b="1" dirty="0">
                <a:latin typeface="Arial" panose="020B0604020202020204" pitchFamily="34" charset="0"/>
                <a:cs typeface="Arial" pitchFamily="34" charset="0"/>
              </a:rPr>
              <a:t>REGISTRO DE ALTA PRESSÃO NA SAÍDA DOS BOTIJÕES E VÁLVULA REGULADORA DE PRESSÃO DE GÁS (NÃO ACOMPANHAM O EQUIPAMENTO)</a:t>
            </a:r>
          </a:p>
          <a:p>
            <a:pPr algn="just"/>
            <a:r>
              <a:rPr lang="pt-BR" sz="1179" i="1" dirty="0">
                <a:latin typeface="Arial" panose="020B0604020202020204" pitchFamily="34" charset="0"/>
                <a:cs typeface="Arial" pitchFamily="34" charset="0"/>
              </a:rPr>
              <a:t>Obs.: Para sua segurança substituí-la após a data de validade.</a:t>
            </a:r>
          </a:p>
        </p:txBody>
      </p:sp>
      <p:pic>
        <p:nvPicPr>
          <p:cNvPr id="20" name="Imagem 19">
            <a:extLst>
              <a:ext uri="{FF2B5EF4-FFF2-40B4-BE49-F238E27FC236}">
                <a16:creationId xmlns:a16="http://schemas.microsoft.com/office/drawing/2014/main" id="{90D46F34-7A3B-4FB3-9D19-66E8A5211AF5}"/>
              </a:ext>
            </a:extLst>
          </p:cNvPr>
          <p:cNvPicPr>
            <a:picLocks noChangeAspect="1"/>
          </p:cNvPicPr>
          <p:nvPr/>
        </p:nvPicPr>
        <p:blipFill>
          <a:blip r:embed="rId3" cstate="print">
            <a:extLst>
              <a:ext uri="{BEBA8EAE-BF5A-486C-A8C5-ECC9F3942E4B}">
                <a14:imgProps xmlns:a14="http://schemas.microsoft.com/office/drawing/2010/main">
                  <a14:imgLayer r:embed="rId4">
                    <a14:imgEffect>
                      <a14:artisticPaintStrokes/>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4074031" y="5217099"/>
            <a:ext cx="1218579" cy="1362357"/>
          </a:xfrm>
          <a:prstGeom prst="rect">
            <a:avLst/>
          </a:prstGeom>
        </p:spPr>
      </p:pic>
      <p:cxnSp>
        <p:nvCxnSpPr>
          <p:cNvPr id="21" name="Conector de Seta Reta 20">
            <a:extLst>
              <a:ext uri="{FF2B5EF4-FFF2-40B4-BE49-F238E27FC236}">
                <a16:creationId xmlns:a16="http://schemas.microsoft.com/office/drawing/2014/main" id="{A2BA0F1E-B2A9-4CFD-9FF0-FCF29A5AAD79}"/>
              </a:ext>
            </a:extLst>
          </p:cNvPr>
          <p:cNvCxnSpPr>
            <a:cxnSpLocks/>
          </p:cNvCxnSpPr>
          <p:nvPr/>
        </p:nvCxnSpPr>
        <p:spPr>
          <a:xfrm flipV="1">
            <a:off x="4726584" y="5591198"/>
            <a:ext cx="799631" cy="71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CaixaDeTexto 21">
            <a:extLst>
              <a:ext uri="{FF2B5EF4-FFF2-40B4-BE49-F238E27FC236}">
                <a16:creationId xmlns:a16="http://schemas.microsoft.com/office/drawing/2014/main" id="{ABAB0EAC-9179-428C-897B-38AC2F102F87}"/>
              </a:ext>
            </a:extLst>
          </p:cNvPr>
          <p:cNvSpPr txBox="1"/>
          <p:nvPr/>
        </p:nvSpPr>
        <p:spPr>
          <a:xfrm>
            <a:off x="5515060" y="5067347"/>
            <a:ext cx="1218579" cy="576120"/>
          </a:xfrm>
          <a:prstGeom prst="rect">
            <a:avLst/>
          </a:prstGeom>
          <a:noFill/>
        </p:spPr>
        <p:txBody>
          <a:bodyPr wrap="square" rtlCol="0">
            <a:spAutoFit/>
          </a:bodyPr>
          <a:lstStyle/>
          <a:p>
            <a:r>
              <a:rPr lang="pt-BR" sz="1048" b="1" dirty="0">
                <a:latin typeface="Arial" panose="020B0604020202020204" pitchFamily="34" charset="0"/>
                <a:cs typeface="Arial" panose="020B0604020202020204" pitchFamily="34" charset="0"/>
              </a:rPr>
              <a:t>Válvula reguladora de pressão de gás</a:t>
            </a:r>
          </a:p>
        </p:txBody>
      </p:sp>
      <p:cxnSp>
        <p:nvCxnSpPr>
          <p:cNvPr id="23" name="Conector de Seta Reta 22">
            <a:extLst>
              <a:ext uri="{FF2B5EF4-FFF2-40B4-BE49-F238E27FC236}">
                <a16:creationId xmlns:a16="http://schemas.microsoft.com/office/drawing/2014/main" id="{EE596399-E7D3-4262-AEA4-7E4558F636BF}"/>
              </a:ext>
            </a:extLst>
          </p:cNvPr>
          <p:cNvCxnSpPr>
            <a:cxnSpLocks/>
          </p:cNvCxnSpPr>
          <p:nvPr/>
        </p:nvCxnSpPr>
        <p:spPr>
          <a:xfrm>
            <a:off x="5231245" y="6148039"/>
            <a:ext cx="4387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CaixaDeTexto 23">
            <a:extLst>
              <a:ext uri="{FF2B5EF4-FFF2-40B4-BE49-F238E27FC236}">
                <a16:creationId xmlns:a16="http://schemas.microsoft.com/office/drawing/2014/main" id="{70FAA277-1D33-45A9-97D7-291A7A37913C}"/>
              </a:ext>
            </a:extLst>
          </p:cNvPr>
          <p:cNvSpPr txBox="1"/>
          <p:nvPr/>
        </p:nvSpPr>
        <p:spPr>
          <a:xfrm>
            <a:off x="5626830" y="5960256"/>
            <a:ext cx="1035250" cy="414857"/>
          </a:xfrm>
          <a:prstGeom prst="rect">
            <a:avLst/>
          </a:prstGeom>
          <a:noFill/>
        </p:spPr>
        <p:txBody>
          <a:bodyPr wrap="square" rtlCol="0">
            <a:spAutoFit/>
          </a:bodyPr>
          <a:lstStyle/>
          <a:p>
            <a:r>
              <a:rPr lang="pt-BR" sz="1048" b="1" dirty="0">
                <a:latin typeface="Arial" panose="020B0604020202020204" pitchFamily="34" charset="0"/>
                <a:cs typeface="Arial" panose="020B0604020202020204" pitchFamily="34" charset="0"/>
              </a:rPr>
              <a:t>Registros de alta pressão</a:t>
            </a:r>
          </a:p>
        </p:txBody>
      </p:sp>
      <p:sp>
        <p:nvSpPr>
          <p:cNvPr id="25" name="Elipse 24">
            <a:extLst>
              <a:ext uri="{FF2B5EF4-FFF2-40B4-BE49-F238E27FC236}">
                <a16:creationId xmlns:a16="http://schemas.microsoft.com/office/drawing/2014/main" id="{81CD0D9A-6B93-4A71-9A60-A89AA17FBF7C}"/>
              </a:ext>
            </a:extLst>
          </p:cNvPr>
          <p:cNvSpPr/>
          <p:nvPr/>
        </p:nvSpPr>
        <p:spPr>
          <a:xfrm>
            <a:off x="4179001" y="6005789"/>
            <a:ext cx="1133943" cy="573667"/>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9795" tIns="59898" rIns="119795" bIns="59898" numCol="1" spcCol="0" rtlCol="0" fromWordArt="0" anchor="ctr" anchorCtr="0" forceAA="0" compatLnSpc="1">
            <a:prstTxWarp prst="textNoShape">
              <a:avLst/>
            </a:prstTxWarp>
            <a:noAutofit/>
          </a:bodyPr>
          <a:lstStyle/>
          <a:p>
            <a:pPr algn="ctr"/>
            <a:endParaRPr lang="pt-BR" sz="1179">
              <a:latin typeface="Arial" panose="020B0604020202020204" pitchFamily="34" charset="0"/>
              <a:cs typeface="Arial" panose="020B0604020202020204" pitchFamily="34" charset="0"/>
            </a:endParaRPr>
          </a:p>
        </p:txBody>
      </p:sp>
      <p:pic>
        <p:nvPicPr>
          <p:cNvPr id="26" name="Imagem 25">
            <a:extLst>
              <a:ext uri="{FF2B5EF4-FFF2-40B4-BE49-F238E27FC236}">
                <a16:creationId xmlns:a16="http://schemas.microsoft.com/office/drawing/2014/main" id="{40F45464-5226-41E4-807E-5E094F41D862}"/>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1861089" y="7188501"/>
            <a:ext cx="695731" cy="2235218"/>
          </a:xfrm>
          <a:prstGeom prst="rect">
            <a:avLst/>
          </a:prstGeom>
        </p:spPr>
      </p:pic>
      <p:cxnSp>
        <p:nvCxnSpPr>
          <p:cNvPr id="27" name="Conector de Seta Reta 26">
            <a:extLst>
              <a:ext uri="{FF2B5EF4-FFF2-40B4-BE49-F238E27FC236}">
                <a16:creationId xmlns:a16="http://schemas.microsoft.com/office/drawing/2014/main" id="{D695B828-063E-41DC-8088-42EB78BC1EDF}"/>
              </a:ext>
            </a:extLst>
          </p:cNvPr>
          <p:cNvCxnSpPr/>
          <p:nvPr/>
        </p:nvCxnSpPr>
        <p:spPr>
          <a:xfrm>
            <a:off x="2273807" y="7599366"/>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CaixaDeTexto 27">
            <a:extLst>
              <a:ext uri="{FF2B5EF4-FFF2-40B4-BE49-F238E27FC236}">
                <a16:creationId xmlns:a16="http://schemas.microsoft.com/office/drawing/2014/main" id="{5E358F30-1AE2-48E2-8C12-B5CA3F042FF3}"/>
              </a:ext>
            </a:extLst>
          </p:cNvPr>
          <p:cNvSpPr txBox="1"/>
          <p:nvPr/>
        </p:nvSpPr>
        <p:spPr>
          <a:xfrm>
            <a:off x="3181294" y="7410692"/>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CONTROLADOR DIGITAL</a:t>
            </a:r>
          </a:p>
        </p:txBody>
      </p:sp>
      <p:cxnSp>
        <p:nvCxnSpPr>
          <p:cNvPr id="29" name="Conector de Seta Reta 28">
            <a:extLst>
              <a:ext uri="{FF2B5EF4-FFF2-40B4-BE49-F238E27FC236}">
                <a16:creationId xmlns:a16="http://schemas.microsoft.com/office/drawing/2014/main" id="{14C13C74-3009-470C-8648-685679DF2F55}"/>
              </a:ext>
            </a:extLst>
          </p:cNvPr>
          <p:cNvCxnSpPr/>
          <p:nvPr/>
        </p:nvCxnSpPr>
        <p:spPr>
          <a:xfrm>
            <a:off x="2552547" y="8683621"/>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CaixaDeTexto 29">
            <a:extLst>
              <a:ext uri="{FF2B5EF4-FFF2-40B4-BE49-F238E27FC236}">
                <a16:creationId xmlns:a16="http://schemas.microsoft.com/office/drawing/2014/main" id="{7A40BD13-9A19-4724-A42B-9CB100804FB2}"/>
              </a:ext>
            </a:extLst>
          </p:cNvPr>
          <p:cNvSpPr txBox="1"/>
          <p:nvPr/>
        </p:nvSpPr>
        <p:spPr>
          <a:xfrm>
            <a:off x="3460034" y="8494946"/>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Geral</a:t>
            </a:r>
          </a:p>
        </p:txBody>
      </p:sp>
      <p:cxnSp>
        <p:nvCxnSpPr>
          <p:cNvPr id="31" name="Conector de Seta Reta 30">
            <a:extLst>
              <a:ext uri="{FF2B5EF4-FFF2-40B4-BE49-F238E27FC236}">
                <a16:creationId xmlns:a16="http://schemas.microsoft.com/office/drawing/2014/main" id="{EE7E64EC-5C83-432E-991C-9363A626E175}"/>
              </a:ext>
            </a:extLst>
          </p:cNvPr>
          <p:cNvCxnSpPr/>
          <p:nvPr/>
        </p:nvCxnSpPr>
        <p:spPr>
          <a:xfrm>
            <a:off x="2552547" y="8919232"/>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CaixaDeTexto 31">
            <a:extLst>
              <a:ext uri="{FF2B5EF4-FFF2-40B4-BE49-F238E27FC236}">
                <a16:creationId xmlns:a16="http://schemas.microsoft.com/office/drawing/2014/main" id="{1D524260-978E-4CD4-A8E3-E42D9B58E0E3}"/>
              </a:ext>
            </a:extLst>
          </p:cNvPr>
          <p:cNvSpPr txBox="1"/>
          <p:nvPr/>
        </p:nvSpPr>
        <p:spPr>
          <a:xfrm>
            <a:off x="3460034" y="8730557"/>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Motor</a:t>
            </a:r>
          </a:p>
        </p:txBody>
      </p:sp>
      <p:cxnSp>
        <p:nvCxnSpPr>
          <p:cNvPr id="33" name="Conector de Seta Reta 32">
            <a:extLst>
              <a:ext uri="{FF2B5EF4-FFF2-40B4-BE49-F238E27FC236}">
                <a16:creationId xmlns:a16="http://schemas.microsoft.com/office/drawing/2014/main" id="{7E58DF4A-90B9-4F63-B0D0-BCFD834371AB}"/>
              </a:ext>
            </a:extLst>
          </p:cNvPr>
          <p:cNvCxnSpPr/>
          <p:nvPr/>
        </p:nvCxnSpPr>
        <p:spPr>
          <a:xfrm>
            <a:off x="2552547" y="9165735"/>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CaixaDeTexto 33">
            <a:extLst>
              <a:ext uri="{FF2B5EF4-FFF2-40B4-BE49-F238E27FC236}">
                <a16:creationId xmlns:a16="http://schemas.microsoft.com/office/drawing/2014/main" id="{D8080F09-A8F4-4176-84EB-6D8616C5EBFE}"/>
              </a:ext>
            </a:extLst>
          </p:cNvPr>
          <p:cNvSpPr txBox="1"/>
          <p:nvPr/>
        </p:nvSpPr>
        <p:spPr>
          <a:xfrm>
            <a:off x="3460034" y="8977060"/>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Lâmpada</a:t>
            </a:r>
          </a:p>
        </p:txBody>
      </p:sp>
    </p:spTree>
    <p:extLst>
      <p:ext uri="{BB962C8B-B14F-4D97-AF65-F5344CB8AC3E}">
        <p14:creationId xmlns:p14="http://schemas.microsoft.com/office/powerpoint/2010/main" val="3965016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B8BDDFA-D60B-408B-8130-BE2A0A20B272}"/>
              </a:ext>
            </a:extLst>
          </p:cNvPr>
          <p:cNvSpPr txBox="1"/>
          <p:nvPr/>
        </p:nvSpPr>
        <p:spPr>
          <a:xfrm>
            <a:off x="3149960" y="944136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03</a:t>
            </a:r>
          </a:p>
        </p:txBody>
      </p:sp>
      <p:sp>
        <p:nvSpPr>
          <p:cNvPr id="5" name="Retângulo 4">
            <a:extLst>
              <a:ext uri="{FF2B5EF4-FFF2-40B4-BE49-F238E27FC236}">
                <a16:creationId xmlns:a16="http://schemas.microsoft.com/office/drawing/2014/main" id="{DD51FBEA-71ED-4E84-8669-7BBF5DC9BDAC}"/>
              </a:ext>
            </a:extLst>
          </p:cNvPr>
          <p:cNvSpPr/>
          <p:nvPr/>
        </p:nvSpPr>
        <p:spPr>
          <a:xfrm>
            <a:off x="146049" y="9139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4. Porta</a:t>
            </a:r>
          </a:p>
        </p:txBody>
      </p:sp>
      <p:sp>
        <p:nvSpPr>
          <p:cNvPr id="6" name="Retângulo 5">
            <a:extLst>
              <a:ext uri="{FF2B5EF4-FFF2-40B4-BE49-F238E27FC236}">
                <a16:creationId xmlns:a16="http://schemas.microsoft.com/office/drawing/2014/main" id="{C25B00C5-2EF3-46F7-9481-5DBF5090F415}"/>
              </a:ext>
            </a:extLst>
          </p:cNvPr>
          <p:cNvSpPr/>
          <p:nvPr/>
        </p:nvSpPr>
        <p:spPr>
          <a:xfrm>
            <a:off x="141429" y="461276"/>
            <a:ext cx="6603793" cy="999633"/>
          </a:xfrm>
          <a:prstGeom prst="rect">
            <a:avLst/>
          </a:prstGeom>
        </p:spPr>
        <p:txBody>
          <a:bodyPr wrap="square">
            <a:spAutoFit/>
          </a:bodyPr>
          <a:lstStyle/>
          <a:p>
            <a:pPr algn="just"/>
            <a:r>
              <a:rPr lang="pt-BR" sz="1179" dirty="0">
                <a:latin typeface="Arial" panose="020B0604020202020204" pitchFamily="34" charset="0"/>
                <a:cs typeface="Arial" pitchFamily="34" charset="0"/>
              </a:rPr>
              <a:t>4.1  Para fechar a porta do Forno Turbo, há uma maçaneta, com sistema isolante na extremidade (pegador) para evirar queimaduras. Nos modelos de 8 e 10 esteiras, quando abre-se a porta a ventoinha se desligará automaticamente, devido ao sistema de corte de corrente proporcionado pela chave fim de curso que está localizada no canto superior direito, logo acima da porta. O modelo de 5 esteiras não possui este recurso.</a:t>
            </a:r>
          </a:p>
        </p:txBody>
      </p:sp>
      <p:sp>
        <p:nvSpPr>
          <p:cNvPr id="7" name="Retângulo 6">
            <a:extLst>
              <a:ext uri="{FF2B5EF4-FFF2-40B4-BE49-F238E27FC236}">
                <a16:creationId xmlns:a16="http://schemas.microsoft.com/office/drawing/2014/main" id="{91B987ED-9674-40CB-9167-AFAEB18B8BBA}"/>
              </a:ext>
            </a:extLst>
          </p:cNvPr>
          <p:cNvSpPr/>
          <p:nvPr/>
        </p:nvSpPr>
        <p:spPr>
          <a:xfrm>
            <a:off x="149146" y="151389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5. Luz do forno</a:t>
            </a:r>
          </a:p>
        </p:txBody>
      </p:sp>
      <p:sp>
        <p:nvSpPr>
          <p:cNvPr id="8" name="CaixaDeTexto 7">
            <a:extLst>
              <a:ext uri="{FF2B5EF4-FFF2-40B4-BE49-F238E27FC236}">
                <a16:creationId xmlns:a16="http://schemas.microsoft.com/office/drawing/2014/main" id="{630E0DD9-FC77-4350-AE98-3583E740ABC1}"/>
              </a:ext>
            </a:extLst>
          </p:cNvPr>
          <p:cNvSpPr txBox="1"/>
          <p:nvPr/>
        </p:nvSpPr>
        <p:spPr>
          <a:xfrm>
            <a:off x="195996" y="1851484"/>
            <a:ext cx="3449376" cy="1725472"/>
          </a:xfrm>
          <a:prstGeom prst="rect">
            <a:avLst/>
          </a:prstGeom>
          <a:noFill/>
        </p:spPr>
        <p:txBody>
          <a:bodyPr wrap="square" rtlCol="0">
            <a:spAutoFit/>
          </a:bodyPr>
          <a:lstStyle/>
          <a:p>
            <a:pPr algn="just"/>
            <a:r>
              <a:rPr lang="pt-BR" sz="1179" dirty="0">
                <a:latin typeface="Arial" pitchFamily="34" charset="0"/>
                <a:cs typeface="Arial" pitchFamily="34" charset="0"/>
              </a:rPr>
              <a:t>5.1 Está localizada na lateral da porta oposta a maçaneta. Para acioná-la, utilize a chave correspondente, sendo a posição da lâmpada.</a:t>
            </a:r>
          </a:p>
          <a:p>
            <a:pPr algn="just"/>
            <a:r>
              <a:rPr lang="pt-BR" sz="1179" dirty="0">
                <a:latin typeface="Arial" pitchFamily="34" charset="0"/>
                <a:cs typeface="Arial" pitchFamily="34" charset="0"/>
              </a:rPr>
              <a:t>5.2 Para a troca da lâmpada retire o parafuso de fixação da calha da lâmpada, que localiza-se na parte inferior da porta do forno, conforme figura ao lado; tire a calha e retire a lâmpada para substituí-la.</a:t>
            </a:r>
          </a:p>
          <a:p>
            <a:endParaRPr lang="pt-BR" sz="1179" dirty="0">
              <a:latin typeface="Arial" pitchFamily="34" charset="0"/>
              <a:cs typeface="Arial" pitchFamily="34" charset="0"/>
            </a:endParaRPr>
          </a:p>
        </p:txBody>
      </p:sp>
      <p:sp>
        <p:nvSpPr>
          <p:cNvPr id="9" name="Retângulo 8">
            <a:extLst>
              <a:ext uri="{FF2B5EF4-FFF2-40B4-BE49-F238E27FC236}">
                <a16:creationId xmlns:a16="http://schemas.microsoft.com/office/drawing/2014/main" id="{77D7B2C5-2CB2-4779-A3C9-84566A1A2B1C}"/>
              </a:ext>
            </a:extLst>
          </p:cNvPr>
          <p:cNvSpPr/>
          <p:nvPr/>
        </p:nvSpPr>
        <p:spPr>
          <a:xfrm>
            <a:off x="149146" y="381851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6. Turbo</a:t>
            </a:r>
          </a:p>
        </p:txBody>
      </p:sp>
      <p:sp>
        <p:nvSpPr>
          <p:cNvPr id="10" name="CaixaDeTexto 9">
            <a:extLst>
              <a:ext uri="{FF2B5EF4-FFF2-40B4-BE49-F238E27FC236}">
                <a16:creationId xmlns:a16="http://schemas.microsoft.com/office/drawing/2014/main" id="{0101BE90-0F39-43C9-9007-57B701F9B764}"/>
              </a:ext>
            </a:extLst>
          </p:cNvPr>
          <p:cNvSpPr txBox="1"/>
          <p:nvPr/>
        </p:nvSpPr>
        <p:spPr>
          <a:xfrm>
            <a:off x="141428" y="4210309"/>
            <a:ext cx="6315373" cy="636713"/>
          </a:xfrm>
          <a:prstGeom prst="rect">
            <a:avLst/>
          </a:prstGeom>
          <a:noFill/>
        </p:spPr>
        <p:txBody>
          <a:bodyPr wrap="square" rtlCol="0">
            <a:spAutoFit/>
          </a:bodyPr>
          <a:lstStyle/>
          <a:p>
            <a:pPr algn="just"/>
            <a:r>
              <a:rPr lang="pt-BR" sz="1179" dirty="0">
                <a:latin typeface="Arial" pitchFamily="34" charset="0"/>
                <a:cs typeface="Arial" pitchFamily="34" charset="0"/>
              </a:rPr>
              <a:t>6.1 Para acionar o motor que move a ventoinha, utilize a chave correspondente, sendo a posição “1” (ligada) e “0” – (desligada).</a:t>
            </a:r>
          </a:p>
          <a:p>
            <a:endParaRPr lang="pt-BR" sz="1179" dirty="0">
              <a:latin typeface="Arial" pitchFamily="34" charset="0"/>
              <a:cs typeface="Arial" pitchFamily="34" charset="0"/>
            </a:endParaRPr>
          </a:p>
        </p:txBody>
      </p:sp>
      <p:sp>
        <p:nvSpPr>
          <p:cNvPr id="11" name="Retângulo de cantos arredondados 6">
            <a:extLst>
              <a:ext uri="{FF2B5EF4-FFF2-40B4-BE49-F238E27FC236}">
                <a16:creationId xmlns:a16="http://schemas.microsoft.com/office/drawing/2014/main" id="{6516132D-725A-439B-B178-B4D9CC6E2286}"/>
              </a:ext>
            </a:extLst>
          </p:cNvPr>
          <p:cNvSpPr/>
          <p:nvPr/>
        </p:nvSpPr>
        <p:spPr>
          <a:xfrm>
            <a:off x="202724" y="4851540"/>
            <a:ext cx="2916940" cy="1349635"/>
          </a:xfrm>
          <a:prstGeom prst="roundRect">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2" name="CaixaDeTexto 11">
            <a:extLst>
              <a:ext uri="{FF2B5EF4-FFF2-40B4-BE49-F238E27FC236}">
                <a16:creationId xmlns:a16="http://schemas.microsoft.com/office/drawing/2014/main" id="{7A5741E3-B112-48DA-A291-AF6C1264C4C5}"/>
              </a:ext>
            </a:extLst>
          </p:cNvPr>
          <p:cNvSpPr txBox="1"/>
          <p:nvPr/>
        </p:nvSpPr>
        <p:spPr>
          <a:xfrm>
            <a:off x="217633" y="4835990"/>
            <a:ext cx="2883246" cy="1181093"/>
          </a:xfrm>
          <a:prstGeom prst="rect">
            <a:avLst/>
          </a:prstGeom>
          <a:noFill/>
        </p:spPr>
        <p:txBody>
          <a:bodyPr wrap="square" rtlCol="0">
            <a:spAutoFit/>
          </a:bodyPr>
          <a:lstStyle/>
          <a:p>
            <a:pPr algn="just"/>
            <a:r>
              <a:rPr lang="pt-BR" sz="1179" b="1" dirty="0">
                <a:latin typeface="Arial" pitchFamily="34" charset="0"/>
                <a:cs typeface="Arial" pitchFamily="34" charset="0"/>
              </a:rPr>
              <a:t>CUIDADO:</a:t>
            </a:r>
          </a:p>
          <a:p>
            <a:pPr algn="just"/>
            <a:r>
              <a:rPr lang="pt-BR" sz="1179" b="1" dirty="0">
                <a:latin typeface="Arial" pitchFamily="34" charset="0"/>
                <a:cs typeface="Arial" pitchFamily="34" charset="0"/>
              </a:rPr>
              <a:t> Antes de abrir a porta do forno 5 esteiras deve-se desligar a chave do motor do painel, pois este modelo não esta equipado com a chave fim de curso.</a:t>
            </a:r>
            <a:endParaRPr lang="pt-BR" sz="1179" dirty="0">
              <a:latin typeface="Arial" panose="020B0604020202020204" pitchFamily="34" charset="0"/>
              <a:cs typeface="Arial" pitchFamily="34" charset="0"/>
            </a:endParaRPr>
          </a:p>
        </p:txBody>
      </p:sp>
      <p:sp>
        <p:nvSpPr>
          <p:cNvPr id="13" name="Retângulo 12">
            <a:extLst>
              <a:ext uri="{FF2B5EF4-FFF2-40B4-BE49-F238E27FC236}">
                <a16:creationId xmlns:a16="http://schemas.microsoft.com/office/drawing/2014/main" id="{EB53ECEB-1015-4B1A-AF07-FE530B8171FD}"/>
              </a:ext>
            </a:extLst>
          </p:cNvPr>
          <p:cNvSpPr/>
          <p:nvPr/>
        </p:nvSpPr>
        <p:spPr>
          <a:xfrm>
            <a:off x="149146" y="714833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7. Queimador</a:t>
            </a:r>
          </a:p>
        </p:txBody>
      </p:sp>
      <p:sp>
        <p:nvSpPr>
          <p:cNvPr id="14" name="CaixaDeTexto 13">
            <a:extLst>
              <a:ext uri="{FF2B5EF4-FFF2-40B4-BE49-F238E27FC236}">
                <a16:creationId xmlns:a16="http://schemas.microsoft.com/office/drawing/2014/main" id="{F7248D0A-AB66-4A9C-B703-94F0260D8D05}"/>
              </a:ext>
            </a:extLst>
          </p:cNvPr>
          <p:cNvSpPr txBox="1"/>
          <p:nvPr/>
        </p:nvSpPr>
        <p:spPr>
          <a:xfrm>
            <a:off x="149973" y="7568199"/>
            <a:ext cx="3577674" cy="99963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7.1 O Forno Turbo possui um queimador em sistema fixo, sendo manipulado apenas por um técnico. Ele possui dois sensores de chama, para que, no caso da chama apagar, seja emitido um alarme e a passagem de gás seja cortada.</a:t>
            </a:r>
          </a:p>
        </p:txBody>
      </p:sp>
      <p:pic>
        <p:nvPicPr>
          <p:cNvPr id="15" name="Imagem 14">
            <a:extLst>
              <a:ext uri="{FF2B5EF4-FFF2-40B4-BE49-F238E27FC236}">
                <a16:creationId xmlns:a16="http://schemas.microsoft.com/office/drawing/2014/main" id="{08A8FE60-B65F-4118-BA68-EC08E9D02E2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 t="10844" r="40517"/>
          <a:stretch/>
        </p:blipFill>
        <p:spPr>
          <a:xfrm>
            <a:off x="4026721" y="1917100"/>
            <a:ext cx="2677381" cy="1851383"/>
          </a:xfrm>
          <a:prstGeom prst="rect">
            <a:avLst/>
          </a:prstGeom>
        </p:spPr>
      </p:pic>
      <p:pic>
        <p:nvPicPr>
          <p:cNvPr id="16" name="Imagem 15">
            <a:extLst>
              <a:ext uri="{FF2B5EF4-FFF2-40B4-BE49-F238E27FC236}">
                <a16:creationId xmlns:a16="http://schemas.microsoft.com/office/drawing/2014/main" id="{72385454-6346-4B46-BE64-42BC63B7DF3C}"/>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9245" r="15980"/>
          <a:stretch/>
        </p:blipFill>
        <p:spPr>
          <a:xfrm>
            <a:off x="4012355" y="4711814"/>
            <a:ext cx="2667905" cy="2307174"/>
          </a:xfrm>
          <a:prstGeom prst="rect">
            <a:avLst/>
          </a:prstGeom>
        </p:spPr>
      </p:pic>
      <p:pic>
        <p:nvPicPr>
          <p:cNvPr id="17" name="Imagem 16">
            <a:extLst>
              <a:ext uri="{FF2B5EF4-FFF2-40B4-BE49-F238E27FC236}">
                <a16:creationId xmlns:a16="http://schemas.microsoft.com/office/drawing/2014/main" id="{E018C745-2A40-4068-A495-80D3169E5CC8}"/>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l="6721" t="13650" r="25317" b="2416"/>
          <a:stretch/>
        </p:blipFill>
        <p:spPr>
          <a:xfrm>
            <a:off x="4026722" y="7625548"/>
            <a:ext cx="2511413" cy="1744652"/>
          </a:xfrm>
          <a:prstGeom prst="rect">
            <a:avLst/>
          </a:prstGeom>
        </p:spPr>
      </p:pic>
    </p:spTree>
    <p:extLst>
      <p:ext uri="{BB962C8B-B14F-4D97-AF65-F5344CB8AC3E}">
        <p14:creationId xmlns:p14="http://schemas.microsoft.com/office/powerpoint/2010/main" val="241025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E19F1B5-333E-4FF7-A203-DDBF273FBACF}"/>
              </a:ext>
            </a:extLst>
          </p:cNvPr>
          <p:cNvSpPr txBox="1"/>
          <p:nvPr/>
        </p:nvSpPr>
        <p:spPr>
          <a:xfrm>
            <a:off x="147731" y="185926"/>
            <a:ext cx="6665645" cy="999633"/>
          </a:xfrm>
          <a:prstGeom prst="rect">
            <a:avLst/>
          </a:prstGeom>
          <a:noFill/>
        </p:spPr>
        <p:txBody>
          <a:bodyPr wrap="square" rtlCol="0" anchor="t">
            <a:spAutoFit/>
          </a:bodyPr>
          <a:lstStyle/>
          <a:p>
            <a:pPr algn="ctr"/>
            <a:r>
              <a:rPr lang="pt-BR" sz="1179" b="1" dirty="0">
                <a:latin typeface="Arial" panose="020B0604020202020204" pitchFamily="34" charset="0"/>
                <a:cs typeface="Arial" pitchFamily="34" charset="0"/>
              </a:rPr>
              <a:t>ATENÇÃO</a:t>
            </a:r>
            <a:endParaRPr lang="pt-BR" sz="1179" dirty="0">
              <a:latin typeface="Arial" panose="020B0604020202020204" pitchFamily="34" charset="0"/>
              <a:cs typeface="Arial" pitchFamily="34" charset="0"/>
            </a:endParaRPr>
          </a:p>
          <a:p>
            <a:pPr algn="just"/>
            <a:r>
              <a:rPr lang="pt-BR" sz="1179" b="1" dirty="0">
                <a:latin typeface="Arial" panose="020B0604020202020204" pitchFamily="34" charset="0"/>
                <a:cs typeface="Arial" pitchFamily="34" charset="0"/>
              </a:rPr>
              <a:t>A MANUTENÇÃO DO FORNO DEVERÁ SER REALIZADA POR UM TÉCNICO AUTORIZADO PELA SÓ AÇO INDUSTRIAL, SOB PENA DE INVALIDAR A GARANTIA E CAUSAR PREJUIZOS MAIORES AO EQUIPAMENTO.</a:t>
            </a:r>
          </a:p>
          <a:p>
            <a:pPr algn="ctr"/>
            <a:endParaRPr lang="pt-BR" sz="1179" dirty="0">
              <a:latin typeface="Arial" panose="020B0604020202020204" pitchFamily="34" charset="0"/>
              <a:cs typeface="Arial" pitchFamily="34" charset="0"/>
            </a:endParaRPr>
          </a:p>
        </p:txBody>
      </p:sp>
      <p:sp>
        <p:nvSpPr>
          <p:cNvPr id="5" name="Retângulo 4">
            <a:extLst>
              <a:ext uri="{FF2B5EF4-FFF2-40B4-BE49-F238E27FC236}">
                <a16:creationId xmlns:a16="http://schemas.microsoft.com/office/drawing/2014/main" id="{9E17765A-1AC3-42AF-9091-9F344560714B}"/>
              </a:ext>
            </a:extLst>
          </p:cNvPr>
          <p:cNvSpPr/>
          <p:nvPr/>
        </p:nvSpPr>
        <p:spPr>
          <a:xfrm>
            <a:off x="173137" y="1096678"/>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8. Controlador Digital</a:t>
            </a:r>
          </a:p>
        </p:txBody>
      </p:sp>
      <p:sp>
        <p:nvSpPr>
          <p:cNvPr id="6" name="Retângulo 5">
            <a:extLst>
              <a:ext uri="{FF2B5EF4-FFF2-40B4-BE49-F238E27FC236}">
                <a16:creationId xmlns:a16="http://schemas.microsoft.com/office/drawing/2014/main" id="{E3A0346D-BE9C-4B5A-87E2-9E7924960665}"/>
              </a:ext>
            </a:extLst>
          </p:cNvPr>
          <p:cNvSpPr/>
          <p:nvPr/>
        </p:nvSpPr>
        <p:spPr>
          <a:xfrm>
            <a:off x="128334" y="556583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9.Programação do forno digital</a:t>
            </a:r>
          </a:p>
        </p:txBody>
      </p:sp>
      <p:sp>
        <p:nvSpPr>
          <p:cNvPr id="7" name="CaixaDeTexto 6">
            <a:extLst>
              <a:ext uri="{FF2B5EF4-FFF2-40B4-BE49-F238E27FC236}">
                <a16:creationId xmlns:a16="http://schemas.microsoft.com/office/drawing/2014/main" id="{69169C96-9B94-480B-9A8E-77243ADA1181}"/>
              </a:ext>
            </a:extLst>
          </p:cNvPr>
          <p:cNvSpPr txBox="1"/>
          <p:nvPr/>
        </p:nvSpPr>
        <p:spPr>
          <a:xfrm>
            <a:off x="128334" y="5896710"/>
            <a:ext cx="6551859" cy="2088392"/>
          </a:xfrm>
          <a:prstGeom prst="rect">
            <a:avLst/>
          </a:prstGeom>
          <a:noFill/>
        </p:spPr>
        <p:txBody>
          <a:bodyPr wrap="square" rtlCol="0">
            <a:spAutoFit/>
          </a:bodyPr>
          <a:lstStyle/>
          <a:p>
            <a:r>
              <a:rPr lang="pt-BR" sz="1179" b="1" dirty="0">
                <a:latin typeface="Arial" panose="020B0604020202020204" pitchFamily="34" charset="0"/>
                <a:cs typeface="Arial" pitchFamily="34" charset="0"/>
              </a:rPr>
              <a:t>9.1 5 NÍVEIS DE SEGURANÇA</a:t>
            </a:r>
          </a:p>
          <a:p>
            <a:endParaRPr lang="pt-BR" sz="1179" b="1" dirty="0">
              <a:latin typeface="Arial" panose="020B0604020202020204" pitchFamily="34" charset="0"/>
              <a:cs typeface="Arial" pitchFamily="34" charset="0"/>
            </a:endParaRPr>
          </a:p>
          <a:p>
            <a:r>
              <a:rPr lang="pt-BR" sz="1179" dirty="0">
                <a:latin typeface="Arial" panose="020B0604020202020204" pitchFamily="34" charset="0"/>
                <a:cs typeface="Arial" pitchFamily="34" charset="0"/>
              </a:rPr>
              <a:t>A navegação dentro dos menus de programação N1 a N5 é realizada da seguinte maneira:       A tecla PGM avança para o parâmetro seguinte, as teclas 10 e 11 ajustam os valores do parâmetro e a tecla F2 salva as modificações e sai do menu.</a:t>
            </a:r>
          </a:p>
          <a:p>
            <a:endParaRPr lang="pt-BR" sz="1179" dirty="0">
              <a:latin typeface="Arial" panose="020B0604020202020204" pitchFamily="34" charset="0"/>
              <a:cs typeface="Arial" pitchFamily="34" charset="0"/>
            </a:endParaRPr>
          </a:p>
          <a:p>
            <a:pPr marL="171450" indent="-171450">
              <a:buFont typeface="Arial" panose="020B0604020202020204" pitchFamily="34" charset="0"/>
              <a:buChar char="•"/>
            </a:pPr>
            <a:r>
              <a:rPr lang="pt-BR" sz="1179" dirty="0">
                <a:latin typeface="Arial" panose="020B0604020202020204" pitchFamily="34" charset="0"/>
                <a:cs typeface="Arial" pitchFamily="34" charset="0"/>
              </a:rPr>
              <a:t>N1 - Configura o tipo de sensor, disponível somente na versão </a:t>
            </a:r>
            <a:r>
              <a:rPr lang="pt-BR" sz="1179" dirty="0" err="1">
                <a:latin typeface="Arial" pitchFamily="34" charset="0"/>
                <a:cs typeface="Arial" pitchFamily="34" charset="0"/>
              </a:rPr>
              <a:t>multi-sensores</a:t>
            </a:r>
            <a:r>
              <a:rPr lang="pt-BR" sz="1179" dirty="0">
                <a:latin typeface="Arial" pitchFamily="34" charset="0"/>
                <a:cs typeface="Arial" pitchFamily="34" charset="0"/>
              </a:rPr>
              <a:t>;</a:t>
            </a:r>
          </a:p>
          <a:p>
            <a:pPr marL="171450" indent="-171450">
              <a:buFont typeface="Arial" panose="020B0604020202020204" pitchFamily="34" charset="0"/>
              <a:buChar char="•"/>
            </a:pPr>
            <a:r>
              <a:rPr lang="pt-BR" sz="1179" dirty="0">
                <a:latin typeface="Arial" pitchFamily="34" charset="0"/>
                <a:cs typeface="Arial" pitchFamily="34" charset="0"/>
              </a:rPr>
              <a:t>N2 – Programação dos parâmetros de processor;</a:t>
            </a:r>
          </a:p>
          <a:p>
            <a:pPr marL="171450" indent="-171450">
              <a:buFont typeface="Arial" panose="020B0604020202020204" pitchFamily="34" charset="0"/>
              <a:buChar char="•"/>
            </a:pPr>
            <a:r>
              <a:rPr lang="pt-BR" sz="1179" dirty="0">
                <a:latin typeface="Arial" pitchFamily="34" charset="0"/>
                <a:cs typeface="Arial" pitchFamily="34" charset="0"/>
              </a:rPr>
              <a:t>N3 – Programação de saída auxiliar;</a:t>
            </a:r>
          </a:p>
          <a:p>
            <a:pPr marL="171450" indent="-171450">
              <a:buFont typeface="Arial" panose="020B0604020202020204" pitchFamily="34" charset="0"/>
              <a:buChar char="•"/>
            </a:pPr>
            <a:r>
              <a:rPr lang="pt-BR" sz="1179" dirty="0">
                <a:latin typeface="Arial" pitchFamily="34" charset="0"/>
                <a:cs typeface="Arial" pitchFamily="34" charset="0"/>
              </a:rPr>
              <a:t>N4 – Programação de modo de trabalho do controlador;</a:t>
            </a:r>
          </a:p>
          <a:p>
            <a:pPr marL="171450" indent="-171450">
              <a:buFont typeface="Arial" panose="020B0604020202020204" pitchFamily="34" charset="0"/>
              <a:buChar char="•"/>
            </a:pPr>
            <a:r>
              <a:rPr lang="pt-BR" sz="1179" dirty="0">
                <a:latin typeface="Arial" pitchFamily="34" charset="0"/>
                <a:cs typeface="Arial" pitchFamily="34" charset="0"/>
              </a:rPr>
              <a:t>N5 – Programação do controle de temperatura.</a:t>
            </a:r>
            <a:r>
              <a:rPr lang="pt-BR" sz="1179" b="1" dirty="0">
                <a:latin typeface="Arial" panose="020B0604020202020204" pitchFamily="34" charset="0"/>
                <a:cs typeface="Arial" pitchFamily="34" charset="0"/>
              </a:rPr>
              <a:t> </a:t>
            </a:r>
            <a:endParaRPr lang="pt-BR" sz="1179" dirty="0">
              <a:latin typeface="Arial" panose="020B0604020202020204" pitchFamily="34" charset="0"/>
              <a:cs typeface="Arial" pitchFamily="34" charset="0"/>
            </a:endParaRPr>
          </a:p>
        </p:txBody>
      </p:sp>
      <p:sp>
        <p:nvSpPr>
          <p:cNvPr id="8" name="CaixaDeTexto 7">
            <a:extLst>
              <a:ext uri="{FF2B5EF4-FFF2-40B4-BE49-F238E27FC236}">
                <a16:creationId xmlns:a16="http://schemas.microsoft.com/office/drawing/2014/main" id="{68A4955B-3910-4101-B37A-AA933E889692}"/>
              </a:ext>
            </a:extLst>
          </p:cNvPr>
          <p:cNvSpPr txBox="1"/>
          <p:nvPr/>
        </p:nvSpPr>
        <p:spPr>
          <a:xfrm>
            <a:off x="3120076" y="9498829"/>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04</a:t>
            </a:r>
          </a:p>
        </p:txBody>
      </p:sp>
      <p:sp>
        <p:nvSpPr>
          <p:cNvPr id="9" name="CaixaDeTexto 8">
            <a:extLst>
              <a:ext uri="{FF2B5EF4-FFF2-40B4-BE49-F238E27FC236}">
                <a16:creationId xmlns:a16="http://schemas.microsoft.com/office/drawing/2014/main" id="{8533EAB9-7416-4F29-B371-95FC6F2A0D20}"/>
              </a:ext>
            </a:extLst>
          </p:cNvPr>
          <p:cNvSpPr txBox="1"/>
          <p:nvPr/>
        </p:nvSpPr>
        <p:spPr>
          <a:xfrm>
            <a:off x="147731" y="1445273"/>
            <a:ext cx="3857272" cy="4397999"/>
          </a:xfrm>
          <a:prstGeom prst="rect">
            <a:avLst/>
          </a:prstGeom>
          <a:noFill/>
        </p:spPr>
        <p:txBody>
          <a:bodyPr wrap="square" rtlCol="0">
            <a:spAutoFit/>
          </a:bodyPr>
          <a:lstStyle/>
          <a:p>
            <a:pPr algn="just">
              <a:lnSpc>
                <a:spcPct val="150000"/>
              </a:lnSpc>
            </a:pPr>
            <a:r>
              <a:rPr lang="pt-BR" sz="1000" dirty="0">
                <a:latin typeface="Arial" pitchFamily="34" charset="0"/>
                <a:cs typeface="Arial" pitchFamily="34" charset="0"/>
              </a:rPr>
              <a:t> 1 Display que indica a temperatura presente no sensor de temperatura ou os parâmetros programáveis</a:t>
            </a:r>
          </a:p>
          <a:p>
            <a:pPr algn="just">
              <a:lnSpc>
                <a:spcPct val="150000"/>
              </a:lnSpc>
            </a:pPr>
            <a:r>
              <a:rPr lang="pt-BR" sz="1000" dirty="0">
                <a:latin typeface="Arial" pitchFamily="34" charset="0"/>
                <a:cs typeface="Arial" pitchFamily="34" charset="0"/>
              </a:rPr>
              <a:t> 2 Display que indica o tempo decorrido ou o valor dos parâmetros programáveis</a:t>
            </a:r>
          </a:p>
          <a:p>
            <a:pPr algn="just">
              <a:lnSpc>
                <a:spcPct val="150000"/>
              </a:lnSpc>
            </a:pPr>
            <a:r>
              <a:rPr lang="pt-BR" sz="1000" dirty="0">
                <a:latin typeface="Arial" pitchFamily="34" charset="0"/>
                <a:cs typeface="Arial" pitchFamily="34" charset="0"/>
              </a:rPr>
              <a:t> 3 Led indicador de aquecimento acionado</a:t>
            </a:r>
          </a:p>
          <a:p>
            <a:pPr algn="just">
              <a:lnSpc>
                <a:spcPct val="150000"/>
              </a:lnSpc>
            </a:pPr>
            <a:r>
              <a:rPr lang="pt-BR" sz="1000" dirty="0">
                <a:latin typeface="Arial" pitchFamily="34" charset="0"/>
                <a:cs typeface="Arial" pitchFamily="34" charset="0"/>
              </a:rPr>
              <a:t> 4 Led indicador de ignição acionada</a:t>
            </a:r>
          </a:p>
          <a:p>
            <a:pPr algn="just">
              <a:lnSpc>
                <a:spcPct val="150000"/>
              </a:lnSpc>
            </a:pPr>
            <a:r>
              <a:rPr lang="pt-BR" sz="1000" dirty="0">
                <a:latin typeface="Arial" pitchFamily="34" charset="0"/>
                <a:cs typeface="Arial" pitchFamily="34" charset="0"/>
              </a:rPr>
              <a:t> 5 Led indicador de lâmpada acionada</a:t>
            </a:r>
          </a:p>
          <a:p>
            <a:pPr algn="just">
              <a:lnSpc>
                <a:spcPct val="150000"/>
              </a:lnSpc>
            </a:pPr>
            <a:r>
              <a:rPr lang="pt-BR" sz="1000" dirty="0">
                <a:latin typeface="Arial" pitchFamily="34" charset="0"/>
                <a:cs typeface="Arial" pitchFamily="34" charset="0"/>
              </a:rPr>
              <a:t> 6 Led indicador de vapor acionado</a:t>
            </a:r>
          </a:p>
          <a:p>
            <a:pPr algn="just">
              <a:lnSpc>
                <a:spcPct val="150000"/>
              </a:lnSpc>
            </a:pPr>
            <a:r>
              <a:rPr lang="pt-BR" sz="1000" dirty="0">
                <a:latin typeface="Arial" pitchFamily="34" charset="0"/>
                <a:cs typeface="Arial" pitchFamily="34" charset="0"/>
              </a:rPr>
              <a:t> 7 Led indicador de turbina acionada</a:t>
            </a:r>
          </a:p>
          <a:p>
            <a:pPr algn="just">
              <a:lnSpc>
                <a:spcPct val="150000"/>
              </a:lnSpc>
            </a:pPr>
            <a:r>
              <a:rPr lang="pt-BR" sz="1000" dirty="0">
                <a:latin typeface="Arial" pitchFamily="34" charset="0"/>
                <a:cs typeface="Arial" pitchFamily="34" charset="0"/>
              </a:rPr>
              <a:t> 8 Led indicador de temporizador acionado</a:t>
            </a:r>
          </a:p>
          <a:p>
            <a:pPr algn="just">
              <a:lnSpc>
                <a:spcPct val="150000"/>
              </a:lnSpc>
            </a:pPr>
            <a:r>
              <a:rPr lang="pt-BR" sz="1000" dirty="0">
                <a:latin typeface="Arial" pitchFamily="34" charset="0"/>
                <a:cs typeface="Arial" pitchFamily="34" charset="0"/>
              </a:rPr>
              <a:t> 9 Tecla de acesso à programação</a:t>
            </a:r>
          </a:p>
          <a:p>
            <a:pPr algn="just">
              <a:lnSpc>
                <a:spcPct val="150000"/>
              </a:lnSpc>
            </a:pPr>
            <a:r>
              <a:rPr lang="pt-BR" sz="1000" dirty="0">
                <a:latin typeface="Arial" pitchFamily="34" charset="0"/>
                <a:cs typeface="Arial" pitchFamily="34" charset="0"/>
              </a:rPr>
              <a:t>10 Tecla de decremento do valor programado</a:t>
            </a:r>
          </a:p>
          <a:p>
            <a:pPr algn="just">
              <a:lnSpc>
                <a:spcPct val="150000"/>
              </a:lnSpc>
            </a:pPr>
            <a:r>
              <a:rPr lang="pt-BR" sz="1000" dirty="0">
                <a:latin typeface="Arial" pitchFamily="34" charset="0"/>
                <a:cs typeface="Arial" pitchFamily="34" charset="0"/>
              </a:rPr>
              <a:t>11 Tecla de incremento do valor programado ou</a:t>
            </a:r>
          </a:p>
          <a:p>
            <a:pPr algn="just">
              <a:lnSpc>
                <a:spcPct val="150000"/>
              </a:lnSpc>
            </a:pPr>
            <a:r>
              <a:rPr lang="pt-BR" sz="1000" dirty="0">
                <a:latin typeface="Arial" pitchFamily="34" charset="0"/>
                <a:cs typeface="Arial" pitchFamily="34" charset="0"/>
              </a:rPr>
              <a:t>Liga/desliga saída auxiliar.</a:t>
            </a:r>
          </a:p>
          <a:p>
            <a:pPr algn="just"/>
            <a:r>
              <a:rPr lang="pt-BR" sz="1000" dirty="0">
                <a:latin typeface="Arial" pitchFamily="34" charset="0"/>
                <a:cs typeface="Arial" pitchFamily="34" charset="0"/>
              </a:rPr>
              <a:t>12 Tecla de habilita/desabilita vapor</a:t>
            </a:r>
          </a:p>
          <a:p>
            <a:pPr algn="just"/>
            <a:r>
              <a:rPr lang="pt-BR" sz="300" dirty="0">
                <a:latin typeface="Arial" pitchFamily="34" charset="0"/>
                <a:cs typeface="Arial" pitchFamily="34" charset="0"/>
              </a:rPr>
              <a:t> </a:t>
            </a:r>
          </a:p>
          <a:p>
            <a:pPr algn="just"/>
            <a:r>
              <a:rPr lang="pt-BR" sz="1000" dirty="0">
                <a:latin typeface="Arial" pitchFamily="34" charset="0"/>
                <a:cs typeface="Arial" pitchFamily="34" charset="0"/>
              </a:rPr>
              <a:t>13 Tecla de habilita/desabilita contagem do tempo</a:t>
            </a:r>
          </a:p>
          <a:p>
            <a:pPr algn="just"/>
            <a:r>
              <a:rPr lang="pt-BR" sz="400" dirty="0">
                <a:latin typeface="Arial" pitchFamily="34" charset="0"/>
                <a:cs typeface="Arial" pitchFamily="34" charset="0"/>
              </a:rPr>
              <a:t> </a:t>
            </a:r>
          </a:p>
          <a:p>
            <a:pPr algn="just"/>
            <a:r>
              <a:rPr lang="pt-BR" sz="1000" dirty="0">
                <a:latin typeface="Arial" pitchFamily="34" charset="0"/>
                <a:cs typeface="Arial" pitchFamily="34" charset="0"/>
              </a:rPr>
              <a:t>14 Led indicador de temperatura na escala Celsius</a:t>
            </a:r>
          </a:p>
          <a:p>
            <a:pPr algn="just"/>
            <a:r>
              <a:rPr lang="pt-BR" sz="200" dirty="0">
                <a:latin typeface="Arial" pitchFamily="34" charset="0"/>
                <a:cs typeface="Arial" pitchFamily="34" charset="0"/>
              </a:rPr>
              <a:t> </a:t>
            </a:r>
          </a:p>
          <a:p>
            <a:pPr algn="just"/>
            <a:r>
              <a:rPr lang="pt-BR" sz="1000" dirty="0">
                <a:latin typeface="Arial" pitchFamily="34" charset="0"/>
                <a:cs typeface="Arial" pitchFamily="34" charset="0"/>
              </a:rPr>
              <a:t>15 Led indicador de contagem de tempo</a:t>
            </a:r>
            <a:endParaRPr lang="pt-BR" sz="1100" dirty="0">
              <a:latin typeface="Arial" pitchFamily="34" charset="0"/>
              <a:cs typeface="Arial" pitchFamily="34" charset="0"/>
            </a:endParaRPr>
          </a:p>
          <a:p>
            <a:pPr algn="just"/>
            <a:endParaRPr lang="pt-BR" sz="1179" dirty="0">
              <a:latin typeface="Arial" pitchFamily="34" charset="0"/>
              <a:cs typeface="Arial" pitchFamily="34" charset="0"/>
            </a:endParaRPr>
          </a:p>
        </p:txBody>
      </p:sp>
      <p:sp>
        <p:nvSpPr>
          <p:cNvPr id="10" name="Retângulo de cantos arredondados 3">
            <a:extLst>
              <a:ext uri="{FF2B5EF4-FFF2-40B4-BE49-F238E27FC236}">
                <a16:creationId xmlns:a16="http://schemas.microsoft.com/office/drawing/2014/main" id="{2D613639-BC45-4915-8A9D-585A0F3A2F8E}"/>
              </a:ext>
            </a:extLst>
          </p:cNvPr>
          <p:cNvSpPr/>
          <p:nvPr/>
        </p:nvSpPr>
        <p:spPr>
          <a:xfrm>
            <a:off x="528714" y="8121352"/>
            <a:ext cx="5377242" cy="1295933"/>
          </a:xfrm>
          <a:prstGeom prst="roundRect">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13C9B27E-35CF-4309-A4F2-DD156F42CB1D}"/>
              </a:ext>
            </a:extLst>
          </p:cNvPr>
          <p:cNvSpPr txBox="1"/>
          <p:nvPr/>
        </p:nvSpPr>
        <p:spPr>
          <a:xfrm>
            <a:off x="699470" y="8207743"/>
            <a:ext cx="5206485" cy="1281761"/>
          </a:xfrm>
          <a:prstGeom prst="rect">
            <a:avLst/>
          </a:prstGeom>
          <a:noFill/>
        </p:spPr>
        <p:txBody>
          <a:bodyPr wrap="square" rtlCol="0">
            <a:spAutoFit/>
          </a:bodyPr>
          <a:lstStyle/>
          <a:p>
            <a:pPr algn="ctr"/>
            <a:r>
              <a:rPr lang="pt-BR" sz="1310" b="1" dirty="0">
                <a:latin typeface="Arial" panose="020B0604020202020204" pitchFamily="34" charset="0"/>
                <a:cs typeface="Arial" pitchFamily="34" charset="0"/>
              </a:rPr>
              <a:t>ATENÇÃO</a:t>
            </a:r>
            <a:endParaRPr lang="pt-BR" sz="1310" dirty="0">
              <a:latin typeface="Arial" pitchFamily="34" charset="0"/>
              <a:cs typeface="Arial" pitchFamily="34" charset="0"/>
            </a:endParaRPr>
          </a:p>
          <a:p>
            <a:pPr algn="ctr"/>
            <a:r>
              <a:rPr lang="pt-BR" sz="1310" dirty="0">
                <a:latin typeface="Arial" pitchFamily="34" charset="0"/>
                <a:cs typeface="Arial" pitchFamily="34" charset="0"/>
              </a:rPr>
              <a:t>As programações de TEMPERATURA, TIMER E TEMPO DE VAPOR são programadas pelo cliente. Já a programação de INTERVALO, ACIONAMENTO e outras, já vêm configurada de fábrica.</a:t>
            </a:r>
          </a:p>
          <a:p>
            <a:endParaRPr lang="pt-BR" sz="1179" dirty="0">
              <a:latin typeface="Arial" pitchFamily="34" charset="0"/>
              <a:cs typeface="Arial" pitchFamily="34" charset="0"/>
            </a:endParaRPr>
          </a:p>
        </p:txBody>
      </p:sp>
      <p:sp>
        <p:nvSpPr>
          <p:cNvPr id="12" name="Elipse 11">
            <a:extLst>
              <a:ext uri="{FF2B5EF4-FFF2-40B4-BE49-F238E27FC236}">
                <a16:creationId xmlns:a16="http://schemas.microsoft.com/office/drawing/2014/main" id="{436173CE-4DD3-44EF-A0A8-AE7E7454ED23}"/>
              </a:ext>
            </a:extLst>
          </p:cNvPr>
          <p:cNvSpPr/>
          <p:nvPr/>
        </p:nvSpPr>
        <p:spPr>
          <a:xfrm>
            <a:off x="189634" y="1533689"/>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3" name="Elipse 12">
            <a:extLst>
              <a:ext uri="{FF2B5EF4-FFF2-40B4-BE49-F238E27FC236}">
                <a16:creationId xmlns:a16="http://schemas.microsoft.com/office/drawing/2014/main" id="{4448E1B5-DD54-4D8E-8033-10F29D4CFEFB}"/>
              </a:ext>
            </a:extLst>
          </p:cNvPr>
          <p:cNvSpPr/>
          <p:nvPr/>
        </p:nvSpPr>
        <p:spPr>
          <a:xfrm>
            <a:off x="196615" y="1971712"/>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4" name="Elipse 13">
            <a:extLst>
              <a:ext uri="{FF2B5EF4-FFF2-40B4-BE49-F238E27FC236}">
                <a16:creationId xmlns:a16="http://schemas.microsoft.com/office/drawing/2014/main" id="{BE6595E2-6B28-4CB5-9821-601C605A6F4E}"/>
              </a:ext>
            </a:extLst>
          </p:cNvPr>
          <p:cNvSpPr/>
          <p:nvPr/>
        </p:nvSpPr>
        <p:spPr>
          <a:xfrm>
            <a:off x="202090" y="2674980"/>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5" name="Elipse 14">
            <a:extLst>
              <a:ext uri="{FF2B5EF4-FFF2-40B4-BE49-F238E27FC236}">
                <a16:creationId xmlns:a16="http://schemas.microsoft.com/office/drawing/2014/main" id="{4A2F69DA-2827-4388-9046-3E3F1EA5DB9E}"/>
              </a:ext>
            </a:extLst>
          </p:cNvPr>
          <p:cNvSpPr/>
          <p:nvPr/>
        </p:nvSpPr>
        <p:spPr>
          <a:xfrm>
            <a:off x="196616" y="2890829"/>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722D02BD-DDF0-458A-8D48-3F20032FE3C7}"/>
              </a:ext>
            </a:extLst>
          </p:cNvPr>
          <p:cNvSpPr/>
          <p:nvPr/>
        </p:nvSpPr>
        <p:spPr>
          <a:xfrm>
            <a:off x="202291" y="3121462"/>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7" name="Elipse 16">
            <a:extLst>
              <a:ext uri="{FF2B5EF4-FFF2-40B4-BE49-F238E27FC236}">
                <a16:creationId xmlns:a16="http://schemas.microsoft.com/office/drawing/2014/main" id="{9679624F-08F0-4523-91F1-8B003C0B7020}"/>
              </a:ext>
            </a:extLst>
          </p:cNvPr>
          <p:cNvSpPr/>
          <p:nvPr/>
        </p:nvSpPr>
        <p:spPr>
          <a:xfrm>
            <a:off x="189634" y="3357223"/>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8" name="Elipse 17">
            <a:extLst>
              <a:ext uri="{FF2B5EF4-FFF2-40B4-BE49-F238E27FC236}">
                <a16:creationId xmlns:a16="http://schemas.microsoft.com/office/drawing/2014/main" id="{94EBF8CB-D866-49A8-A439-17FB6190EDEB}"/>
              </a:ext>
            </a:extLst>
          </p:cNvPr>
          <p:cNvSpPr/>
          <p:nvPr/>
        </p:nvSpPr>
        <p:spPr>
          <a:xfrm>
            <a:off x="194341" y="3574131"/>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9" name="Elipse 18">
            <a:extLst>
              <a:ext uri="{FF2B5EF4-FFF2-40B4-BE49-F238E27FC236}">
                <a16:creationId xmlns:a16="http://schemas.microsoft.com/office/drawing/2014/main" id="{BB12CB8F-71B7-41A1-AF0A-FB5CB548B6BE}"/>
              </a:ext>
            </a:extLst>
          </p:cNvPr>
          <p:cNvSpPr/>
          <p:nvPr/>
        </p:nvSpPr>
        <p:spPr>
          <a:xfrm>
            <a:off x="194341" y="3807475"/>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0" name="Elipse 19">
            <a:extLst>
              <a:ext uri="{FF2B5EF4-FFF2-40B4-BE49-F238E27FC236}">
                <a16:creationId xmlns:a16="http://schemas.microsoft.com/office/drawing/2014/main" id="{B3393C95-986A-4ABB-A8B3-FAA7071296BA}"/>
              </a:ext>
            </a:extLst>
          </p:cNvPr>
          <p:cNvSpPr/>
          <p:nvPr/>
        </p:nvSpPr>
        <p:spPr>
          <a:xfrm>
            <a:off x="196617" y="4030716"/>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1" name="Elipse 20">
            <a:extLst>
              <a:ext uri="{FF2B5EF4-FFF2-40B4-BE49-F238E27FC236}">
                <a16:creationId xmlns:a16="http://schemas.microsoft.com/office/drawing/2014/main" id="{EFE3FD76-C2A0-4DD1-BD94-FE0285791A54}"/>
              </a:ext>
            </a:extLst>
          </p:cNvPr>
          <p:cNvSpPr/>
          <p:nvPr/>
        </p:nvSpPr>
        <p:spPr>
          <a:xfrm>
            <a:off x="196616" y="4277765"/>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5" name="Elipse 24">
            <a:extLst>
              <a:ext uri="{FF2B5EF4-FFF2-40B4-BE49-F238E27FC236}">
                <a16:creationId xmlns:a16="http://schemas.microsoft.com/office/drawing/2014/main" id="{CD07A557-AA9D-4E59-8FE8-7119DC9C7D08}"/>
              </a:ext>
            </a:extLst>
          </p:cNvPr>
          <p:cNvSpPr/>
          <p:nvPr/>
        </p:nvSpPr>
        <p:spPr>
          <a:xfrm>
            <a:off x="198144" y="2436781"/>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pic>
        <p:nvPicPr>
          <p:cNvPr id="3" name="Imagem 2">
            <a:extLst>
              <a:ext uri="{FF2B5EF4-FFF2-40B4-BE49-F238E27FC236}">
                <a16:creationId xmlns:a16="http://schemas.microsoft.com/office/drawing/2014/main" id="{BB120F2B-3EC3-44A4-8651-0D08B070D11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285132" y="1652516"/>
            <a:ext cx="2288896" cy="2288896"/>
          </a:xfrm>
          <a:prstGeom prst="rect">
            <a:avLst/>
          </a:prstGeom>
        </p:spPr>
      </p:pic>
      <p:cxnSp>
        <p:nvCxnSpPr>
          <p:cNvPr id="30" name="Conector de Seta Reta 29">
            <a:extLst>
              <a:ext uri="{FF2B5EF4-FFF2-40B4-BE49-F238E27FC236}">
                <a16:creationId xmlns:a16="http://schemas.microsoft.com/office/drawing/2014/main" id="{735D363C-BE10-4369-8C2A-B190F6D897CD}"/>
              </a:ext>
            </a:extLst>
          </p:cNvPr>
          <p:cNvCxnSpPr>
            <a:cxnSpLocks/>
          </p:cNvCxnSpPr>
          <p:nvPr/>
        </p:nvCxnSpPr>
        <p:spPr>
          <a:xfrm flipV="1">
            <a:off x="5751600" y="2096311"/>
            <a:ext cx="239077" cy="34746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Elipse 32">
            <a:extLst>
              <a:ext uri="{FF2B5EF4-FFF2-40B4-BE49-F238E27FC236}">
                <a16:creationId xmlns:a16="http://schemas.microsoft.com/office/drawing/2014/main" id="{406A5A4C-B1CB-4939-8B1D-DFFC9237A05E}"/>
              </a:ext>
            </a:extLst>
          </p:cNvPr>
          <p:cNvSpPr/>
          <p:nvPr/>
        </p:nvSpPr>
        <p:spPr>
          <a:xfrm>
            <a:off x="5990677" y="1965913"/>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34" name="CaixaDeTexto 33">
            <a:extLst>
              <a:ext uri="{FF2B5EF4-FFF2-40B4-BE49-F238E27FC236}">
                <a16:creationId xmlns:a16="http://schemas.microsoft.com/office/drawing/2014/main" id="{B4836B63-79AC-433A-985A-71D7AE6FF2BE}"/>
              </a:ext>
            </a:extLst>
          </p:cNvPr>
          <p:cNvSpPr txBox="1"/>
          <p:nvPr/>
        </p:nvSpPr>
        <p:spPr>
          <a:xfrm>
            <a:off x="5963392" y="1939631"/>
            <a:ext cx="188675" cy="246221"/>
          </a:xfrm>
          <a:prstGeom prst="rect">
            <a:avLst/>
          </a:prstGeom>
          <a:noFill/>
        </p:spPr>
        <p:txBody>
          <a:bodyPr wrap="square" rtlCol="0">
            <a:spAutoFit/>
          </a:bodyPr>
          <a:lstStyle/>
          <a:p>
            <a:r>
              <a:rPr lang="pt-BR" sz="1000" dirty="0"/>
              <a:t>1</a:t>
            </a:r>
          </a:p>
        </p:txBody>
      </p:sp>
      <p:cxnSp>
        <p:nvCxnSpPr>
          <p:cNvPr id="35" name="Conector de Seta Reta 34">
            <a:extLst>
              <a:ext uri="{FF2B5EF4-FFF2-40B4-BE49-F238E27FC236}">
                <a16:creationId xmlns:a16="http://schemas.microsoft.com/office/drawing/2014/main" id="{8783D26D-CE00-48CC-9163-F00024F71333}"/>
              </a:ext>
            </a:extLst>
          </p:cNvPr>
          <p:cNvCxnSpPr>
            <a:cxnSpLocks/>
          </p:cNvCxnSpPr>
          <p:nvPr/>
        </p:nvCxnSpPr>
        <p:spPr>
          <a:xfrm flipV="1">
            <a:off x="5990677" y="2943812"/>
            <a:ext cx="525041" cy="2745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409CEAA6-722A-4981-A78B-7E69442E4A91}"/>
              </a:ext>
            </a:extLst>
          </p:cNvPr>
          <p:cNvSpPr txBox="1"/>
          <p:nvPr/>
        </p:nvSpPr>
        <p:spPr>
          <a:xfrm>
            <a:off x="6537503" y="2809979"/>
            <a:ext cx="188675" cy="246221"/>
          </a:xfrm>
          <a:prstGeom prst="rect">
            <a:avLst/>
          </a:prstGeom>
          <a:noFill/>
        </p:spPr>
        <p:txBody>
          <a:bodyPr wrap="square" rtlCol="0">
            <a:spAutoFit/>
          </a:bodyPr>
          <a:lstStyle/>
          <a:p>
            <a:r>
              <a:rPr lang="pt-BR" sz="1000" dirty="0"/>
              <a:t>2</a:t>
            </a:r>
          </a:p>
        </p:txBody>
      </p:sp>
      <p:sp>
        <p:nvSpPr>
          <p:cNvPr id="38" name="Elipse 37">
            <a:extLst>
              <a:ext uri="{FF2B5EF4-FFF2-40B4-BE49-F238E27FC236}">
                <a16:creationId xmlns:a16="http://schemas.microsoft.com/office/drawing/2014/main" id="{670F1D62-526B-4540-A1B8-B7F63693BD68}"/>
              </a:ext>
            </a:extLst>
          </p:cNvPr>
          <p:cNvSpPr/>
          <p:nvPr/>
        </p:nvSpPr>
        <p:spPr>
          <a:xfrm>
            <a:off x="6555766" y="2837838"/>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39" name="Conector de Seta Reta 38">
            <a:extLst>
              <a:ext uri="{FF2B5EF4-FFF2-40B4-BE49-F238E27FC236}">
                <a16:creationId xmlns:a16="http://schemas.microsoft.com/office/drawing/2014/main" id="{F148D272-1FC5-499F-A1E9-3629C03AF7E3}"/>
              </a:ext>
            </a:extLst>
          </p:cNvPr>
          <p:cNvCxnSpPr>
            <a:cxnSpLocks/>
          </p:cNvCxnSpPr>
          <p:nvPr/>
        </p:nvCxnSpPr>
        <p:spPr>
          <a:xfrm flipH="1">
            <a:off x="4365104" y="2540372"/>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7" name="CaixaDeTexto 46">
            <a:extLst>
              <a:ext uri="{FF2B5EF4-FFF2-40B4-BE49-F238E27FC236}">
                <a16:creationId xmlns:a16="http://schemas.microsoft.com/office/drawing/2014/main" id="{78D31B4A-3C3B-4C80-83DF-D23FDD594F7E}"/>
              </a:ext>
            </a:extLst>
          </p:cNvPr>
          <p:cNvSpPr txBox="1"/>
          <p:nvPr/>
        </p:nvSpPr>
        <p:spPr>
          <a:xfrm>
            <a:off x="4190794" y="2433300"/>
            <a:ext cx="188675" cy="215444"/>
          </a:xfrm>
          <a:prstGeom prst="rect">
            <a:avLst/>
          </a:prstGeom>
          <a:noFill/>
        </p:spPr>
        <p:txBody>
          <a:bodyPr wrap="square" rtlCol="0">
            <a:spAutoFit/>
          </a:bodyPr>
          <a:lstStyle/>
          <a:p>
            <a:r>
              <a:rPr lang="pt-BR" sz="800" dirty="0"/>
              <a:t>3</a:t>
            </a:r>
          </a:p>
        </p:txBody>
      </p:sp>
      <p:sp>
        <p:nvSpPr>
          <p:cNvPr id="48" name="Elipse 47">
            <a:extLst>
              <a:ext uri="{FF2B5EF4-FFF2-40B4-BE49-F238E27FC236}">
                <a16:creationId xmlns:a16="http://schemas.microsoft.com/office/drawing/2014/main" id="{0744E729-FDEB-4DD1-9F8F-E4D19A88609D}"/>
              </a:ext>
            </a:extLst>
          </p:cNvPr>
          <p:cNvSpPr/>
          <p:nvPr/>
        </p:nvSpPr>
        <p:spPr>
          <a:xfrm>
            <a:off x="4249104" y="2485904"/>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49" name="Conector de Seta Reta 48">
            <a:extLst>
              <a:ext uri="{FF2B5EF4-FFF2-40B4-BE49-F238E27FC236}">
                <a16:creationId xmlns:a16="http://schemas.microsoft.com/office/drawing/2014/main" id="{E9DF8E8D-7CD5-4FFA-8A37-B6D3B00F4C8A}"/>
              </a:ext>
            </a:extLst>
          </p:cNvPr>
          <p:cNvCxnSpPr>
            <a:cxnSpLocks/>
          </p:cNvCxnSpPr>
          <p:nvPr/>
        </p:nvCxnSpPr>
        <p:spPr>
          <a:xfrm flipH="1">
            <a:off x="4365104" y="2648744"/>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0" name="Elipse 49">
            <a:extLst>
              <a:ext uri="{FF2B5EF4-FFF2-40B4-BE49-F238E27FC236}">
                <a16:creationId xmlns:a16="http://schemas.microsoft.com/office/drawing/2014/main" id="{EE1C4614-EA76-4995-A791-1D15DD0BB0DD}"/>
              </a:ext>
            </a:extLst>
          </p:cNvPr>
          <p:cNvSpPr/>
          <p:nvPr/>
        </p:nvSpPr>
        <p:spPr>
          <a:xfrm>
            <a:off x="4252570" y="2610980"/>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51" name="CaixaDeTexto 50">
            <a:extLst>
              <a:ext uri="{FF2B5EF4-FFF2-40B4-BE49-F238E27FC236}">
                <a16:creationId xmlns:a16="http://schemas.microsoft.com/office/drawing/2014/main" id="{85601F09-B12D-4E03-B2D6-8C653408E2DD}"/>
              </a:ext>
            </a:extLst>
          </p:cNvPr>
          <p:cNvSpPr txBox="1"/>
          <p:nvPr/>
        </p:nvSpPr>
        <p:spPr>
          <a:xfrm>
            <a:off x="4186236" y="2560931"/>
            <a:ext cx="188675" cy="215444"/>
          </a:xfrm>
          <a:prstGeom prst="rect">
            <a:avLst/>
          </a:prstGeom>
          <a:noFill/>
        </p:spPr>
        <p:txBody>
          <a:bodyPr wrap="square" rtlCol="0">
            <a:spAutoFit/>
          </a:bodyPr>
          <a:lstStyle/>
          <a:p>
            <a:r>
              <a:rPr lang="pt-BR" sz="800" dirty="0"/>
              <a:t>4</a:t>
            </a:r>
          </a:p>
        </p:txBody>
      </p:sp>
      <p:sp>
        <p:nvSpPr>
          <p:cNvPr id="52" name="Elipse 51">
            <a:extLst>
              <a:ext uri="{FF2B5EF4-FFF2-40B4-BE49-F238E27FC236}">
                <a16:creationId xmlns:a16="http://schemas.microsoft.com/office/drawing/2014/main" id="{7AD89ADF-8A7F-410C-8DC7-55BEA27091CA}"/>
              </a:ext>
            </a:extLst>
          </p:cNvPr>
          <p:cNvSpPr/>
          <p:nvPr/>
        </p:nvSpPr>
        <p:spPr>
          <a:xfrm>
            <a:off x="4252631" y="2731835"/>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53" name="CaixaDeTexto 52">
            <a:extLst>
              <a:ext uri="{FF2B5EF4-FFF2-40B4-BE49-F238E27FC236}">
                <a16:creationId xmlns:a16="http://schemas.microsoft.com/office/drawing/2014/main" id="{FF29F934-095F-4EAB-9BE0-90A76C2B3905}"/>
              </a:ext>
            </a:extLst>
          </p:cNvPr>
          <p:cNvSpPr txBox="1"/>
          <p:nvPr/>
        </p:nvSpPr>
        <p:spPr>
          <a:xfrm>
            <a:off x="4190778" y="2679097"/>
            <a:ext cx="188675" cy="215444"/>
          </a:xfrm>
          <a:prstGeom prst="rect">
            <a:avLst/>
          </a:prstGeom>
          <a:noFill/>
        </p:spPr>
        <p:txBody>
          <a:bodyPr wrap="square" rtlCol="0">
            <a:spAutoFit/>
          </a:bodyPr>
          <a:lstStyle/>
          <a:p>
            <a:r>
              <a:rPr lang="pt-BR" sz="800" dirty="0"/>
              <a:t>5</a:t>
            </a:r>
          </a:p>
        </p:txBody>
      </p:sp>
      <p:cxnSp>
        <p:nvCxnSpPr>
          <p:cNvPr id="54" name="Conector de Seta Reta 53">
            <a:extLst>
              <a:ext uri="{FF2B5EF4-FFF2-40B4-BE49-F238E27FC236}">
                <a16:creationId xmlns:a16="http://schemas.microsoft.com/office/drawing/2014/main" id="{358EA309-FC4F-44C0-90D5-045C300E3B68}"/>
              </a:ext>
            </a:extLst>
          </p:cNvPr>
          <p:cNvCxnSpPr>
            <a:cxnSpLocks/>
          </p:cNvCxnSpPr>
          <p:nvPr/>
        </p:nvCxnSpPr>
        <p:spPr>
          <a:xfrm flipH="1">
            <a:off x="4365104" y="2776372"/>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5" name="Elipse 54">
            <a:extLst>
              <a:ext uri="{FF2B5EF4-FFF2-40B4-BE49-F238E27FC236}">
                <a16:creationId xmlns:a16="http://schemas.microsoft.com/office/drawing/2014/main" id="{1625A0B2-B573-4F61-A253-92471C3FF4C0}"/>
              </a:ext>
            </a:extLst>
          </p:cNvPr>
          <p:cNvSpPr/>
          <p:nvPr/>
        </p:nvSpPr>
        <p:spPr>
          <a:xfrm>
            <a:off x="4260004" y="3075393"/>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57" name="CaixaDeTexto 56">
            <a:extLst>
              <a:ext uri="{FF2B5EF4-FFF2-40B4-BE49-F238E27FC236}">
                <a16:creationId xmlns:a16="http://schemas.microsoft.com/office/drawing/2014/main" id="{DBA1DE1B-50F5-4D4E-AF92-1CEAD9E5066E}"/>
              </a:ext>
            </a:extLst>
          </p:cNvPr>
          <p:cNvSpPr txBox="1"/>
          <p:nvPr/>
        </p:nvSpPr>
        <p:spPr>
          <a:xfrm>
            <a:off x="4193057" y="2790805"/>
            <a:ext cx="188675" cy="215444"/>
          </a:xfrm>
          <a:prstGeom prst="rect">
            <a:avLst/>
          </a:prstGeom>
          <a:noFill/>
        </p:spPr>
        <p:txBody>
          <a:bodyPr wrap="square" rtlCol="0">
            <a:spAutoFit/>
          </a:bodyPr>
          <a:lstStyle/>
          <a:p>
            <a:r>
              <a:rPr lang="pt-BR" sz="800" dirty="0"/>
              <a:t>6</a:t>
            </a:r>
          </a:p>
        </p:txBody>
      </p:sp>
      <p:cxnSp>
        <p:nvCxnSpPr>
          <p:cNvPr id="58" name="Conector de Seta Reta 57">
            <a:extLst>
              <a:ext uri="{FF2B5EF4-FFF2-40B4-BE49-F238E27FC236}">
                <a16:creationId xmlns:a16="http://schemas.microsoft.com/office/drawing/2014/main" id="{C05DF4DC-70CB-495B-9809-1CA07BA59221}"/>
              </a:ext>
            </a:extLst>
          </p:cNvPr>
          <p:cNvCxnSpPr>
            <a:cxnSpLocks/>
          </p:cNvCxnSpPr>
          <p:nvPr/>
        </p:nvCxnSpPr>
        <p:spPr>
          <a:xfrm flipH="1">
            <a:off x="4372802" y="2894541"/>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9" name="Elipse 58">
            <a:extLst>
              <a:ext uri="{FF2B5EF4-FFF2-40B4-BE49-F238E27FC236}">
                <a16:creationId xmlns:a16="http://schemas.microsoft.com/office/drawing/2014/main" id="{38EEE866-0A3A-4890-9181-DF9956655C02}"/>
              </a:ext>
            </a:extLst>
          </p:cNvPr>
          <p:cNvSpPr/>
          <p:nvPr/>
        </p:nvSpPr>
        <p:spPr>
          <a:xfrm>
            <a:off x="4254655" y="2848742"/>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60" name="CaixaDeTexto 59">
            <a:extLst>
              <a:ext uri="{FF2B5EF4-FFF2-40B4-BE49-F238E27FC236}">
                <a16:creationId xmlns:a16="http://schemas.microsoft.com/office/drawing/2014/main" id="{95DD166C-A204-4632-A07F-D899ACC1820C}"/>
              </a:ext>
            </a:extLst>
          </p:cNvPr>
          <p:cNvSpPr txBox="1"/>
          <p:nvPr/>
        </p:nvSpPr>
        <p:spPr>
          <a:xfrm>
            <a:off x="6440077" y="2641271"/>
            <a:ext cx="307905" cy="184666"/>
          </a:xfrm>
          <a:prstGeom prst="rect">
            <a:avLst/>
          </a:prstGeom>
          <a:noFill/>
        </p:spPr>
        <p:txBody>
          <a:bodyPr wrap="square" rtlCol="0">
            <a:spAutoFit/>
          </a:bodyPr>
          <a:lstStyle/>
          <a:p>
            <a:r>
              <a:rPr lang="pt-BR" sz="600" dirty="0"/>
              <a:t>15</a:t>
            </a:r>
            <a:endParaRPr lang="pt-BR" sz="700" dirty="0"/>
          </a:p>
        </p:txBody>
      </p:sp>
      <p:cxnSp>
        <p:nvCxnSpPr>
          <p:cNvPr id="61" name="Conector de Seta Reta 60">
            <a:extLst>
              <a:ext uri="{FF2B5EF4-FFF2-40B4-BE49-F238E27FC236}">
                <a16:creationId xmlns:a16="http://schemas.microsoft.com/office/drawing/2014/main" id="{8800AF5A-BEA0-4B80-B521-DA57B6FC2B5F}"/>
              </a:ext>
            </a:extLst>
          </p:cNvPr>
          <p:cNvCxnSpPr>
            <a:cxnSpLocks/>
          </p:cNvCxnSpPr>
          <p:nvPr/>
        </p:nvCxnSpPr>
        <p:spPr>
          <a:xfrm flipH="1">
            <a:off x="4372802" y="3006249"/>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9D3EF3BE-E16B-4E78-A9F0-64AAF1DF5CC4}"/>
              </a:ext>
            </a:extLst>
          </p:cNvPr>
          <p:cNvSpPr/>
          <p:nvPr/>
        </p:nvSpPr>
        <p:spPr>
          <a:xfrm>
            <a:off x="4258340" y="2961218"/>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63" name="CaixaDeTexto 62">
            <a:extLst>
              <a:ext uri="{FF2B5EF4-FFF2-40B4-BE49-F238E27FC236}">
                <a16:creationId xmlns:a16="http://schemas.microsoft.com/office/drawing/2014/main" id="{1313CD23-533E-4BE1-845D-47CB286209B7}"/>
              </a:ext>
            </a:extLst>
          </p:cNvPr>
          <p:cNvSpPr txBox="1"/>
          <p:nvPr/>
        </p:nvSpPr>
        <p:spPr>
          <a:xfrm>
            <a:off x="4202411" y="2908971"/>
            <a:ext cx="188675" cy="215444"/>
          </a:xfrm>
          <a:prstGeom prst="rect">
            <a:avLst/>
          </a:prstGeom>
          <a:noFill/>
        </p:spPr>
        <p:txBody>
          <a:bodyPr wrap="square" rtlCol="0">
            <a:spAutoFit/>
          </a:bodyPr>
          <a:lstStyle/>
          <a:p>
            <a:r>
              <a:rPr lang="pt-BR" sz="800" dirty="0"/>
              <a:t>7</a:t>
            </a:r>
          </a:p>
        </p:txBody>
      </p:sp>
      <p:cxnSp>
        <p:nvCxnSpPr>
          <p:cNvPr id="64" name="Conector de Seta Reta 63">
            <a:extLst>
              <a:ext uri="{FF2B5EF4-FFF2-40B4-BE49-F238E27FC236}">
                <a16:creationId xmlns:a16="http://schemas.microsoft.com/office/drawing/2014/main" id="{21FABE46-937D-4D62-A852-7AF1EE061605}"/>
              </a:ext>
            </a:extLst>
          </p:cNvPr>
          <p:cNvCxnSpPr>
            <a:cxnSpLocks/>
          </p:cNvCxnSpPr>
          <p:nvPr/>
        </p:nvCxnSpPr>
        <p:spPr>
          <a:xfrm flipH="1">
            <a:off x="4365104" y="3119500"/>
            <a:ext cx="73539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7" name="CaixaDeTexto 66">
            <a:extLst>
              <a:ext uri="{FF2B5EF4-FFF2-40B4-BE49-F238E27FC236}">
                <a16:creationId xmlns:a16="http://schemas.microsoft.com/office/drawing/2014/main" id="{539F64DF-16C4-42EB-A77D-3E01F414E455}"/>
              </a:ext>
            </a:extLst>
          </p:cNvPr>
          <p:cNvSpPr txBox="1"/>
          <p:nvPr/>
        </p:nvSpPr>
        <p:spPr>
          <a:xfrm>
            <a:off x="4202411" y="3016693"/>
            <a:ext cx="188675" cy="215444"/>
          </a:xfrm>
          <a:prstGeom prst="rect">
            <a:avLst/>
          </a:prstGeom>
          <a:noFill/>
        </p:spPr>
        <p:txBody>
          <a:bodyPr wrap="square" rtlCol="0">
            <a:spAutoFit/>
          </a:bodyPr>
          <a:lstStyle/>
          <a:p>
            <a:r>
              <a:rPr lang="pt-BR" sz="800" dirty="0"/>
              <a:t>8</a:t>
            </a:r>
          </a:p>
        </p:txBody>
      </p:sp>
      <p:cxnSp>
        <p:nvCxnSpPr>
          <p:cNvPr id="56" name="Conector de Seta Reta 55">
            <a:extLst>
              <a:ext uri="{FF2B5EF4-FFF2-40B4-BE49-F238E27FC236}">
                <a16:creationId xmlns:a16="http://schemas.microsoft.com/office/drawing/2014/main" id="{F3F7F157-137E-48D7-B55B-954D8C21D89F}"/>
              </a:ext>
            </a:extLst>
          </p:cNvPr>
          <p:cNvCxnSpPr>
            <a:cxnSpLocks/>
          </p:cNvCxnSpPr>
          <p:nvPr/>
        </p:nvCxnSpPr>
        <p:spPr>
          <a:xfrm>
            <a:off x="5157192" y="3535755"/>
            <a:ext cx="0" cy="5531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6" name="Elipse 65">
            <a:extLst>
              <a:ext uri="{FF2B5EF4-FFF2-40B4-BE49-F238E27FC236}">
                <a16:creationId xmlns:a16="http://schemas.microsoft.com/office/drawing/2014/main" id="{07CCADF3-F938-4D22-86D5-62860E1096BB}"/>
              </a:ext>
            </a:extLst>
          </p:cNvPr>
          <p:cNvSpPr/>
          <p:nvPr/>
        </p:nvSpPr>
        <p:spPr>
          <a:xfrm>
            <a:off x="5108192" y="4104493"/>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68" name="Conector de Seta Reta 67">
            <a:extLst>
              <a:ext uri="{FF2B5EF4-FFF2-40B4-BE49-F238E27FC236}">
                <a16:creationId xmlns:a16="http://schemas.microsoft.com/office/drawing/2014/main" id="{C5425394-53A0-41A3-8D35-3E2BEA5AF22D}"/>
              </a:ext>
            </a:extLst>
          </p:cNvPr>
          <p:cNvCxnSpPr>
            <a:cxnSpLocks/>
          </p:cNvCxnSpPr>
          <p:nvPr/>
        </p:nvCxnSpPr>
        <p:spPr>
          <a:xfrm>
            <a:off x="5373216" y="3535755"/>
            <a:ext cx="0" cy="5531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9" name="Elipse 68">
            <a:extLst>
              <a:ext uri="{FF2B5EF4-FFF2-40B4-BE49-F238E27FC236}">
                <a16:creationId xmlns:a16="http://schemas.microsoft.com/office/drawing/2014/main" id="{F4C112DC-358D-45F0-A0E2-4E737811AFC6}"/>
              </a:ext>
            </a:extLst>
          </p:cNvPr>
          <p:cNvSpPr/>
          <p:nvPr/>
        </p:nvSpPr>
        <p:spPr>
          <a:xfrm>
            <a:off x="5329734" y="4102647"/>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70" name="Conector de Seta Reta 69">
            <a:extLst>
              <a:ext uri="{FF2B5EF4-FFF2-40B4-BE49-F238E27FC236}">
                <a16:creationId xmlns:a16="http://schemas.microsoft.com/office/drawing/2014/main" id="{185A668A-CCFD-4930-B747-6E2FB2C35677}"/>
              </a:ext>
            </a:extLst>
          </p:cNvPr>
          <p:cNvCxnSpPr>
            <a:cxnSpLocks/>
          </p:cNvCxnSpPr>
          <p:nvPr/>
        </p:nvCxnSpPr>
        <p:spPr>
          <a:xfrm>
            <a:off x="5589240" y="3532525"/>
            <a:ext cx="0" cy="5531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1" name="Elipse 70">
            <a:extLst>
              <a:ext uri="{FF2B5EF4-FFF2-40B4-BE49-F238E27FC236}">
                <a16:creationId xmlns:a16="http://schemas.microsoft.com/office/drawing/2014/main" id="{11D6520B-403D-4D99-A3EE-0BD5CB1FEF2F}"/>
              </a:ext>
            </a:extLst>
          </p:cNvPr>
          <p:cNvSpPr/>
          <p:nvPr/>
        </p:nvSpPr>
        <p:spPr>
          <a:xfrm>
            <a:off x="5543466" y="4107121"/>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72" name="Conector de Seta Reta 71">
            <a:extLst>
              <a:ext uri="{FF2B5EF4-FFF2-40B4-BE49-F238E27FC236}">
                <a16:creationId xmlns:a16="http://schemas.microsoft.com/office/drawing/2014/main" id="{C78175C0-C029-45F0-ACCB-566599A70BC7}"/>
              </a:ext>
            </a:extLst>
          </p:cNvPr>
          <p:cNvCxnSpPr>
            <a:cxnSpLocks/>
          </p:cNvCxnSpPr>
          <p:nvPr/>
        </p:nvCxnSpPr>
        <p:spPr>
          <a:xfrm>
            <a:off x="5805264" y="3525736"/>
            <a:ext cx="0" cy="5531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26F65039-9C76-48B8-90D9-20B1FA128CF0}"/>
              </a:ext>
            </a:extLst>
          </p:cNvPr>
          <p:cNvSpPr/>
          <p:nvPr/>
        </p:nvSpPr>
        <p:spPr>
          <a:xfrm>
            <a:off x="5752710" y="4115143"/>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cxnSp>
        <p:nvCxnSpPr>
          <p:cNvPr id="74" name="Conector de Seta Reta 73">
            <a:extLst>
              <a:ext uri="{FF2B5EF4-FFF2-40B4-BE49-F238E27FC236}">
                <a16:creationId xmlns:a16="http://schemas.microsoft.com/office/drawing/2014/main" id="{4E052F5E-71F5-4B10-BEB5-AA37725FA9B5}"/>
              </a:ext>
            </a:extLst>
          </p:cNvPr>
          <p:cNvCxnSpPr>
            <a:cxnSpLocks/>
          </p:cNvCxnSpPr>
          <p:nvPr/>
        </p:nvCxnSpPr>
        <p:spPr>
          <a:xfrm>
            <a:off x="6021288" y="3532525"/>
            <a:ext cx="0" cy="5531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Elipse 74">
            <a:extLst>
              <a:ext uri="{FF2B5EF4-FFF2-40B4-BE49-F238E27FC236}">
                <a16:creationId xmlns:a16="http://schemas.microsoft.com/office/drawing/2014/main" id="{FB8C386D-6BF4-4682-8C02-3CC86D1819A1}"/>
              </a:ext>
            </a:extLst>
          </p:cNvPr>
          <p:cNvSpPr/>
          <p:nvPr/>
        </p:nvSpPr>
        <p:spPr>
          <a:xfrm>
            <a:off x="5968734" y="4113106"/>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77" name="CaixaDeTexto 76">
            <a:extLst>
              <a:ext uri="{FF2B5EF4-FFF2-40B4-BE49-F238E27FC236}">
                <a16:creationId xmlns:a16="http://schemas.microsoft.com/office/drawing/2014/main" id="{74BF970E-71A2-4C87-BFC6-09983156F03C}"/>
              </a:ext>
            </a:extLst>
          </p:cNvPr>
          <p:cNvSpPr txBox="1"/>
          <p:nvPr/>
        </p:nvSpPr>
        <p:spPr>
          <a:xfrm>
            <a:off x="5053056" y="4049393"/>
            <a:ext cx="188675" cy="215444"/>
          </a:xfrm>
          <a:prstGeom prst="rect">
            <a:avLst/>
          </a:prstGeom>
          <a:noFill/>
        </p:spPr>
        <p:txBody>
          <a:bodyPr wrap="square" rtlCol="0">
            <a:spAutoFit/>
          </a:bodyPr>
          <a:lstStyle/>
          <a:p>
            <a:r>
              <a:rPr lang="pt-BR" sz="800" dirty="0"/>
              <a:t>9</a:t>
            </a:r>
          </a:p>
        </p:txBody>
      </p:sp>
      <p:sp>
        <p:nvSpPr>
          <p:cNvPr id="78" name="CaixaDeTexto 77">
            <a:extLst>
              <a:ext uri="{FF2B5EF4-FFF2-40B4-BE49-F238E27FC236}">
                <a16:creationId xmlns:a16="http://schemas.microsoft.com/office/drawing/2014/main" id="{4A6076B5-C829-49DA-9997-5D6318F055D1}"/>
              </a:ext>
            </a:extLst>
          </p:cNvPr>
          <p:cNvSpPr txBox="1"/>
          <p:nvPr/>
        </p:nvSpPr>
        <p:spPr>
          <a:xfrm>
            <a:off x="5243154" y="4055536"/>
            <a:ext cx="307905" cy="200055"/>
          </a:xfrm>
          <a:prstGeom prst="rect">
            <a:avLst/>
          </a:prstGeom>
          <a:noFill/>
        </p:spPr>
        <p:txBody>
          <a:bodyPr wrap="square" rtlCol="0">
            <a:spAutoFit/>
          </a:bodyPr>
          <a:lstStyle/>
          <a:p>
            <a:r>
              <a:rPr lang="pt-BR" sz="700" dirty="0"/>
              <a:t>10</a:t>
            </a:r>
            <a:endParaRPr lang="pt-BR" sz="800" dirty="0"/>
          </a:p>
        </p:txBody>
      </p:sp>
      <p:sp>
        <p:nvSpPr>
          <p:cNvPr id="79" name="CaixaDeTexto 78">
            <a:extLst>
              <a:ext uri="{FF2B5EF4-FFF2-40B4-BE49-F238E27FC236}">
                <a16:creationId xmlns:a16="http://schemas.microsoft.com/office/drawing/2014/main" id="{E2263E36-71DB-4C21-B471-F4424CEA3C7E}"/>
              </a:ext>
            </a:extLst>
          </p:cNvPr>
          <p:cNvSpPr txBox="1"/>
          <p:nvPr/>
        </p:nvSpPr>
        <p:spPr>
          <a:xfrm>
            <a:off x="5462141" y="4067546"/>
            <a:ext cx="307905" cy="200055"/>
          </a:xfrm>
          <a:prstGeom prst="rect">
            <a:avLst/>
          </a:prstGeom>
          <a:noFill/>
        </p:spPr>
        <p:txBody>
          <a:bodyPr wrap="square" rtlCol="0">
            <a:spAutoFit/>
          </a:bodyPr>
          <a:lstStyle/>
          <a:p>
            <a:r>
              <a:rPr lang="pt-BR" sz="700" dirty="0"/>
              <a:t>11</a:t>
            </a:r>
            <a:endParaRPr lang="pt-BR" sz="800" dirty="0"/>
          </a:p>
        </p:txBody>
      </p:sp>
      <p:sp>
        <p:nvSpPr>
          <p:cNvPr id="80" name="CaixaDeTexto 79">
            <a:extLst>
              <a:ext uri="{FF2B5EF4-FFF2-40B4-BE49-F238E27FC236}">
                <a16:creationId xmlns:a16="http://schemas.microsoft.com/office/drawing/2014/main" id="{E6E82DB3-B4AB-459C-95D4-627B8ACF2869}"/>
              </a:ext>
            </a:extLst>
          </p:cNvPr>
          <p:cNvSpPr txBox="1"/>
          <p:nvPr/>
        </p:nvSpPr>
        <p:spPr>
          <a:xfrm>
            <a:off x="5666667" y="4071076"/>
            <a:ext cx="307905" cy="200055"/>
          </a:xfrm>
          <a:prstGeom prst="rect">
            <a:avLst/>
          </a:prstGeom>
          <a:noFill/>
        </p:spPr>
        <p:txBody>
          <a:bodyPr wrap="square" rtlCol="0">
            <a:spAutoFit/>
          </a:bodyPr>
          <a:lstStyle/>
          <a:p>
            <a:r>
              <a:rPr lang="pt-BR" sz="700" dirty="0"/>
              <a:t>12</a:t>
            </a:r>
            <a:endParaRPr lang="pt-BR" sz="800" dirty="0"/>
          </a:p>
        </p:txBody>
      </p:sp>
      <p:sp>
        <p:nvSpPr>
          <p:cNvPr id="81" name="CaixaDeTexto 80">
            <a:extLst>
              <a:ext uri="{FF2B5EF4-FFF2-40B4-BE49-F238E27FC236}">
                <a16:creationId xmlns:a16="http://schemas.microsoft.com/office/drawing/2014/main" id="{143BBBF1-BB3C-454B-A3AA-95672B7C19C1}"/>
              </a:ext>
            </a:extLst>
          </p:cNvPr>
          <p:cNvSpPr txBox="1"/>
          <p:nvPr/>
        </p:nvSpPr>
        <p:spPr>
          <a:xfrm>
            <a:off x="5885654" y="4072153"/>
            <a:ext cx="307905" cy="200055"/>
          </a:xfrm>
          <a:prstGeom prst="rect">
            <a:avLst/>
          </a:prstGeom>
          <a:noFill/>
        </p:spPr>
        <p:txBody>
          <a:bodyPr wrap="square" rtlCol="0">
            <a:spAutoFit/>
          </a:bodyPr>
          <a:lstStyle/>
          <a:p>
            <a:r>
              <a:rPr lang="pt-BR" sz="700" dirty="0"/>
              <a:t>13</a:t>
            </a:r>
            <a:endParaRPr lang="pt-BR" sz="800" dirty="0"/>
          </a:p>
        </p:txBody>
      </p:sp>
      <p:cxnSp>
        <p:nvCxnSpPr>
          <p:cNvPr id="82" name="Conector de Seta Reta 81">
            <a:extLst>
              <a:ext uri="{FF2B5EF4-FFF2-40B4-BE49-F238E27FC236}">
                <a16:creationId xmlns:a16="http://schemas.microsoft.com/office/drawing/2014/main" id="{2416718A-D635-46E7-9A4B-20AC3F73752F}"/>
              </a:ext>
            </a:extLst>
          </p:cNvPr>
          <p:cNvCxnSpPr>
            <a:cxnSpLocks/>
          </p:cNvCxnSpPr>
          <p:nvPr/>
        </p:nvCxnSpPr>
        <p:spPr>
          <a:xfrm>
            <a:off x="6114724" y="2530096"/>
            <a:ext cx="422779" cy="1027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3" name="Conector de Seta Reta 82">
            <a:extLst>
              <a:ext uri="{FF2B5EF4-FFF2-40B4-BE49-F238E27FC236}">
                <a16:creationId xmlns:a16="http://schemas.microsoft.com/office/drawing/2014/main" id="{66781322-66EE-4AFE-B77E-76D91D8C47B6}"/>
              </a:ext>
            </a:extLst>
          </p:cNvPr>
          <p:cNvCxnSpPr>
            <a:cxnSpLocks/>
          </p:cNvCxnSpPr>
          <p:nvPr/>
        </p:nvCxnSpPr>
        <p:spPr>
          <a:xfrm flipV="1">
            <a:off x="6092939" y="2731370"/>
            <a:ext cx="411217" cy="9418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4" name="Elipse 83">
            <a:extLst>
              <a:ext uri="{FF2B5EF4-FFF2-40B4-BE49-F238E27FC236}">
                <a16:creationId xmlns:a16="http://schemas.microsoft.com/office/drawing/2014/main" id="{3D86F486-0F9B-4651-A796-2FEF54D11224}"/>
              </a:ext>
            </a:extLst>
          </p:cNvPr>
          <p:cNvSpPr/>
          <p:nvPr/>
        </p:nvSpPr>
        <p:spPr>
          <a:xfrm>
            <a:off x="6541857" y="2467964"/>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85" name="Elipse 84">
            <a:extLst>
              <a:ext uri="{FF2B5EF4-FFF2-40B4-BE49-F238E27FC236}">
                <a16:creationId xmlns:a16="http://schemas.microsoft.com/office/drawing/2014/main" id="{6DDA6F39-AF3A-405E-954E-EEFE19DE87F0}"/>
              </a:ext>
            </a:extLst>
          </p:cNvPr>
          <p:cNvSpPr/>
          <p:nvPr/>
        </p:nvSpPr>
        <p:spPr>
          <a:xfrm>
            <a:off x="6515980" y="2673503"/>
            <a:ext cx="105108" cy="108936"/>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86" name="CaixaDeTexto 85">
            <a:extLst>
              <a:ext uri="{FF2B5EF4-FFF2-40B4-BE49-F238E27FC236}">
                <a16:creationId xmlns:a16="http://schemas.microsoft.com/office/drawing/2014/main" id="{9B8A05E4-038F-4F99-AAE2-46B7D27EDB1D}"/>
              </a:ext>
            </a:extLst>
          </p:cNvPr>
          <p:cNvSpPr txBox="1"/>
          <p:nvPr/>
        </p:nvSpPr>
        <p:spPr>
          <a:xfrm>
            <a:off x="6467135" y="2422962"/>
            <a:ext cx="307905" cy="184666"/>
          </a:xfrm>
          <a:prstGeom prst="rect">
            <a:avLst/>
          </a:prstGeom>
          <a:noFill/>
        </p:spPr>
        <p:txBody>
          <a:bodyPr wrap="square" rtlCol="0">
            <a:spAutoFit/>
          </a:bodyPr>
          <a:lstStyle/>
          <a:p>
            <a:r>
              <a:rPr lang="pt-BR" sz="600" dirty="0"/>
              <a:t>14</a:t>
            </a:r>
            <a:endParaRPr lang="pt-BR" sz="800" dirty="0"/>
          </a:p>
        </p:txBody>
      </p:sp>
      <p:sp>
        <p:nvSpPr>
          <p:cNvPr id="87" name="Elipse 86">
            <a:extLst>
              <a:ext uri="{FF2B5EF4-FFF2-40B4-BE49-F238E27FC236}">
                <a16:creationId xmlns:a16="http://schemas.microsoft.com/office/drawing/2014/main" id="{51A5F482-29AA-4A2C-882B-F36ED8AB394A}"/>
              </a:ext>
            </a:extLst>
          </p:cNvPr>
          <p:cNvSpPr/>
          <p:nvPr/>
        </p:nvSpPr>
        <p:spPr>
          <a:xfrm>
            <a:off x="214386" y="5288315"/>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88" name="Elipse 87">
            <a:extLst>
              <a:ext uri="{FF2B5EF4-FFF2-40B4-BE49-F238E27FC236}">
                <a16:creationId xmlns:a16="http://schemas.microsoft.com/office/drawing/2014/main" id="{B4885739-D846-40FD-9910-A8C9FDE8D126}"/>
              </a:ext>
            </a:extLst>
          </p:cNvPr>
          <p:cNvSpPr/>
          <p:nvPr/>
        </p:nvSpPr>
        <p:spPr>
          <a:xfrm>
            <a:off x="204127" y="4676519"/>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89" name="Elipse 88">
            <a:extLst>
              <a:ext uri="{FF2B5EF4-FFF2-40B4-BE49-F238E27FC236}">
                <a16:creationId xmlns:a16="http://schemas.microsoft.com/office/drawing/2014/main" id="{79121BCA-5583-4F24-A631-38B54FAE9BDE}"/>
              </a:ext>
            </a:extLst>
          </p:cNvPr>
          <p:cNvSpPr/>
          <p:nvPr/>
        </p:nvSpPr>
        <p:spPr>
          <a:xfrm>
            <a:off x="204127" y="4883464"/>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90" name="Elipse 89">
            <a:extLst>
              <a:ext uri="{FF2B5EF4-FFF2-40B4-BE49-F238E27FC236}">
                <a16:creationId xmlns:a16="http://schemas.microsoft.com/office/drawing/2014/main" id="{8DF053CE-8ABC-4B8F-BA5B-DFDFF4E13D74}"/>
              </a:ext>
            </a:extLst>
          </p:cNvPr>
          <p:cNvSpPr/>
          <p:nvPr/>
        </p:nvSpPr>
        <p:spPr>
          <a:xfrm>
            <a:off x="203717" y="5089679"/>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2705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aixaDeTexto 28">
            <a:extLst>
              <a:ext uri="{FF2B5EF4-FFF2-40B4-BE49-F238E27FC236}">
                <a16:creationId xmlns:a16="http://schemas.microsoft.com/office/drawing/2014/main" id="{0E4A6260-FF0F-4B15-93C4-5B9980957673}"/>
              </a:ext>
            </a:extLst>
          </p:cNvPr>
          <p:cNvSpPr txBox="1"/>
          <p:nvPr/>
        </p:nvSpPr>
        <p:spPr>
          <a:xfrm>
            <a:off x="3135435" y="944136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05</a:t>
            </a:r>
          </a:p>
        </p:txBody>
      </p:sp>
      <p:sp>
        <p:nvSpPr>
          <p:cNvPr id="41" name="Retângulo 40">
            <a:extLst>
              <a:ext uri="{FF2B5EF4-FFF2-40B4-BE49-F238E27FC236}">
                <a16:creationId xmlns:a16="http://schemas.microsoft.com/office/drawing/2014/main" id="{6EDA3D4A-1057-4962-81F6-3347ECCC4230}"/>
              </a:ext>
            </a:extLst>
          </p:cNvPr>
          <p:cNvSpPr/>
          <p:nvPr/>
        </p:nvSpPr>
        <p:spPr>
          <a:xfrm>
            <a:off x="169106" y="12846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10. Código de falhas</a:t>
            </a:r>
          </a:p>
        </p:txBody>
      </p:sp>
      <p:sp>
        <p:nvSpPr>
          <p:cNvPr id="42" name="CaixaDeTexto 41"/>
          <p:cNvSpPr txBox="1"/>
          <p:nvPr/>
        </p:nvSpPr>
        <p:spPr>
          <a:xfrm>
            <a:off x="144971" y="429077"/>
            <a:ext cx="6226281" cy="63671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O controlador poderá indicar algumas mensagens indicando que ocorreu algum defeito que impede o perfeito funcionamento do sistema.</a:t>
            </a:r>
          </a:p>
          <a:p>
            <a:endParaRPr lang="pt-BR" sz="1179" dirty="0">
              <a:latin typeface="Arial" panose="020B0604020202020204" pitchFamily="34" charset="0"/>
              <a:cs typeface="Arial" pitchFamily="34" charset="0"/>
            </a:endParaRPr>
          </a:p>
        </p:txBody>
      </p:sp>
      <p:sp>
        <p:nvSpPr>
          <p:cNvPr id="44" name="Retângulo 43">
            <a:extLst>
              <a:ext uri="{FF2B5EF4-FFF2-40B4-BE49-F238E27FC236}">
                <a16:creationId xmlns:a16="http://schemas.microsoft.com/office/drawing/2014/main" id="{C0BDA508-251E-4B70-8A44-56B55638CB4C}"/>
              </a:ext>
            </a:extLst>
          </p:cNvPr>
          <p:cNvSpPr/>
          <p:nvPr/>
        </p:nvSpPr>
        <p:spPr>
          <a:xfrm>
            <a:off x="172203" y="5444563"/>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11. Acendimento</a:t>
            </a:r>
          </a:p>
        </p:txBody>
      </p:sp>
      <p:sp>
        <p:nvSpPr>
          <p:cNvPr id="47" name="CaixaDeTexto 46"/>
          <p:cNvSpPr txBox="1"/>
          <p:nvPr/>
        </p:nvSpPr>
        <p:spPr>
          <a:xfrm>
            <a:off x="116632" y="5797248"/>
            <a:ext cx="6606876" cy="1964064"/>
          </a:xfrm>
          <a:prstGeom prst="rect">
            <a:avLst/>
          </a:prstGeom>
          <a:noFill/>
        </p:spPr>
        <p:txBody>
          <a:bodyPr wrap="square" rtlCol="0">
            <a:spAutoFit/>
          </a:bodyPr>
          <a:lstStyle/>
          <a:p>
            <a:pPr algn="just">
              <a:lnSpc>
                <a:spcPct val="150000"/>
              </a:lnSpc>
            </a:pPr>
            <a:r>
              <a:rPr lang="pt-BR" sz="1179" dirty="0">
                <a:latin typeface="Arial" panose="020B0604020202020204" pitchFamily="34" charset="0"/>
                <a:cs typeface="Arial" pitchFamily="34" charset="0"/>
              </a:rPr>
              <a:t>Passo 1 - Coloque o forno na rede elétrica. </a:t>
            </a:r>
            <a:r>
              <a:rPr lang="pt-BR" sz="1179" b="1" dirty="0">
                <a:latin typeface="Arial" panose="020B0604020202020204" pitchFamily="34" charset="0"/>
                <a:cs typeface="Arial" pitchFamily="34" charset="0"/>
              </a:rPr>
              <a:t>CERTIFIQUE-SE QUE EXISTE ATERRAMENTO.</a:t>
            </a:r>
            <a:endParaRPr lang="pt-BR" sz="1179" dirty="0">
              <a:latin typeface="Arial" pitchFamily="34" charset="0"/>
              <a:cs typeface="Arial" pitchFamily="34" charset="0"/>
            </a:endParaRPr>
          </a:p>
          <a:p>
            <a:pPr algn="just">
              <a:lnSpc>
                <a:spcPct val="150000"/>
              </a:lnSpc>
            </a:pPr>
            <a:r>
              <a:rPr lang="pt-BR" sz="1179" dirty="0">
                <a:latin typeface="Arial" pitchFamily="34" charset="0"/>
                <a:cs typeface="Arial" pitchFamily="34" charset="0"/>
              </a:rPr>
              <a:t>Passo 2 - Conecte as mangueiras de gás aos botijões.</a:t>
            </a:r>
          </a:p>
          <a:p>
            <a:pPr algn="just">
              <a:lnSpc>
                <a:spcPct val="150000"/>
              </a:lnSpc>
            </a:pPr>
            <a:r>
              <a:rPr lang="pt-BR" sz="1179" dirty="0">
                <a:latin typeface="Arial" pitchFamily="34" charset="0"/>
                <a:cs typeface="Arial" pitchFamily="34" charset="0"/>
              </a:rPr>
              <a:t>Passo 3 - Abra o registro do botijão de gás.</a:t>
            </a:r>
          </a:p>
          <a:p>
            <a:pPr algn="just">
              <a:lnSpc>
                <a:spcPct val="150000"/>
              </a:lnSpc>
            </a:pPr>
            <a:r>
              <a:rPr lang="pt-BR" sz="1179" dirty="0">
                <a:latin typeface="Arial" pitchFamily="34" charset="0"/>
                <a:cs typeface="Arial" pitchFamily="34" charset="0"/>
              </a:rPr>
              <a:t>Passo 4 - Ligue a chave geral, que acionará automaticamente o queimador do forno;</a:t>
            </a:r>
          </a:p>
          <a:p>
            <a:pPr algn="just">
              <a:lnSpc>
                <a:spcPct val="150000"/>
              </a:lnSpc>
            </a:pPr>
            <a:r>
              <a:rPr lang="pt-BR" sz="1179" dirty="0">
                <a:latin typeface="Arial" pitchFamily="34" charset="0"/>
                <a:cs typeface="Arial" pitchFamily="34" charset="0"/>
              </a:rPr>
              <a:t>Passo 5 - Ligue o motor.</a:t>
            </a:r>
          </a:p>
          <a:p>
            <a:pPr algn="just">
              <a:lnSpc>
                <a:spcPct val="150000"/>
              </a:lnSpc>
            </a:pPr>
            <a:r>
              <a:rPr lang="pt-BR" sz="1179" dirty="0">
                <a:latin typeface="Arial" pitchFamily="34" charset="0"/>
                <a:cs typeface="Arial" pitchFamily="34" charset="0"/>
              </a:rPr>
              <a:t>Sobre a temperatura a ser programada no forno: por causa do sensor, sempre deverá ser programada acima da temperatura ambiente de onde o forno está localizado.</a:t>
            </a:r>
          </a:p>
        </p:txBody>
      </p:sp>
      <p:sp>
        <p:nvSpPr>
          <p:cNvPr id="48" name="CaixaDeTexto 47"/>
          <p:cNvSpPr txBox="1"/>
          <p:nvPr/>
        </p:nvSpPr>
        <p:spPr>
          <a:xfrm>
            <a:off x="419041" y="8852791"/>
            <a:ext cx="6117418" cy="636713"/>
          </a:xfrm>
          <a:prstGeom prst="rect">
            <a:avLst/>
          </a:prstGeom>
          <a:noFill/>
        </p:spPr>
        <p:txBody>
          <a:bodyPr wrap="square" rtlCol="0">
            <a:spAutoFit/>
          </a:bodyPr>
          <a:lstStyle/>
          <a:p>
            <a:pPr algn="ctr"/>
            <a:r>
              <a:rPr lang="pt-BR" sz="1179" b="1" dirty="0">
                <a:latin typeface="Arial" panose="020B0604020202020204" pitchFamily="34" charset="0"/>
                <a:cs typeface="Arial" pitchFamily="34" charset="0"/>
              </a:rPr>
              <a:t>SEMPRE QUE O FORNO ESTIVER EM FUNCIONAMENTO, O MOTOR DEVE ESTÁ EM FUNCIONAMNETO TAMBÉM.</a:t>
            </a:r>
          </a:p>
          <a:p>
            <a:pPr algn="ctr"/>
            <a:endParaRPr lang="pt-BR" sz="1179" dirty="0">
              <a:latin typeface="Arial" panose="020B0604020202020204" pitchFamily="34" charset="0"/>
              <a:cs typeface="Arial" pitchFamily="34" charset="0"/>
            </a:endParaRPr>
          </a:p>
        </p:txBody>
      </p:sp>
      <p:sp>
        <p:nvSpPr>
          <p:cNvPr id="63" name="Retângulo 62">
            <a:extLst>
              <a:ext uri="{FF2B5EF4-FFF2-40B4-BE49-F238E27FC236}">
                <a16:creationId xmlns:a16="http://schemas.microsoft.com/office/drawing/2014/main" id="{5FB5353D-EE4D-4F5F-B916-169B51D60116}"/>
              </a:ext>
            </a:extLst>
          </p:cNvPr>
          <p:cNvSpPr/>
          <p:nvPr/>
        </p:nvSpPr>
        <p:spPr>
          <a:xfrm>
            <a:off x="142868" y="8022294"/>
            <a:ext cx="6554401" cy="603114"/>
          </a:xfrm>
          <a:prstGeom prst="rect">
            <a:avLst/>
          </a:prstGeom>
        </p:spPr>
        <p:txBody>
          <a:bodyPr wrap="square">
            <a:spAutoFit/>
          </a:bodyPr>
          <a:lstStyle/>
          <a:p>
            <a:pPr algn="just">
              <a:lnSpc>
                <a:spcPct val="150000"/>
              </a:lnSpc>
            </a:pPr>
            <a:r>
              <a:rPr lang="pt-BR" sz="1179" b="1" dirty="0">
                <a:latin typeface="Arial" panose="020B0604020202020204" pitchFamily="34" charset="0"/>
                <a:cs typeface="Arial" pitchFamily="34" charset="0"/>
              </a:rPr>
              <a:t>ATENÇÃO</a:t>
            </a:r>
            <a:r>
              <a:rPr lang="pt-BR" sz="1179" dirty="0">
                <a:latin typeface="Arial" panose="020B0604020202020204" pitchFamily="34" charset="0"/>
                <a:cs typeface="Arial" pitchFamily="34" charset="0"/>
              </a:rPr>
              <a:t>: no caso do fogo se apagar, a saída do gás será bloqueada. Para ligá-la novamente, desligue a chave geral e ligue-a novamente.</a:t>
            </a:r>
          </a:p>
        </p:txBody>
      </p:sp>
      <p:pic>
        <p:nvPicPr>
          <p:cNvPr id="3" name="Imagem 2">
            <a:extLst>
              <a:ext uri="{FF2B5EF4-FFF2-40B4-BE49-F238E27FC236}">
                <a16:creationId xmlns:a16="http://schemas.microsoft.com/office/drawing/2014/main" id="{287CBB9B-D754-4ECE-ADD2-A0F2D7265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268" y="936981"/>
            <a:ext cx="5997464" cy="4332523"/>
          </a:xfrm>
          <a:prstGeom prst="rect">
            <a:avLst/>
          </a:prstGeom>
        </p:spPr>
      </p:pic>
    </p:spTree>
    <p:extLst>
      <p:ext uri="{BB962C8B-B14F-4D97-AF65-F5344CB8AC3E}">
        <p14:creationId xmlns:p14="http://schemas.microsoft.com/office/powerpoint/2010/main" val="1698261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tângulo 26">
            <a:extLst>
              <a:ext uri="{FF2B5EF4-FFF2-40B4-BE49-F238E27FC236}">
                <a16:creationId xmlns:a16="http://schemas.microsoft.com/office/drawing/2014/main" id="{7654965F-F501-4195-A963-C00089B80FE9}"/>
              </a:ext>
            </a:extLst>
          </p:cNvPr>
          <p:cNvSpPr/>
          <p:nvPr/>
        </p:nvSpPr>
        <p:spPr>
          <a:xfrm>
            <a:off x="172210" y="1846536"/>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12. Limpeza</a:t>
            </a:r>
          </a:p>
        </p:txBody>
      </p:sp>
      <p:sp>
        <p:nvSpPr>
          <p:cNvPr id="28" name="Retângulo 27">
            <a:extLst>
              <a:ext uri="{FF2B5EF4-FFF2-40B4-BE49-F238E27FC236}">
                <a16:creationId xmlns:a16="http://schemas.microsoft.com/office/drawing/2014/main" id="{3A3F4D4B-D67C-4346-A366-ED7B0EEAA78C}"/>
              </a:ext>
            </a:extLst>
          </p:cNvPr>
          <p:cNvSpPr/>
          <p:nvPr/>
        </p:nvSpPr>
        <p:spPr>
          <a:xfrm>
            <a:off x="188654" y="3412087"/>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13. Alimentação</a:t>
            </a:r>
          </a:p>
        </p:txBody>
      </p:sp>
      <p:sp>
        <p:nvSpPr>
          <p:cNvPr id="30" name="CaixaDeTexto 29">
            <a:extLst>
              <a:ext uri="{FF2B5EF4-FFF2-40B4-BE49-F238E27FC236}">
                <a16:creationId xmlns:a16="http://schemas.microsoft.com/office/drawing/2014/main" id="{6D3751E9-5CFF-4F08-8252-CF9AE83A0EA3}"/>
              </a:ext>
            </a:extLst>
          </p:cNvPr>
          <p:cNvSpPr txBox="1"/>
          <p:nvPr/>
        </p:nvSpPr>
        <p:spPr>
          <a:xfrm>
            <a:off x="3208572" y="9489574"/>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06</a:t>
            </a:r>
          </a:p>
        </p:txBody>
      </p:sp>
      <p:sp>
        <p:nvSpPr>
          <p:cNvPr id="31" name="CaixaDeTexto 30">
            <a:extLst>
              <a:ext uri="{FF2B5EF4-FFF2-40B4-BE49-F238E27FC236}">
                <a16:creationId xmlns:a16="http://schemas.microsoft.com/office/drawing/2014/main" id="{9F3426F1-24CB-4424-A352-C3B513BA7C14}"/>
              </a:ext>
            </a:extLst>
          </p:cNvPr>
          <p:cNvSpPr txBox="1"/>
          <p:nvPr/>
        </p:nvSpPr>
        <p:spPr>
          <a:xfrm>
            <a:off x="176321" y="2131757"/>
            <a:ext cx="6568303" cy="1181093"/>
          </a:xfrm>
          <a:prstGeom prst="rect">
            <a:avLst/>
          </a:prstGeom>
          <a:noFill/>
        </p:spPr>
        <p:txBody>
          <a:bodyPr wrap="square" rtlCol="0">
            <a:spAutoFit/>
          </a:bodyPr>
          <a:lstStyle/>
          <a:p>
            <a:pPr algn="just"/>
            <a:r>
              <a:rPr lang="pt-BR" sz="1179" dirty="0">
                <a:latin typeface="Arial" pitchFamily="34" charset="0"/>
                <a:cs typeface="Arial" pitchFamily="34" charset="0"/>
              </a:rPr>
              <a:t>12.1 Para a realização da limpeza, o equipamento deve estar desligado da tomada, evitando assim qualquer acidente. Prefira uma esponja de tecido ou plástico com detergente doméstico neutro e água. Nunca use materiais pontiagudos ou produtos abrasivos (que possuem na fórmula elementos corrosivos). Tenha em mente que a limpeza constante e correta é fundamental para o perfeito funcionamento do equipamento.</a:t>
            </a:r>
          </a:p>
          <a:p>
            <a:pPr algn="just"/>
            <a:endParaRPr lang="pt-BR" sz="1179" dirty="0">
              <a:latin typeface="Arial" pitchFamily="34" charset="0"/>
              <a:cs typeface="Arial" pitchFamily="34" charset="0"/>
            </a:endParaRPr>
          </a:p>
        </p:txBody>
      </p:sp>
      <p:sp>
        <p:nvSpPr>
          <p:cNvPr id="34" name="Retângulo de cantos arredondados 18">
            <a:extLst>
              <a:ext uri="{FF2B5EF4-FFF2-40B4-BE49-F238E27FC236}">
                <a16:creationId xmlns:a16="http://schemas.microsoft.com/office/drawing/2014/main" id="{C22EAB02-BA0B-4524-A6A3-6B867F9BC850}"/>
              </a:ext>
            </a:extLst>
          </p:cNvPr>
          <p:cNvSpPr/>
          <p:nvPr/>
        </p:nvSpPr>
        <p:spPr>
          <a:xfrm>
            <a:off x="620688" y="128464"/>
            <a:ext cx="5801096" cy="1560273"/>
          </a:xfrm>
          <a:prstGeom prst="round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19795" tIns="59898" rIns="119795" bIns="59898" numCol="1" spcCol="0" rtlCol="0" fromWordArt="0" anchor="ctr" anchorCtr="0" forceAA="0" compatLnSpc="1">
            <a:prstTxWarp prst="textNoShape">
              <a:avLst/>
            </a:prstTxWarp>
            <a:noAutofit/>
          </a:bodyPr>
          <a:lstStyle/>
          <a:p>
            <a:endParaRPr lang="pt-BR" sz="1179">
              <a:latin typeface="Arial" panose="020B0604020202020204" pitchFamily="34" charset="0"/>
              <a:cs typeface="Arial" panose="020B0604020202020204" pitchFamily="34" charset="0"/>
            </a:endParaRPr>
          </a:p>
        </p:txBody>
      </p:sp>
      <p:sp>
        <p:nvSpPr>
          <p:cNvPr id="35" name="Caixa de texto 4">
            <a:extLst>
              <a:ext uri="{FF2B5EF4-FFF2-40B4-BE49-F238E27FC236}">
                <a16:creationId xmlns:a16="http://schemas.microsoft.com/office/drawing/2014/main" id="{50A68CEF-5FFA-40E2-85FE-7D17A1BD9E42}"/>
              </a:ext>
            </a:extLst>
          </p:cNvPr>
          <p:cNvSpPr txBox="1"/>
          <p:nvPr/>
        </p:nvSpPr>
        <p:spPr>
          <a:xfrm>
            <a:off x="746761" y="176671"/>
            <a:ext cx="5675023" cy="147843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119795" tIns="59898" rIns="119795" bIns="59898" numCol="1" spcCol="0" rtlCol="0" fromWordArt="0" anchor="t" anchorCtr="0" forceAA="0" compatLnSpc="1">
            <a:prstTxWarp prst="textNoShape">
              <a:avLst/>
            </a:prstTxWarp>
            <a:noAutofit/>
          </a:bodyPr>
          <a:lstStyle/>
          <a:p>
            <a:pPr>
              <a:lnSpc>
                <a:spcPct val="107000"/>
              </a:lnSpc>
              <a:spcAft>
                <a:spcPts val="1048"/>
              </a:spcAft>
            </a:pPr>
            <a:r>
              <a:rPr lang="pt-BR" sz="1179" b="1" dirty="0">
                <a:latin typeface="Arial" panose="020B0604020202020204" pitchFamily="34" charset="0"/>
                <a:ea typeface="Calibri"/>
                <a:cs typeface="Arial" pitchFamily="34" charset="0"/>
              </a:rPr>
              <a:t>USO DO FORNO</a:t>
            </a:r>
            <a:endParaRPr lang="pt-BR" sz="1179" dirty="0">
              <a:latin typeface="Arial" pitchFamily="34" charset="0"/>
              <a:ea typeface="Calibri"/>
              <a:cs typeface="Arial" pitchFamily="34" charset="0"/>
            </a:endParaRPr>
          </a:p>
          <a:p>
            <a:pPr algn="just">
              <a:lnSpc>
                <a:spcPct val="107000"/>
              </a:lnSpc>
              <a:spcAft>
                <a:spcPts val="1048"/>
              </a:spcAft>
            </a:pPr>
            <a:r>
              <a:rPr lang="pt-BR" sz="1179" dirty="0">
                <a:latin typeface="Arial" pitchFamily="34" charset="0"/>
                <a:ea typeface="Calibri"/>
                <a:cs typeface="Arial" pitchFamily="34" charset="0"/>
              </a:rPr>
              <a:t>Deixe a tinta protetora, que reveste o interior do forno, queimar por cerca de 30 minutos a 150°C. Antes de abrir a porta, desligue a chave geral do forno, apagando a chama. Deixe por 10 minutos aberto o forno para que resfrie. Fazendo esse procedimento, você estará apto a utilizar o forno.</a:t>
            </a:r>
          </a:p>
        </p:txBody>
      </p:sp>
      <p:sp>
        <p:nvSpPr>
          <p:cNvPr id="36" name="Retângulo 35">
            <a:extLst>
              <a:ext uri="{FF2B5EF4-FFF2-40B4-BE49-F238E27FC236}">
                <a16:creationId xmlns:a16="http://schemas.microsoft.com/office/drawing/2014/main" id="{187FD6DC-3641-4D03-B21A-0C7D6DCB616F}"/>
              </a:ext>
            </a:extLst>
          </p:cNvPr>
          <p:cNvSpPr/>
          <p:nvPr/>
        </p:nvSpPr>
        <p:spPr>
          <a:xfrm>
            <a:off x="172210" y="3724268"/>
            <a:ext cx="6560081" cy="455253"/>
          </a:xfrm>
          <a:prstGeom prst="rect">
            <a:avLst/>
          </a:prstGeom>
        </p:spPr>
        <p:txBody>
          <a:bodyPr wrap="square">
            <a:spAutoFit/>
          </a:bodyPr>
          <a:lstStyle/>
          <a:p>
            <a:pPr algn="just"/>
            <a:r>
              <a:rPr lang="pt-BR" sz="1179" dirty="0">
                <a:latin typeface="Arial" panose="020B0604020202020204" pitchFamily="34" charset="0"/>
                <a:cs typeface="Arial" pitchFamily="34" charset="0"/>
              </a:rPr>
              <a:t>13.1 O forno Turbo deve ser alimentado por pelo menos 2 botijões de 13 kg ligados em paralelo. Garantindo com isso, que o forno opere a uma temperatura de gás 280mm de coluna d’água.</a:t>
            </a:r>
          </a:p>
        </p:txBody>
      </p:sp>
      <p:sp>
        <p:nvSpPr>
          <p:cNvPr id="37" name="Retângulo 36">
            <a:extLst>
              <a:ext uri="{FF2B5EF4-FFF2-40B4-BE49-F238E27FC236}">
                <a16:creationId xmlns:a16="http://schemas.microsoft.com/office/drawing/2014/main" id="{8D8222E0-E330-409C-B8B6-23BE0AA55EDB}"/>
              </a:ext>
            </a:extLst>
          </p:cNvPr>
          <p:cNvSpPr/>
          <p:nvPr/>
        </p:nvSpPr>
        <p:spPr>
          <a:xfrm>
            <a:off x="188654" y="4508097"/>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14. Controlador de pressão e umidade</a:t>
            </a:r>
          </a:p>
        </p:txBody>
      </p:sp>
      <p:sp>
        <p:nvSpPr>
          <p:cNvPr id="38" name="Retângulo 37">
            <a:extLst>
              <a:ext uri="{FF2B5EF4-FFF2-40B4-BE49-F238E27FC236}">
                <a16:creationId xmlns:a16="http://schemas.microsoft.com/office/drawing/2014/main" id="{03B7F15A-AEF0-4A09-85DF-EA46D93B70F2}"/>
              </a:ext>
            </a:extLst>
          </p:cNvPr>
          <p:cNvSpPr/>
          <p:nvPr/>
        </p:nvSpPr>
        <p:spPr>
          <a:xfrm>
            <a:off x="164546" y="4880722"/>
            <a:ext cx="3263175" cy="1181093"/>
          </a:xfrm>
          <a:prstGeom prst="rect">
            <a:avLst/>
          </a:prstGeom>
        </p:spPr>
        <p:txBody>
          <a:bodyPr wrap="square">
            <a:spAutoFit/>
          </a:bodyPr>
          <a:lstStyle/>
          <a:p>
            <a:pPr algn="just"/>
            <a:r>
              <a:rPr lang="pt-BR" sz="1179" dirty="0">
                <a:latin typeface="Arial" panose="020B0604020202020204" pitchFamily="34" charset="0"/>
                <a:cs typeface="Arial" pitchFamily="34" charset="0"/>
              </a:rPr>
              <a:t>14.1 Para controlar os índices de umidade e pressão, o forno Ciclone possui uma válvula de controle na parte superior externa. Para acioná-la, basta puxá-la e, automaticamente, haverá a diminuição da pressão interna do forno. O mesmo vale para a umidade.</a:t>
            </a:r>
          </a:p>
        </p:txBody>
      </p:sp>
      <p:sp>
        <p:nvSpPr>
          <p:cNvPr id="39" name="Retângulo 38">
            <a:extLst>
              <a:ext uri="{FF2B5EF4-FFF2-40B4-BE49-F238E27FC236}">
                <a16:creationId xmlns:a16="http://schemas.microsoft.com/office/drawing/2014/main" id="{C003EF6A-AED7-4FF6-863F-7E51B38BD861}"/>
              </a:ext>
            </a:extLst>
          </p:cNvPr>
          <p:cNvSpPr/>
          <p:nvPr/>
        </p:nvSpPr>
        <p:spPr>
          <a:xfrm>
            <a:off x="188654" y="662431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15. Medidas dos fornos</a:t>
            </a:r>
          </a:p>
        </p:txBody>
      </p:sp>
      <p:pic>
        <p:nvPicPr>
          <p:cNvPr id="40" name="Imagem 39">
            <a:extLst>
              <a:ext uri="{FF2B5EF4-FFF2-40B4-BE49-F238E27FC236}">
                <a16:creationId xmlns:a16="http://schemas.microsoft.com/office/drawing/2014/main" id="{8F6A3E86-D9FD-463E-82FE-CBDD16F0C9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2174" y="4890474"/>
            <a:ext cx="2107036" cy="1537381"/>
          </a:xfrm>
          <a:prstGeom prst="rect">
            <a:avLst/>
          </a:prstGeom>
        </p:spPr>
      </p:pic>
      <p:cxnSp>
        <p:nvCxnSpPr>
          <p:cNvPr id="41" name="Conector de Seta Reta 40">
            <a:extLst>
              <a:ext uri="{FF2B5EF4-FFF2-40B4-BE49-F238E27FC236}">
                <a16:creationId xmlns:a16="http://schemas.microsoft.com/office/drawing/2014/main" id="{D62536E6-A0B9-4B59-84AE-EF1188C687BB}"/>
              </a:ext>
            </a:extLst>
          </p:cNvPr>
          <p:cNvCxnSpPr>
            <a:cxnSpLocks/>
          </p:cNvCxnSpPr>
          <p:nvPr/>
        </p:nvCxnSpPr>
        <p:spPr>
          <a:xfrm flipH="1" flipV="1">
            <a:off x="4187837" y="5099685"/>
            <a:ext cx="377350" cy="2830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Conector de Seta Reta 45">
            <a:extLst>
              <a:ext uri="{FF2B5EF4-FFF2-40B4-BE49-F238E27FC236}">
                <a16:creationId xmlns:a16="http://schemas.microsoft.com/office/drawing/2014/main" id="{FEA638DD-495A-4A21-B299-52237F99115B}"/>
              </a:ext>
            </a:extLst>
          </p:cNvPr>
          <p:cNvCxnSpPr>
            <a:cxnSpLocks/>
          </p:cNvCxnSpPr>
          <p:nvPr/>
        </p:nvCxnSpPr>
        <p:spPr>
          <a:xfrm>
            <a:off x="4990890" y="5248659"/>
            <a:ext cx="423336" cy="3279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CaixaDeTexto 46">
            <a:extLst>
              <a:ext uri="{FF2B5EF4-FFF2-40B4-BE49-F238E27FC236}">
                <a16:creationId xmlns:a16="http://schemas.microsoft.com/office/drawing/2014/main" id="{F3D56F7C-2ADB-4C8D-B036-F77C878780F1}"/>
              </a:ext>
            </a:extLst>
          </p:cNvPr>
          <p:cNvSpPr txBox="1"/>
          <p:nvPr/>
        </p:nvSpPr>
        <p:spPr>
          <a:xfrm>
            <a:off x="3666547" y="5005351"/>
            <a:ext cx="671921"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Abre</a:t>
            </a:r>
          </a:p>
        </p:txBody>
      </p:sp>
      <p:sp>
        <p:nvSpPr>
          <p:cNvPr id="48" name="CaixaDeTexto 47">
            <a:extLst>
              <a:ext uri="{FF2B5EF4-FFF2-40B4-BE49-F238E27FC236}">
                <a16:creationId xmlns:a16="http://schemas.microsoft.com/office/drawing/2014/main" id="{CCA7F429-32D9-47D9-830F-27B782469FB8}"/>
              </a:ext>
            </a:extLst>
          </p:cNvPr>
          <p:cNvSpPr txBox="1"/>
          <p:nvPr/>
        </p:nvSpPr>
        <p:spPr>
          <a:xfrm>
            <a:off x="5214182" y="5101586"/>
            <a:ext cx="806324"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Fecha</a:t>
            </a:r>
          </a:p>
        </p:txBody>
      </p:sp>
      <p:cxnSp>
        <p:nvCxnSpPr>
          <p:cNvPr id="49" name="Conector reto 48">
            <a:extLst>
              <a:ext uri="{FF2B5EF4-FFF2-40B4-BE49-F238E27FC236}">
                <a16:creationId xmlns:a16="http://schemas.microsoft.com/office/drawing/2014/main" id="{C9F322A7-7B1B-44C5-A4C3-E99260F30AEB}"/>
              </a:ext>
            </a:extLst>
          </p:cNvPr>
          <p:cNvCxnSpPr>
            <a:cxnSpLocks/>
          </p:cNvCxnSpPr>
          <p:nvPr/>
        </p:nvCxnSpPr>
        <p:spPr>
          <a:xfrm flipH="1">
            <a:off x="5579759" y="7396522"/>
            <a:ext cx="3658" cy="1187657"/>
          </a:xfrm>
          <a:prstGeom prst="line">
            <a:avLst/>
          </a:prstGeom>
        </p:spPr>
        <p:style>
          <a:lnRef idx="1">
            <a:schemeClr val="dk1"/>
          </a:lnRef>
          <a:fillRef idx="0">
            <a:schemeClr val="dk1"/>
          </a:fillRef>
          <a:effectRef idx="0">
            <a:schemeClr val="dk1"/>
          </a:effectRef>
          <a:fontRef idx="minor">
            <a:schemeClr val="tx1"/>
          </a:fontRef>
        </p:style>
      </p:cxnSp>
      <p:cxnSp>
        <p:nvCxnSpPr>
          <p:cNvPr id="50" name="Conector reto 49">
            <a:extLst>
              <a:ext uri="{FF2B5EF4-FFF2-40B4-BE49-F238E27FC236}">
                <a16:creationId xmlns:a16="http://schemas.microsoft.com/office/drawing/2014/main" id="{2BAFC40D-3F73-4E74-84FC-F6865CA3BCC9}"/>
              </a:ext>
            </a:extLst>
          </p:cNvPr>
          <p:cNvCxnSpPr>
            <a:cxnSpLocks/>
          </p:cNvCxnSpPr>
          <p:nvPr/>
        </p:nvCxnSpPr>
        <p:spPr>
          <a:xfrm flipH="1">
            <a:off x="5319888" y="8581710"/>
            <a:ext cx="259871" cy="453762"/>
          </a:xfrm>
          <a:prstGeom prst="line">
            <a:avLst/>
          </a:prstGeom>
        </p:spPr>
        <p:style>
          <a:lnRef idx="1">
            <a:schemeClr val="dk1"/>
          </a:lnRef>
          <a:fillRef idx="0">
            <a:schemeClr val="dk1"/>
          </a:fillRef>
          <a:effectRef idx="0">
            <a:schemeClr val="dk1"/>
          </a:effectRef>
          <a:fontRef idx="minor">
            <a:schemeClr val="tx1"/>
          </a:fontRef>
        </p:style>
      </p:cxnSp>
      <p:cxnSp>
        <p:nvCxnSpPr>
          <p:cNvPr id="51" name="Conector reto 50">
            <a:extLst>
              <a:ext uri="{FF2B5EF4-FFF2-40B4-BE49-F238E27FC236}">
                <a16:creationId xmlns:a16="http://schemas.microsoft.com/office/drawing/2014/main" id="{30A4B4CB-B486-4810-AEF4-6BC270ED5970}"/>
              </a:ext>
            </a:extLst>
          </p:cNvPr>
          <p:cNvCxnSpPr>
            <a:cxnSpLocks/>
          </p:cNvCxnSpPr>
          <p:nvPr/>
        </p:nvCxnSpPr>
        <p:spPr>
          <a:xfrm>
            <a:off x="4529458" y="8905923"/>
            <a:ext cx="790430" cy="129548"/>
          </a:xfrm>
          <a:prstGeom prst="line">
            <a:avLst/>
          </a:prstGeom>
        </p:spPr>
        <p:style>
          <a:lnRef idx="1">
            <a:schemeClr val="dk1"/>
          </a:lnRef>
          <a:fillRef idx="0">
            <a:schemeClr val="dk1"/>
          </a:fillRef>
          <a:effectRef idx="0">
            <a:schemeClr val="dk1"/>
          </a:effectRef>
          <a:fontRef idx="minor">
            <a:schemeClr val="tx1"/>
          </a:fontRef>
        </p:style>
      </p:cxnSp>
      <p:cxnSp>
        <p:nvCxnSpPr>
          <p:cNvPr id="52" name="Conector reto 51">
            <a:extLst>
              <a:ext uri="{FF2B5EF4-FFF2-40B4-BE49-F238E27FC236}">
                <a16:creationId xmlns:a16="http://schemas.microsoft.com/office/drawing/2014/main" id="{DF3DEB71-ED7D-4D2D-AA38-DACFD3082FBC}"/>
              </a:ext>
            </a:extLst>
          </p:cNvPr>
          <p:cNvCxnSpPr>
            <a:cxnSpLocks/>
          </p:cNvCxnSpPr>
          <p:nvPr/>
        </p:nvCxnSpPr>
        <p:spPr>
          <a:xfrm>
            <a:off x="5485421" y="7396522"/>
            <a:ext cx="188675" cy="0"/>
          </a:xfrm>
          <a:prstGeom prst="line">
            <a:avLst/>
          </a:prstGeom>
        </p:spPr>
        <p:style>
          <a:lnRef idx="1">
            <a:schemeClr val="dk1"/>
          </a:lnRef>
          <a:fillRef idx="0">
            <a:schemeClr val="dk1"/>
          </a:fillRef>
          <a:effectRef idx="0">
            <a:schemeClr val="dk1"/>
          </a:effectRef>
          <a:fontRef idx="minor">
            <a:schemeClr val="tx1"/>
          </a:fontRef>
        </p:style>
      </p:cxnSp>
      <p:cxnSp>
        <p:nvCxnSpPr>
          <p:cNvPr id="53" name="Conector reto 52">
            <a:extLst>
              <a:ext uri="{FF2B5EF4-FFF2-40B4-BE49-F238E27FC236}">
                <a16:creationId xmlns:a16="http://schemas.microsoft.com/office/drawing/2014/main" id="{82F439EC-832F-4078-B9D5-48F04A3ED77F}"/>
              </a:ext>
            </a:extLst>
          </p:cNvPr>
          <p:cNvCxnSpPr>
            <a:cxnSpLocks/>
          </p:cNvCxnSpPr>
          <p:nvPr/>
        </p:nvCxnSpPr>
        <p:spPr>
          <a:xfrm>
            <a:off x="5508563" y="8581710"/>
            <a:ext cx="108781" cy="2470"/>
          </a:xfrm>
          <a:prstGeom prst="line">
            <a:avLst/>
          </a:prstGeom>
        </p:spPr>
        <p:style>
          <a:lnRef idx="1">
            <a:schemeClr val="dk1"/>
          </a:lnRef>
          <a:fillRef idx="0">
            <a:schemeClr val="dk1"/>
          </a:fillRef>
          <a:effectRef idx="0">
            <a:schemeClr val="dk1"/>
          </a:effectRef>
          <a:fontRef idx="minor">
            <a:schemeClr val="tx1"/>
          </a:fontRef>
        </p:style>
      </p:cxnSp>
      <p:sp>
        <p:nvSpPr>
          <p:cNvPr id="54" name="CaixaDeTexto 53">
            <a:extLst>
              <a:ext uri="{FF2B5EF4-FFF2-40B4-BE49-F238E27FC236}">
                <a16:creationId xmlns:a16="http://schemas.microsoft.com/office/drawing/2014/main" id="{9B3C00AB-96DE-4191-AC6A-84C31B371C2C}"/>
              </a:ext>
            </a:extLst>
          </p:cNvPr>
          <p:cNvSpPr txBox="1"/>
          <p:nvPr/>
        </p:nvSpPr>
        <p:spPr>
          <a:xfrm>
            <a:off x="5510884" y="7730113"/>
            <a:ext cx="661726" cy="374590"/>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Altura (A)</a:t>
            </a:r>
          </a:p>
        </p:txBody>
      </p:sp>
      <p:sp>
        <p:nvSpPr>
          <p:cNvPr id="55" name="CaixaDeTexto 54">
            <a:extLst>
              <a:ext uri="{FF2B5EF4-FFF2-40B4-BE49-F238E27FC236}">
                <a16:creationId xmlns:a16="http://schemas.microsoft.com/office/drawing/2014/main" id="{32858088-1BE1-4315-9D14-5D5D05412449}"/>
              </a:ext>
            </a:extLst>
          </p:cNvPr>
          <p:cNvSpPr txBox="1"/>
          <p:nvPr/>
        </p:nvSpPr>
        <p:spPr>
          <a:xfrm>
            <a:off x="5394743" y="8702816"/>
            <a:ext cx="1225627" cy="233462"/>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Profundidade (P)</a:t>
            </a:r>
          </a:p>
        </p:txBody>
      </p:sp>
      <p:graphicFrame>
        <p:nvGraphicFramePr>
          <p:cNvPr id="56" name="Tabela 55">
            <a:extLst>
              <a:ext uri="{FF2B5EF4-FFF2-40B4-BE49-F238E27FC236}">
                <a16:creationId xmlns:a16="http://schemas.microsoft.com/office/drawing/2014/main" id="{D41D2D3A-34C8-436A-9C37-D772758FBD91}"/>
              </a:ext>
            </a:extLst>
          </p:cNvPr>
          <p:cNvGraphicFramePr>
            <a:graphicFrameLocks noGrp="1"/>
          </p:cNvGraphicFramePr>
          <p:nvPr>
            <p:extLst>
              <p:ext uri="{D42A27DB-BD31-4B8C-83A1-F6EECF244321}">
                <p14:modId xmlns:p14="http://schemas.microsoft.com/office/powerpoint/2010/main" val="175362304"/>
              </p:ext>
            </p:extLst>
          </p:nvPr>
        </p:nvGraphicFramePr>
        <p:xfrm>
          <a:off x="225564" y="7121289"/>
          <a:ext cx="3440986" cy="2135510"/>
        </p:xfrm>
        <a:graphic>
          <a:graphicData uri="http://schemas.openxmlformats.org/drawingml/2006/table">
            <a:tbl>
              <a:tblPr firstRow="1" bandRow="1">
                <a:tableStyleId>{073A0DAA-6AF3-43AB-8588-CEC1D06C72B9}</a:tableStyleId>
              </a:tblPr>
              <a:tblGrid>
                <a:gridCol w="377445">
                  <a:extLst>
                    <a:ext uri="{9D8B030D-6E8A-4147-A177-3AD203B41FA5}">
                      <a16:colId xmlns:a16="http://schemas.microsoft.com/office/drawing/2014/main" val="213900621"/>
                    </a:ext>
                  </a:extLst>
                </a:gridCol>
                <a:gridCol w="998950">
                  <a:extLst>
                    <a:ext uri="{9D8B030D-6E8A-4147-A177-3AD203B41FA5}">
                      <a16:colId xmlns:a16="http://schemas.microsoft.com/office/drawing/2014/main" val="3601951597"/>
                    </a:ext>
                  </a:extLst>
                </a:gridCol>
                <a:gridCol w="688197">
                  <a:extLst>
                    <a:ext uri="{9D8B030D-6E8A-4147-A177-3AD203B41FA5}">
                      <a16:colId xmlns:a16="http://schemas.microsoft.com/office/drawing/2014/main" val="3401902064"/>
                    </a:ext>
                  </a:extLst>
                </a:gridCol>
                <a:gridCol w="688197">
                  <a:extLst>
                    <a:ext uri="{9D8B030D-6E8A-4147-A177-3AD203B41FA5}">
                      <a16:colId xmlns:a16="http://schemas.microsoft.com/office/drawing/2014/main" val="1116212401"/>
                    </a:ext>
                  </a:extLst>
                </a:gridCol>
                <a:gridCol w="688197">
                  <a:extLst>
                    <a:ext uri="{9D8B030D-6E8A-4147-A177-3AD203B41FA5}">
                      <a16:colId xmlns:a16="http://schemas.microsoft.com/office/drawing/2014/main" val="3473079812"/>
                    </a:ext>
                  </a:extLst>
                </a:gridCol>
              </a:tblGrid>
              <a:tr h="319454">
                <a:tc gridSpan="2">
                  <a:txBody>
                    <a:bodyPr/>
                    <a:lstStyle/>
                    <a:p>
                      <a:r>
                        <a:rPr lang="pt-BR" sz="1300" dirty="0"/>
                        <a:t>Forno/ Medidas </a:t>
                      </a:r>
                    </a:p>
                  </a:txBody>
                  <a:tcPr marL="119795" marR="119795" marT="59898" marB="59898"/>
                </a:tc>
                <a:tc hMerge="1">
                  <a:txBody>
                    <a:bodyPr/>
                    <a:lstStyle/>
                    <a:p>
                      <a:endParaRPr lang="pt-BR" sz="1000" dirty="0"/>
                    </a:p>
                  </a:txBody>
                  <a:tcPr/>
                </a:tc>
                <a:tc>
                  <a:txBody>
                    <a:bodyPr/>
                    <a:lstStyle/>
                    <a:p>
                      <a:pPr algn="ctr"/>
                      <a:r>
                        <a:rPr lang="pt-BR" sz="1300" dirty="0"/>
                        <a:t>A</a:t>
                      </a:r>
                    </a:p>
                  </a:txBody>
                  <a:tcPr marL="119795" marR="119795" marT="59898" marB="59898"/>
                </a:tc>
                <a:tc>
                  <a:txBody>
                    <a:bodyPr/>
                    <a:lstStyle/>
                    <a:p>
                      <a:pPr algn="ctr"/>
                      <a:r>
                        <a:rPr lang="pt-BR" sz="1300" dirty="0"/>
                        <a:t>P</a:t>
                      </a:r>
                    </a:p>
                  </a:txBody>
                  <a:tcPr marL="119795" marR="119795" marT="59898" marB="59898"/>
                </a:tc>
                <a:tc>
                  <a:txBody>
                    <a:bodyPr/>
                    <a:lstStyle/>
                    <a:p>
                      <a:pPr algn="ctr"/>
                      <a:r>
                        <a:rPr lang="pt-BR" sz="1300" dirty="0"/>
                        <a:t>L</a:t>
                      </a:r>
                    </a:p>
                  </a:txBody>
                  <a:tcPr marL="119795" marR="119795" marT="59898" marB="59898"/>
                </a:tc>
                <a:extLst>
                  <a:ext uri="{0D108BD9-81ED-4DB2-BD59-A6C34878D82A}">
                    <a16:rowId xmlns:a16="http://schemas.microsoft.com/office/drawing/2014/main" val="1233693647"/>
                  </a:ext>
                </a:extLst>
              </a:tr>
              <a:tr h="299489">
                <a:tc rowSpan="3">
                  <a:txBody>
                    <a:bodyPr/>
                    <a:lstStyle/>
                    <a:p>
                      <a:pPr algn="ctr"/>
                      <a:r>
                        <a:rPr lang="pt-BR" sz="1200" dirty="0"/>
                        <a:t>Externa</a:t>
                      </a:r>
                    </a:p>
                  </a:txBody>
                  <a:tcPr marL="119795" marR="119795" marT="59898" marB="59898" vert="vert270"/>
                </a:tc>
                <a:tc>
                  <a:txBody>
                    <a:bodyPr/>
                    <a:lstStyle/>
                    <a:p>
                      <a:r>
                        <a:rPr lang="pt-BR" sz="1200" dirty="0"/>
                        <a:t>5 esteiras</a:t>
                      </a:r>
                    </a:p>
                  </a:txBody>
                  <a:tcPr marL="119795" marR="119795" marT="59898" marB="59898"/>
                </a:tc>
                <a:tc>
                  <a:txBody>
                    <a:bodyPr/>
                    <a:lstStyle/>
                    <a:p>
                      <a:r>
                        <a:rPr lang="pt-BR" sz="1200" dirty="0"/>
                        <a:t>1750</a:t>
                      </a:r>
                    </a:p>
                  </a:txBody>
                  <a:tcPr marL="119795" marR="119795" marT="59898" marB="59898"/>
                </a:tc>
                <a:tc>
                  <a:txBody>
                    <a:bodyPr/>
                    <a:lstStyle/>
                    <a:p>
                      <a:r>
                        <a:rPr lang="pt-BR" sz="1200" dirty="0"/>
                        <a:t>1280</a:t>
                      </a:r>
                    </a:p>
                  </a:txBody>
                  <a:tcPr marL="119795" marR="119795" marT="59898" marB="59898"/>
                </a:tc>
                <a:tc>
                  <a:txBody>
                    <a:bodyPr/>
                    <a:lstStyle/>
                    <a:p>
                      <a:r>
                        <a:rPr lang="pt-BR" sz="1200" dirty="0"/>
                        <a:t>1015</a:t>
                      </a:r>
                    </a:p>
                  </a:txBody>
                  <a:tcPr marL="119795" marR="119795" marT="59898" marB="59898"/>
                </a:tc>
                <a:extLst>
                  <a:ext uri="{0D108BD9-81ED-4DB2-BD59-A6C34878D82A}">
                    <a16:rowId xmlns:a16="http://schemas.microsoft.com/office/drawing/2014/main" val="3730291777"/>
                  </a:ext>
                </a:extLst>
              </a:tr>
              <a:tr h="299489">
                <a:tc vMerge="1">
                  <a:txBody>
                    <a:bodyPr/>
                    <a:lstStyle/>
                    <a:p>
                      <a:endParaRPr lang="pt-BR" sz="900" dirty="0"/>
                    </a:p>
                  </a:txBody>
                  <a:tcPr/>
                </a:tc>
                <a:tc>
                  <a:txBody>
                    <a:bodyPr/>
                    <a:lstStyle/>
                    <a:p>
                      <a:r>
                        <a:rPr lang="pt-BR" sz="1200" dirty="0"/>
                        <a:t>8 esteiras</a:t>
                      </a:r>
                    </a:p>
                  </a:txBody>
                  <a:tcPr marL="119795" marR="119795" marT="59898" marB="59898"/>
                </a:tc>
                <a:tc>
                  <a:txBody>
                    <a:bodyPr/>
                    <a:lstStyle/>
                    <a:p>
                      <a:r>
                        <a:rPr lang="pt-BR" sz="1200" dirty="0"/>
                        <a:t>1790</a:t>
                      </a:r>
                    </a:p>
                  </a:txBody>
                  <a:tcPr marL="119795" marR="119795" marT="59898" marB="59898"/>
                </a:tc>
                <a:tc>
                  <a:txBody>
                    <a:bodyPr/>
                    <a:lstStyle/>
                    <a:p>
                      <a:r>
                        <a:rPr lang="pt-BR" sz="1200" dirty="0"/>
                        <a:t>1110</a:t>
                      </a:r>
                    </a:p>
                  </a:txBody>
                  <a:tcPr marL="119795" marR="119795" marT="59898" marB="59898"/>
                </a:tc>
                <a:tc>
                  <a:txBody>
                    <a:bodyPr/>
                    <a:lstStyle/>
                    <a:p>
                      <a:r>
                        <a:rPr lang="pt-BR" sz="1200" dirty="0"/>
                        <a:t>1230</a:t>
                      </a:r>
                    </a:p>
                  </a:txBody>
                  <a:tcPr marL="119795" marR="119795" marT="59898" marB="59898"/>
                </a:tc>
                <a:extLst>
                  <a:ext uri="{0D108BD9-81ED-4DB2-BD59-A6C34878D82A}">
                    <a16:rowId xmlns:a16="http://schemas.microsoft.com/office/drawing/2014/main" val="2840980177"/>
                  </a:ext>
                </a:extLst>
              </a:tr>
              <a:tr h="299489">
                <a:tc vMerge="1">
                  <a:txBody>
                    <a:bodyPr/>
                    <a:lstStyle/>
                    <a:p>
                      <a:endParaRPr lang="pt-BR" sz="800" dirty="0"/>
                    </a:p>
                  </a:txBody>
                  <a:tcPr/>
                </a:tc>
                <a:tc>
                  <a:txBody>
                    <a:bodyPr/>
                    <a:lstStyle/>
                    <a:p>
                      <a:r>
                        <a:rPr lang="pt-BR" sz="1000" dirty="0"/>
                        <a:t>10 esteiras</a:t>
                      </a:r>
                    </a:p>
                  </a:txBody>
                  <a:tcPr marL="119795" marR="119795" marT="59898" marB="59898"/>
                </a:tc>
                <a:tc>
                  <a:txBody>
                    <a:bodyPr/>
                    <a:lstStyle/>
                    <a:p>
                      <a:r>
                        <a:rPr lang="pt-BR" sz="1200" dirty="0"/>
                        <a:t>1760</a:t>
                      </a:r>
                    </a:p>
                  </a:txBody>
                  <a:tcPr marL="119795" marR="119795" marT="59898" marB="59898"/>
                </a:tc>
                <a:tc>
                  <a:txBody>
                    <a:bodyPr/>
                    <a:lstStyle/>
                    <a:p>
                      <a:r>
                        <a:rPr lang="pt-BR" sz="1200" dirty="0"/>
                        <a:t>1000</a:t>
                      </a:r>
                    </a:p>
                  </a:txBody>
                  <a:tcPr marL="119795" marR="119795" marT="59898" marB="59898"/>
                </a:tc>
                <a:tc>
                  <a:txBody>
                    <a:bodyPr/>
                    <a:lstStyle/>
                    <a:p>
                      <a:r>
                        <a:rPr lang="pt-BR" sz="1200" dirty="0"/>
                        <a:t>1230</a:t>
                      </a:r>
                    </a:p>
                  </a:txBody>
                  <a:tcPr marL="119795" marR="119795" marT="59898" marB="59898"/>
                </a:tc>
                <a:extLst>
                  <a:ext uri="{0D108BD9-81ED-4DB2-BD59-A6C34878D82A}">
                    <a16:rowId xmlns:a16="http://schemas.microsoft.com/office/drawing/2014/main" val="1394041850"/>
                  </a:ext>
                </a:extLst>
              </a:tr>
              <a:tr h="299489">
                <a:tc rowSpan="3">
                  <a:txBody>
                    <a:bodyPr/>
                    <a:lstStyle/>
                    <a:p>
                      <a:pPr algn="ctr"/>
                      <a:r>
                        <a:rPr lang="pt-BR" sz="1200" dirty="0"/>
                        <a:t>Interna</a:t>
                      </a:r>
                    </a:p>
                  </a:txBody>
                  <a:tcPr marL="119795" marR="119795" marT="59898" marB="59898" vert="vert270"/>
                </a:tc>
                <a:tc>
                  <a:txBody>
                    <a:bodyPr/>
                    <a:lstStyle/>
                    <a:p>
                      <a:r>
                        <a:rPr lang="pt-BR" sz="1200" dirty="0"/>
                        <a:t>5 esteiras</a:t>
                      </a:r>
                    </a:p>
                  </a:txBody>
                  <a:tcPr marL="119795" marR="119795" marT="59898" marB="59898"/>
                </a:tc>
                <a:tc>
                  <a:txBody>
                    <a:bodyPr/>
                    <a:lstStyle/>
                    <a:p>
                      <a:r>
                        <a:rPr lang="pt-BR" sz="1200" dirty="0"/>
                        <a:t>450</a:t>
                      </a:r>
                    </a:p>
                  </a:txBody>
                  <a:tcPr marL="119795" marR="119795" marT="59898" marB="59898"/>
                </a:tc>
                <a:tc>
                  <a:txBody>
                    <a:bodyPr/>
                    <a:lstStyle/>
                    <a:p>
                      <a:r>
                        <a:rPr lang="pt-BR" sz="1200" dirty="0"/>
                        <a:t>600</a:t>
                      </a:r>
                    </a:p>
                  </a:txBody>
                  <a:tcPr marL="119795" marR="119795" marT="59898" marB="59898"/>
                </a:tc>
                <a:tc>
                  <a:txBody>
                    <a:bodyPr/>
                    <a:lstStyle/>
                    <a:p>
                      <a:r>
                        <a:rPr lang="pt-BR" sz="1200" dirty="0"/>
                        <a:t>680</a:t>
                      </a:r>
                    </a:p>
                  </a:txBody>
                  <a:tcPr marL="119795" marR="119795" marT="59898" marB="59898"/>
                </a:tc>
                <a:extLst>
                  <a:ext uri="{0D108BD9-81ED-4DB2-BD59-A6C34878D82A}">
                    <a16:rowId xmlns:a16="http://schemas.microsoft.com/office/drawing/2014/main" val="3832540821"/>
                  </a:ext>
                </a:extLst>
              </a:tr>
              <a:tr h="299489">
                <a:tc vMerge="1">
                  <a:txBody>
                    <a:bodyPr/>
                    <a:lstStyle/>
                    <a:p>
                      <a:pPr algn="ctr"/>
                      <a:endParaRPr lang="pt-BR" sz="900" dirty="0"/>
                    </a:p>
                  </a:txBody>
                  <a:tcPr vert="vert270"/>
                </a:tc>
                <a:tc>
                  <a:txBody>
                    <a:bodyPr/>
                    <a:lstStyle/>
                    <a:p>
                      <a:r>
                        <a:rPr lang="pt-BR" sz="1200" dirty="0"/>
                        <a:t>8 esteiras</a:t>
                      </a:r>
                    </a:p>
                  </a:txBody>
                  <a:tcPr marL="119795" marR="119795" marT="59898" marB="59898"/>
                </a:tc>
                <a:tc>
                  <a:txBody>
                    <a:bodyPr/>
                    <a:lstStyle/>
                    <a:p>
                      <a:r>
                        <a:rPr lang="pt-BR" sz="1200" dirty="0"/>
                        <a:t>850</a:t>
                      </a:r>
                    </a:p>
                  </a:txBody>
                  <a:tcPr marL="119795" marR="119795" marT="59898" marB="59898"/>
                </a:tc>
                <a:tc>
                  <a:txBody>
                    <a:bodyPr/>
                    <a:lstStyle/>
                    <a:p>
                      <a:r>
                        <a:rPr lang="pt-BR" sz="1200"/>
                        <a:t>740</a:t>
                      </a:r>
                      <a:endParaRPr lang="pt-BR" sz="1200" dirty="0"/>
                    </a:p>
                  </a:txBody>
                  <a:tcPr marL="119795" marR="119795" marT="59898" marB="59898"/>
                </a:tc>
                <a:tc>
                  <a:txBody>
                    <a:bodyPr/>
                    <a:lstStyle/>
                    <a:p>
                      <a:r>
                        <a:rPr lang="pt-BR" sz="1200" dirty="0"/>
                        <a:t>910</a:t>
                      </a:r>
                    </a:p>
                  </a:txBody>
                  <a:tcPr marL="119795" marR="119795" marT="59898" marB="59898"/>
                </a:tc>
                <a:extLst>
                  <a:ext uri="{0D108BD9-81ED-4DB2-BD59-A6C34878D82A}">
                    <a16:rowId xmlns:a16="http://schemas.microsoft.com/office/drawing/2014/main" val="3372496099"/>
                  </a:ext>
                </a:extLst>
              </a:tr>
              <a:tr h="299489">
                <a:tc vMerge="1">
                  <a:txBody>
                    <a:bodyPr/>
                    <a:lstStyle/>
                    <a:p>
                      <a:pPr algn="ctr"/>
                      <a:endParaRPr lang="pt-BR" sz="900" dirty="0"/>
                    </a:p>
                  </a:txBody>
                  <a:tcPr vert="vert270"/>
                </a:tc>
                <a:tc>
                  <a:txBody>
                    <a:bodyPr/>
                    <a:lstStyle/>
                    <a:p>
                      <a:r>
                        <a:rPr lang="pt-BR" sz="1000" dirty="0"/>
                        <a:t>10 esteiras</a:t>
                      </a:r>
                    </a:p>
                  </a:txBody>
                  <a:tcPr marL="119795" marR="119795" marT="59898" marB="59898"/>
                </a:tc>
                <a:tc>
                  <a:txBody>
                    <a:bodyPr/>
                    <a:lstStyle/>
                    <a:p>
                      <a:r>
                        <a:rPr lang="pt-BR" sz="1200" dirty="0"/>
                        <a:t>1060</a:t>
                      </a:r>
                    </a:p>
                  </a:txBody>
                  <a:tcPr marL="119795" marR="119795" marT="59898" marB="59898"/>
                </a:tc>
                <a:tc>
                  <a:txBody>
                    <a:bodyPr/>
                    <a:lstStyle/>
                    <a:p>
                      <a:r>
                        <a:rPr lang="pt-BR" sz="1200" dirty="0"/>
                        <a:t>730</a:t>
                      </a:r>
                    </a:p>
                  </a:txBody>
                  <a:tcPr marL="119795" marR="119795" marT="59898" marB="59898"/>
                </a:tc>
                <a:tc>
                  <a:txBody>
                    <a:bodyPr/>
                    <a:lstStyle/>
                    <a:p>
                      <a:r>
                        <a:rPr lang="pt-BR" sz="1200" dirty="0"/>
                        <a:t>910</a:t>
                      </a:r>
                    </a:p>
                  </a:txBody>
                  <a:tcPr marL="119795" marR="119795" marT="59898" marB="59898"/>
                </a:tc>
                <a:extLst>
                  <a:ext uri="{0D108BD9-81ED-4DB2-BD59-A6C34878D82A}">
                    <a16:rowId xmlns:a16="http://schemas.microsoft.com/office/drawing/2014/main" val="2732897014"/>
                  </a:ext>
                </a:extLst>
              </a:tr>
            </a:tbl>
          </a:graphicData>
        </a:graphic>
      </p:graphicFrame>
      <p:pic>
        <p:nvPicPr>
          <p:cNvPr id="57" name="Imagem 56">
            <a:extLst>
              <a:ext uri="{FF2B5EF4-FFF2-40B4-BE49-F238E27FC236}">
                <a16:creationId xmlns:a16="http://schemas.microsoft.com/office/drawing/2014/main" id="{B1F3CFD9-4FC7-40F5-AEB7-D887644B19EA}"/>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4311812" y="7228589"/>
            <a:ext cx="1206573" cy="1707454"/>
          </a:xfrm>
          <a:prstGeom prst="rect">
            <a:avLst/>
          </a:prstGeom>
        </p:spPr>
      </p:pic>
      <p:cxnSp>
        <p:nvCxnSpPr>
          <p:cNvPr id="58" name="Conector reto 57">
            <a:extLst>
              <a:ext uri="{FF2B5EF4-FFF2-40B4-BE49-F238E27FC236}">
                <a16:creationId xmlns:a16="http://schemas.microsoft.com/office/drawing/2014/main" id="{6878F837-7E35-4721-9811-06B1355F45C4}"/>
              </a:ext>
            </a:extLst>
          </p:cNvPr>
          <p:cNvCxnSpPr>
            <a:cxnSpLocks/>
          </p:cNvCxnSpPr>
          <p:nvPr/>
        </p:nvCxnSpPr>
        <p:spPr>
          <a:xfrm flipH="1" flipV="1">
            <a:off x="5309067" y="8950192"/>
            <a:ext cx="20244" cy="141459"/>
          </a:xfrm>
          <a:prstGeom prst="line">
            <a:avLst/>
          </a:prstGeom>
        </p:spPr>
        <p:style>
          <a:lnRef idx="1">
            <a:schemeClr val="dk1"/>
          </a:lnRef>
          <a:fillRef idx="0">
            <a:schemeClr val="dk1"/>
          </a:fillRef>
          <a:effectRef idx="0">
            <a:schemeClr val="dk1"/>
          </a:effectRef>
          <a:fontRef idx="minor">
            <a:schemeClr val="tx1"/>
          </a:fontRef>
        </p:style>
      </p:cxnSp>
      <p:cxnSp>
        <p:nvCxnSpPr>
          <p:cNvPr id="59" name="Conector reto 58">
            <a:extLst>
              <a:ext uri="{FF2B5EF4-FFF2-40B4-BE49-F238E27FC236}">
                <a16:creationId xmlns:a16="http://schemas.microsoft.com/office/drawing/2014/main" id="{DD48C587-3A26-475C-8759-B522731B9826}"/>
              </a:ext>
            </a:extLst>
          </p:cNvPr>
          <p:cNvCxnSpPr>
            <a:cxnSpLocks/>
          </p:cNvCxnSpPr>
          <p:nvPr/>
        </p:nvCxnSpPr>
        <p:spPr>
          <a:xfrm>
            <a:off x="4507665" y="8811587"/>
            <a:ext cx="45043" cy="156495"/>
          </a:xfrm>
          <a:prstGeom prst="line">
            <a:avLst/>
          </a:prstGeom>
        </p:spPr>
        <p:style>
          <a:lnRef idx="1">
            <a:schemeClr val="dk1"/>
          </a:lnRef>
          <a:fillRef idx="0">
            <a:schemeClr val="dk1"/>
          </a:fillRef>
          <a:effectRef idx="0">
            <a:schemeClr val="dk1"/>
          </a:effectRef>
          <a:fontRef idx="minor">
            <a:schemeClr val="tx1"/>
          </a:fontRef>
        </p:style>
      </p:cxnSp>
      <p:sp>
        <p:nvSpPr>
          <p:cNvPr id="60" name="CaixaDeTexto 59">
            <a:extLst>
              <a:ext uri="{FF2B5EF4-FFF2-40B4-BE49-F238E27FC236}">
                <a16:creationId xmlns:a16="http://schemas.microsoft.com/office/drawing/2014/main" id="{D7DBAFB4-DAB1-4DDE-8373-2B9CB4365A0C}"/>
              </a:ext>
            </a:extLst>
          </p:cNvPr>
          <p:cNvSpPr txBox="1"/>
          <p:nvPr/>
        </p:nvSpPr>
        <p:spPr>
          <a:xfrm>
            <a:off x="4187837" y="8979238"/>
            <a:ext cx="943373" cy="233462"/>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Largura (L)</a:t>
            </a:r>
          </a:p>
        </p:txBody>
      </p:sp>
    </p:spTree>
    <p:extLst>
      <p:ext uri="{BB962C8B-B14F-4D97-AF65-F5344CB8AC3E}">
        <p14:creationId xmlns:p14="http://schemas.microsoft.com/office/powerpoint/2010/main" val="223244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tângulo 34">
            <a:extLst>
              <a:ext uri="{FF2B5EF4-FFF2-40B4-BE49-F238E27FC236}">
                <a16:creationId xmlns:a16="http://schemas.microsoft.com/office/drawing/2014/main" id="{87478026-0394-4E16-8668-BEF17DF2D2C1}"/>
              </a:ext>
            </a:extLst>
          </p:cNvPr>
          <p:cNvSpPr/>
          <p:nvPr/>
        </p:nvSpPr>
        <p:spPr>
          <a:xfrm>
            <a:off x="181396" y="1815018"/>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16. Esquema de ligações</a:t>
            </a:r>
          </a:p>
        </p:txBody>
      </p:sp>
      <p:sp>
        <p:nvSpPr>
          <p:cNvPr id="36" name="CaixaDeTexto 35">
            <a:extLst>
              <a:ext uri="{FF2B5EF4-FFF2-40B4-BE49-F238E27FC236}">
                <a16:creationId xmlns:a16="http://schemas.microsoft.com/office/drawing/2014/main" id="{06D9D1E2-62D0-4B12-8853-D4906F7FE40A}"/>
              </a:ext>
            </a:extLst>
          </p:cNvPr>
          <p:cNvSpPr txBox="1"/>
          <p:nvPr/>
        </p:nvSpPr>
        <p:spPr>
          <a:xfrm>
            <a:off x="3154526" y="945766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07</a:t>
            </a:r>
          </a:p>
        </p:txBody>
      </p:sp>
      <p:graphicFrame>
        <p:nvGraphicFramePr>
          <p:cNvPr id="37" name="Tabela 36">
            <a:extLst>
              <a:ext uri="{FF2B5EF4-FFF2-40B4-BE49-F238E27FC236}">
                <a16:creationId xmlns:a16="http://schemas.microsoft.com/office/drawing/2014/main" id="{F35EDA03-C4B1-411A-A2B0-A583F6EF48A7}"/>
              </a:ext>
            </a:extLst>
          </p:cNvPr>
          <p:cNvGraphicFramePr>
            <a:graphicFrameLocks noGrp="1"/>
          </p:cNvGraphicFramePr>
          <p:nvPr>
            <p:extLst>
              <p:ext uri="{D42A27DB-BD31-4B8C-83A1-F6EECF244321}">
                <p14:modId xmlns:p14="http://schemas.microsoft.com/office/powerpoint/2010/main" val="2648503233"/>
              </p:ext>
            </p:extLst>
          </p:nvPr>
        </p:nvGraphicFramePr>
        <p:xfrm>
          <a:off x="206611" y="160091"/>
          <a:ext cx="6240308" cy="1427141"/>
        </p:xfrm>
        <a:graphic>
          <a:graphicData uri="http://schemas.openxmlformats.org/drawingml/2006/table">
            <a:tbl>
              <a:tblPr firstRow="1" bandRow="1">
                <a:tableStyleId>{073A0DAA-6AF3-43AB-8588-CEC1D06C72B9}</a:tableStyleId>
              </a:tblPr>
              <a:tblGrid>
                <a:gridCol w="1560077">
                  <a:extLst>
                    <a:ext uri="{9D8B030D-6E8A-4147-A177-3AD203B41FA5}">
                      <a16:colId xmlns:a16="http://schemas.microsoft.com/office/drawing/2014/main" val="2233656265"/>
                    </a:ext>
                  </a:extLst>
                </a:gridCol>
                <a:gridCol w="1560077">
                  <a:extLst>
                    <a:ext uri="{9D8B030D-6E8A-4147-A177-3AD203B41FA5}">
                      <a16:colId xmlns:a16="http://schemas.microsoft.com/office/drawing/2014/main" val="3401902064"/>
                    </a:ext>
                  </a:extLst>
                </a:gridCol>
                <a:gridCol w="1560077">
                  <a:extLst>
                    <a:ext uri="{9D8B030D-6E8A-4147-A177-3AD203B41FA5}">
                      <a16:colId xmlns:a16="http://schemas.microsoft.com/office/drawing/2014/main" val="1116212401"/>
                    </a:ext>
                  </a:extLst>
                </a:gridCol>
                <a:gridCol w="1560077">
                  <a:extLst>
                    <a:ext uri="{9D8B030D-6E8A-4147-A177-3AD203B41FA5}">
                      <a16:colId xmlns:a16="http://schemas.microsoft.com/office/drawing/2014/main" val="3473079812"/>
                    </a:ext>
                  </a:extLst>
                </a:gridCol>
              </a:tblGrid>
              <a:tr h="519113">
                <a:tc>
                  <a:txBody>
                    <a:bodyPr/>
                    <a:lstStyle/>
                    <a:p>
                      <a:pPr algn="ctr"/>
                      <a:r>
                        <a:rPr lang="pt-BR" sz="1300" dirty="0"/>
                        <a:t>Forno Turbo</a:t>
                      </a:r>
                    </a:p>
                  </a:txBody>
                  <a:tcPr marL="119795" marR="119795" marT="59898" marB="59898"/>
                </a:tc>
                <a:tc>
                  <a:txBody>
                    <a:bodyPr/>
                    <a:lstStyle/>
                    <a:p>
                      <a:pPr algn="ctr"/>
                      <a:r>
                        <a:rPr lang="pt-BR" sz="1300" dirty="0"/>
                        <a:t>Consumo de Gás (GLP – kg/h)</a:t>
                      </a:r>
                    </a:p>
                  </a:txBody>
                  <a:tcPr marL="119795" marR="119795" marT="59898" marB="59898"/>
                </a:tc>
                <a:tc>
                  <a:txBody>
                    <a:bodyPr/>
                    <a:lstStyle/>
                    <a:p>
                      <a:pPr algn="ctr"/>
                      <a:r>
                        <a:rPr lang="pt-BR" sz="1300" dirty="0"/>
                        <a:t>Potência do motor (CV)</a:t>
                      </a:r>
                    </a:p>
                  </a:txBody>
                  <a:tcPr marL="119795" marR="119795" marT="59898" marB="59898"/>
                </a:tc>
                <a:tc>
                  <a:txBody>
                    <a:bodyPr/>
                    <a:lstStyle/>
                    <a:p>
                      <a:pPr algn="ctr"/>
                      <a:r>
                        <a:rPr lang="pt-BR" sz="1300" dirty="0"/>
                        <a:t>Consumo total do motor (kW/h)</a:t>
                      </a:r>
                    </a:p>
                  </a:txBody>
                  <a:tcPr marL="119795" marR="119795" marT="59898" marB="59898"/>
                </a:tc>
                <a:extLst>
                  <a:ext uri="{0D108BD9-81ED-4DB2-BD59-A6C34878D82A}">
                    <a16:rowId xmlns:a16="http://schemas.microsoft.com/office/drawing/2014/main" val="1233693647"/>
                  </a:ext>
                </a:extLst>
              </a:tr>
              <a:tr h="299489">
                <a:tc>
                  <a:txBody>
                    <a:bodyPr/>
                    <a:lstStyle/>
                    <a:p>
                      <a:r>
                        <a:rPr lang="pt-BR" sz="1200" dirty="0"/>
                        <a:t>5 esteiras</a:t>
                      </a:r>
                    </a:p>
                  </a:txBody>
                  <a:tcPr marL="119795" marR="119795" marT="59898" marB="59898"/>
                </a:tc>
                <a:tc>
                  <a:txBody>
                    <a:bodyPr/>
                    <a:lstStyle/>
                    <a:p>
                      <a:pPr algn="ctr"/>
                      <a:r>
                        <a:rPr lang="pt-BR" sz="1200" dirty="0"/>
                        <a:t>2,80</a:t>
                      </a:r>
                    </a:p>
                  </a:txBody>
                  <a:tcPr marL="119795" marR="119795" marT="59898" marB="59898"/>
                </a:tc>
                <a:tc>
                  <a:txBody>
                    <a:bodyPr/>
                    <a:lstStyle/>
                    <a:p>
                      <a:pPr algn="ctr"/>
                      <a:r>
                        <a:rPr lang="pt-BR" sz="1200" dirty="0"/>
                        <a:t>1/2</a:t>
                      </a:r>
                    </a:p>
                  </a:txBody>
                  <a:tcPr marL="119795" marR="119795" marT="59898" marB="59898"/>
                </a:tc>
                <a:tc>
                  <a:txBody>
                    <a:bodyPr/>
                    <a:lstStyle/>
                    <a:p>
                      <a:pPr algn="ctr"/>
                      <a:r>
                        <a:rPr lang="pt-BR" sz="1200" dirty="0"/>
                        <a:t>0,38</a:t>
                      </a:r>
                    </a:p>
                  </a:txBody>
                  <a:tcPr marL="119795" marR="119795" marT="59898" marB="59898"/>
                </a:tc>
                <a:extLst>
                  <a:ext uri="{0D108BD9-81ED-4DB2-BD59-A6C34878D82A}">
                    <a16:rowId xmlns:a16="http://schemas.microsoft.com/office/drawing/2014/main" val="3730291777"/>
                  </a:ext>
                </a:extLst>
              </a:tr>
              <a:tr h="299489">
                <a:tc>
                  <a:txBody>
                    <a:bodyPr/>
                    <a:lstStyle/>
                    <a:p>
                      <a:r>
                        <a:rPr lang="pt-BR" sz="1200" dirty="0"/>
                        <a:t>8 esteiras</a:t>
                      </a:r>
                    </a:p>
                  </a:txBody>
                  <a:tcPr marL="119795" marR="119795"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2,80</a:t>
                      </a:r>
                    </a:p>
                  </a:txBody>
                  <a:tcPr marL="119795" marR="119795" marT="59898" marB="59898"/>
                </a:tc>
                <a:tc>
                  <a:txBody>
                    <a:bodyPr/>
                    <a:lstStyle/>
                    <a:p>
                      <a:pPr algn="ctr"/>
                      <a:r>
                        <a:rPr lang="pt-BR" sz="1200" dirty="0"/>
                        <a:t>1</a:t>
                      </a:r>
                    </a:p>
                  </a:txBody>
                  <a:tcPr marL="119795" marR="119795" marT="59898" marB="59898"/>
                </a:tc>
                <a:tc>
                  <a:txBody>
                    <a:bodyPr/>
                    <a:lstStyle/>
                    <a:p>
                      <a:pPr algn="ctr"/>
                      <a:r>
                        <a:rPr lang="pt-BR" sz="1200" dirty="0"/>
                        <a:t>0,75</a:t>
                      </a:r>
                    </a:p>
                  </a:txBody>
                  <a:tcPr marL="119795" marR="119795" marT="59898" marB="59898"/>
                </a:tc>
                <a:extLst>
                  <a:ext uri="{0D108BD9-81ED-4DB2-BD59-A6C34878D82A}">
                    <a16:rowId xmlns:a16="http://schemas.microsoft.com/office/drawing/2014/main" val="2840980177"/>
                  </a:ext>
                </a:extLst>
              </a:tr>
              <a:tr h="299489">
                <a:tc>
                  <a:txBody>
                    <a:bodyPr/>
                    <a:lstStyle/>
                    <a:p>
                      <a:r>
                        <a:rPr lang="pt-BR" sz="1000" dirty="0"/>
                        <a:t>10 esteiras</a:t>
                      </a:r>
                    </a:p>
                  </a:txBody>
                  <a:tcPr marL="119795" marR="119795"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2,80</a:t>
                      </a:r>
                    </a:p>
                  </a:txBody>
                  <a:tcPr marL="119795" marR="119795" marT="59898" marB="59898"/>
                </a:tc>
                <a:tc>
                  <a:txBody>
                    <a:bodyPr/>
                    <a:lstStyle/>
                    <a:p>
                      <a:pPr algn="ctr"/>
                      <a:r>
                        <a:rPr lang="pt-BR" sz="1200" dirty="0"/>
                        <a:t>1</a:t>
                      </a:r>
                    </a:p>
                  </a:txBody>
                  <a:tcPr marL="119795" marR="119795" marT="59898" marB="59898"/>
                </a:tc>
                <a:tc>
                  <a:txBody>
                    <a:bodyPr/>
                    <a:lstStyle/>
                    <a:p>
                      <a:pPr algn="ctr"/>
                      <a:r>
                        <a:rPr lang="pt-BR" sz="1200" dirty="0"/>
                        <a:t>0,75</a:t>
                      </a:r>
                    </a:p>
                  </a:txBody>
                  <a:tcPr marL="119795" marR="119795" marT="59898" marB="59898"/>
                </a:tc>
                <a:extLst>
                  <a:ext uri="{0D108BD9-81ED-4DB2-BD59-A6C34878D82A}">
                    <a16:rowId xmlns:a16="http://schemas.microsoft.com/office/drawing/2014/main" val="1394041850"/>
                  </a:ext>
                </a:extLst>
              </a:tr>
            </a:tbl>
          </a:graphicData>
        </a:graphic>
      </p:graphicFrame>
      <p:pic>
        <p:nvPicPr>
          <p:cNvPr id="38" name="Imagem 37">
            <a:extLst>
              <a:ext uri="{FF2B5EF4-FFF2-40B4-BE49-F238E27FC236}">
                <a16:creationId xmlns:a16="http://schemas.microsoft.com/office/drawing/2014/main" id="{7C2C61CC-4ACA-410F-8FEA-B68C063C96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2178" y="5540729"/>
            <a:ext cx="4514743" cy="3187982"/>
          </a:xfrm>
          <a:prstGeom prst="rect">
            <a:avLst/>
          </a:prstGeom>
        </p:spPr>
      </p:pic>
      <p:pic>
        <p:nvPicPr>
          <p:cNvPr id="39" name="Imagem 38">
            <a:extLst>
              <a:ext uri="{FF2B5EF4-FFF2-40B4-BE49-F238E27FC236}">
                <a16:creationId xmlns:a16="http://schemas.microsoft.com/office/drawing/2014/main" id="{656EA26F-B16D-4BB9-AEE6-798FE6F23F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965" y="2266916"/>
            <a:ext cx="4079596" cy="3099201"/>
          </a:xfrm>
          <a:prstGeom prst="rect">
            <a:avLst/>
          </a:prstGeom>
        </p:spPr>
      </p:pic>
      <p:sp>
        <p:nvSpPr>
          <p:cNvPr id="40" name="CaixaDeTexto 39">
            <a:extLst>
              <a:ext uri="{FF2B5EF4-FFF2-40B4-BE49-F238E27FC236}">
                <a16:creationId xmlns:a16="http://schemas.microsoft.com/office/drawing/2014/main" id="{960E725E-54CC-4208-92EF-03A0CC82505D}"/>
              </a:ext>
            </a:extLst>
          </p:cNvPr>
          <p:cNvSpPr txBox="1"/>
          <p:nvPr/>
        </p:nvSpPr>
        <p:spPr>
          <a:xfrm>
            <a:off x="4408735" y="3311370"/>
            <a:ext cx="2476500"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Forno 5 esteiras</a:t>
            </a:r>
          </a:p>
        </p:txBody>
      </p:sp>
      <p:sp>
        <p:nvSpPr>
          <p:cNvPr id="41" name="CaixaDeTexto 40">
            <a:extLst>
              <a:ext uri="{FF2B5EF4-FFF2-40B4-BE49-F238E27FC236}">
                <a16:creationId xmlns:a16="http://schemas.microsoft.com/office/drawing/2014/main" id="{D83FD460-324F-444D-8739-ADF71C745303}"/>
              </a:ext>
            </a:extLst>
          </p:cNvPr>
          <p:cNvSpPr txBox="1"/>
          <p:nvPr/>
        </p:nvSpPr>
        <p:spPr>
          <a:xfrm>
            <a:off x="166205" y="6896298"/>
            <a:ext cx="2476500" cy="45525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Forno de 8 e </a:t>
            </a:r>
          </a:p>
          <a:p>
            <a:r>
              <a:rPr lang="pt-BR" sz="1179" dirty="0">
                <a:latin typeface="Arial" panose="020B0604020202020204" pitchFamily="34" charset="0"/>
                <a:cs typeface="Arial" panose="020B0604020202020204" pitchFamily="34" charset="0"/>
              </a:rPr>
              <a:t>10 esteiras</a:t>
            </a:r>
          </a:p>
        </p:txBody>
      </p:sp>
      <p:sp>
        <p:nvSpPr>
          <p:cNvPr id="42" name="CaixaDeTexto 41">
            <a:extLst>
              <a:ext uri="{FF2B5EF4-FFF2-40B4-BE49-F238E27FC236}">
                <a16:creationId xmlns:a16="http://schemas.microsoft.com/office/drawing/2014/main" id="{245C3929-94B3-4BA5-BE37-3D38DEC165CF}"/>
              </a:ext>
            </a:extLst>
          </p:cNvPr>
          <p:cNvSpPr txBox="1"/>
          <p:nvPr/>
        </p:nvSpPr>
        <p:spPr>
          <a:xfrm>
            <a:off x="128964" y="9030346"/>
            <a:ext cx="6412294" cy="455253"/>
          </a:xfrm>
          <a:prstGeom prst="rect">
            <a:avLst/>
          </a:prstGeom>
          <a:noFill/>
        </p:spPr>
        <p:txBody>
          <a:bodyPr wrap="square" rtlCol="0">
            <a:spAutoFit/>
          </a:bodyPr>
          <a:lstStyle/>
          <a:p>
            <a:pPr algn="just"/>
            <a:r>
              <a:rPr lang="pt-BR" sz="1179" dirty="0">
                <a:latin typeface="Arial" panose="020B0604020202020204" pitchFamily="34" charset="0"/>
                <a:cs typeface="Arial" panose="020B0604020202020204" pitchFamily="34" charset="0"/>
              </a:rPr>
              <a:t>ATENÇÃO: Verificar se a tensão da rede elétrica é igual ao indicado para instalação do aparelho</a:t>
            </a:r>
          </a:p>
        </p:txBody>
      </p:sp>
    </p:spTree>
    <p:extLst>
      <p:ext uri="{BB962C8B-B14F-4D97-AF65-F5344CB8AC3E}">
        <p14:creationId xmlns:p14="http://schemas.microsoft.com/office/powerpoint/2010/main" val="214759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7F41CC9-DF63-4FBC-BDF1-58AF320FDB46}"/>
              </a:ext>
            </a:extLst>
          </p:cNvPr>
          <p:cNvSpPr txBox="1"/>
          <p:nvPr/>
        </p:nvSpPr>
        <p:spPr>
          <a:xfrm>
            <a:off x="3102253" y="9387663"/>
            <a:ext cx="521882"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08</a:t>
            </a:r>
          </a:p>
        </p:txBody>
      </p:sp>
      <p:sp>
        <p:nvSpPr>
          <p:cNvPr id="7" name="Retângulo 6">
            <a:extLst>
              <a:ext uri="{FF2B5EF4-FFF2-40B4-BE49-F238E27FC236}">
                <a16:creationId xmlns:a16="http://schemas.microsoft.com/office/drawing/2014/main" id="{AF463E29-3219-4747-91EF-D9E57E5FBB2B}"/>
              </a:ext>
            </a:extLst>
          </p:cNvPr>
          <p:cNvSpPr/>
          <p:nvPr/>
        </p:nvSpPr>
        <p:spPr>
          <a:xfrm>
            <a:off x="100942" y="128464"/>
            <a:ext cx="6656116" cy="32753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17.  Vista Explodida</a:t>
            </a:r>
          </a:p>
        </p:txBody>
      </p:sp>
      <p:pic>
        <p:nvPicPr>
          <p:cNvPr id="10" name="Imagem 9">
            <a:extLst>
              <a:ext uri="{FF2B5EF4-FFF2-40B4-BE49-F238E27FC236}">
                <a16:creationId xmlns:a16="http://schemas.microsoft.com/office/drawing/2014/main" id="{B8113842-64D1-49DF-99A2-AE9961DB6D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164" y="627277"/>
            <a:ext cx="6260829" cy="8784758"/>
          </a:xfrm>
          <a:prstGeom prst="rect">
            <a:avLst/>
          </a:prstGeom>
        </p:spPr>
      </p:pic>
    </p:spTree>
    <p:extLst>
      <p:ext uri="{BB962C8B-B14F-4D97-AF65-F5344CB8AC3E}">
        <p14:creationId xmlns:p14="http://schemas.microsoft.com/office/powerpoint/2010/main" val="372152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aixaDeTexto 14">
            <a:extLst>
              <a:ext uri="{FF2B5EF4-FFF2-40B4-BE49-F238E27FC236}">
                <a16:creationId xmlns:a16="http://schemas.microsoft.com/office/drawing/2014/main" id="{AA40001A-6B67-49CF-AE1A-9FBE376D7136}"/>
              </a:ext>
            </a:extLst>
          </p:cNvPr>
          <p:cNvSpPr txBox="1"/>
          <p:nvPr/>
        </p:nvSpPr>
        <p:spPr>
          <a:xfrm>
            <a:off x="3352100" y="9575751"/>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09</a:t>
            </a:r>
          </a:p>
        </p:txBody>
      </p:sp>
      <p:sp>
        <p:nvSpPr>
          <p:cNvPr id="16" name="Retângulo 15">
            <a:extLst>
              <a:ext uri="{FF2B5EF4-FFF2-40B4-BE49-F238E27FC236}">
                <a16:creationId xmlns:a16="http://schemas.microsoft.com/office/drawing/2014/main" id="{F3799DE8-5719-4D16-8406-9BFAD4FA0F54}"/>
              </a:ext>
            </a:extLst>
          </p:cNvPr>
          <p:cNvSpPr/>
          <p:nvPr/>
        </p:nvSpPr>
        <p:spPr>
          <a:xfrm>
            <a:off x="153070" y="60013"/>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Lista de componentes</a:t>
            </a:r>
          </a:p>
        </p:txBody>
      </p:sp>
      <p:graphicFrame>
        <p:nvGraphicFramePr>
          <p:cNvPr id="17" name="Tabela 16">
            <a:extLst>
              <a:ext uri="{FF2B5EF4-FFF2-40B4-BE49-F238E27FC236}">
                <a16:creationId xmlns:a16="http://schemas.microsoft.com/office/drawing/2014/main" id="{6FDAD5A4-24E0-4656-8383-EB71973F8666}"/>
              </a:ext>
            </a:extLst>
          </p:cNvPr>
          <p:cNvGraphicFramePr>
            <a:graphicFrameLocks noGrp="1"/>
          </p:cNvGraphicFramePr>
          <p:nvPr>
            <p:extLst>
              <p:ext uri="{D42A27DB-BD31-4B8C-83A1-F6EECF244321}">
                <p14:modId xmlns:p14="http://schemas.microsoft.com/office/powerpoint/2010/main" val="292206574"/>
              </p:ext>
            </p:extLst>
          </p:nvPr>
        </p:nvGraphicFramePr>
        <p:xfrm>
          <a:off x="163676" y="450276"/>
          <a:ext cx="2990730" cy="9128496"/>
        </p:xfrm>
        <a:graphic>
          <a:graphicData uri="http://schemas.openxmlformats.org/drawingml/2006/table">
            <a:tbl>
              <a:tblPr firstRow="1" bandRow="1">
                <a:tableStyleId>{9D7B26C5-4107-4FEC-AEDC-1716B250A1EF}</a:tableStyleId>
              </a:tblPr>
              <a:tblGrid>
                <a:gridCol w="457012">
                  <a:extLst>
                    <a:ext uri="{9D8B030D-6E8A-4147-A177-3AD203B41FA5}">
                      <a16:colId xmlns:a16="http://schemas.microsoft.com/office/drawing/2014/main" val="2700491385"/>
                    </a:ext>
                  </a:extLst>
                </a:gridCol>
                <a:gridCol w="1590341">
                  <a:extLst>
                    <a:ext uri="{9D8B030D-6E8A-4147-A177-3AD203B41FA5}">
                      <a16:colId xmlns:a16="http://schemas.microsoft.com/office/drawing/2014/main" val="2056339938"/>
                    </a:ext>
                  </a:extLst>
                </a:gridCol>
                <a:gridCol w="943377">
                  <a:extLst>
                    <a:ext uri="{9D8B030D-6E8A-4147-A177-3AD203B41FA5}">
                      <a16:colId xmlns:a16="http://schemas.microsoft.com/office/drawing/2014/main" val="485456538"/>
                    </a:ext>
                  </a:extLst>
                </a:gridCol>
              </a:tblGrid>
              <a:tr h="239591">
                <a:tc>
                  <a:txBody>
                    <a:bodyPr/>
                    <a:lstStyle/>
                    <a:p>
                      <a:pPr marL="0" indent="0" algn="ctr">
                        <a:tabLst/>
                      </a:pPr>
                      <a:r>
                        <a:rPr lang="pt-BR" sz="800" dirty="0">
                          <a:latin typeface="Arial" panose="020B0604020202020204" pitchFamily="34" charset="0"/>
                          <a:cs typeface="Arial" panose="020B0604020202020204" pitchFamily="34" charset="0"/>
                        </a:rPr>
                        <a:t>Item</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800" b="1" kern="1200" dirty="0">
                          <a:solidFill>
                            <a:schemeClr val="tx1"/>
                          </a:solidFill>
                          <a:latin typeface="Arial" panose="020B0604020202020204" pitchFamily="34" charset="0"/>
                          <a:ea typeface="+mn-ea"/>
                          <a:cs typeface="Arial" panose="020B0604020202020204" pitchFamily="34" charset="0"/>
                        </a:rPr>
                        <a:t>Descrição do componente</a:t>
                      </a:r>
                    </a:p>
                  </a:txBody>
                  <a:tcPr marL="119795" marR="119795" marT="59898" marB="59898"/>
                </a:tc>
                <a:tc>
                  <a:txBody>
                    <a:bodyPr/>
                    <a:lstStyle/>
                    <a:p>
                      <a:pPr marL="0" indent="0" algn="ctr" defTabSz="1043056" rtl="0" eaLnBrk="1" latinLnBrk="0" hangingPunct="1">
                        <a:tabLst/>
                      </a:pPr>
                      <a:r>
                        <a:rPr lang="pt-BR" sz="800" b="1" kern="1200" dirty="0">
                          <a:solidFill>
                            <a:schemeClr val="tx1"/>
                          </a:solidFill>
                          <a:latin typeface="Arial" panose="020B0604020202020204" pitchFamily="34" charset="0"/>
                          <a:ea typeface="+mn-ea"/>
                          <a:cs typeface="Arial" panose="020B0604020202020204" pitchFamily="34" charset="0"/>
                        </a:rPr>
                        <a:t>Modelo</a:t>
                      </a:r>
                    </a:p>
                  </a:txBody>
                  <a:tcPr marL="119795" marR="119795" marT="59898" marB="59898"/>
                </a:tc>
                <a:extLst>
                  <a:ext uri="{0D108BD9-81ED-4DB2-BD59-A6C34878D82A}">
                    <a16:rowId xmlns:a16="http://schemas.microsoft.com/office/drawing/2014/main" val="1658415043"/>
                  </a:ext>
                </a:extLst>
              </a:tr>
              <a:tr h="219625">
                <a:tc>
                  <a:txBody>
                    <a:bodyPr/>
                    <a:lstStyle/>
                    <a:p>
                      <a:r>
                        <a:rPr lang="pt-BR" sz="700" dirty="0">
                          <a:latin typeface="Arial" panose="020B0604020202020204" pitchFamily="34" charset="0"/>
                          <a:cs typeface="Arial" panose="020B0604020202020204" pitchFamily="34" charset="0"/>
                        </a:rPr>
                        <a:t>01</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Caixa proteção motor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77117856"/>
                  </a:ext>
                </a:extLst>
              </a:tr>
              <a:tr h="319454">
                <a:tc>
                  <a:txBody>
                    <a:bodyPr/>
                    <a:lstStyle/>
                    <a:p>
                      <a:r>
                        <a:rPr lang="pt-BR" sz="700" dirty="0">
                          <a:latin typeface="Arial" panose="020B0604020202020204" pitchFamily="34" charset="0"/>
                          <a:cs typeface="Arial" panose="020B0604020202020204" pitchFamily="34" charset="0"/>
                        </a:rPr>
                        <a:t>02</a:t>
                      </a:r>
                    </a:p>
                  </a:txBody>
                  <a:tcPr marL="119795" marR="119795" marT="59898" marB="59898"/>
                </a:tc>
                <a:tc>
                  <a:txBody>
                    <a:bodyPr/>
                    <a:lstStyle/>
                    <a:p>
                      <a:pPr defTabSz="1076325"/>
                      <a:r>
                        <a:rPr lang="pt-BR" sz="700" dirty="0">
                          <a:latin typeface="Arial" panose="020B0604020202020204" pitchFamily="34" charset="0"/>
                          <a:cs typeface="Arial" panose="020B0604020202020204" pitchFamily="34" charset="0"/>
                        </a:rPr>
                        <a:t>Tampa da caixa solenoide água/gás/usina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270933329"/>
                  </a:ext>
                </a:extLst>
              </a:tr>
              <a:tr h="219625">
                <a:tc>
                  <a:txBody>
                    <a:bodyPr/>
                    <a:lstStyle/>
                    <a:p>
                      <a:r>
                        <a:rPr lang="pt-BR" sz="700" dirty="0">
                          <a:latin typeface="Arial" panose="020B0604020202020204" pitchFamily="34" charset="0"/>
                          <a:cs typeface="Arial" panose="020B0604020202020204" pitchFamily="34" charset="0"/>
                        </a:rPr>
                        <a:t>03</a:t>
                      </a:r>
                    </a:p>
                  </a:txBody>
                  <a:tcPr marL="119795" marR="119795" marT="59898" marB="59898"/>
                </a:tc>
                <a:tc>
                  <a:txBody>
                    <a:bodyPr/>
                    <a:lstStyle/>
                    <a:p>
                      <a:r>
                        <a:rPr lang="pt-BR" sz="700" dirty="0" err="1">
                          <a:latin typeface="Arial" panose="020B0604020202020204" pitchFamily="34" charset="0"/>
                          <a:cs typeface="Arial" panose="020B0604020202020204" pitchFamily="34" charset="0"/>
                        </a:rPr>
                        <a:t>Ignitron</a:t>
                      </a:r>
                      <a:r>
                        <a:rPr lang="pt-BR" sz="700" dirty="0">
                          <a:latin typeface="Arial" panose="020B0604020202020204" pitchFamily="34" charset="0"/>
                          <a:cs typeface="Arial" panose="020B0604020202020204" pitchFamily="34" charset="0"/>
                        </a:rPr>
                        <a:t> 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726172683"/>
                  </a:ext>
                </a:extLst>
              </a:tr>
              <a:tr h="319454">
                <a:tc>
                  <a:txBody>
                    <a:bodyPr/>
                    <a:lstStyle/>
                    <a:p>
                      <a:r>
                        <a:rPr lang="pt-BR" sz="700" dirty="0">
                          <a:latin typeface="Arial" panose="020B0604020202020204" pitchFamily="34" charset="0"/>
                          <a:cs typeface="Arial" panose="020B0604020202020204" pitchFamily="34" charset="0"/>
                        </a:rPr>
                        <a:t>04</a:t>
                      </a:r>
                    </a:p>
                  </a:txBody>
                  <a:tcPr marL="119795" marR="119795"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Válvula solenoide gás 220V 60hz/uxa262co90</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4391251"/>
                  </a:ext>
                </a:extLst>
              </a:tr>
              <a:tr h="319454">
                <a:tc>
                  <a:txBody>
                    <a:bodyPr/>
                    <a:lstStyle/>
                    <a:p>
                      <a:r>
                        <a:rPr lang="pt-BR" sz="700" dirty="0">
                          <a:latin typeface="Arial" panose="020B0604020202020204" pitchFamily="34" charset="0"/>
                          <a:cs typeface="Arial" panose="020B0604020202020204" pitchFamily="34" charset="0"/>
                        </a:rPr>
                        <a:t>05</a:t>
                      </a:r>
                    </a:p>
                  </a:txBody>
                  <a:tcPr marL="119795" marR="119795" marT="59898" marB="59898"/>
                </a:tc>
                <a:tc>
                  <a:txBody>
                    <a:bodyPr/>
                    <a:lstStyle/>
                    <a:p>
                      <a:r>
                        <a:rPr lang="pt-BR" sz="700" dirty="0">
                          <a:latin typeface="Arial" panose="020B0604020202020204" pitchFamily="34" charset="0"/>
                          <a:cs typeface="Arial" panose="020B0604020202020204" pitchFamily="34" charset="0"/>
                        </a:rPr>
                        <a:t>Válvula solenoide água 220V EVA 02.2.A.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57311216"/>
                  </a:ext>
                </a:extLst>
              </a:tr>
              <a:tr h="219625">
                <a:tc>
                  <a:txBody>
                    <a:bodyPr/>
                    <a:lstStyle/>
                    <a:p>
                      <a:r>
                        <a:rPr lang="pt-BR" sz="700" dirty="0">
                          <a:latin typeface="Arial" panose="020B0604020202020204" pitchFamily="34" charset="0"/>
                          <a:cs typeface="Arial" panose="020B0604020202020204" pitchFamily="34" charset="0"/>
                        </a:rPr>
                        <a:t>06</a:t>
                      </a:r>
                    </a:p>
                  </a:txBody>
                  <a:tcPr marL="119795" marR="119795" marT="59898" marB="59898"/>
                </a:tc>
                <a:tc>
                  <a:txBody>
                    <a:bodyPr/>
                    <a:lstStyle/>
                    <a:p>
                      <a:r>
                        <a:rPr lang="pt-BR" sz="700" dirty="0">
                          <a:latin typeface="Arial" panose="020B0604020202020204" pitchFamily="34" charset="0"/>
                          <a:cs typeface="Arial" panose="020B0604020202020204" pitchFamily="34" charset="0"/>
                        </a:rPr>
                        <a:t>Mangueira trançada 3/8"x2,5mm</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856392232"/>
                  </a:ext>
                </a:extLst>
              </a:tr>
              <a:tr h="219625">
                <a:tc>
                  <a:txBody>
                    <a:bodyPr/>
                    <a:lstStyle/>
                    <a:p>
                      <a:r>
                        <a:rPr lang="pt-BR" sz="700" dirty="0">
                          <a:latin typeface="Arial" panose="020B0604020202020204" pitchFamily="34" charset="0"/>
                          <a:cs typeface="Arial" panose="020B0604020202020204" pitchFamily="34" charset="0"/>
                        </a:rPr>
                        <a:t>07</a:t>
                      </a:r>
                    </a:p>
                  </a:txBody>
                  <a:tcPr marL="119795" marR="119795" marT="59898" marB="59898"/>
                </a:tc>
                <a:tc>
                  <a:txBody>
                    <a:bodyPr/>
                    <a:lstStyle/>
                    <a:p>
                      <a:r>
                        <a:rPr lang="pt-BR" sz="700" dirty="0">
                          <a:latin typeface="Arial" panose="020B0604020202020204" pitchFamily="34" charset="0"/>
                          <a:cs typeface="Arial" panose="020B0604020202020204" pitchFamily="34" charset="0"/>
                        </a:rPr>
                        <a:t>Caixa solenoide água/gás/usina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60328315"/>
                  </a:ext>
                </a:extLst>
              </a:tr>
              <a:tr h="519113">
                <a:tc>
                  <a:txBody>
                    <a:bodyPr/>
                    <a:lstStyle/>
                    <a:p>
                      <a:r>
                        <a:rPr lang="pt-BR" sz="700" dirty="0">
                          <a:latin typeface="Arial" panose="020B0604020202020204" pitchFamily="34" charset="0"/>
                          <a:cs typeface="Arial" panose="020B0604020202020204" pitchFamily="34" charset="0"/>
                        </a:rPr>
                        <a:t>08</a:t>
                      </a:r>
                    </a:p>
                  </a:txBody>
                  <a:tcPr marL="119795" marR="119795" marT="59898" marB="59898"/>
                </a:tc>
                <a:tc>
                  <a:txBody>
                    <a:bodyPr/>
                    <a:lstStyle/>
                    <a:p>
                      <a:r>
                        <a:rPr lang="pt-BR" sz="700" dirty="0">
                          <a:latin typeface="Arial" panose="020B0604020202020204" pitchFamily="34" charset="0"/>
                          <a:cs typeface="Arial" panose="020B0604020202020204" pitchFamily="34" charset="0"/>
                        </a:rPr>
                        <a:t>Motor monofásico 1/2cv 127/220v 4p 50/60hz</a:t>
                      </a:r>
                    </a:p>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Motor monofásico 1cv 4 polos 127/220v 50/60hz</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92221427"/>
                  </a:ext>
                </a:extLst>
              </a:tr>
              <a:tr h="219625">
                <a:tc>
                  <a:txBody>
                    <a:bodyPr/>
                    <a:lstStyle/>
                    <a:p>
                      <a:r>
                        <a:rPr lang="pt-BR" sz="700" kern="1200" dirty="0">
                          <a:solidFill>
                            <a:schemeClr val="tx1"/>
                          </a:solidFill>
                          <a:latin typeface="Arial" panose="020B0604020202020204" pitchFamily="34" charset="0"/>
                          <a:ea typeface="+mn-ea"/>
                          <a:cs typeface="Arial" panose="020B0604020202020204" pitchFamily="34" charset="0"/>
                        </a:rPr>
                        <a:t>09</a:t>
                      </a:r>
                    </a:p>
                  </a:txBody>
                  <a:tcPr marL="119795" marR="119795" marT="59898" marB="59898"/>
                </a:tc>
                <a:tc>
                  <a:txBody>
                    <a:bodyPr/>
                    <a:lstStyle/>
                    <a:p>
                      <a:r>
                        <a:rPr lang="pt-BR" sz="700" dirty="0">
                          <a:latin typeface="Arial" panose="020B0604020202020204" pitchFamily="34" charset="0"/>
                          <a:cs typeface="Arial" panose="020B0604020202020204" pitchFamily="34" charset="0"/>
                        </a:rPr>
                        <a:t>Espiga válvula de água 35x42" c/rosca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7364889"/>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10</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Conjunto chicote</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4234614718"/>
                  </a:ext>
                </a:extLst>
              </a:tr>
              <a:tr h="219625">
                <a:tc>
                  <a:txBody>
                    <a:bodyPr/>
                    <a:lstStyle/>
                    <a:p>
                      <a:r>
                        <a:rPr lang="pt-BR" sz="700" dirty="0">
                          <a:latin typeface="Arial" panose="020B0604020202020204" pitchFamily="34" charset="0"/>
                          <a:cs typeface="Arial" panose="020B0604020202020204" pitchFamily="34" charset="0"/>
                        </a:rPr>
                        <a:t>11</a:t>
                      </a:r>
                    </a:p>
                  </a:txBody>
                  <a:tcPr marL="119795" marR="119795" marT="59898" marB="59898"/>
                </a:tc>
                <a:tc>
                  <a:txBody>
                    <a:bodyPr/>
                    <a:lstStyle/>
                    <a:p>
                      <a:r>
                        <a:rPr lang="pt-BR" sz="700" dirty="0">
                          <a:latin typeface="Arial" panose="020B0604020202020204" pitchFamily="34" charset="0"/>
                          <a:cs typeface="Arial" panose="020B0604020202020204" pitchFamily="34" charset="0"/>
                        </a:rPr>
                        <a:t>Suporte fixação motor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7346248"/>
                  </a:ext>
                </a:extLst>
              </a:tr>
              <a:tr h="219625">
                <a:tc>
                  <a:txBody>
                    <a:bodyPr/>
                    <a:lstStyle/>
                    <a:p>
                      <a:r>
                        <a:rPr lang="pt-BR" sz="700" dirty="0">
                          <a:latin typeface="Arial" panose="020B0604020202020204" pitchFamily="34" charset="0"/>
                          <a:cs typeface="Arial" panose="020B0604020202020204" pitchFamily="34" charset="0"/>
                        </a:rPr>
                        <a:t>12</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Cobertura superior saia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319691272"/>
                  </a:ext>
                </a:extLst>
              </a:tr>
              <a:tr h="219625">
                <a:tc>
                  <a:txBody>
                    <a:bodyPr/>
                    <a:lstStyle/>
                    <a:p>
                      <a:r>
                        <a:rPr lang="pt-BR" sz="700" dirty="0">
                          <a:latin typeface="Arial" panose="020B0604020202020204" pitchFamily="34" charset="0"/>
                          <a:cs typeface="Arial" panose="020B0604020202020204" pitchFamily="34" charset="0"/>
                        </a:rPr>
                        <a:t>13</a:t>
                      </a:r>
                    </a:p>
                  </a:txBody>
                  <a:tcPr marL="119795" marR="119795" marT="59898" marB="59898"/>
                </a:tc>
                <a:tc>
                  <a:txBody>
                    <a:bodyPr/>
                    <a:lstStyle/>
                    <a:p>
                      <a:r>
                        <a:rPr lang="pt-BR" sz="700" dirty="0">
                          <a:latin typeface="Arial" panose="020B0604020202020204" pitchFamily="34" charset="0"/>
                          <a:cs typeface="Arial" panose="020B0604020202020204" pitchFamily="34" charset="0"/>
                        </a:rPr>
                        <a:t>Teto externo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648092497"/>
                  </a:ext>
                </a:extLst>
              </a:tr>
              <a:tr h="219625">
                <a:tc>
                  <a:txBody>
                    <a:bodyPr/>
                    <a:lstStyle/>
                    <a:p>
                      <a:r>
                        <a:rPr lang="pt-BR" sz="700" dirty="0">
                          <a:latin typeface="Arial" panose="020B0604020202020204" pitchFamily="34" charset="0"/>
                          <a:cs typeface="Arial" panose="020B0604020202020204" pitchFamily="34" charset="0"/>
                        </a:rPr>
                        <a:t>14</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Costa externa do forno turbo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215983173"/>
                  </a:ext>
                </a:extLst>
              </a:tr>
              <a:tr h="219625">
                <a:tc>
                  <a:txBody>
                    <a:bodyPr/>
                    <a:lstStyle/>
                    <a:p>
                      <a:r>
                        <a:rPr lang="pt-BR" sz="700" dirty="0">
                          <a:latin typeface="Arial" panose="020B0604020202020204" pitchFamily="34" charset="0"/>
                          <a:cs typeface="Arial" panose="020B0604020202020204" pitchFamily="34" charset="0"/>
                        </a:rPr>
                        <a:t>15</a:t>
                      </a:r>
                    </a:p>
                  </a:txBody>
                  <a:tcPr marL="119795" marR="119795" marT="59898" marB="59898"/>
                </a:tc>
                <a:tc>
                  <a:txBody>
                    <a:bodyPr/>
                    <a:lstStyle/>
                    <a:p>
                      <a:r>
                        <a:rPr lang="pt-BR" sz="700" dirty="0">
                          <a:latin typeface="Arial" panose="020B0604020202020204" pitchFamily="34" charset="0"/>
                          <a:cs typeface="Arial" panose="020B0604020202020204" pitchFamily="34" charset="0"/>
                        </a:rPr>
                        <a:t>Kit abafador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109331574"/>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16</a:t>
                      </a:r>
                    </a:p>
                  </a:txBody>
                  <a:tcPr marL="119795" marR="119795" marT="59898" marB="59898"/>
                </a:tc>
                <a:tc>
                  <a:txBody>
                    <a:bodyPr/>
                    <a:lstStyle/>
                    <a:p>
                      <a:r>
                        <a:rPr lang="pt-BR" sz="700" dirty="0">
                          <a:latin typeface="Arial" panose="020B0604020202020204" pitchFamily="34" charset="0"/>
                          <a:cs typeface="Arial" panose="020B0604020202020204" pitchFamily="34" charset="0"/>
                        </a:rPr>
                        <a:t>Lã de vidro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282204406"/>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17</a:t>
                      </a:r>
                    </a:p>
                  </a:txBody>
                  <a:tcPr marL="119795" marR="119795" marT="59898" marB="59898"/>
                </a:tc>
                <a:tc>
                  <a:txBody>
                    <a:bodyPr/>
                    <a:lstStyle/>
                    <a:p>
                      <a:r>
                        <a:rPr lang="pt-BR" sz="700" dirty="0">
                          <a:latin typeface="Arial" panose="020B0604020202020204" pitchFamily="34" charset="0"/>
                          <a:cs typeface="Arial" panose="020B0604020202020204" pitchFamily="34" charset="0"/>
                        </a:rPr>
                        <a:t>Eixo da porta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046918342"/>
                  </a:ext>
                </a:extLst>
              </a:tr>
              <a:tr h="219625">
                <a:tc>
                  <a:txBody>
                    <a:bodyPr/>
                    <a:lstStyle/>
                    <a:p>
                      <a:r>
                        <a:rPr lang="pt-BR" sz="700" dirty="0">
                          <a:latin typeface="Arial" panose="020B0604020202020204" pitchFamily="34" charset="0"/>
                          <a:cs typeface="Arial" panose="020B0604020202020204" pitchFamily="34" charset="0"/>
                        </a:rPr>
                        <a:t>18</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Turbina forno turbo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02921717"/>
                  </a:ext>
                </a:extLst>
              </a:tr>
              <a:tr h="219625">
                <a:tc>
                  <a:txBody>
                    <a:bodyPr/>
                    <a:lstStyle/>
                    <a:p>
                      <a:r>
                        <a:rPr lang="pt-BR" sz="700" dirty="0">
                          <a:latin typeface="Arial" panose="020B0604020202020204" pitchFamily="34" charset="0"/>
                          <a:cs typeface="Arial" panose="020B0604020202020204" pitchFamily="34" charset="0"/>
                        </a:rPr>
                        <a:t>19</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Bucha traseira turbina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760655045"/>
                  </a:ext>
                </a:extLst>
              </a:tr>
              <a:tr h="219625">
                <a:tc>
                  <a:txBody>
                    <a:bodyPr/>
                    <a:lstStyle/>
                    <a:p>
                      <a:r>
                        <a:rPr lang="pt-BR" sz="700" dirty="0">
                          <a:latin typeface="Arial" panose="020B0604020202020204" pitchFamily="34" charset="0"/>
                          <a:cs typeface="Arial" panose="020B0604020202020204" pitchFamily="34" charset="0"/>
                        </a:rPr>
                        <a:t>20</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Bucha rodízio porta aço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810639131"/>
                  </a:ext>
                </a:extLst>
              </a:tr>
              <a:tr h="219625">
                <a:tc>
                  <a:txBody>
                    <a:bodyPr/>
                    <a:lstStyle/>
                    <a:p>
                      <a:r>
                        <a:rPr lang="pt-BR" sz="700" dirty="0">
                          <a:latin typeface="Arial" panose="020B0604020202020204" pitchFamily="34" charset="0"/>
                          <a:cs typeface="Arial" panose="020B0604020202020204" pitchFamily="34" charset="0"/>
                        </a:rPr>
                        <a:t>21</a:t>
                      </a:r>
                    </a:p>
                  </a:txBody>
                  <a:tcPr marL="119795" marR="119795" marT="59898" marB="59898"/>
                </a:tc>
                <a:tc>
                  <a:txBody>
                    <a:bodyPr/>
                    <a:lstStyle/>
                    <a:p>
                      <a:r>
                        <a:rPr lang="pt-BR" sz="700" dirty="0">
                          <a:latin typeface="Arial" panose="020B0604020202020204" pitchFamily="34" charset="0"/>
                          <a:cs typeface="Arial" panose="020B0604020202020204" pitchFamily="34" charset="0"/>
                        </a:rPr>
                        <a:t>Grade protetora turbina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609976679"/>
                  </a:ext>
                </a:extLst>
              </a:tr>
              <a:tr h="319454">
                <a:tc>
                  <a:txBody>
                    <a:bodyPr/>
                    <a:lstStyle/>
                    <a:p>
                      <a:r>
                        <a:rPr lang="pt-BR" sz="700" dirty="0">
                          <a:latin typeface="Arial" panose="020B0604020202020204" pitchFamily="34" charset="0"/>
                          <a:cs typeface="Arial" panose="020B0604020202020204" pitchFamily="34" charset="0"/>
                        </a:rPr>
                        <a:t>22</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Termopar tipo J 4,7x70mm cabo 750mm</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800969784"/>
                  </a:ext>
                </a:extLst>
              </a:tr>
              <a:tr h="219625">
                <a:tc>
                  <a:txBody>
                    <a:bodyPr/>
                    <a:lstStyle/>
                    <a:p>
                      <a:r>
                        <a:rPr lang="pt-BR" sz="700" dirty="0">
                          <a:latin typeface="Arial" panose="020B0604020202020204" pitchFamily="34" charset="0"/>
                          <a:cs typeface="Arial" panose="020B0604020202020204" pitchFamily="34" charset="0"/>
                        </a:rPr>
                        <a:t>23</a:t>
                      </a:r>
                    </a:p>
                  </a:txBody>
                  <a:tcPr marL="119795" marR="119795" marT="59898" marB="59898"/>
                </a:tc>
                <a:tc>
                  <a:txBody>
                    <a:bodyPr/>
                    <a:lstStyle/>
                    <a:p>
                      <a:r>
                        <a:rPr lang="pt-BR" sz="700" dirty="0">
                          <a:latin typeface="Arial" panose="020B0604020202020204" pitchFamily="34" charset="0"/>
                          <a:cs typeface="Arial" panose="020B0604020202020204" pitchFamily="34" charset="0"/>
                        </a:rPr>
                        <a:t>Lateral esquerda do forno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49215365"/>
                  </a:ext>
                </a:extLst>
              </a:tr>
              <a:tr h="219625">
                <a:tc>
                  <a:txBody>
                    <a:bodyPr/>
                    <a:lstStyle/>
                    <a:p>
                      <a:r>
                        <a:rPr lang="pt-BR" sz="700" dirty="0">
                          <a:latin typeface="Arial" panose="020B0604020202020204" pitchFamily="34" charset="0"/>
                          <a:cs typeface="Arial" panose="020B0604020202020204" pitchFamily="34" charset="0"/>
                        </a:rPr>
                        <a:t>24</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Tampa da Caixa de Comando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330689163"/>
                  </a:ext>
                </a:extLst>
              </a:tr>
              <a:tr h="219625">
                <a:tc>
                  <a:txBody>
                    <a:bodyPr/>
                    <a:lstStyle/>
                    <a:p>
                      <a:r>
                        <a:rPr lang="pt-BR" sz="700" dirty="0">
                          <a:latin typeface="Arial" panose="020B0604020202020204" pitchFamily="34" charset="0"/>
                          <a:cs typeface="Arial" panose="020B0604020202020204" pitchFamily="34" charset="0"/>
                        </a:rPr>
                        <a:t>25</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Lateral direita do forno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20819718"/>
                  </a:ext>
                </a:extLst>
              </a:tr>
              <a:tr h="219625">
                <a:tc>
                  <a:txBody>
                    <a:bodyPr/>
                    <a:lstStyle/>
                    <a:p>
                      <a:r>
                        <a:rPr lang="pt-BR" sz="700" dirty="0">
                          <a:latin typeface="Arial" panose="020B0604020202020204" pitchFamily="34" charset="0"/>
                          <a:cs typeface="Arial" panose="020B0604020202020204" pitchFamily="34" charset="0"/>
                        </a:rPr>
                        <a:t>26</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Gabinete interno forno turbo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477220496"/>
                  </a:ext>
                </a:extLst>
              </a:tr>
              <a:tr h="219625">
                <a:tc>
                  <a:txBody>
                    <a:bodyPr/>
                    <a:lstStyle/>
                    <a:p>
                      <a:r>
                        <a:rPr lang="pt-BR" sz="700" dirty="0">
                          <a:latin typeface="Arial" panose="020B0604020202020204" pitchFamily="34" charset="0"/>
                          <a:cs typeface="Arial" panose="020B0604020202020204" pitchFamily="34" charset="0"/>
                        </a:rPr>
                        <a:t>27</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Conjunto cano gás inferior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047039231"/>
                  </a:ext>
                </a:extLst>
              </a:tr>
              <a:tr h="219625">
                <a:tc>
                  <a:txBody>
                    <a:bodyPr/>
                    <a:lstStyle/>
                    <a:p>
                      <a:r>
                        <a:rPr lang="pt-BR" sz="700" dirty="0">
                          <a:latin typeface="Arial" panose="020B0604020202020204" pitchFamily="34" charset="0"/>
                          <a:cs typeface="Arial" panose="020B0604020202020204" pitchFamily="34" charset="0"/>
                        </a:rPr>
                        <a:t>28</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Conjunto trilho para bandejas</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62089827"/>
                  </a:ext>
                </a:extLst>
              </a:tr>
              <a:tr h="219625">
                <a:tc>
                  <a:txBody>
                    <a:bodyPr/>
                    <a:lstStyle/>
                    <a:p>
                      <a:r>
                        <a:rPr lang="pt-BR" sz="700" dirty="0">
                          <a:latin typeface="Arial" panose="020B0604020202020204" pitchFamily="34" charset="0"/>
                          <a:cs typeface="Arial" panose="020B0604020202020204" pitchFamily="34" charset="0"/>
                        </a:rPr>
                        <a:t>29</a:t>
                      </a:r>
                    </a:p>
                  </a:txBody>
                  <a:tcPr marL="119795" marR="119795" marT="59898" marB="59898"/>
                </a:tc>
                <a:tc>
                  <a:txBody>
                    <a:bodyPr/>
                    <a:lstStyle/>
                    <a:p>
                      <a:r>
                        <a:rPr lang="pt-BR" sz="700" dirty="0">
                          <a:latin typeface="Arial" panose="020B0604020202020204" pitchFamily="34" charset="0"/>
                          <a:cs typeface="Arial" panose="020B0604020202020204" pitchFamily="34" charset="0"/>
                        </a:rPr>
                        <a:t>Micro interruptor fim de curso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8-10 ESTEIRAS</a:t>
                      </a:r>
                    </a:p>
                  </a:txBody>
                  <a:tcPr marL="119795" marR="119795" marT="59898" marB="59898"/>
                </a:tc>
                <a:extLst>
                  <a:ext uri="{0D108BD9-81ED-4DB2-BD59-A6C34878D82A}">
                    <a16:rowId xmlns:a16="http://schemas.microsoft.com/office/drawing/2014/main" val="2215794468"/>
                  </a:ext>
                </a:extLst>
              </a:tr>
              <a:tr h="219625">
                <a:tc>
                  <a:txBody>
                    <a:bodyPr/>
                    <a:lstStyle/>
                    <a:p>
                      <a:r>
                        <a:rPr lang="pt-BR" sz="700" dirty="0">
                          <a:latin typeface="Arial" panose="020B0604020202020204" pitchFamily="34" charset="0"/>
                          <a:cs typeface="Arial" panose="020B0604020202020204" pitchFamily="34" charset="0"/>
                        </a:rPr>
                        <a:t>30</a:t>
                      </a:r>
                    </a:p>
                  </a:txBody>
                  <a:tcPr marL="119795" marR="119795" marT="59898" marB="59898"/>
                </a:tc>
                <a:tc>
                  <a:txBody>
                    <a:bodyPr/>
                    <a:lstStyle/>
                    <a:p>
                      <a:r>
                        <a:rPr lang="pt-BR" sz="700" dirty="0">
                          <a:latin typeface="Arial" panose="020B0604020202020204" pitchFamily="34" charset="0"/>
                          <a:cs typeface="Arial" panose="020B0604020202020204" pitchFamily="34" charset="0"/>
                        </a:rPr>
                        <a:t>Suporte fim de curso liso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8-10 ESTEIRAS</a:t>
                      </a:r>
                    </a:p>
                  </a:txBody>
                  <a:tcPr marL="119795" marR="119795" marT="59898" marB="59898"/>
                </a:tc>
                <a:extLst>
                  <a:ext uri="{0D108BD9-81ED-4DB2-BD59-A6C34878D82A}">
                    <a16:rowId xmlns:a16="http://schemas.microsoft.com/office/drawing/2014/main" val="2817276624"/>
                  </a:ext>
                </a:extLst>
              </a:tr>
              <a:tr h="219625">
                <a:tc>
                  <a:txBody>
                    <a:bodyPr/>
                    <a:lstStyle/>
                    <a:p>
                      <a:r>
                        <a:rPr lang="pt-BR" sz="700" dirty="0">
                          <a:latin typeface="Arial" panose="020B0604020202020204" pitchFamily="34" charset="0"/>
                          <a:cs typeface="Arial" panose="020B0604020202020204" pitchFamily="34" charset="0"/>
                        </a:rPr>
                        <a:t>31</a:t>
                      </a:r>
                    </a:p>
                  </a:txBody>
                  <a:tcPr marL="119795" marR="119795"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Suporte para lâmpada porcelana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777275910"/>
                  </a:ext>
                </a:extLst>
              </a:tr>
              <a:tr h="219625">
                <a:tc>
                  <a:txBody>
                    <a:bodyPr/>
                    <a:lstStyle/>
                    <a:p>
                      <a:r>
                        <a:rPr lang="pt-BR" sz="700" dirty="0">
                          <a:latin typeface="Arial" panose="020B0604020202020204" pitchFamily="34" charset="0"/>
                          <a:cs typeface="Arial" panose="020B0604020202020204" pitchFamily="34" charset="0"/>
                        </a:rPr>
                        <a:t>32</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Lâmpada Geladeira/Fogão 40W 220V</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997023612"/>
                  </a:ext>
                </a:extLst>
              </a:tr>
              <a:tr h="219625">
                <a:tc>
                  <a:txBody>
                    <a:bodyPr/>
                    <a:lstStyle/>
                    <a:p>
                      <a:r>
                        <a:rPr lang="pt-BR" sz="700" dirty="0">
                          <a:latin typeface="Arial" panose="020B0604020202020204" pitchFamily="34" charset="0"/>
                          <a:cs typeface="Arial" panose="020B0604020202020204" pitchFamily="34" charset="0"/>
                        </a:rPr>
                        <a:t>33</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Kit Maçaneta </a:t>
                      </a:r>
                    </a:p>
                  </a:txBody>
                  <a:tcPr marL="119795" marR="119795" marT="59898" marB="59898"/>
                </a:tc>
                <a:tc>
                  <a:txBody>
                    <a:bodyPr/>
                    <a:lstStyle/>
                    <a:p>
                      <a:pPr algn="ctr"/>
                      <a:r>
                        <a:rPr lang="pt-BR" sz="700" dirty="0">
                          <a:solidFill>
                            <a:schemeClr val="tx1"/>
                          </a:solidFill>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229010151"/>
                  </a:ext>
                </a:extLst>
              </a:tr>
              <a:tr h="219625">
                <a:tc>
                  <a:txBody>
                    <a:bodyPr/>
                    <a:lstStyle/>
                    <a:p>
                      <a:r>
                        <a:rPr lang="pt-BR" sz="700" dirty="0">
                          <a:latin typeface="Arial" panose="020B0604020202020204" pitchFamily="34" charset="0"/>
                          <a:cs typeface="Arial" panose="020B0604020202020204" pitchFamily="34" charset="0"/>
                        </a:rPr>
                        <a:t>34</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Porta do forno turbo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940892858"/>
                  </a:ext>
                </a:extLst>
              </a:tr>
              <a:tr h="219625">
                <a:tc>
                  <a:txBody>
                    <a:bodyPr/>
                    <a:lstStyle/>
                    <a:p>
                      <a:pPr algn="ctr"/>
                      <a:r>
                        <a:rPr lang="pt-BR" sz="700" dirty="0">
                          <a:latin typeface="Arial" panose="020B0604020202020204" pitchFamily="34" charset="0"/>
                          <a:cs typeface="Arial" panose="020B0604020202020204" pitchFamily="34" charset="0"/>
                        </a:rPr>
                        <a:t>35</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Calha de proteção da Lâmpada</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213962584"/>
                  </a:ext>
                </a:extLst>
              </a:tr>
            </a:tbl>
          </a:graphicData>
        </a:graphic>
      </p:graphicFrame>
      <p:graphicFrame>
        <p:nvGraphicFramePr>
          <p:cNvPr id="18" name="Tabela 17">
            <a:extLst>
              <a:ext uri="{FF2B5EF4-FFF2-40B4-BE49-F238E27FC236}">
                <a16:creationId xmlns:a16="http://schemas.microsoft.com/office/drawing/2014/main" id="{63CBBF2E-8DDB-4BC2-B490-8342F311B852}"/>
              </a:ext>
            </a:extLst>
          </p:cNvPr>
          <p:cNvGraphicFramePr>
            <a:graphicFrameLocks noGrp="1"/>
          </p:cNvGraphicFramePr>
          <p:nvPr>
            <p:extLst>
              <p:ext uri="{D42A27DB-BD31-4B8C-83A1-F6EECF244321}">
                <p14:modId xmlns:p14="http://schemas.microsoft.com/office/powerpoint/2010/main" val="305221667"/>
              </p:ext>
            </p:extLst>
          </p:nvPr>
        </p:nvGraphicFramePr>
        <p:xfrm>
          <a:off x="3599806" y="450275"/>
          <a:ext cx="3114899" cy="3867607"/>
        </p:xfrm>
        <a:graphic>
          <a:graphicData uri="http://schemas.openxmlformats.org/drawingml/2006/table">
            <a:tbl>
              <a:tblPr firstRow="1" bandRow="1">
                <a:tableStyleId>{9D7B26C5-4107-4FEC-AEDC-1716B250A1EF}</a:tableStyleId>
              </a:tblPr>
              <a:tblGrid>
                <a:gridCol w="336364">
                  <a:extLst>
                    <a:ext uri="{9D8B030D-6E8A-4147-A177-3AD203B41FA5}">
                      <a16:colId xmlns:a16="http://schemas.microsoft.com/office/drawing/2014/main" val="2700491385"/>
                    </a:ext>
                  </a:extLst>
                </a:gridCol>
                <a:gridCol w="1889519">
                  <a:extLst>
                    <a:ext uri="{9D8B030D-6E8A-4147-A177-3AD203B41FA5}">
                      <a16:colId xmlns:a16="http://schemas.microsoft.com/office/drawing/2014/main" val="2056339938"/>
                    </a:ext>
                  </a:extLst>
                </a:gridCol>
                <a:gridCol w="889016">
                  <a:extLst>
                    <a:ext uri="{9D8B030D-6E8A-4147-A177-3AD203B41FA5}">
                      <a16:colId xmlns:a16="http://schemas.microsoft.com/office/drawing/2014/main" val="3623192741"/>
                    </a:ext>
                  </a:extLst>
                </a:gridCol>
              </a:tblGrid>
              <a:tr h="239591">
                <a:tc>
                  <a:txBody>
                    <a:bodyPr/>
                    <a:lstStyle/>
                    <a:p>
                      <a:pPr marL="0" indent="0" algn="ctr">
                        <a:tabLst/>
                      </a:pPr>
                      <a:r>
                        <a:rPr lang="pt-BR" sz="800" dirty="0">
                          <a:latin typeface="Arial" panose="020B0604020202020204" pitchFamily="34" charset="0"/>
                          <a:cs typeface="Arial" panose="020B0604020202020204" pitchFamily="34" charset="0"/>
                        </a:rPr>
                        <a:t>Item</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800" b="1" kern="1200" dirty="0">
                          <a:solidFill>
                            <a:schemeClr val="tx1"/>
                          </a:solidFill>
                          <a:latin typeface="Arial" panose="020B0604020202020204" pitchFamily="34" charset="0"/>
                          <a:ea typeface="+mn-ea"/>
                          <a:cs typeface="Arial" panose="020B0604020202020204" pitchFamily="34" charset="0"/>
                        </a:rPr>
                        <a:t>Descrição do componente</a:t>
                      </a:r>
                    </a:p>
                  </a:txBody>
                  <a:tcPr marL="59898" marR="59898" marT="59898" marB="59898"/>
                </a:tc>
                <a:tc>
                  <a:txBody>
                    <a:bodyPr/>
                    <a:lstStyle/>
                    <a:p>
                      <a:pPr marL="0" indent="0" algn="ctr" defTabSz="1043056" rtl="0" eaLnBrk="1" latinLnBrk="0" hangingPunct="1">
                        <a:tabLst/>
                      </a:pPr>
                      <a:r>
                        <a:rPr lang="pt-BR" sz="800" b="1" kern="1200">
                          <a:solidFill>
                            <a:schemeClr val="tx1"/>
                          </a:solidFill>
                          <a:latin typeface="Arial" panose="020B0604020202020204" pitchFamily="34" charset="0"/>
                          <a:ea typeface="+mn-ea"/>
                          <a:cs typeface="Arial" panose="020B0604020202020204" pitchFamily="34" charset="0"/>
                        </a:rPr>
                        <a:t>Modelo</a:t>
                      </a:r>
                      <a:endParaRPr lang="pt-BR" sz="800" b="1" kern="1200" dirty="0">
                        <a:solidFill>
                          <a:schemeClr val="tx1"/>
                        </a:solidFill>
                        <a:latin typeface="Arial" panose="020B0604020202020204" pitchFamily="34" charset="0"/>
                        <a:ea typeface="+mn-ea"/>
                        <a:cs typeface="Arial" panose="020B0604020202020204" pitchFamily="34" charset="0"/>
                      </a:endParaRPr>
                    </a:p>
                  </a:txBody>
                  <a:tcPr marL="59898" marR="59898" marT="59898" marB="59898"/>
                </a:tc>
                <a:extLst>
                  <a:ext uri="{0D108BD9-81ED-4DB2-BD59-A6C34878D82A}">
                    <a16:rowId xmlns:a16="http://schemas.microsoft.com/office/drawing/2014/main" val="1658415043"/>
                  </a:ext>
                </a:extLst>
              </a:tr>
              <a:tr h="319454">
                <a:tc>
                  <a:txBody>
                    <a:bodyPr/>
                    <a:lstStyle/>
                    <a:p>
                      <a:r>
                        <a:rPr lang="pt-BR" sz="700" dirty="0">
                          <a:latin typeface="Arial" panose="020B0604020202020204" pitchFamily="34" charset="0"/>
                          <a:cs typeface="Arial" panose="020B0604020202020204" pitchFamily="34" charset="0"/>
                        </a:rPr>
                        <a:t>36</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Candela 164/k</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p>
                      <a:pPr algn="ctr"/>
                      <a:endParaRPr lang="pt-BR" sz="700" dirty="0">
                        <a:latin typeface="Arial" panose="020B0604020202020204" pitchFamily="34" charset="0"/>
                        <a:cs typeface="Arial" panose="020B0604020202020204" pitchFamily="34" charset="0"/>
                      </a:endParaRPr>
                    </a:p>
                  </a:txBody>
                  <a:tcPr marL="59898" marR="59898" marT="59898" marB="59898"/>
                </a:tc>
                <a:extLst>
                  <a:ext uri="{0D108BD9-81ED-4DB2-BD59-A6C34878D82A}">
                    <a16:rowId xmlns:a16="http://schemas.microsoft.com/office/drawing/2014/main" val="2377117856"/>
                  </a:ext>
                </a:extLst>
              </a:tr>
              <a:tr h="219625">
                <a:tc>
                  <a:txBody>
                    <a:bodyPr/>
                    <a:lstStyle/>
                    <a:p>
                      <a:r>
                        <a:rPr lang="pt-BR" sz="700" dirty="0">
                          <a:latin typeface="Arial" panose="020B0604020202020204" pitchFamily="34" charset="0"/>
                          <a:cs typeface="Arial" panose="020B0604020202020204" pitchFamily="34" charset="0"/>
                        </a:rPr>
                        <a:t>37</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Eletrodo de ignição</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3270933329"/>
                  </a:ext>
                </a:extLst>
              </a:tr>
              <a:tr h="219625">
                <a:tc>
                  <a:txBody>
                    <a:bodyPr/>
                    <a:lstStyle/>
                    <a:p>
                      <a:r>
                        <a:rPr lang="pt-BR" sz="700" dirty="0">
                          <a:latin typeface="Arial" panose="020B0604020202020204" pitchFamily="34" charset="0"/>
                          <a:cs typeface="Arial" panose="020B0604020202020204" pitchFamily="34" charset="0"/>
                        </a:rPr>
                        <a:t>38</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Suporte fixador sensor</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726172683"/>
                  </a:ext>
                </a:extLst>
              </a:tr>
              <a:tr h="219625">
                <a:tc>
                  <a:txBody>
                    <a:bodyPr/>
                    <a:lstStyle/>
                    <a:p>
                      <a:r>
                        <a:rPr lang="pt-BR" sz="700" dirty="0">
                          <a:latin typeface="Arial" panose="020B0604020202020204" pitchFamily="34" charset="0"/>
                          <a:cs typeface="Arial" panose="020B0604020202020204" pitchFamily="34" charset="0"/>
                        </a:rPr>
                        <a:t>39</a:t>
                      </a:r>
                    </a:p>
                  </a:txBody>
                  <a:tcPr marL="59898" marR="59898" marT="59898" marB="59898"/>
                </a:tc>
                <a:tc>
                  <a:txBody>
                    <a:bodyPr/>
                    <a:lstStyle/>
                    <a:p>
                      <a:pPr marL="0" marR="0" indent="0" algn="l" defTabSz="1043056"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Painel Queimador</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34391251"/>
                  </a:ext>
                </a:extLst>
              </a:tr>
              <a:tr h="219625">
                <a:tc>
                  <a:txBody>
                    <a:bodyPr/>
                    <a:lstStyle/>
                    <a:p>
                      <a:r>
                        <a:rPr lang="pt-BR" sz="700" dirty="0">
                          <a:latin typeface="Arial" panose="020B0604020202020204" pitchFamily="34" charset="0"/>
                          <a:cs typeface="Arial" panose="020B0604020202020204" pitchFamily="34" charset="0"/>
                        </a:rPr>
                        <a:t>40</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Queimador do forno turbo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3657311216"/>
                  </a:ext>
                </a:extLst>
              </a:tr>
              <a:tr h="219625">
                <a:tc>
                  <a:txBody>
                    <a:bodyPr/>
                    <a:lstStyle/>
                    <a:p>
                      <a:r>
                        <a:rPr lang="pt-BR" sz="700" dirty="0">
                          <a:latin typeface="Arial" panose="020B0604020202020204" pitchFamily="34" charset="0"/>
                          <a:cs typeface="Arial" panose="020B0604020202020204" pitchFamily="34" charset="0"/>
                        </a:rPr>
                        <a:t>41</a:t>
                      </a:r>
                    </a:p>
                  </a:txBody>
                  <a:tcPr marL="59898" marR="59898" marT="59898" marB="59898"/>
                </a:tc>
                <a:tc>
                  <a:txBody>
                    <a:bodyPr/>
                    <a:lstStyle/>
                    <a:p>
                      <a:pPr marL="0" marR="0" indent="0" algn="l" defTabSz="1076325"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Rodizio Giratório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856392232"/>
                  </a:ext>
                </a:extLst>
              </a:tr>
              <a:tr h="219625">
                <a:tc>
                  <a:txBody>
                    <a:bodyPr/>
                    <a:lstStyle/>
                    <a:p>
                      <a:r>
                        <a:rPr lang="pt-BR" sz="700" dirty="0">
                          <a:latin typeface="Arial" panose="020B0604020202020204" pitchFamily="34" charset="0"/>
                          <a:cs typeface="Arial" panose="020B0604020202020204" pitchFamily="34" charset="0"/>
                        </a:rPr>
                        <a:t>42</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Base do forno turbo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60328315"/>
                  </a:ext>
                </a:extLst>
              </a:tr>
              <a:tr h="219625">
                <a:tc>
                  <a:txBody>
                    <a:bodyPr/>
                    <a:lstStyle/>
                    <a:p>
                      <a:r>
                        <a:rPr lang="pt-BR" sz="700" kern="1200" dirty="0">
                          <a:solidFill>
                            <a:schemeClr val="tx1"/>
                          </a:solidFill>
                          <a:latin typeface="Arial" panose="020B0604020202020204" pitchFamily="34" charset="0"/>
                          <a:ea typeface="+mn-ea"/>
                          <a:cs typeface="Arial" panose="020B0604020202020204" pitchFamily="34" charset="0"/>
                        </a:rPr>
                        <a:t>43</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Cabo </a:t>
                      </a:r>
                      <a:r>
                        <a:rPr lang="pt-BR" sz="700" kern="1200" dirty="0" err="1">
                          <a:solidFill>
                            <a:schemeClr val="tx1"/>
                          </a:solidFill>
                          <a:latin typeface="Arial" panose="020B0604020202020204" pitchFamily="34" charset="0"/>
                          <a:ea typeface="+mn-ea"/>
                          <a:cs typeface="Arial" panose="020B0604020202020204" pitchFamily="34" charset="0"/>
                        </a:rPr>
                        <a:t>Plug</a:t>
                      </a:r>
                      <a:r>
                        <a:rPr lang="pt-BR" sz="700" kern="1200" dirty="0">
                          <a:solidFill>
                            <a:schemeClr val="tx1"/>
                          </a:solidFill>
                          <a:latin typeface="Arial" panose="020B0604020202020204" pitchFamily="34" charset="0"/>
                          <a:ea typeface="+mn-ea"/>
                          <a:cs typeface="Arial" panose="020B0604020202020204" pitchFamily="34" charset="0"/>
                        </a:rPr>
                        <a:t> PP 3 x 2,50mm x 2,0m 20A</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92221427"/>
                  </a:ext>
                </a:extLst>
              </a:tr>
              <a:tr h="268099">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44</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Passa Fio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7364889"/>
                  </a:ext>
                </a:extLst>
              </a:tr>
              <a:tr h="219625">
                <a:tc>
                  <a:txBody>
                    <a:bodyPr/>
                    <a:lstStyle/>
                    <a:p>
                      <a:r>
                        <a:rPr lang="pt-BR" sz="700" dirty="0">
                          <a:latin typeface="Arial" panose="020B0604020202020204" pitchFamily="34" charset="0"/>
                          <a:cs typeface="Arial" panose="020B0604020202020204" pitchFamily="34" charset="0"/>
                        </a:rPr>
                        <a:t>45</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err="1">
                          <a:latin typeface="Arial" panose="020B0604020202020204" pitchFamily="34" charset="0"/>
                          <a:cs typeface="Arial" panose="020B0604020202020204" pitchFamily="34" charset="0"/>
                        </a:rPr>
                        <a:t>Sonalarme</a:t>
                      </a:r>
                      <a:endParaRPr lang="pt-BR" sz="700" dirty="0">
                        <a:latin typeface="Arial" panose="020B0604020202020204" pitchFamily="34" charset="0"/>
                        <a:cs typeface="Arial" panose="020B0604020202020204" pitchFamily="34" charset="0"/>
                      </a:endParaRP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4234614718"/>
                  </a:ext>
                </a:extLst>
              </a:tr>
              <a:tr h="219625">
                <a:tc>
                  <a:txBody>
                    <a:bodyPr/>
                    <a:lstStyle/>
                    <a:p>
                      <a:r>
                        <a:rPr lang="pt-BR" sz="700" dirty="0">
                          <a:latin typeface="Arial" panose="020B0604020202020204" pitchFamily="34" charset="0"/>
                          <a:cs typeface="Arial" panose="020B0604020202020204" pitchFamily="34" charset="0"/>
                        </a:rPr>
                        <a:t>46</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Caixa de Comando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37346248"/>
                  </a:ext>
                </a:extLst>
              </a:tr>
              <a:tr h="219625">
                <a:tc>
                  <a:txBody>
                    <a:bodyPr/>
                    <a:lstStyle/>
                    <a:p>
                      <a:r>
                        <a:rPr lang="pt-BR" sz="700" dirty="0">
                          <a:latin typeface="Arial" panose="020B0604020202020204" pitchFamily="34" charset="0"/>
                          <a:cs typeface="Arial" panose="020B0604020202020204" pitchFamily="34" charset="0"/>
                        </a:rPr>
                        <a:t>47</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Controlador digital</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319691272"/>
                  </a:ext>
                </a:extLst>
              </a:tr>
              <a:tr h="718773">
                <a:tc>
                  <a:txBody>
                    <a:bodyPr/>
                    <a:lstStyle/>
                    <a:p>
                      <a:r>
                        <a:rPr lang="pt-BR" sz="700" dirty="0">
                          <a:latin typeface="Arial" panose="020B0604020202020204" pitchFamily="34" charset="0"/>
                          <a:cs typeface="Arial" panose="020B0604020202020204" pitchFamily="34" charset="0"/>
                        </a:rPr>
                        <a:t>48</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azul 250vca c/capa de silicone</a:t>
                      </a:r>
                    </a:p>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verde 250vca c/capa de silicone</a:t>
                      </a:r>
                    </a:p>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amar. 250vca c/capa de silicone</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648092497"/>
                  </a:ext>
                </a:extLst>
              </a:tr>
            </a:tbl>
          </a:graphicData>
        </a:graphic>
      </p:graphicFrame>
    </p:spTree>
    <p:extLst>
      <p:ext uri="{BB962C8B-B14F-4D97-AF65-F5344CB8AC3E}">
        <p14:creationId xmlns:p14="http://schemas.microsoft.com/office/powerpoint/2010/main" val="341500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aixaDeTexto 13">
            <a:extLst>
              <a:ext uri="{FF2B5EF4-FFF2-40B4-BE49-F238E27FC236}">
                <a16:creationId xmlns:a16="http://schemas.microsoft.com/office/drawing/2014/main" id="{1F673228-8E71-465F-BD2A-0F69D20BE420}"/>
              </a:ext>
            </a:extLst>
          </p:cNvPr>
          <p:cNvSpPr txBox="1"/>
          <p:nvPr/>
        </p:nvSpPr>
        <p:spPr>
          <a:xfrm>
            <a:off x="3183184" y="9575751"/>
            <a:ext cx="495411" cy="273793"/>
          </a:xfrm>
          <a:prstGeom prst="rect">
            <a:avLst/>
          </a:prstGeom>
          <a:noFill/>
        </p:spPr>
        <p:txBody>
          <a:bodyPr wrap="square" rtlCol="0">
            <a:spAutoFit/>
          </a:bodyPr>
          <a:lstStyle/>
          <a:p>
            <a:pPr algn="ctr"/>
            <a:r>
              <a:rPr lang="pt-BR" sz="1179" dirty="0">
                <a:latin typeface="Arial" panose="020B0604020202020204" pitchFamily="34" charset="0"/>
                <a:cs typeface="Arial" panose="020B0604020202020204" pitchFamily="34" charset="0"/>
              </a:rPr>
              <a:t>10</a:t>
            </a:r>
          </a:p>
        </p:txBody>
      </p:sp>
      <p:sp>
        <p:nvSpPr>
          <p:cNvPr id="8" name="Retângulo 7">
            <a:extLst>
              <a:ext uri="{FF2B5EF4-FFF2-40B4-BE49-F238E27FC236}">
                <a16:creationId xmlns:a16="http://schemas.microsoft.com/office/drawing/2014/main" id="{D59F919C-DBA6-4EB2-AEF3-474276DC37B9}"/>
              </a:ext>
            </a:extLst>
          </p:cNvPr>
          <p:cNvSpPr/>
          <p:nvPr/>
        </p:nvSpPr>
        <p:spPr>
          <a:xfrm>
            <a:off x="32860" y="109158"/>
            <a:ext cx="6792280" cy="374590"/>
          </a:xfrm>
          <a:prstGeom prst="rect">
            <a:avLst/>
          </a:prstGeom>
          <a:solidFill>
            <a:schemeClr val="bg1">
              <a:lumMod val="85000"/>
            </a:schemeClr>
          </a:solidFill>
        </p:spPr>
        <p:txBody>
          <a:bodyPr wrap="square" rtlCol="0" anchor="ctr">
            <a:spAutoFit/>
          </a:bodyPr>
          <a:lstStyle/>
          <a:p>
            <a:pPr algn="ctr"/>
            <a:r>
              <a:rPr lang="pt-BR" sz="1834" b="1" dirty="0">
                <a:latin typeface="Arial" panose="020B0604020202020204" pitchFamily="34" charset="0"/>
                <a:cs typeface="Arial" panose="020B0604020202020204" pitchFamily="34" charset="0"/>
              </a:rPr>
              <a:t>TERMO DE GARANTIA</a:t>
            </a:r>
          </a:p>
        </p:txBody>
      </p:sp>
      <p:sp>
        <p:nvSpPr>
          <p:cNvPr id="10" name="CaixaDeTexto 9">
            <a:extLst>
              <a:ext uri="{FF2B5EF4-FFF2-40B4-BE49-F238E27FC236}">
                <a16:creationId xmlns:a16="http://schemas.microsoft.com/office/drawing/2014/main" id="{04E06F2E-75BB-43AB-95F7-94712243D490}"/>
              </a:ext>
            </a:extLst>
          </p:cNvPr>
          <p:cNvSpPr txBox="1"/>
          <p:nvPr/>
        </p:nvSpPr>
        <p:spPr>
          <a:xfrm>
            <a:off x="32856" y="501456"/>
            <a:ext cx="6792280" cy="6780318"/>
          </a:xfrm>
          <a:prstGeom prst="rect">
            <a:avLst/>
          </a:prstGeom>
          <a:noFill/>
        </p:spPr>
        <p:txBody>
          <a:bodyPr wrap="square" rtlCol="0">
            <a:spAutoFit/>
          </a:bodyPr>
          <a:lstStyle/>
          <a:p>
            <a:pPr algn="just"/>
            <a:r>
              <a:rPr lang="pt-BR" sz="1060" dirty="0">
                <a:latin typeface="Arial" panose="020B0604020202020204" pitchFamily="34" charset="0"/>
                <a:cs typeface="Arial" panose="020B0604020202020204" pitchFamily="34" charset="0"/>
              </a:rPr>
              <a:t>Os produtos Só Aço são garantidos pela Só Aço, na forma estabelecida:</a:t>
            </a:r>
          </a:p>
          <a:p>
            <a:pPr algn="just"/>
            <a:endParaRPr lang="pt-BR" sz="1060" dirty="0">
              <a:latin typeface="Arial" panose="020B0604020202020204" pitchFamily="34" charset="0"/>
              <a:cs typeface="Arial" panose="020B0604020202020204" pitchFamily="34" charset="0"/>
            </a:endParaRPr>
          </a:p>
          <a:p>
            <a:pPr marL="176213" indent="-176213" algn="just">
              <a:buAutoNum type="arabicPeriod"/>
            </a:pPr>
            <a:r>
              <a:rPr lang="pt-BR" sz="106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106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106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106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106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106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060" b="1" dirty="0">
                <a:latin typeface="Arial" panose="020B0604020202020204" pitchFamily="34" charset="0"/>
                <a:cs typeface="Arial" panose="020B0604020202020204" pitchFamily="34" charset="0"/>
              </a:rPr>
              <a:t>Observação:</a:t>
            </a:r>
            <a:r>
              <a:rPr lang="pt-BR" sz="106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1060" dirty="0">
              <a:latin typeface="Arial" panose="020B0604020202020204" pitchFamily="34" charset="0"/>
              <a:cs typeface="Arial" panose="020B0604020202020204" pitchFamily="34" charset="0"/>
            </a:endParaRPr>
          </a:p>
          <a:p>
            <a:pPr algn="just"/>
            <a:r>
              <a:rPr lang="pt-BR" sz="1060" b="1" i="1" dirty="0">
                <a:latin typeface="Arial" panose="020B0604020202020204" pitchFamily="34" charset="0"/>
                <a:cs typeface="Arial" panose="020B0604020202020204" pitchFamily="34" charset="0"/>
              </a:rPr>
              <a:t>2. Serviços de Garantia</a:t>
            </a:r>
          </a:p>
          <a:p>
            <a:pPr algn="just"/>
            <a:r>
              <a:rPr lang="pt-BR" sz="106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06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060" b="1" dirty="0">
              <a:latin typeface="Arial" panose="020B0604020202020204" pitchFamily="34" charset="0"/>
              <a:cs typeface="Arial" panose="020B0604020202020204" pitchFamily="34" charset="0"/>
            </a:endParaRPr>
          </a:p>
          <a:p>
            <a:pPr algn="just"/>
            <a:r>
              <a:rPr lang="pt-BR" sz="1060" b="1" dirty="0">
                <a:latin typeface="Arial" panose="020B0604020202020204" pitchFamily="34" charset="0"/>
                <a:cs typeface="Arial" panose="020B0604020202020204" pitchFamily="34" charset="0"/>
              </a:rPr>
              <a:t>3. Extinção da garantia</a:t>
            </a:r>
          </a:p>
          <a:p>
            <a:pPr algn="just"/>
            <a:r>
              <a:rPr lang="pt-BR" sz="106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1060" dirty="0">
                <a:latin typeface="Arial" panose="020B0604020202020204" pitchFamily="34" charset="0"/>
                <a:cs typeface="Arial" panose="020B0604020202020204" pitchFamily="34" charset="0"/>
              </a:rPr>
              <a:t>ATENÇÃO</a:t>
            </a:r>
          </a:p>
          <a:p>
            <a:pPr marL="176213" indent="-176213" algn="just">
              <a:buAutoNum type="alphaLcParenR"/>
            </a:pPr>
            <a:r>
              <a:rPr lang="pt-BR" sz="106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106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106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11" name="Tabela 10">
            <a:extLst>
              <a:ext uri="{FF2B5EF4-FFF2-40B4-BE49-F238E27FC236}">
                <a16:creationId xmlns:a16="http://schemas.microsoft.com/office/drawing/2014/main" id="{2EEB7DED-4CB5-4459-9BF7-2BBC86CC6CAF}"/>
              </a:ext>
            </a:extLst>
          </p:cNvPr>
          <p:cNvGraphicFramePr>
            <a:graphicFrameLocks noGrp="1"/>
          </p:cNvGraphicFramePr>
          <p:nvPr>
            <p:extLst>
              <p:ext uri="{D42A27DB-BD31-4B8C-83A1-F6EECF244321}">
                <p14:modId xmlns:p14="http://schemas.microsoft.com/office/powerpoint/2010/main" val="684941782"/>
              </p:ext>
            </p:extLst>
          </p:nvPr>
        </p:nvGraphicFramePr>
        <p:xfrm>
          <a:off x="57215" y="7386839"/>
          <a:ext cx="6743562" cy="1742625"/>
        </p:xfrm>
        <a:graphic>
          <a:graphicData uri="http://schemas.openxmlformats.org/drawingml/2006/table">
            <a:tbl>
              <a:tblPr firstRow="1" bandRow="1">
                <a:tableStyleId>{2D5ABB26-0587-4C30-8999-92F81FD0307C}</a:tableStyleId>
              </a:tblPr>
              <a:tblGrid>
                <a:gridCol w="1123927">
                  <a:extLst>
                    <a:ext uri="{9D8B030D-6E8A-4147-A177-3AD203B41FA5}">
                      <a16:colId xmlns:a16="http://schemas.microsoft.com/office/drawing/2014/main" val="1713468828"/>
                    </a:ext>
                  </a:extLst>
                </a:gridCol>
                <a:gridCol w="1123927">
                  <a:extLst>
                    <a:ext uri="{9D8B030D-6E8A-4147-A177-3AD203B41FA5}">
                      <a16:colId xmlns:a16="http://schemas.microsoft.com/office/drawing/2014/main" val="2269615378"/>
                    </a:ext>
                  </a:extLst>
                </a:gridCol>
                <a:gridCol w="1123927">
                  <a:extLst>
                    <a:ext uri="{9D8B030D-6E8A-4147-A177-3AD203B41FA5}">
                      <a16:colId xmlns:a16="http://schemas.microsoft.com/office/drawing/2014/main" val="3517463195"/>
                    </a:ext>
                  </a:extLst>
                </a:gridCol>
                <a:gridCol w="1123927">
                  <a:extLst>
                    <a:ext uri="{9D8B030D-6E8A-4147-A177-3AD203B41FA5}">
                      <a16:colId xmlns:a16="http://schemas.microsoft.com/office/drawing/2014/main" val="3012284916"/>
                    </a:ext>
                  </a:extLst>
                </a:gridCol>
                <a:gridCol w="1123927">
                  <a:extLst>
                    <a:ext uri="{9D8B030D-6E8A-4147-A177-3AD203B41FA5}">
                      <a16:colId xmlns:a16="http://schemas.microsoft.com/office/drawing/2014/main" val="3103919278"/>
                    </a:ext>
                  </a:extLst>
                </a:gridCol>
                <a:gridCol w="1123927">
                  <a:extLst>
                    <a:ext uri="{9D8B030D-6E8A-4147-A177-3AD203B41FA5}">
                      <a16:colId xmlns:a16="http://schemas.microsoft.com/office/drawing/2014/main" val="2449578342"/>
                    </a:ext>
                  </a:extLst>
                </a:gridCol>
              </a:tblGrid>
              <a:tr h="415420">
                <a:tc gridSpan="6">
                  <a:txBody>
                    <a:bodyPr/>
                    <a:lstStyle/>
                    <a:p>
                      <a:pPr algn="ctr"/>
                      <a:r>
                        <a:rPr lang="pt-BR" sz="1600" b="1" dirty="0">
                          <a:latin typeface="Arial" panose="020B0604020202020204" pitchFamily="34" charset="0"/>
                          <a:cs typeface="Arial" panose="020B0604020202020204" pitchFamily="34" charset="0"/>
                        </a:rPr>
                        <a:t>Dados necessários para abertura do atendimento</a:t>
                      </a:r>
                      <a:endParaRPr lang="pt-BR" sz="1800" b="1"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496365">
                <a:tc>
                  <a:txBody>
                    <a:bodyPr/>
                    <a:lstStyle/>
                    <a:p>
                      <a:r>
                        <a:rPr lang="pt-BR" sz="1100" dirty="0">
                          <a:latin typeface="Arial" panose="020B0604020202020204" pitchFamily="34" charset="0"/>
                          <a:cs typeface="Arial" panose="020B0604020202020204" pitchFamily="34" charset="0"/>
                        </a:rPr>
                        <a:t>Data de Compra</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Cliente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Estado</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415420">
                <a:tc>
                  <a:txBody>
                    <a:bodyPr/>
                    <a:lstStyle/>
                    <a:p>
                      <a:r>
                        <a:rPr lang="pt-BR" sz="1100" dirty="0">
                          <a:latin typeface="Arial" panose="020B0604020202020204" pitchFamily="34" charset="0"/>
                          <a:cs typeface="Arial" panose="020B0604020202020204" pitchFamily="34" charset="0"/>
                        </a:rPr>
                        <a:t>Nota Fiscal</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100" dirty="0">
                          <a:latin typeface="Arial" panose="020B0604020202020204" pitchFamily="34" charset="0"/>
                          <a:cs typeface="Arial" panose="020B0604020202020204" pitchFamily="34" charset="0"/>
                        </a:rPr>
                        <a:t>Telefone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rial" panose="020B0604020202020204" pitchFamily="34" charset="0"/>
                          <a:cs typeface="Arial" panose="020B0604020202020204" pitchFamily="34" charset="0"/>
                        </a:rPr>
                        <a:t>Endereço</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415420">
                <a:tc>
                  <a:txBody>
                    <a:bodyPr/>
                    <a:lstStyle/>
                    <a:p>
                      <a:r>
                        <a:rPr lang="pt-BR" sz="1100" dirty="0">
                          <a:latin typeface="Arial" panose="020B0604020202020204" pitchFamily="34" charset="0"/>
                          <a:cs typeface="Arial" panose="020B0604020202020204" pitchFamily="34" charset="0"/>
                        </a:rPr>
                        <a:t>Revendedor</a:t>
                      </a:r>
                    </a:p>
                  </a:txBody>
                  <a:tcPr marL="156943" marR="156943" marT="78472" marB="78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Cidade</a:t>
                      </a:r>
                    </a:p>
                  </a:txBody>
                  <a:tcPr marL="156943" marR="156943" marT="78472" marB="78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Série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745526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91A7B154-0A0F-4351-A5AA-3B8916893062}"/>
              </a:ext>
            </a:extLst>
          </p:cNvPr>
          <p:cNvCxnSpPr>
            <a:cxnSpLocks/>
          </p:cNvCxnSpPr>
          <p:nvPr/>
        </p:nvCxnSpPr>
        <p:spPr>
          <a:xfrm>
            <a:off x="86786" y="56456"/>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 name="Conector reto 4">
            <a:extLst>
              <a:ext uri="{FF2B5EF4-FFF2-40B4-BE49-F238E27FC236}">
                <a16:creationId xmlns:a16="http://schemas.microsoft.com/office/drawing/2014/main" id="{2361F0DF-E976-428F-B823-EF3D93BD7402}"/>
              </a:ext>
            </a:extLst>
          </p:cNvPr>
          <p:cNvCxnSpPr>
            <a:cxnSpLocks/>
          </p:cNvCxnSpPr>
          <p:nvPr/>
        </p:nvCxnSpPr>
        <p:spPr>
          <a:xfrm>
            <a:off x="86786" y="489189"/>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Imagem 5">
            <a:extLst>
              <a:ext uri="{FF2B5EF4-FFF2-40B4-BE49-F238E27FC236}">
                <a16:creationId xmlns:a16="http://schemas.microsoft.com/office/drawing/2014/main" id="{B040655D-488A-460D-A96E-060939B29F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96" y="9508153"/>
            <a:ext cx="915445" cy="274332"/>
          </a:xfrm>
          <a:prstGeom prst="rect">
            <a:avLst/>
          </a:prstGeom>
        </p:spPr>
      </p:pic>
      <p:pic>
        <p:nvPicPr>
          <p:cNvPr id="7" name="Imagem 6">
            <a:extLst>
              <a:ext uri="{FF2B5EF4-FFF2-40B4-BE49-F238E27FC236}">
                <a16:creationId xmlns:a16="http://schemas.microsoft.com/office/drawing/2014/main" id="{EE9DD695-CA03-4939-A9BC-3154B1730E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6334" y="9508153"/>
            <a:ext cx="915445" cy="274332"/>
          </a:xfrm>
          <a:prstGeom prst="rect">
            <a:avLst/>
          </a:prstGeom>
        </p:spPr>
      </p:pic>
      <p:pic>
        <p:nvPicPr>
          <p:cNvPr id="8" name="Imagem 7">
            <a:extLst>
              <a:ext uri="{FF2B5EF4-FFF2-40B4-BE49-F238E27FC236}">
                <a16:creationId xmlns:a16="http://schemas.microsoft.com/office/drawing/2014/main" id="{F58402C3-C43C-479F-A24B-7FD4997CE7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94873" y="9508153"/>
            <a:ext cx="915445" cy="274332"/>
          </a:xfrm>
          <a:prstGeom prst="rect">
            <a:avLst/>
          </a:prstGeom>
        </p:spPr>
      </p:pic>
      <p:pic>
        <p:nvPicPr>
          <p:cNvPr id="9" name="Imagem 8">
            <a:extLst>
              <a:ext uri="{FF2B5EF4-FFF2-40B4-BE49-F238E27FC236}">
                <a16:creationId xmlns:a16="http://schemas.microsoft.com/office/drawing/2014/main" id="{3DC516CB-66A7-4A1B-A11C-78971E17FB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3412" y="9508153"/>
            <a:ext cx="915445" cy="274332"/>
          </a:xfrm>
          <a:prstGeom prst="rect">
            <a:avLst/>
          </a:prstGeom>
        </p:spPr>
      </p:pic>
      <p:pic>
        <p:nvPicPr>
          <p:cNvPr id="10" name="Imagem 9">
            <a:extLst>
              <a:ext uri="{FF2B5EF4-FFF2-40B4-BE49-F238E27FC236}">
                <a16:creationId xmlns:a16="http://schemas.microsoft.com/office/drawing/2014/main" id="{CCF5D331-B6F4-4151-B3E3-815AE4802C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1950" y="9508153"/>
            <a:ext cx="915445" cy="274332"/>
          </a:xfrm>
          <a:prstGeom prst="rect">
            <a:avLst/>
          </a:prstGeom>
        </p:spPr>
      </p:pic>
      <p:pic>
        <p:nvPicPr>
          <p:cNvPr id="11" name="Imagem 10">
            <a:extLst>
              <a:ext uri="{FF2B5EF4-FFF2-40B4-BE49-F238E27FC236}">
                <a16:creationId xmlns:a16="http://schemas.microsoft.com/office/drawing/2014/main" id="{5B51C155-8F75-4F23-BEF9-CFB44E735E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0489" y="9508153"/>
            <a:ext cx="915445" cy="274332"/>
          </a:xfrm>
          <a:prstGeom prst="rect">
            <a:avLst/>
          </a:prstGeom>
        </p:spPr>
      </p:pic>
      <p:cxnSp>
        <p:nvCxnSpPr>
          <p:cNvPr id="12" name="Conector reto 11">
            <a:extLst>
              <a:ext uri="{FF2B5EF4-FFF2-40B4-BE49-F238E27FC236}">
                <a16:creationId xmlns:a16="http://schemas.microsoft.com/office/drawing/2014/main" id="{038AF0CB-CC6A-430C-A2E2-951C540FE00E}"/>
              </a:ext>
            </a:extLst>
          </p:cNvPr>
          <p:cNvCxnSpPr>
            <a:cxnSpLocks/>
          </p:cNvCxnSpPr>
          <p:nvPr/>
        </p:nvCxnSpPr>
        <p:spPr>
          <a:xfrm>
            <a:off x="85896" y="9849544"/>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6F6C41A-6AB2-400B-B2CC-AD923F3D1B36}"/>
              </a:ext>
            </a:extLst>
          </p:cNvPr>
          <p:cNvCxnSpPr>
            <a:cxnSpLocks/>
          </p:cNvCxnSpPr>
          <p:nvPr/>
        </p:nvCxnSpPr>
        <p:spPr>
          <a:xfrm>
            <a:off x="85896" y="9478743"/>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3E37197A-2A4E-495A-B680-BD97AC2A8B01}"/>
              </a:ext>
            </a:extLst>
          </p:cNvPr>
          <p:cNvSpPr txBox="1"/>
          <p:nvPr/>
        </p:nvSpPr>
        <p:spPr>
          <a:xfrm>
            <a:off x="280573" y="113914"/>
            <a:ext cx="6226281" cy="374590"/>
          </a:xfrm>
          <a:prstGeom prst="rect">
            <a:avLst/>
          </a:prstGeom>
          <a:noFill/>
        </p:spPr>
        <p:txBody>
          <a:bodyPr wrap="square" rtlCol="0">
            <a:spAutoFit/>
          </a:bodyPr>
          <a:lstStyle>
            <a:defPPr>
              <a:defRPr lang="pt-BR"/>
            </a:defPPr>
            <a:lvl1pPr algn="ctr">
              <a:defRPr sz="2000">
                <a:latin typeface="Bookman Old Style" panose="02050604050505020204" pitchFamily="18" charset="0"/>
              </a:defRPr>
            </a:lvl1pPr>
          </a:lstStyle>
          <a:p>
            <a:pPr defTabSz="1366508">
              <a:defRPr/>
            </a:pPr>
            <a:r>
              <a:rPr lang="pt-BR" sz="1834" b="1" dirty="0">
                <a:ln w="0"/>
                <a:effectLst>
                  <a:outerShdw blurRad="38100" dist="19050" dir="2700000" algn="tl" rotWithShape="0">
                    <a:schemeClr val="dk1">
                      <a:alpha val="40000"/>
                    </a:schemeClr>
                  </a:outerShdw>
                </a:effectLst>
                <a:latin typeface="Monda" pitchFamily="2" charset="0"/>
              </a:rPr>
              <a:t>FORNO INTELIGENTE TURBO A GÁS</a:t>
            </a:r>
          </a:p>
        </p:txBody>
      </p:sp>
      <p:pic>
        <p:nvPicPr>
          <p:cNvPr id="15" name="Imagem 14">
            <a:extLst>
              <a:ext uri="{FF2B5EF4-FFF2-40B4-BE49-F238E27FC236}">
                <a16:creationId xmlns:a16="http://schemas.microsoft.com/office/drawing/2014/main" id="{3EEF02FA-BB86-4C9C-A2D8-5C53AFD860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4" y="560512"/>
            <a:ext cx="1559003" cy="365525"/>
          </a:xfrm>
          <a:prstGeom prst="rect">
            <a:avLst/>
          </a:prstGeom>
        </p:spPr>
      </p:pic>
      <p:pic>
        <p:nvPicPr>
          <p:cNvPr id="16" name="Imagem 15">
            <a:extLst>
              <a:ext uri="{FF2B5EF4-FFF2-40B4-BE49-F238E27FC236}">
                <a16:creationId xmlns:a16="http://schemas.microsoft.com/office/drawing/2014/main" id="{9E489543-ACD1-4015-908C-1F3CDFC07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260" y="560512"/>
            <a:ext cx="1559003" cy="365525"/>
          </a:xfrm>
          <a:prstGeom prst="rect">
            <a:avLst/>
          </a:prstGeom>
        </p:spPr>
      </p:pic>
      <p:pic>
        <p:nvPicPr>
          <p:cNvPr id="17" name="Imagem 16">
            <a:extLst>
              <a:ext uri="{FF2B5EF4-FFF2-40B4-BE49-F238E27FC236}">
                <a16:creationId xmlns:a16="http://schemas.microsoft.com/office/drawing/2014/main" id="{522EACDC-6FFB-4E1B-B243-02F9055A06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7567" y="560512"/>
            <a:ext cx="1559003" cy="365525"/>
          </a:xfrm>
          <a:prstGeom prst="rect">
            <a:avLst/>
          </a:prstGeom>
        </p:spPr>
      </p:pic>
      <p:pic>
        <p:nvPicPr>
          <p:cNvPr id="18" name="Imagem 17">
            <a:extLst>
              <a:ext uri="{FF2B5EF4-FFF2-40B4-BE49-F238E27FC236}">
                <a16:creationId xmlns:a16="http://schemas.microsoft.com/office/drawing/2014/main" id="{0853B6A7-F7FE-48E7-9FA1-107911ABFD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0874" y="560512"/>
            <a:ext cx="1559003" cy="365525"/>
          </a:xfrm>
          <a:prstGeom prst="rect">
            <a:avLst/>
          </a:prstGeom>
        </p:spPr>
      </p:pic>
      <p:pic>
        <p:nvPicPr>
          <p:cNvPr id="19" name="Imagem 18">
            <a:extLst>
              <a:ext uri="{FF2B5EF4-FFF2-40B4-BE49-F238E27FC236}">
                <a16:creationId xmlns:a16="http://schemas.microsoft.com/office/drawing/2014/main" id="{90367FA2-E5F2-4940-A458-ECDBC252FE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07" y="947941"/>
            <a:ext cx="1559003" cy="365525"/>
          </a:xfrm>
          <a:prstGeom prst="rect">
            <a:avLst/>
          </a:prstGeom>
        </p:spPr>
      </p:pic>
      <p:pic>
        <p:nvPicPr>
          <p:cNvPr id="20" name="Imagem 19">
            <a:extLst>
              <a:ext uri="{FF2B5EF4-FFF2-40B4-BE49-F238E27FC236}">
                <a16:creationId xmlns:a16="http://schemas.microsoft.com/office/drawing/2014/main" id="{D3EFBA9E-2B9E-4E0C-B55D-BF04013E42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3313" y="947941"/>
            <a:ext cx="1559003" cy="365525"/>
          </a:xfrm>
          <a:prstGeom prst="rect">
            <a:avLst/>
          </a:prstGeom>
        </p:spPr>
      </p:pic>
      <p:pic>
        <p:nvPicPr>
          <p:cNvPr id="21" name="Imagem 20">
            <a:extLst>
              <a:ext uri="{FF2B5EF4-FFF2-40B4-BE49-F238E27FC236}">
                <a16:creationId xmlns:a16="http://schemas.microsoft.com/office/drawing/2014/main" id="{52A5CD2B-D84F-47CB-83CA-F158B490D0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6620" y="947941"/>
            <a:ext cx="1559003" cy="365525"/>
          </a:xfrm>
          <a:prstGeom prst="rect">
            <a:avLst/>
          </a:prstGeom>
        </p:spPr>
      </p:pic>
      <p:pic>
        <p:nvPicPr>
          <p:cNvPr id="22" name="Imagem 21">
            <a:extLst>
              <a:ext uri="{FF2B5EF4-FFF2-40B4-BE49-F238E27FC236}">
                <a16:creationId xmlns:a16="http://schemas.microsoft.com/office/drawing/2014/main" id="{557E26BB-D3E3-42CA-9235-1EA24AF308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9927" y="947941"/>
            <a:ext cx="1559003" cy="365525"/>
          </a:xfrm>
          <a:prstGeom prst="rect">
            <a:avLst/>
          </a:prstGeom>
        </p:spPr>
      </p:pic>
      <p:pic>
        <p:nvPicPr>
          <p:cNvPr id="23" name="Imagem 22">
            <a:extLst>
              <a:ext uri="{FF2B5EF4-FFF2-40B4-BE49-F238E27FC236}">
                <a16:creationId xmlns:a16="http://schemas.microsoft.com/office/drawing/2014/main" id="{06558AB2-15AF-43B8-8AE1-317EAB337E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39" y="1376398"/>
            <a:ext cx="1559003" cy="365525"/>
          </a:xfrm>
          <a:prstGeom prst="rect">
            <a:avLst/>
          </a:prstGeom>
        </p:spPr>
      </p:pic>
      <p:pic>
        <p:nvPicPr>
          <p:cNvPr id="24" name="Imagem 23">
            <a:extLst>
              <a:ext uri="{FF2B5EF4-FFF2-40B4-BE49-F238E27FC236}">
                <a16:creationId xmlns:a16="http://schemas.microsoft.com/office/drawing/2014/main" id="{072BD65A-DE6D-4480-930F-5831467B23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3545" y="1376398"/>
            <a:ext cx="1559003" cy="365525"/>
          </a:xfrm>
          <a:prstGeom prst="rect">
            <a:avLst/>
          </a:prstGeom>
        </p:spPr>
      </p:pic>
      <p:pic>
        <p:nvPicPr>
          <p:cNvPr id="25" name="Imagem 24">
            <a:extLst>
              <a:ext uri="{FF2B5EF4-FFF2-40B4-BE49-F238E27FC236}">
                <a16:creationId xmlns:a16="http://schemas.microsoft.com/office/drawing/2014/main" id="{819057CA-C372-4F35-876E-B13FED61AF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6851" y="1376398"/>
            <a:ext cx="1559003" cy="365525"/>
          </a:xfrm>
          <a:prstGeom prst="rect">
            <a:avLst/>
          </a:prstGeom>
        </p:spPr>
      </p:pic>
      <p:pic>
        <p:nvPicPr>
          <p:cNvPr id="26" name="Imagem 25">
            <a:extLst>
              <a:ext uri="{FF2B5EF4-FFF2-40B4-BE49-F238E27FC236}">
                <a16:creationId xmlns:a16="http://schemas.microsoft.com/office/drawing/2014/main" id="{06CE8CD4-A993-4BD2-8779-9AF3A2E1F5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0159" y="1376398"/>
            <a:ext cx="1559003" cy="365525"/>
          </a:xfrm>
          <a:prstGeom prst="rect">
            <a:avLst/>
          </a:prstGeom>
        </p:spPr>
      </p:pic>
      <p:pic>
        <p:nvPicPr>
          <p:cNvPr id="27" name="Imagem 26">
            <a:extLst>
              <a:ext uri="{FF2B5EF4-FFF2-40B4-BE49-F238E27FC236}">
                <a16:creationId xmlns:a16="http://schemas.microsoft.com/office/drawing/2014/main" id="{3F92CD3E-12B7-4C53-8101-96E3D80064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33" y="1798497"/>
            <a:ext cx="1559003" cy="365525"/>
          </a:xfrm>
          <a:prstGeom prst="rect">
            <a:avLst/>
          </a:prstGeom>
        </p:spPr>
      </p:pic>
      <p:pic>
        <p:nvPicPr>
          <p:cNvPr id="28" name="Imagem 27">
            <a:extLst>
              <a:ext uri="{FF2B5EF4-FFF2-40B4-BE49-F238E27FC236}">
                <a16:creationId xmlns:a16="http://schemas.microsoft.com/office/drawing/2014/main" id="{6A50CE9E-7B10-47ED-99F7-49E7150D53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7840" y="1798497"/>
            <a:ext cx="1559003" cy="365525"/>
          </a:xfrm>
          <a:prstGeom prst="rect">
            <a:avLst/>
          </a:prstGeom>
        </p:spPr>
      </p:pic>
      <p:pic>
        <p:nvPicPr>
          <p:cNvPr id="29" name="Imagem 28">
            <a:extLst>
              <a:ext uri="{FF2B5EF4-FFF2-40B4-BE49-F238E27FC236}">
                <a16:creationId xmlns:a16="http://schemas.microsoft.com/office/drawing/2014/main" id="{331C798A-9D27-44C6-B684-87205EE581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1146" y="1798497"/>
            <a:ext cx="1559003" cy="365525"/>
          </a:xfrm>
          <a:prstGeom prst="rect">
            <a:avLst/>
          </a:prstGeom>
        </p:spPr>
      </p:pic>
      <p:pic>
        <p:nvPicPr>
          <p:cNvPr id="30" name="Imagem 29">
            <a:extLst>
              <a:ext uri="{FF2B5EF4-FFF2-40B4-BE49-F238E27FC236}">
                <a16:creationId xmlns:a16="http://schemas.microsoft.com/office/drawing/2014/main" id="{5435646F-8A41-471A-8364-5D211E03E7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4454" y="1798497"/>
            <a:ext cx="1559003" cy="365525"/>
          </a:xfrm>
          <a:prstGeom prst="rect">
            <a:avLst/>
          </a:prstGeom>
        </p:spPr>
      </p:pic>
      <p:pic>
        <p:nvPicPr>
          <p:cNvPr id="31" name="Imagem 30">
            <a:extLst>
              <a:ext uri="{FF2B5EF4-FFF2-40B4-BE49-F238E27FC236}">
                <a16:creationId xmlns:a16="http://schemas.microsoft.com/office/drawing/2014/main" id="{A997F1EB-2F9D-403C-AF62-58FA1FF1E2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86" y="2226955"/>
            <a:ext cx="1559003" cy="365525"/>
          </a:xfrm>
          <a:prstGeom prst="rect">
            <a:avLst/>
          </a:prstGeom>
        </p:spPr>
      </p:pic>
      <p:pic>
        <p:nvPicPr>
          <p:cNvPr id="32" name="Imagem 31">
            <a:extLst>
              <a:ext uri="{FF2B5EF4-FFF2-40B4-BE49-F238E27FC236}">
                <a16:creationId xmlns:a16="http://schemas.microsoft.com/office/drawing/2014/main" id="{BC699CDE-09A2-453B-8D37-5C493ED128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6892" y="2226955"/>
            <a:ext cx="1559003" cy="365525"/>
          </a:xfrm>
          <a:prstGeom prst="rect">
            <a:avLst/>
          </a:prstGeom>
        </p:spPr>
      </p:pic>
      <p:pic>
        <p:nvPicPr>
          <p:cNvPr id="33" name="Imagem 32">
            <a:extLst>
              <a:ext uri="{FF2B5EF4-FFF2-40B4-BE49-F238E27FC236}">
                <a16:creationId xmlns:a16="http://schemas.microsoft.com/office/drawing/2014/main" id="{16C43270-E2D7-4AB4-A571-A89F5B43C3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0199" y="2226955"/>
            <a:ext cx="1559003" cy="365525"/>
          </a:xfrm>
          <a:prstGeom prst="rect">
            <a:avLst/>
          </a:prstGeom>
        </p:spPr>
      </p:pic>
      <p:pic>
        <p:nvPicPr>
          <p:cNvPr id="34" name="Imagem 33">
            <a:extLst>
              <a:ext uri="{FF2B5EF4-FFF2-40B4-BE49-F238E27FC236}">
                <a16:creationId xmlns:a16="http://schemas.microsoft.com/office/drawing/2014/main" id="{8D2EFDDD-06D0-477E-AA5C-24D0D6054F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3506" y="2226955"/>
            <a:ext cx="1559003" cy="365525"/>
          </a:xfrm>
          <a:prstGeom prst="rect">
            <a:avLst/>
          </a:prstGeom>
        </p:spPr>
      </p:pic>
      <p:pic>
        <p:nvPicPr>
          <p:cNvPr id="35" name="Imagem 34">
            <a:extLst>
              <a:ext uri="{FF2B5EF4-FFF2-40B4-BE49-F238E27FC236}">
                <a16:creationId xmlns:a16="http://schemas.microsoft.com/office/drawing/2014/main" id="{22AF0834-4AC4-4302-8863-74C6A27B3D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18" y="2655412"/>
            <a:ext cx="1559003" cy="365525"/>
          </a:xfrm>
          <a:prstGeom prst="rect">
            <a:avLst/>
          </a:prstGeom>
        </p:spPr>
      </p:pic>
      <p:pic>
        <p:nvPicPr>
          <p:cNvPr id="36" name="Imagem 35">
            <a:extLst>
              <a:ext uri="{FF2B5EF4-FFF2-40B4-BE49-F238E27FC236}">
                <a16:creationId xmlns:a16="http://schemas.microsoft.com/office/drawing/2014/main" id="{DAE9EEEB-D94F-4A30-A146-69952EA8D6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7124" y="2655412"/>
            <a:ext cx="1559003" cy="365525"/>
          </a:xfrm>
          <a:prstGeom prst="rect">
            <a:avLst/>
          </a:prstGeom>
        </p:spPr>
      </p:pic>
      <p:pic>
        <p:nvPicPr>
          <p:cNvPr id="37" name="Imagem 36">
            <a:extLst>
              <a:ext uri="{FF2B5EF4-FFF2-40B4-BE49-F238E27FC236}">
                <a16:creationId xmlns:a16="http://schemas.microsoft.com/office/drawing/2014/main" id="{AB616972-745B-4655-B14F-E934303F8C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431" y="2655412"/>
            <a:ext cx="1559003" cy="365525"/>
          </a:xfrm>
          <a:prstGeom prst="rect">
            <a:avLst/>
          </a:prstGeom>
        </p:spPr>
      </p:pic>
      <p:pic>
        <p:nvPicPr>
          <p:cNvPr id="38" name="Imagem 37">
            <a:extLst>
              <a:ext uri="{FF2B5EF4-FFF2-40B4-BE49-F238E27FC236}">
                <a16:creationId xmlns:a16="http://schemas.microsoft.com/office/drawing/2014/main" id="{5FA8D8A0-F7E0-4F2F-B1F8-8F35AF374D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3738" y="2655412"/>
            <a:ext cx="1559003" cy="365525"/>
          </a:xfrm>
          <a:prstGeom prst="rect">
            <a:avLst/>
          </a:prstGeom>
        </p:spPr>
      </p:pic>
      <p:pic>
        <p:nvPicPr>
          <p:cNvPr id="39" name="Imagem 38">
            <a:extLst>
              <a:ext uri="{FF2B5EF4-FFF2-40B4-BE49-F238E27FC236}">
                <a16:creationId xmlns:a16="http://schemas.microsoft.com/office/drawing/2014/main" id="{1E49DC9E-76B7-4AEC-BC12-50AD077374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07" y="3079910"/>
            <a:ext cx="1559003" cy="365525"/>
          </a:xfrm>
          <a:prstGeom prst="rect">
            <a:avLst/>
          </a:prstGeom>
        </p:spPr>
      </p:pic>
      <p:pic>
        <p:nvPicPr>
          <p:cNvPr id="40" name="Imagem 39">
            <a:extLst>
              <a:ext uri="{FF2B5EF4-FFF2-40B4-BE49-F238E27FC236}">
                <a16:creationId xmlns:a16="http://schemas.microsoft.com/office/drawing/2014/main" id="{E76C59B4-23F6-4B8E-8173-66B822BAEF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3313" y="3079910"/>
            <a:ext cx="1559003" cy="365525"/>
          </a:xfrm>
          <a:prstGeom prst="rect">
            <a:avLst/>
          </a:prstGeom>
        </p:spPr>
      </p:pic>
      <p:pic>
        <p:nvPicPr>
          <p:cNvPr id="41" name="Imagem 40">
            <a:extLst>
              <a:ext uri="{FF2B5EF4-FFF2-40B4-BE49-F238E27FC236}">
                <a16:creationId xmlns:a16="http://schemas.microsoft.com/office/drawing/2014/main" id="{A7E75C2D-47D1-44E4-AEA1-DE0ED1D1DF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6620" y="3079910"/>
            <a:ext cx="1559003" cy="365525"/>
          </a:xfrm>
          <a:prstGeom prst="rect">
            <a:avLst/>
          </a:prstGeom>
        </p:spPr>
      </p:pic>
      <p:pic>
        <p:nvPicPr>
          <p:cNvPr id="42" name="Imagem 41">
            <a:extLst>
              <a:ext uri="{FF2B5EF4-FFF2-40B4-BE49-F238E27FC236}">
                <a16:creationId xmlns:a16="http://schemas.microsoft.com/office/drawing/2014/main" id="{D477DC77-2D2B-47A5-90EF-356DB729F1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9927" y="3079910"/>
            <a:ext cx="1559003" cy="365525"/>
          </a:xfrm>
          <a:prstGeom prst="rect">
            <a:avLst/>
          </a:prstGeom>
        </p:spPr>
      </p:pic>
      <p:pic>
        <p:nvPicPr>
          <p:cNvPr id="43" name="Imagem 42">
            <a:extLst>
              <a:ext uri="{FF2B5EF4-FFF2-40B4-BE49-F238E27FC236}">
                <a16:creationId xmlns:a16="http://schemas.microsoft.com/office/drawing/2014/main" id="{8FC5D8E5-79C8-46D0-AF74-C583217923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60" y="3508367"/>
            <a:ext cx="1559003" cy="365525"/>
          </a:xfrm>
          <a:prstGeom prst="rect">
            <a:avLst/>
          </a:prstGeom>
        </p:spPr>
      </p:pic>
      <p:pic>
        <p:nvPicPr>
          <p:cNvPr id="44" name="Imagem 43">
            <a:extLst>
              <a:ext uri="{FF2B5EF4-FFF2-40B4-BE49-F238E27FC236}">
                <a16:creationId xmlns:a16="http://schemas.microsoft.com/office/drawing/2014/main" id="{7A7F3925-A3BC-4F4C-B490-1DA172E25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366" y="3508367"/>
            <a:ext cx="1559003" cy="365525"/>
          </a:xfrm>
          <a:prstGeom prst="rect">
            <a:avLst/>
          </a:prstGeom>
        </p:spPr>
      </p:pic>
      <p:pic>
        <p:nvPicPr>
          <p:cNvPr id="45" name="Imagem 44">
            <a:extLst>
              <a:ext uri="{FF2B5EF4-FFF2-40B4-BE49-F238E27FC236}">
                <a16:creationId xmlns:a16="http://schemas.microsoft.com/office/drawing/2014/main" id="{7B164F12-462A-4597-99DF-AE02E7975E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5672" y="3508367"/>
            <a:ext cx="1559003" cy="365525"/>
          </a:xfrm>
          <a:prstGeom prst="rect">
            <a:avLst/>
          </a:prstGeom>
        </p:spPr>
      </p:pic>
      <p:pic>
        <p:nvPicPr>
          <p:cNvPr id="46" name="Imagem 45">
            <a:extLst>
              <a:ext uri="{FF2B5EF4-FFF2-40B4-BE49-F238E27FC236}">
                <a16:creationId xmlns:a16="http://schemas.microsoft.com/office/drawing/2014/main" id="{44E05728-2964-4A4A-81CE-DE2B78E03A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980" y="3508367"/>
            <a:ext cx="1559003" cy="365525"/>
          </a:xfrm>
          <a:prstGeom prst="rect">
            <a:avLst/>
          </a:prstGeom>
        </p:spPr>
      </p:pic>
      <p:pic>
        <p:nvPicPr>
          <p:cNvPr id="47" name="Imagem 46">
            <a:extLst>
              <a:ext uri="{FF2B5EF4-FFF2-40B4-BE49-F238E27FC236}">
                <a16:creationId xmlns:a16="http://schemas.microsoft.com/office/drawing/2014/main" id="{858E436B-47C6-41EF-B10E-10E5CED57C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91" y="3936825"/>
            <a:ext cx="1559003" cy="365525"/>
          </a:xfrm>
          <a:prstGeom prst="rect">
            <a:avLst/>
          </a:prstGeom>
        </p:spPr>
      </p:pic>
      <p:pic>
        <p:nvPicPr>
          <p:cNvPr id="48" name="Imagem 47">
            <a:extLst>
              <a:ext uri="{FF2B5EF4-FFF2-40B4-BE49-F238E27FC236}">
                <a16:creationId xmlns:a16="http://schemas.microsoft.com/office/drawing/2014/main" id="{17ADF0E0-F108-4F04-85E0-9ED8D2F64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2598" y="3936825"/>
            <a:ext cx="1559003" cy="365525"/>
          </a:xfrm>
          <a:prstGeom prst="rect">
            <a:avLst/>
          </a:prstGeom>
        </p:spPr>
      </p:pic>
      <p:pic>
        <p:nvPicPr>
          <p:cNvPr id="49" name="Imagem 48">
            <a:extLst>
              <a:ext uri="{FF2B5EF4-FFF2-40B4-BE49-F238E27FC236}">
                <a16:creationId xmlns:a16="http://schemas.microsoft.com/office/drawing/2014/main" id="{26897C1B-6919-422B-AA93-94C31789C2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5904" y="3936825"/>
            <a:ext cx="1559003" cy="365525"/>
          </a:xfrm>
          <a:prstGeom prst="rect">
            <a:avLst/>
          </a:prstGeom>
        </p:spPr>
      </p:pic>
      <p:pic>
        <p:nvPicPr>
          <p:cNvPr id="50" name="Imagem 49">
            <a:extLst>
              <a:ext uri="{FF2B5EF4-FFF2-40B4-BE49-F238E27FC236}">
                <a16:creationId xmlns:a16="http://schemas.microsoft.com/office/drawing/2014/main" id="{D5C03C5D-28FC-40A2-AE9E-A1EF83C3BD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9212" y="3936825"/>
            <a:ext cx="1559003" cy="365525"/>
          </a:xfrm>
          <a:prstGeom prst="rect">
            <a:avLst/>
          </a:prstGeom>
        </p:spPr>
      </p:pic>
      <p:pic>
        <p:nvPicPr>
          <p:cNvPr id="51" name="Imagem 50">
            <a:extLst>
              <a:ext uri="{FF2B5EF4-FFF2-40B4-BE49-F238E27FC236}">
                <a16:creationId xmlns:a16="http://schemas.microsoft.com/office/drawing/2014/main" id="{969D8284-3AF3-4438-9D94-1BC385586B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86" y="4358924"/>
            <a:ext cx="1559003" cy="365525"/>
          </a:xfrm>
          <a:prstGeom prst="rect">
            <a:avLst/>
          </a:prstGeom>
        </p:spPr>
      </p:pic>
      <p:pic>
        <p:nvPicPr>
          <p:cNvPr id="52" name="Imagem 51">
            <a:extLst>
              <a:ext uri="{FF2B5EF4-FFF2-40B4-BE49-F238E27FC236}">
                <a16:creationId xmlns:a16="http://schemas.microsoft.com/office/drawing/2014/main" id="{452AC714-E1CD-46A6-92B2-637668FB6E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6892" y="4358924"/>
            <a:ext cx="1559003" cy="365525"/>
          </a:xfrm>
          <a:prstGeom prst="rect">
            <a:avLst/>
          </a:prstGeom>
        </p:spPr>
      </p:pic>
      <p:pic>
        <p:nvPicPr>
          <p:cNvPr id="53" name="Imagem 52">
            <a:extLst>
              <a:ext uri="{FF2B5EF4-FFF2-40B4-BE49-F238E27FC236}">
                <a16:creationId xmlns:a16="http://schemas.microsoft.com/office/drawing/2014/main" id="{C995A533-517C-4767-80E5-03A86E5AE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0199" y="4358924"/>
            <a:ext cx="1559003" cy="365525"/>
          </a:xfrm>
          <a:prstGeom prst="rect">
            <a:avLst/>
          </a:prstGeom>
        </p:spPr>
      </p:pic>
      <p:pic>
        <p:nvPicPr>
          <p:cNvPr id="54" name="Imagem 53">
            <a:extLst>
              <a:ext uri="{FF2B5EF4-FFF2-40B4-BE49-F238E27FC236}">
                <a16:creationId xmlns:a16="http://schemas.microsoft.com/office/drawing/2014/main" id="{8612BCDD-EAD1-45FB-80AB-FDCA1B988A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3506" y="4358924"/>
            <a:ext cx="1559003" cy="365525"/>
          </a:xfrm>
          <a:prstGeom prst="rect">
            <a:avLst/>
          </a:prstGeom>
        </p:spPr>
      </p:pic>
      <p:pic>
        <p:nvPicPr>
          <p:cNvPr id="55" name="Imagem 54">
            <a:extLst>
              <a:ext uri="{FF2B5EF4-FFF2-40B4-BE49-F238E27FC236}">
                <a16:creationId xmlns:a16="http://schemas.microsoft.com/office/drawing/2014/main" id="{34BC7930-5074-4E40-8E22-7D58C3F32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39" y="4787381"/>
            <a:ext cx="1559003" cy="365525"/>
          </a:xfrm>
          <a:prstGeom prst="rect">
            <a:avLst/>
          </a:prstGeom>
        </p:spPr>
      </p:pic>
      <p:pic>
        <p:nvPicPr>
          <p:cNvPr id="56" name="Imagem 55">
            <a:extLst>
              <a:ext uri="{FF2B5EF4-FFF2-40B4-BE49-F238E27FC236}">
                <a16:creationId xmlns:a16="http://schemas.microsoft.com/office/drawing/2014/main" id="{1033DE65-DCC9-4A03-BF15-B3E15982B8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945" y="4787381"/>
            <a:ext cx="1559003" cy="365525"/>
          </a:xfrm>
          <a:prstGeom prst="rect">
            <a:avLst/>
          </a:prstGeom>
        </p:spPr>
      </p:pic>
      <p:pic>
        <p:nvPicPr>
          <p:cNvPr id="57" name="Imagem 56">
            <a:extLst>
              <a:ext uri="{FF2B5EF4-FFF2-40B4-BE49-F238E27FC236}">
                <a16:creationId xmlns:a16="http://schemas.microsoft.com/office/drawing/2014/main" id="{F11698C0-B7B6-4320-BE46-41B960CAF7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9252" y="4787381"/>
            <a:ext cx="1559003" cy="365525"/>
          </a:xfrm>
          <a:prstGeom prst="rect">
            <a:avLst/>
          </a:prstGeom>
        </p:spPr>
      </p:pic>
      <p:pic>
        <p:nvPicPr>
          <p:cNvPr id="58" name="Imagem 57">
            <a:extLst>
              <a:ext uri="{FF2B5EF4-FFF2-40B4-BE49-F238E27FC236}">
                <a16:creationId xmlns:a16="http://schemas.microsoft.com/office/drawing/2014/main" id="{99B7573E-9683-4284-9F7A-68319AAAC3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2559" y="4787381"/>
            <a:ext cx="1559003" cy="365525"/>
          </a:xfrm>
          <a:prstGeom prst="rect">
            <a:avLst/>
          </a:prstGeom>
        </p:spPr>
      </p:pic>
      <p:pic>
        <p:nvPicPr>
          <p:cNvPr id="59" name="Imagem 58">
            <a:extLst>
              <a:ext uri="{FF2B5EF4-FFF2-40B4-BE49-F238E27FC236}">
                <a16:creationId xmlns:a16="http://schemas.microsoft.com/office/drawing/2014/main" id="{CD968BE2-0743-4EEF-BB02-48B381B7A5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71" y="5215839"/>
            <a:ext cx="1559003" cy="365525"/>
          </a:xfrm>
          <a:prstGeom prst="rect">
            <a:avLst/>
          </a:prstGeom>
        </p:spPr>
      </p:pic>
      <p:pic>
        <p:nvPicPr>
          <p:cNvPr id="60" name="Imagem 59">
            <a:extLst>
              <a:ext uri="{FF2B5EF4-FFF2-40B4-BE49-F238E27FC236}">
                <a16:creationId xmlns:a16="http://schemas.microsoft.com/office/drawing/2014/main" id="{4B2EB7DE-2478-405E-B771-6B1BB759E4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6177" y="5215839"/>
            <a:ext cx="1559003" cy="365525"/>
          </a:xfrm>
          <a:prstGeom prst="rect">
            <a:avLst/>
          </a:prstGeom>
        </p:spPr>
      </p:pic>
      <p:pic>
        <p:nvPicPr>
          <p:cNvPr id="61" name="Imagem 60">
            <a:extLst>
              <a:ext uri="{FF2B5EF4-FFF2-40B4-BE49-F238E27FC236}">
                <a16:creationId xmlns:a16="http://schemas.microsoft.com/office/drawing/2014/main" id="{F6E34796-FFAF-4CAB-ADD0-563473FF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9483" y="5215839"/>
            <a:ext cx="1559003" cy="365525"/>
          </a:xfrm>
          <a:prstGeom prst="rect">
            <a:avLst/>
          </a:prstGeom>
        </p:spPr>
      </p:pic>
      <p:pic>
        <p:nvPicPr>
          <p:cNvPr id="62" name="Imagem 61">
            <a:extLst>
              <a:ext uri="{FF2B5EF4-FFF2-40B4-BE49-F238E27FC236}">
                <a16:creationId xmlns:a16="http://schemas.microsoft.com/office/drawing/2014/main" id="{A0C068B3-9619-4590-ABD9-BDFA6BEC49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2791" y="5215839"/>
            <a:ext cx="1559003" cy="365525"/>
          </a:xfrm>
          <a:prstGeom prst="rect">
            <a:avLst/>
          </a:prstGeom>
        </p:spPr>
      </p:pic>
      <p:pic>
        <p:nvPicPr>
          <p:cNvPr id="63" name="Imagem 62">
            <a:extLst>
              <a:ext uri="{FF2B5EF4-FFF2-40B4-BE49-F238E27FC236}">
                <a16:creationId xmlns:a16="http://schemas.microsoft.com/office/drawing/2014/main" id="{ED6DCAC7-7FFF-4752-842C-AF32FB20E2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60" y="5665927"/>
            <a:ext cx="1559003" cy="365525"/>
          </a:xfrm>
          <a:prstGeom prst="rect">
            <a:avLst/>
          </a:prstGeom>
        </p:spPr>
      </p:pic>
      <p:pic>
        <p:nvPicPr>
          <p:cNvPr id="64" name="Imagem 63">
            <a:extLst>
              <a:ext uri="{FF2B5EF4-FFF2-40B4-BE49-F238E27FC236}">
                <a16:creationId xmlns:a16="http://schemas.microsoft.com/office/drawing/2014/main" id="{859CA6E3-859B-4C6B-8409-C7D3C3A67E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366" y="5665927"/>
            <a:ext cx="1559003" cy="365525"/>
          </a:xfrm>
          <a:prstGeom prst="rect">
            <a:avLst/>
          </a:prstGeom>
        </p:spPr>
      </p:pic>
      <p:pic>
        <p:nvPicPr>
          <p:cNvPr id="65" name="Imagem 64">
            <a:extLst>
              <a:ext uri="{FF2B5EF4-FFF2-40B4-BE49-F238E27FC236}">
                <a16:creationId xmlns:a16="http://schemas.microsoft.com/office/drawing/2014/main" id="{912604E4-C8CE-4C53-9251-49587D2D97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5672" y="5665927"/>
            <a:ext cx="1559003" cy="365525"/>
          </a:xfrm>
          <a:prstGeom prst="rect">
            <a:avLst/>
          </a:prstGeom>
        </p:spPr>
      </p:pic>
      <p:pic>
        <p:nvPicPr>
          <p:cNvPr id="66" name="Imagem 65">
            <a:extLst>
              <a:ext uri="{FF2B5EF4-FFF2-40B4-BE49-F238E27FC236}">
                <a16:creationId xmlns:a16="http://schemas.microsoft.com/office/drawing/2014/main" id="{F9C26FF7-0844-4948-A150-82DD982336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980" y="5665927"/>
            <a:ext cx="1559003" cy="365525"/>
          </a:xfrm>
          <a:prstGeom prst="rect">
            <a:avLst/>
          </a:prstGeom>
        </p:spPr>
      </p:pic>
      <p:pic>
        <p:nvPicPr>
          <p:cNvPr id="67" name="Imagem 66">
            <a:extLst>
              <a:ext uri="{FF2B5EF4-FFF2-40B4-BE49-F238E27FC236}">
                <a16:creationId xmlns:a16="http://schemas.microsoft.com/office/drawing/2014/main" id="{64603B78-77DC-4103-8015-AEC43FB3B6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12" y="6094384"/>
            <a:ext cx="1559003" cy="365525"/>
          </a:xfrm>
          <a:prstGeom prst="rect">
            <a:avLst/>
          </a:prstGeom>
        </p:spPr>
      </p:pic>
      <p:pic>
        <p:nvPicPr>
          <p:cNvPr id="68" name="Imagem 67">
            <a:extLst>
              <a:ext uri="{FF2B5EF4-FFF2-40B4-BE49-F238E27FC236}">
                <a16:creationId xmlns:a16="http://schemas.microsoft.com/office/drawing/2014/main" id="{5A8D1207-CF3B-4863-869C-CB2D9B946A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1419" y="6094384"/>
            <a:ext cx="1559003" cy="365525"/>
          </a:xfrm>
          <a:prstGeom prst="rect">
            <a:avLst/>
          </a:prstGeom>
        </p:spPr>
      </p:pic>
      <p:pic>
        <p:nvPicPr>
          <p:cNvPr id="69" name="Imagem 68">
            <a:extLst>
              <a:ext uri="{FF2B5EF4-FFF2-40B4-BE49-F238E27FC236}">
                <a16:creationId xmlns:a16="http://schemas.microsoft.com/office/drawing/2014/main" id="{0CB0AB3F-843E-4D1C-A2E1-BE378B4A7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4725" y="6094384"/>
            <a:ext cx="1559003" cy="365525"/>
          </a:xfrm>
          <a:prstGeom prst="rect">
            <a:avLst/>
          </a:prstGeom>
        </p:spPr>
      </p:pic>
      <p:pic>
        <p:nvPicPr>
          <p:cNvPr id="70" name="Imagem 69">
            <a:extLst>
              <a:ext uri="{FF2B5EF4-FFF2-40B4-BE49-F238E27FC236}">
                <a16:creationId xmlns:a16="http://schemas.microsoft.com/office/drawing/2014/main" id="{B6E34F8F-5C6F-4CA2-B647-F2A2FAD006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033" y="6094384"/>
            <a:ext cx="1559003" cy="365525"/>
          </a:xfrm>
          <a:prstGeom prst="rect">
            <a:avLst/>
          </a:prstGeom>
        </p:spPr>
      </p:pic>
      <p:pic>
        <p:nvPicPr>
          <p:cNvPr id="71" name="Imagem 70">
            <a:extLst>
              <a:ext uri="{FF2B5EF4-FFF2-40B4-BE49-F238E27FC236}">
                <a16:creationId xmlns:a16="http://schemas.microsoft.com/office/drawing/2014/main" id="{9516277A-EB98-4D27-96DC-8BB632F401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44" y="6522842"/>
            <a:ext cx="1559003" cy="365525"/>
          </a:xfrm>
          <a:prstGeom prst="rect">
            <a:avLst/>
          </a:prstGeom>
        </p:spPr>
      </p:pic>
      <p:pic>
        <p:nvPicPr>
          <p:cNvPr id="72" name="Imagem 71">
            <a:extLst>
              <a:ext uri="{FF2B5EF4-FFF2-40B4-BE49-F238E27FC236}">
                <a16:creationId xmlns:a16="http://schemas.microsoft.com/office/drawing/2014/main" id="{1982DD89-0628-4288-BBC5-F830DF6555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1651" y="6522842"/>
            <a:ext cx="1559003" cy="365525"/>
          </a:xfrm>
          <a:prstGeom prst="rect">
            <a:avLst/>
          </a:prstGeom>
        </p:spPr>
      </p:pic>
      <p:pic>
        <p:nvPicPr>
          <p:cNvPr id="73" name="Imagem 72">
            <a:extLst>
              <a:ext uri="{FF2B5EF4-FFF2-40B4-BE49-F238E27FC236}">
                <a16:creationId xmlns:a16="http://schemas.microsoft.com/office/drawing/2014/main" id="{018D67B3-E8AE-4220-88D6-298E6A2FCD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4957" y="6522842"/>
            <a:ext cx="1559003" cy="365525"/>
          </a:xfrm>
          <a:prstGeom prst="rect">
            <a:avLst/>
          </a:prstGeom>
        </p:spPr>
      </p:pic>
      <p:pic>
        <p:nvPicPr>
          <p:cNvPr id="74" name="Imagem 73">
            <a:extLst>
              <a:ext uri="{FF2B5EF4-FFF2-40B4-BE49-F238E27FC236}">
                <a16:creationId xmlns:a16="http://schemas.microsoft.com/office/drawing/2014/main" id="{AB6C84A7-AF15-4BA8-9D23-20CAC72458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8265" y="6522842"/>
            <a:ext cx="1559003" cy="365525"/>
          </a:xfrm>
          <a:prstGeom prst="rect">
            <a:avLst/>
          </a:prstGeom>
        </p:spPr>
      </p:pic>
      <p:pic>
        <p:nvPicPr>
          <p:cNvPr id="75" name="Imagem 74">
            <a:extLst>
              <a:ext uri="{FF2B5EF4-FFF2-40B4-BE49-F238E27FC236}">
                <a16:creationId xmlns:a16="http://schemas.microsoft.com/office/drawing/2014/main" id="{42733CC7-90E0-4A42-9CAD-40649867F7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39" y="6944941"/>
            <a:ext cx="1559003" cy="365525"/>
          </a:xfrm>
          <a:prstGeom prst="rect">
            <a:avLst/>
          </a:prstGeom>
        </p:spPr>
      </p:pic>
      <p:pic>
        <p:nvPicPr>
          <p:cNvPr id="76" name="Imagem 75">
            <a:extLst>
              <a:ext uri="{FF2B5EF4-FFF2-40B4-BE49-F238E27FC236}">
                <a16:creationId xmlns:a16="http://schemas.microsoft.com/office/drawing/2014/main" id="{2B840645-6198-4160-9FA2-5C85AFE09A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945" y="6944941"/>
            <a:ext cx="1559003" cy="365525"/>
          </a:xfrm>
          <a:prstGeom prst="rect">
            <a:avLst/>
          </a:prstGeom>
        </p:spPr>
      </p:pic>
      <p:pic>
        <p:nvPicPr>
          <p:cNvPr id="77" name="Imagem 76">
            <a:extLst>
              <a:ext uri="{FF2B5EF4-FFF2-40B4-BE49-F238E27FC236}">
                <a16:creationId xmlns:a16="http://schemas.microsoft.com/office/drawing/2014/main" id="{21B622CE-3710-4B30-96AA-EF511783C8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9252" y="6944941"/>
            <a:ext cx="1559003" cy="365525"/>
          </a:xfrm>
          <a:prstGeom prst="rect">
            <a:avLst/>
          </a:prstGeom>
        </p:spPr>
      </p:pic>
      <p:pic>
        <p:nvPicPr>
          <p:cNvPr id="78" name="Imagem 77">
            <a:extLst>
              <a:ext uri="{FF2B5EF4-FFF2-40B4-BE49-F238E27FC236}">
                <a16:creationId xmlns:a16="http://schemas.microsoft.com/office/drawing/2014/main" id="{77064454-7CE0-48BB-9470-05F8327422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2559" y="6944941"/>
            <a:ext cx="1559003" cy="365525"/>
          </a:xfrm>
          <a:prstGeom prst="rect">
            <a:avLst/>
          </a:prstGeom>
        </p:spPr>
      </p:pic>
      <p:pic>
        <p:nvPicPr>
          <p:cNvPr id="79" name="Imagem 78">
            <a:extLst>
              <a:ext uri="{FF2B5EF4-FFF2-40B4-BE49-F238E27FC236}">
                <a16:creationId xmlns:a16="http://schemas.microsoft.com/office/drawing/2014/main" id="{07575C62-9919-45DB-BEAD-B46BAF595B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92" y="7373398"/>
            <a:ext cx="1559003" cy="365525"/>
          </a:xfrm>
          <a:prstGeom prst="rect">
            <a:avLst/>
          </a:prstGeom>
        </p:spPr>
      </p:pic>
      <p:pic>
        <p:nvPicPr>
          <p:cNvPr id="80" name="Imagem 79">
            <a:extLst>
              <a:ext uri="{FF2B5EF4-FFF2-40B4-BE49-F238E27FC236}">
                <a16:creationId xmlns:a16="http://schemas.microsoft.com/office/drawing/2014/main" id="{6D882AB7-72A1-423F-BC79-2CA8E10D40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998" y="7373398"/>
            <a:ext cx="1559003" cy="365525"/>
          </a:xfrm>
          <a:prstGeom prst="rect">
            <a:avLst/>
          </a:prstGeom>
        </p:spPr>
      </p:pic>
      <p:pic>
        <p:nvPicPr>
          <p:cNvPr id="81" name="Imagem 80">
            <a:extLst>
              <a:ext uri="{FF2B5EF4-FFF2-40B4-BE49-F238E27FC236}">
                <a16:creationId xmlns:a16="http://schemas.microsoft.com/office/drawing/2014/main" id="{C2D205C5-6600-4A18-A293-3F84B1DC80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304" y="7373398"/>
            <a:ext cx="1559003" cy="365525"/>
          </a:xfrm>
          <a:prstGeom prst="rect">
            <a:avLst/>
          </a:prstGeom>
        </p:spPr>
      </p:pic>
      <p:pic>
        <p:nvPicPr>
          <p:cNvPr id="82" name="Imagem 81">
            <a:extLst>
              <a:ext uri="{FF2B5EF4-FFF2-40B4-BE49-F238E27FC236}">
                <a16:creationId xmlns:a16="http://schemas.microsoft.com/office/drawing/2014/main" id="{212284CB-DFDB-4FB9-B32C-3EF284EA8E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612" y="7373398"/>
            <a:ext cx="1559003" cy="365525"/>
          </a:xfrm>
          <a:prstGeom prst="rect">
            <a:avLst/>
          </a:prstGeom>
        </p:spPr>
      </p:pic>
      <p:pic>
        <p:nvPicPr>
          <p:cNvPr id="83" name="Imagem 82">
            <a:extLst>
              <a:ext uri="{FF2B5EF4-FFF2-40B4-BE49-F238E27FC236}">
                <a16:creationId xmlns:a16="http://schemas.microsoft.com/office/drawing/2014/main" id="{6CB20E85-C9DA-4EE3-8636-64822028B5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23" y="7801856"/>
            <a:ext cx="1559003" cy="365525"/>
          </a:xfrm>
          <a:prstGeom prst="rect">
            <a:avLst/>
          </a:prstGeom>
        </p:spPr>
      </p:pic>
      <p:pic>
        <p:nvPicPr>
          <p:cNvPr id="84" name="Imagem 83">
            <a:extLst>
              <a:ext uri="{FF2B5EF4-FFF2-40B4-BE49-F238E27FC236}">
                <a16:creationId xmlns:a16="http://schemas.microsoft.com/office/drawing/2014/main" id="{3308CA7D-A229-4B42-AD09-37C2040A95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5230" y="7801856"/>
            <a:ext cx="1559003" cy="365525"/>
          </a:xfrm>
          <a:prstGeom prst="rect">
            <a:avLst/>
          </a:prstGeom>
        </p:spPr>
      </p:pic>
      <p:pic>
        <p:nvPicPr>
          <p:cNvPr id="85" name="Imagem 84">
            <a:extLst>
              <a:ext uri="{FF2B5EF4-FFF2-40B4-BE49-F238E27FC236}">
                <a16:creationId xmlns:a16="http://schemas.microsoft.com/office/drawing/2014/main" id="{6692CEB0-2128-43B6-A846-B1333FF67A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8536" y="7801856"/>
            <a:ext cx="1559003" cy="365525"/>
          </a:xfrm>
          <a:prstGeom prst="rect">
            <a:avLst/>
          </a:prstGeom>
        </p:spPr>
      </p:pic>
      <p:pic>
        <p:nvPicPr>
          <p:cNvPr id="86" name="Imagem 85">
            <a:extLst>
              <a:ext uri="{FF2B5EF4-FFF2-40B4-BE49-F238E27FC236}">
                <a16:creationId xmlns:a16="http://schemas.microsoft.com/office/drawing/2014/main" id="{3962DD41-F66F-41E3-9126-D71DFDC67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1844" y="7801856"/>
            <a:ext cx="1559003" cy="365525"/>
          </a:xfrm>
          <a:prstGeom prst="rect">
            <a:avLst/>
          </a:prstGeom>
        </p:spPr>
      </p:pic>
      <p:pic>
        <p:nvPicPr>
          <p:cNvPr id="87" name="Imagem 86">
            <a:extLst>
              <a:ext uri="{FF2B5EF4-FFF2-40B4-BE49-F238E27FC236}">
                <a16:creationId xmlns:a16="http://schemas.microsoft.com/office/drawing/2014/main" id="{6D0B0B66-C2F5-48A8-8C86-B01FC785F6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8231412"/>
            <a:ext cx="1559003" cy="365525"/>
          </a:xfrm>
          <a:prstGeom prst="rect">
            <a:avLst/>
          </a:prstGeom>
        </p:spPr>
      </p:pic>
      <p:pic>
        <p:nvPicPr>
          <p:cNvPr id="88" name="Imagem 87">
            <a:extLst>
              <a:ext uri="{FF2B5EF4-FFF2-40B4-BE49-F238E27FC236}">
                <a16:creationId xmlns:a16="http://schemas.microsoft.com/office/drawing/2014/main" id="{C823DAA1-1AEB-4623-89D9-C8238C86F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8231412"/>
            <a:ext cx="1559003" cy="365525"/>
          </a:xfrm>
          <a:prstGeom prst="rect">
            <a:avLst/>
          </a:prstGeom>
        </p:spPr>
      </p:pic>
      <p:pic>
        <p:nvPicPr>
          <p:cNvPr id="89" name="Imagem 88">
            <a:extLst>
              <a:ext uri="{FF2B5EF4-FFF2-40B4-BE49-F238E27FC236}">
                <a16:creationId xmlns:a16="http://schemas.microsoft.com/office/drawing/2014/main" id="{D9F973B2-05AC-4052-BCE9-D049E505AC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8231412"/>
            <a:ext cx="1559003" cy="365525"/>
          </a:xfrm>
          <a:prstGeom prst="rect">
            <a:avLst/>
          </a:prstGeom>
        </p:spPr>
      </p:pic>
      <p:pic>
        <p:nvPicPr>
          <p:cNvPr id="90" name="Imagem 89">
            <a:extLst>
              <a:ext uri="{FF2B5EF4-FFF2-40B4-BE49-F238E27FC236}">
                <a16:creationId xmlns:a16="http://schemas.microsoft.com/office/drawing/2014/main" id="{1793AE13-23AC-4872-9B6C-796BE02AA4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8231412"/>
            <a:ext cx="1559003" cy="365525"/>
          </a:xfrm>
          <a:prstGeom prst="rect">
            <a:avLst/>
          </a:prstGeom>
        </p:spPr>
      </p:pic>
      <p:pic>
        <p:nvPicPr>
          <p:cNvPr id="91" name="Imagem 90">
            <a:extLst>
              <a:ext uri="{FF2B5EF4-FFF2-40B4-BE49-F238E27FC236}">
                <a16:creationId xmlns:a16="http://schemas.microsoft.com/office/drawing/2014/main" id="{8ECB9E94-338C-42DA-B07B-D0EC007B35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8625408"/>
            <a:ext cx="1559003" cy="365525"/>
          </a:xfrm>
          <a:prstGeom prst="rect">
            <a:avLst/>
          </a:prstGeom>
        </p:spPr>
      </p:pic>
      <p:pic>
        <p:nvPicPr>
          <p:cNvPr id="92" name="Imagem 91">
            <a:extLst>
              <a:ext uri="{FF2B5EF4-FFF2-40B4-BE49-F238E27FC236}">
                <a16:creationId xmlns:a16="http://schemas.microsoft.com/office/drawing/2014/main" id="{6C42768B-9DA5-4943-A0A8-49B8D856B4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8625408"/>
            <a:ext cx="1559003" cy="365525"/>
          </a:xfrm>
          <a:prstGeom prst="rect">
            <a:avLst/>
          </a:prstGeom>
        </p:spPr>
      </p:pic>
      <p:pic>
        <p:nvPicPr>
          <p:cNvPr id="93" name="Imagem 92">
            <a:extLst>
              <a:ext uri="{FF2B5EF4-FFF2-40B4-BE49-F238E27FC236}">
                <a16:creationId xmlns:a16="http://schemas.microsoft.com/office/drawing/2014/main" id="{602C01AD-7A3E-4565-B7CD-45814E3B7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8625408"/>
            <a:ext cx="1559003" cy="365525"/>
          </a:xfrm>
          <a:prstGeom prst="rect">
            <a:avLst/>
          </a:prstGeom>
        </p:spPr>
      </p:pic>
      <p:pic>
        <p:nvPicPr>
          <p:cNvPr id="94" name="Imagem 93">
            <a:extLst>
              <a:ext uri="{FF2B5EF4-FFF2-40B4-BE49-F238E27FC236}">
                <a16:creationId xmlns:a16="http://schemas.microsoft.com/office/drawing/2014/main" id="{8C158C1D-EFEE-49B9-AE93-76C502C474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8625408"/>
            <a:ext cx="1559003" cy="365525"/>
          </a:xfrm>
          <a:prstGeom prst="rect">
            <a:avLst/>
          </a:prstGeom>
        </p:spPr>
      </p:pic>
      <p:sp>
        <p:nvSpPr>
          <p:cNvPr id="95" name="CaixaDeTexto 94">
            <a:extLst>
              <a:ext uri="{FF2B5EF4-FFF2-40B4-BE49-F238E27FC236}">
                <a16:creationId xmlns:a16="http://schemas.microsoft.com/office/drawing/2014/main" id="{A68C2FD1-7CE7-49B4-BCE9-9E59DE2EA6AB}"/>
              </a:ext>
            </a:extLst>
          </p:cNvPr>
          <p:cNvSpPr txBox="1"/>
          <p:nvPr/>
        </p:nvSpPr>
        <p:spPr>
          <a:xfrm>
            <a:off x="476583" y="6472232"/>
            <a:ext cx="5944150" cy="1987339"/>
          </a:xfrm>
          <a:prstGeom prst="rect">
            <a:avLst/>
          </a:prstGeom>
          <a:solidFill>
            <a:schemeClr val="bg1"/>
          </a:solidFill>
          <a:ln>
            <a:noFill/>
          </a:ln>
        </p:spPr>
        <p:txBody>
          <a:bodyPr wrap="square" rtlCol="0">
            <a:spAutoFit/>
          </a:bodyPr>
          <a:lstStyle/>
          <a:p>
            <a:pPr algn="ctr"/>
            <a:r>
              <a:rPr lang="pt-BR" sz="1834" b="1" dirty="0">
                <a:ln>
                  <a:solidFill>
                    <a:srgbClr val="002060"/>
                  </a:solidFill>
                </a:ln>
                <a:solidFill>
                  <a:srgbClr val="002060"/>
                </a:solidFill>
                <a:latin typeface="Monda" panose="02000503000000000000" pitchFamily="2" charset="0"/>
              </a:rPr>
              <a:t>Só Aço Industrial Ltda</a:t>
            </a:r>
            <a:endParaRPr lang="pt-BR" sz="1310" b="1"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CNPJ:  04.041.754/0001-40</a:t>
            </a:r>
          </a:p>
          <a:p>
            <a:pPr algn="ctr"/>
            <a:r>
              <a:rPr lang="pt-BR" sz="1310"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310" dirty="0">
                <a:ln>
                  <a:solidFill>
                    <a:srgbClr val="002060"/>
                  </a:solidFill>
                </a:ln>
                <a:solidFill>
                  <a:srgbClr val="002060"/>
                </a:solidFill>
                <a:latin typeface="Monda" panose="02000503000000000000" pitchFamily="2" charset="0"/>
              </a:rPr>
              <a:t>Telefones: (86) 3219 1200/1300</a:t>
            </a:r>
          </a:p>
          <a:p>
            <a:pPr algn="ctr"/>
            <a:r>
              <a:rPr lang="pt-BR" sz="1310" dirty="0">
                <a:ln>
                  <a:solidFill>
                    <a:srgbClr val="002060"/>
                  </a:solidFill>
                </a:ln>
                <a:solidFill>
                  <a:srgbClr val="002060"/>
                </a:solidFill>
                <a:latin typeface="Monda" panose="02000503000000000000" pitchFamily="2" charset="0"/>
              </a:rPr>
              <a:t>Teresina – Piauí</a:t>
            </a:r>
          </a:p>
          <a:p>
            <a:pPr algn="ctr"/>
            <a:r>
              <a:rPr lang="pt-BR" sz="1310" dirty="0">
                <a:ln>
                  <a:solidFill>
                    <a:srgbClr val="002060"/>
                  </a:solidFill>
                </a:ln>
                <a:solidFill>
                  <a:srgbClr val="002060"/>
                </a:solidFill>
                <a:latin typeface="Monda" panose="02000503000000000000" pitchFamily="2" charset="0"/>
              </a:rPr>
              <a:t>Site: </a:t>
            </a:r>
            <a:r>
              <a:rPr lang="pt-BR" sz="1310" dirty="0">
                <a:ln>
                  <a:solidFill>
                    <a:srgbClr val="002060"/>
                  </a:solidFill>
                </a:ln>
                <a:solidFill>
                  <a:srgbClr val="002060"/>
                </a:solidFill>
                <a:latin typeface="Monda" panose="02000503000000000000" pitchFamily="2" charset="0"/>
                <a:hlinkClick r:id="rId4"/>
              </a:rPr>
              <a:t>www.soacoindustrial.com.br</a:t>
            </a:r>
            <a:endParaRPr lang="pt-BR" sz="1310"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Ouvidoria/SAC: </a:t>
            </a:r>
            <a:r>
              <a:rPr lang="pt-BR" sz="1310" dirty="0">
                <a:ln>
                  <a:solidFill>
                    <a:srgbClr val="002060"/>
                  </a:solidFill>
                </a:ln>
                <a:solidFill>
                  <a:srgbClr val="002060"/>
                </a:solidFill>
                <a:latin typeface="Monda" panose="02000503000000000000" pitchFamily="2" charset="0"/>
                <a:hlinkClick r:id="rId5"/>
              </a:rPr>
              <a:t>sac@soacoindustrial.com.br</a:t>
            </a:r>
            <a:endParaRPr lang="pt-BR" sz="1310"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MP-SA-0004.Rev. 1</a:t>
            </a:r>
          </a:p>
        </p:txBody>
      </p:sp>
      <p:pic>
        <p:nvPicPr>
          <p:cNvPr id="96" name="Imagem 95">
            <a:extLst>
              <a:ext uri="{FF2B5EF4-FFF2-40B4-BE49-F238E27FC236}">
                <a16:creationId xmlns:a16="http://schemas.microsoft.com/office/drawing/2014/main" id="{E29E92D4-6DEC-4957-AF47-53FBA2FFE6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9051971"/>
            <a:ext cx="1559003" cy="365525"/>
          </a:xfrm>
          <a:prstGeom prst="rect">
            <a:avLst/>
          </a:prstGeom>
        </p:spPr>
      </p:pic>
      <p:pic>
        <p:nvPicPr>
          <p:cNvPr id="97" name="Imagem 96">
            <a:extLst>
              <a:ext uri="{FF2B5EF4-FFF2-40B4-BE49-F238E27FC236}">
                <a16:creationId xmlns:a16="http://schemas.microsoft.com/office/drawing/2014/main" id="{EB7F4BBF-361B-43FB-9705-F2BAF5A813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9051971"/>
            <a:ext cx="1559003" cy="365525"/>
          </a:xfrm>
          <a:prstGeom prst="rect">
            <a:avLst/>
          </a:prstGeom>
        </p:spPr>
      </p:pic>
      <p:pic>
        <p:nvPicPr>
          <p:cNvPr id="98" name="Imagem 97">
            <a:extLst>
              <a:ext uri="{FF2B5EF4-FFF2-40B4-BE49-F238E27FC236}">
                <a16:creationId xmlns:a16="http://schemas.microsoft.com/office/drawing/2014/main" id="{3518A472-CA52-4EBF-A82C-63A07CE7A4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9051971"/>
            <a:ext cx="1559003" cy="365525"/>
          </a:xfrm>
          <a:prstGeom prst="rect">
            <a:avLst/>
          </a:prstGeom>
        </p:spPr>
      </p:pic>
      <p:pic>
        <p:nvPicPr>
          <p:cNvPr id="99" name="Imagem 98">
            <a:extLst>
              <a:ext uri="{FF2B5EF4-FFF2-40B4-BE49-F238E27FC236}">
                <a16:creationId xmlns:a16="http://schemas.microsoft.com/office/drawing/2014/main" id="{CB689BE3-9CB1-4AFB-BB4E-681DD544B6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9051971"/>
            <a:ext cx="1559003" cy="365525"/>
          </a:xfrm>
          <a:prstGeom prst="rect">
            <a:avLst/>
          </a:prstGeom>
        </p:spPr>
      </p:pic>
    </p:spTree>
    <p:extLst>
      <p:ext uri="{BB962C8B-B14F-4D97-AF65-F5344CB8AC3E}">
        <p14:creationId xmlns:p14="http://schemas.microsoft.com/office/powerpoint/2010/main" val="3387111589"/>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4217404</TotalTime>
  <Words>2626</Words>
  <Application>Microsoft Office PowerPoint</Application>
  <PresentationFormat>Papel A4 (210 x 297 mm)</PresentationFormat>
  <Paragraphs>444</Paragraphs>
  <Slides>12</Slides>
  <Notes>8</Notes>
  <HiddenSlides>0</HiddenSlides>
  <MMClips>0</MMClips>
  <ScaleCrop>false</ScaleCrop>
  <HeadingPairs>
    <vt:vector size="6" baseType="variant">
      <vt:variant>
        <vt:lpstr>Fontes usadas</vt:lpstr>
      </vt:variant>
      <vt:variant>
        <vt:i4>4</vt:i4>
      </vt:variant>
      <vt:variant>
        <vt:lpstr>Tema</vt:lpstr>
      </vt:variant>
      <vt:variant>
        <vt:i4>2</vt:i4>
      </vt:variant>
      <vt:variant>
        <vt:lpstr>Títulos de slides</vt:lpstr>
      </vt:variant>
      <vt:variant>
        <vt:i4>12</vt:i4>
      </vt:variant>
    </vt:vector>
  </HeadingPairs>
  <TitlesOfParts>
    <vt:vector size="18" baseType="lpstr">
      <vt:lpstr>Arial</vt:lpstr>
      <vt:lpstr>Calibri</vt:lpstr>
      <vt:lpstr>Monda</vt:lpstr>
      <vt:lpstr>Wingdings</vt:lpstr>
      <vt:lpstr>Tema do Office</vt:lpstr>
      <vt:lpstr>1_Tema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Michelle</cp:lastModifiedBy>
  <cp:revision>414</cp:revision>
  <cp:lastPrinted>2018-08-30T18:04:44Z</cp:lastPrinted>
  <dcterms:created xsi:type="dcterms:W3CDTF">2017-01-16T11:13:17Z</dcterms:created>
  <dcterms:modified xsi:type="dcterms:W3CDTF">2022-02-25T12:38:10Z</dcterms:modified>
</cp:coreProperties>
</file>