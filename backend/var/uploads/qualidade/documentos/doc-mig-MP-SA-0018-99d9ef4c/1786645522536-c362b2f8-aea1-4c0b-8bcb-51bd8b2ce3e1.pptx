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62" r:id="rId3"/>
    <p:sldId id="257" r:id="rId4"/>
  </p:sldIdLst>
  <p:sldSz cx="9906000" cy="6858000" type="A4"/>
  <p:notesSz cx="6858000" cy="9874250"/>
  <p:defaultTextStyle>
    <a:defPPr>
      <a:defRPr lang="pt-BR"/>
    </a:defPPr>
    <a:lvl1pPr marL="0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1pPr>
    <a:lvl2pPr marL="478919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2pPr>
    <a:lvl3pPr marL="957838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3pPr>
    <a:lvl4pPr marL="1436757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4pPr>
    <a:lvl5pPr marL="1915677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5pPr>
    <a:lvl6pPr marL="2394596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6pPr>
    <a:lvl7pPr marL="2873515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7pPr>
    <a:lvl8pPr marL="3352434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8pPr>
    <a:lvl9pPr marL="3831353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E4E4E4"/>
    <a:srgbClr val="E3E3E3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05" autoAdjust="0"/>
    <p:restoredTop sz="96404" autoAdjust="0"/>
  </p:normalViewPr>
  <p:slideViewPr>
    <p:cSldViewPr showGuides="1">
      <p:cViewPr varScale="1">
        <p:scale>
          <a:sx n="112" d="100"/>
          <a:sy n="112" d="100"/>
        </p:scale>
        <p:origin x="78" y="78"/>
      </p:cViewPr>
      <p:guideLst>
        <p:guide orient="horz" pos="2160"/>
        <p:guide pos="312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988" y="0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/>
          <a:lstStyle>
            <a:lvl1pPr algn="r">
              <a:defRPr sz="1200"/>
            </a:lvl1pPr>
          </a:lstStyle>
          <a:p>
            <a:fld id="{F8708E1B-B372-4B56-981F-95506720EE2D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3498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480" tIns="45240" rIns="90480" bIns="4524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958" y="4689961"/>
            <a:ext cx="5486084" cy="4444352"/>
          </a:xfrm>
          <a:prstGeom prst="rect">
            <a:avLst/>
          </a:prstGeom>
        </p:spPr>
        <p:txBody>
          <a:bodyPr vert="horz" lIns="90480" tIns="45240" rIns="90480" bIns="4524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8348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988" y="9378348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 anchor="b"/>
          <a:lstStyle>
            <a:lvl1pPr algn="r">
              <a:defRPr sz="1200"/>
            </a:lvl1pPr>
          </a:lstStyle>
          <a:p>
            <a:fld id="{DAD5CC9F-21B8-43E0-9ED1-B2EDFE01E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1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84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69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540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38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23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081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892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877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54063" y="739775"/>
            <a:ext cx="5349875" cy="37036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32104">
              <a:defRPr/>
            </a:pPr>
            <a:fld id="{DAD5CC9F-21B8-43E0-9ED1-B2EDFE01E557}" type="slidenum">
              <a:rPr lang="pt-BR">
                <a:solidFill>
                  <a:prstClr val="black"/>
                </a:solidFill>
                <a:latin typeface="Calibri"/>
              </a:rPr>
              <a:pPr defTabSz="1032104">
                <a:defRPr/>
              </a:pPr>
              <a:t>1</a:t>
            </a:fld>
            <a:endParaRPr lang="pt-BR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8384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54063" y="739775"/>
            <a:ext cx="5349875" cy="37036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5CC9F-21B8-43E0-9ED1-B2EDFE01E55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5813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1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1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30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4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7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9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50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72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AC81D-F00A-4827-A703-3C0D445EB022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83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2AD8-56C7-4730-81A3-F6C5FAADA359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66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52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30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5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61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6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91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6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22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6F26-40DE-4B52-A781-4BC8EFF4F8A4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44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35550" y="1600200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730DF-6810-4948-876A-5238452348F4}" type="datetime1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57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89" cy="63976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89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F6986-E8F5-4AE8-84CE-76D530498E52}" type="datetime1">
              <a:rPr lang="pt-BR" smtClean="0"/>
              <a:t>26/08/2021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75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B8614-5CD0-4073-B427-9822F8FE630A}" type="datetime1">
              <a:rPr lang="pt-BR" smtClean="0"/>
              <a:t>26/08/2021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17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13F0-2AEE-472C-84E2-03C9B57727C0}" type="datetime1">
              <a:rPr lang="pt-BR" smtClean="0"/>
              <a:t>26/08/2021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67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2970" y="273050"/>
            <a:ext cx="5537730" cy="585311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1" y="1435100"/>
            <a:ext cx="3259006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070D2-94BC-48E5-B127-F2DFB91F768A}" type="datetime1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42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700"/>
            </a:lvl1pPr>
            <a:lvl2pPr marL="521528" indent="0">
              <a:buNone/>
              <a:defRPr sz="3200"/>
            </a:lvl2pPr>
            <a:lvl3pPr marL="1043056" indent="0">
              <a:buNone/>
              <a:defRPr sz="2700"/>
            </a:lvl3pPr>
            <a:lvl4pPr marL="1564584" indent="0">
              <a:buNone/>
              <a:defRPr sz="2300"/>
            </a:lvl4pPr>
            <a:lvl5pPr marL="2086112" indent="0">
              <a:buNone/>
              <a:defRPr sz="2300"/>
            </a:lvl5pPr>
            <a:lvl6pPr marL="2607640" indent="0">
              <a:buNone/>
              <a:defRPr sz="2300"/>
            </a:lvl6pPr>
            <a:lvl7pPr marL="3129168" indent="0">
              <a:buNone/>
              <a:defRPr sz="2300"/>
            </a:lvl7pPr>
            <a:lvl8pPr marL="3650696" indent="0">
              <a:buNone/>
              <a:defRPr sz="2300"/>
            </a:lvl8pPr>
            <a:lvl9pPr marL="4172224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C5B0-C529-45C5-8187-D18054ED49EE}" type="datetime1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426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8301-19F6-49C6-9F02-EA6B70895F07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701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C0016-1382-42F4-A486-D110CC0B9456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15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1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15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30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4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7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9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50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72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783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031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52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30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5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61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6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91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6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22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863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35550" y="1600200"/>
            <a:ext cx="4375150" cy="452596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161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89" cy="63976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89" cy="395128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146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702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215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2970" y="273050"/>
            <a:ext cx="5537730" cy="585311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1" y="1435100"/>
            <a:ext cx="3259006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306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700"/>
            </a:lvl1pPr>
            <a:lvl2pPr marL="521528" indent="0">
              <a:buNone/>
              <a:defRPr sz="3200"/>
            </a:lvl2pPr>
            <a:lvl3pPr marL="1043056" indent="0">
              <a:buNone/>
              <a:defRPr sz="2700"/>
            </a:lvl3pPr>
            <a:lvl4pPr marL="1564584" indent="0">
              <a:buNone/>
              <a:defRPr sz="2300"/>
            </a:lvl4pPr>
            <a:lvl5pPr marL="2086112" indent="0">
              <a:buNone/>
              <a:defRPr sz="2300"/>
            </a:lvl5pPr>
            <a:lvl6pPr marL="2607640" indent="0">
              <a:buNone/>
              <a:defRPr sz="2300"/>
            </a:lvl6pPr>
            <a:lvl7pPr marL="3129168" indent="0">
              <a:buNone/>
              <a:defRPr sz="2300"/>
            </a:lvl7pPr>
            <a:lvl8pPr marL="3650696" indent="0">
              <a:buNone/>
              <a:defRPr sz="2300"/>
            </a:lvl8pPr>
            <a:lvl9pPr marL="4172224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600"/>
            </a:lvl1pPr>
            <a:lvl2pPr marL="521528" indent="0">
              <a:buNone/>
              <a:defRPr sz="1400"/>
            </a:lvl2pPr>
            <a:lvl3pPr marL="1043056" indent="0">
              <a:buNone/>
              <a:defRPr sz="1100"/>
            </a:lvl3pPr>
            <a:lvl4pPr marL="1564584" indent="0">
              <a:buNone/>
              <a:defRPr sz="1000"/>
            </a:lvl4pPr>
            <a:lvl5pPr marL="2086112" indent="0">
              <a:buNone/>
              <a:defRPr sz="1000"/>
            </a:lvl5pPr>
            <a:lvl6pPr marL="2607640" indent="0">
              <a:buNone/>
              <a:defRPr sz="1000"/>
            </a:lvl6pPr>
            <a:lvl7pPr marL="3129168" indent="0">
              <a:buNone/>
              <a:defRPr sz="1000"/>
            </a:lvl7pPr>
            <a:lvl8pPr marL="3650696" indent="0">
              <a:buNone/>
              <a:defRPr sz="1000"/>
            </a:lvl8pPr>
            <a:lvl9pPr marL="4172224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125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5615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53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95301" y="6356351"/>
            <a:ext cx="2311400" cy="365125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3B16-BA37-4540-B7FD-29529CECC0E0}" type="datetime1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384551" y="6356351"/>
            <a:ext cx="3136900" cy="365125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15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1043056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95301" y="6356351"/>
            <a:ext cx="2311400" cy="365125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7A122-14BC-4870-B74C-82AB71BD4EFB}" type="datetimeFigureOut">
              <a:rPr lang="pt-BR" smtClean="0"/>
              <a:t>26/08/2021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384551" y="6356351"/>
            <a:ext cx="3136900" cy="365125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34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043056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microsoft.com/office/2007/relationships/hdphoto" Target="../media/hdphoto5.wdp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11" Type="http://schemas.openxmlformats.org/officeDocument/2006/relationships/image" Target="../media/image6.jpeg"/><Relationship Id="rId5" Type="http://schemas.openxmlformats.org/officeDocument/2006/relationships/image" Target="../media/image2.png"/><Relationship Id="rId15" Type="http://schemas.openxmlformats.org/officeDocument/2006/relationships/image" Target="../media/image9.png"/><Relationship Id="rId10" Type="http://schemas.openxmlformats.org/officeDocument/2006/relationships/image" Target="../media/image5.jpeg"/><Relationship Id="rId4" Type="http://schemas.microsoft.com/office/2007/relationships/hdphoto" Target="../media/hdphoto1.wdp"/><Relationship Id="rId9" Type="http://schemas.openxmlformats.org/officeDocument/2006/relationships/image" Target="../media/image4.tmp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5" Type="http://schemas.openxmlformats.org/officeDocument/2006/relationships/image" Target="../media/image11.png"/><Relationship Id="rId4" Type="http://schemas.microsoft.com/office/2007/relationships/hdphoto" Target="../media/hdphoto6.wdp"/><Relationship Id="rId9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m 6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117" b="87697" l="3464" r="58171">
                        <a14:foregroundMark x1="50977" y1="56309" x2="50977" y2="56309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663" r="39206" b="11218"/>
          <a:stretch/>
        </p:blipFill>
        <p:spPr>
          <a:xfrm>
            <a:off x="121547" y="4506724"/>
            <a:ext cx="2407129" cy="1330702"/>
          </a:xfrm>
          <a:prstGeom prst="rect">
            <a:avLst/>
          </a:prstGeom>
        </p:spPr>
      </p:pic>
      <p:sp>
        <p:nvSpPr>
          <p:cNvPr id="69" name="CaixaDeTexto 68"/>
          <p:cNvSpPr txBox="1"/>
          <p:nvPr/>
        </p:nvSpPr>
        <p:spPr>
          <a:xfrm>
            <a:off x="5030404" y="630009"/>
            <a:ext cx="4689698" cy="17851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100" dirty="0"/>
              <a:t>Após alinhada, faça a fixação do parafuso apenas na lateral indicada pela seta ao lado. Na lateral da coluna que está apoiada na superfície, os parafusos só serão fixados no final da montagem.</a:t>
            </a:r>
          </a:p>
          <a:p>
            <a:pPr algn="just"/>
            <a:r>
              <a:rPr lang="pt-BR" sz="1100" b="1" dirty="0" err="1"/>
              <a:t>Obs</a:t>
            </a:r>
            <a:r>
              <a:rPr lang="pt-BR" sz="1100" b="1" dirty="0"/>
              <a:t>: </a:t>
            </a:r>
            <a:r>
              <a:rPr lang="pt-BR" sz="1100" dirty="0"/>
              <a:t>É importante durante a fixação dos parafusos não aperta-los totalmente, para ao finalizar a montagem seja possível ajusta-la para que fique dentro de esquadro.</a:t>
            </a:r>
          </a:p>
          <a:p>
            <a:pPr algn="just"/>
            <a:r>
              <a:rPr lang="pt-BR" sz="1100" b="1" dirty="0" err="1"/>
              <a:t>Obs</a:t>
            </a:r>
            <a:r>
              <a:rPr lang="pt-BR" sz="1100" b="1" dirty="0"/>
              <a:t>: </a:t>
            </a:r>
            <a:r>
              <a:rPr lang="pt-BR" sz="1100" dirty="0"/>
              <a:t>A extremidade da coluna que deve ser inserida a sapata é a que apresenta a distancia de 3 cm do furo para borda, conforme imagem abaixo. A fixação das sapatas pode ser feita antes de finalizar a montagem ou após finalizada, fica a critério do montador.</a:t>
            </a:r>
          </a:p>
        </p:txBody>
      </p:sp>
      <p:cxnSp>
        <p:nvCxnSpPr>
          <p:cNvPr id="71" name="Conector de Seta Reta 70"/>
          <p:cNvCxnSpPr>
            <a:cxnSpLocks/>
          </p:cNvCxnSpPr>
          <p:nvPr/>
        </p:nvCxnSpPr>
        <p:spPr>
          <a:xfrm flipH="1" flipV="1">
            <a:off x="1807611" y="5526256"/>
            <a:ext cx="274876" cy="1388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CaixaDeTexto 80"/>
          <p:cNvSpPr txBox="1"/>
          <p:nvPr/>
        </p:nvSpPr>
        <p:spPr>
          <a:xfrm>
            <a:off x="7483018" y="3736740"/>
            <a:ext cx="2120165" cy="9002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1050" dirty="0"/>
              <a:t>Prosseguir com a montagem das outras bandejas. Os espaçamento entras elas fica a critério do cliente, podendo variar de acordo com a necessidade do mesmo. </a:t>
            </a:r>
          </a:p>
        </p:txBody>
      </p:sp>
      <p:sp>
        <p:nvSpPr>
          <p:cNvPr id="83" name="CaixaDeTexto 82"/>
          <p:cNvSpPr txBox="1"/>
          <p:nvPr/>
        </p:nvSpPr>
        <p:spPr>
          <a:xfrm>
            <a:off x="13870990" y="7828740"/>
            <a:ext cx="600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01</a:t>
            </a:r>
          </a:p>
        </p:txBody>
      </p:sp>
      <p:cxnSp>
        <p:nvCxnSpPr>
          <p:cNvPr id="126" name="Conector reto 125"/>
          <p:cNvCxnSpPr/>
          <p:nvPr/>
        </p:nvCxnSpPr>
        <p:spPr>
          <a:xfrm flipV="1">
            <a:off x="3333115" y="6913780"/>
            <a:ext cx="2844000" cy="127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to 126"/>
          <p:cNvCxnSpPr/>
          <p:nvPr/>
        </p:nvCxnSpPr>
        <p:spPr>
          <a:xfrm flipV="1">
            <a:off x="3290882" y="5757487"/>
            <a:ext cx="720000" cy="127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Imagem 127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577" b="93447" l="14078" r="91748">
                        <a14:foregroundMark x1="31857" y1="12218" x2="31857" y2="12218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611" t="6095" r="7222" b="5315"/>
          <a:stretch/>
        </p:blipFill>
        <p:spPr>
          <a:xfrm>
            <a:off x="5378714" y="3178673"/>
            <a:ext cx="1596801" cy="1588397"/>
          </a:xfrm>
          <a:prstGeom prst="rect">
            <a:avLst/>
          </a:prstGeom>
        </p:spPr>
      </p:pic>
      <p:cxnSp>
        <p:nvCxnSpPr>
          <p:cNvPr id="6" name="Conector reto 5"/>
          <p:cNvCxnSpPr>
            <a:cxnSpLocks/>
          </p:cNvCxnSpPr>
          <p:nvPr/>
        </p:nvCxnSpPr>
        <p:spPr>
          <a:xfrm flipH="1">
            <a:off x="4953000" y="620688"/>
            <a:ext cx="40961" cy="62999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tângulo 141">
            <a:extLst>
              <a:ext uri="{FF2B5EF4-FFF2-40B4-BE49-F238E27FC236}">
                <a16:creationId xmlns:a16="http://schemas.microsoft.com/office/drawing/2014/main" id="{82323E52-BACF-48AD-B8FA-8F60F81D68A0}"/>
              </a:ext>
            </a:extLst>
          </p:cNvPr>
          <p:cNvSpPr/>
          <p:nvPr/>
        </p:nvSpPr>
        <p:spPr>
          <a:xfrm>
            <a:off x="1891056" y="79555"/>
            <a:ext cx="7706166" cy="34016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badi" panose="020B0604020104020204" pitchFamily="34" charset="0"/>
              </a:rPr>
              <a:t>INSTRUÇÃO DE MONTAGEM – ESTANTE DE 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</a:rPr>
              <a:t>AÇO</a:t>
            </a:r>
          </a:p>
        </p:txBody>
      </p:sp>
      <p:sp>
        <p:nvSpPr>
          <p:cNvPr id="143" name="Retângulo 142">
            <a:extLst>
              <a:ext uri="{FF2B5EF4-FFF2-40B4-BE49-F238E27FC236}">
                <a16:creationId xmlns:a16="http://schemas.microsoft.com/office/drawing/2014/main" id="{82323E52-BACF-48AD-B8FA-8F60F81D68A0}"/>
              </a:ext>
            </a:extLst>
          </p:cNvPr>
          <p:cNvSpPr/>
          <p:nvPr/>
        </p:nvSpPr>
        <p:spPr>
          <a:xfrm>
            <a:off x="324743" y="4066508"/>
            <a:ext cx="4404665" cy="313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tx1"/>
                </a:solidFill>
              </a:rPr>
              <a:t>2. Instruções para montagem</a:t>
            </a:r>
          </a:p>
        </p:txBody>
      </p:sp>
      <p:sp>
        <p:nvSpPr>
          <p:cNvPr id="144" name="CaixaDeTexto 143"/>
          <p:cNvSpPr txBox="1"/>
          <p:nvPr/>
        </p:nvSpPr>
        <p:spPr>
          <a:xfrm>
            <a:off x="5066378" y="2832092"/>
            <a:ext cx="1266797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dirty="0">
                <a:ln>
                  <a:solidFill>
                    <a:schemeClr val="tx1"/>
                  </a:solidFill>
                </a:ln>
              </a:rPr>
              <a:t>2º Passo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2433705" y="4890013"/>
            <a:ext cx="2329196" cy="110799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pt-BR" sz="1100" dirty="0"/>
              <a:t>- Coloque as duas colunas em uma superfície plana e posicione a primeira bandeja.</a:t>
            </a:r>
          </a:p>
          <a:p>
            <a:pPr algn="just"/>
            <a:r>
              <a:rPr lang="pt-BR" sz="1100" dirty="0"/>
              <a:t>- Recomendamos que a primeira bandeja seja alinhada a partir do terceiro furo. 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3422167" y="4556397"/>
            <a:ext cx="1266797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dirty="0">
                <a:ln>
                  <a:solidFill>
                    <a:schemeClr val="tx1"/>
                  </a:solidFill>
                </a:ln>
              </a:rPr>
              <a:t>1º Passo</a:t>
            </a:r>
          </a:p>
        </p:txBody>
      </p:sp>
      <p:pic>
        <p:nvPicPr>
          <p:cNvPr id="150" name="Imagem 149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497" t="38241" r="29049" b="35319"/>
          <a:stretch/>
        </p:blipFill>
        <p:spPr>
          <a:xfrm rot="10462243">
            <a:off x="8190719" y="2253217"/>
            <a:ext cx="1371227" cy="508691"/>
          </a:xfrm>
          <a:prstGeom prst="rect">
            <a:avLst/>
          </a:prstGeom>
        </p:spPr>
      </p:pic>
      <p:cxnSp>
        <p:nvCxnSpPr>
          <p:cNvPr id="151" name="Conector reto 150"/>
          <p:cNvCxnSpPr/>
          <p:nvPr/>
        </p:nvCxnSpPr>
        <p:spPr>
          <a:xfrm flipH="1">
            <a:off x="9495056" y="2703040"/>
            <a:ext cx="1512" cy="208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/>
          <p:cNvCxnSpPr/>
          <p:nvPr/>
        </p:nvCxnSpPr>
        <p:spPr>
          <a:xfrm flipH="1">
            <a:off x="9245521" y="2703040"/>
            <a:ext cx="1512" cy="208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/>
          <p:nvPr/>
        </p:nvCxnSpPr>
        <p:spPr>
          <a:xfrm>
            <a:off x="9245521" y="2857797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CaixaDeTexto 153"/>
          <p:cNvSpPr txBox="1"/>
          <p:nvPr/>
        </p:nvSpPr>
        <p:spPr>
          <a:xfrm>
            <a:off x="9161802" y="2827935"/>
            <a:ext cx="419438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3 cm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2DFE83-0CF1-4A40-99C3-1C60CA0A26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75" y="688918"/>
            <a:ext cx="1469868" cy="3099820"/>
          </a:xfrm>
          <a:prstGeom prst="rect">
            <a:avLst/>
          </a:prstGeom>
        </p:spPr>
      </p:pic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9BA73892-8144-434C-944C-9156288F6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50459"/>
              </p:ext>
            </p:extLst>
          </p:nvPr>
        </p:nvGraphicFramePr>
        <p:xfrm>
          <a:off x="2019275" y="946420"/>
          <a:ext cx="2621616" cy="144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89509">
                  <a:extLst>
                    <a:ext uri="{9D8B030D-6E8A-4147-A177-3AD203B41FA5}">
                      <a16:colId xmlns:a16="http://schemas.microsoft.com/office/drawing/2014/main" val="151214437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33533897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58816894"/>
                    </a:ext>
                  </a:extLst>
                </a:gridCol>
                <a:gridCol w="551987">
                  <a:extLst>
                    <a:ext uri="{9D8B030D-6E8A-4147-A177-3AD203B41FA5}">
                      <a16:colId xmlns:a16="http://schemas.microsoft.com/office/drawing/2014/main" val="226194025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Componentes</a:t>
                      </a:r>
                      <a:endParaRPr lang="pt-BR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/>
                        <a:t>EA3B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/>
                        <a:t>EA5B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/>
                        <a:t>EA6B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57676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Coluna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1813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Bandeja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6213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Parafuso + porca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81984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Sapata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35514"/>
                  </a:ext>
                </a:extLst>
              </a:tr>
            </a:tbl>
          </a:graphicData>
        </a:graphic>
      </p:graphicFrame>
      <p:sp>
        <p:nvSpPr>
          <p:cNvPr id="42" name="CaixaDeTexto 41">
            <a:extLst>
              <a:ext uri="{FF2B5EF4-FFF2-40B4-BE49-F238E27FC236}">
                <a16:creationId xmlns:a16="http://schemas.microsoft.com/office/drawing/2014/main" id="{B1D53202-CFC1-4798-B418-2F997BBDB992}"/>
              </a:ext>
            </a:extLst>
          </p:cNvPr>
          <p:cNvSpPr txBox="1"/>
          <p:nvPr/>
        </p:nvSpPr>
        <p:spPr>
          <a:xfrm>
            <a:off x="324743" y="1075453"/>
            <a:ext cx="307777" cy="223080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pt-BR" sz="800" dirty="0"/>
              <a:t>Modelo – Estante aço aberta 6 bandejas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464564DC-0984-4752-8C54-A55A2130E6D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229" y="3132732"/>
            <a:ext cx="554616" cy="34016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C241856-BF8F-4470-8338-843A9CAF39F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235" y="2888346"/>
            <a:ext cx="405699" cy="405699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C507879E-9B40-4ECD-B9EA-C234C1895B16}"/>
              </a:ext>
            </a:extLst>
          </p:cNvPr>
          <p:cNvSpPr txBox="1"/>
          <p:nvPr/>
        </p:nvSpPr>
        <p:spPr>
          <a:xfrm>
            <a:off x="2066359" y="3345066"/>
            <a:ext cx="24315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Chave 11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2C9365DC-E63A-4842-BBE6-98FCBEB180AD}"/>
              </a:ext>
            </a:extLst>
          </p:cNvPr>
          <p:cNvSpPr txBox="1"/>
          <p:nvPr/>
        </p:nvSpPr>
        <p:spPr>
          <a:xfrm>
            <a:off x="7607089" y="5607607"/>
            <a:ext cx="2120165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1100" dirty="0"/>
              <a:t>Posicionar as outras duas colunas na parte superior e fixar os dois parafusos em cada lateral da bandeja, nos locais indicados pelas setas na imagem ao lado. </a:t>
            </a:r>
          </a:p>
        </p:txBody>
      </p:sp>
      <p:pic>
        <p:nvPicPr>
          <p:cNvPr id="52" name="Imagem 51">
            <a:extLst>
              <a:ext uri="{FF2B5EF4-FFF2-40B4-BE49-F238E27FC236}">
                <a16:creationId xmlns:a16="http://schemas.microsoft.com/office/drawing/2014/main" id="{556596FB-5AFE-4F17-8422-0B515837FE9A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376" b="90109" l="11455" r="97879">
                        <a14:backgroundMark x1="84439" y1="28726" x2="84439" y2="28726"/>
                        <a14:backgroundMark x1="84897" y1="51620" x2="84897" y2="51620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33" t="7179" r="5973" b="10302"/>
          <a:stretch/>
        </p:blipFill>
        <p:spPr>
          <a:xfrm>
            <a:off x="5438121" y="5210137"/>
            <a:ext cx="1509386" cy="1587088"/>
          </a:xfrm>
          <a:prstGeom prst="rect">
            <a:avLst/>
          </a:prstGeom>
        </p:spPr>
      </p:pic>
      <p:sp>
        <p:nvSpPr>
          <p:cNvPr id="53" name="CaixaDeTexto 52">
            <a:extLst>
              <a:ext uri="{FF2B5EF4-FFF2-40B4-BE49-F238E27FC236}">
                <a16:creationId xmlns:a16="http://schemas.microsoft.com/office/drawing/2014/main" id="{9C1F110F-FD98-4A8D-89EA-E57D8156A18E}"/>
              </a:ext>
            </a:extLst>
          </p:cNvPr>
          <p:cNvSpPr txBox="1"/>
          <p:nvPr/>
        </p:nvSpPr>
        <p:spPr>
          <a:xfrm>
            <a:off x="5066377" y="4852041"/>
            <a:ext cx="1266797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dirty="0">
                <a:ln>
                  <a:solidFill>
                    <a:schemeClr val="tx1"/>
                  </a:solidFill>
                </a:ln>
              </a:rPr>
              <a:t>3º Passo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4497422-8A2A-4F21-9826-DE621866851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57" y="3056059"/>
            <a:ext cx="505263" cy="505263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067B318-64EC-4A0A-BDCF-7EEB1E2CED9B}"/>
              </a:ext>
            </a:extLst>
          </p:cNvPr>
          <p:cNvSpPr/>
          <p:nvPr/>
        </p:nvSpPr>
        <p:spPr>
          <a:xfrm>
            <a:off x="2018107" y="2548062"/>
            <a:ext cx="795775" cy="1062317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7F7D07D3-46E7-45B1-8F0B-6EE0525A5651}"/>
              </a:ext>
            </a:extLst>
          </p:cNvPr>
          <p:cNvSpPr/>
          <p:nvPr/>
        </p:nvSpPr>
        <p:spPr>
          <a:xfrm>
            <a:off x="2986592" y="2649292"/>
            <a:ext cx="776537" cy="21838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Quantidade de pessoas recomendada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F8F44C0E-EFF5-407C-97C4-F74A7086D220}"/>
              </a:ext>
            </a:extLst>
          </p:cNvPr>
          <p:cNvSpPr/>
          <p:nvPr/>
        </p:nvSpPr>
        <p:spPr>
          <a:xfrm>
            <a:off x="4004621" y="2592046"/>
            <a:ext cx="724787" cy="19114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PRODUTO RECICLÁVEL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E2F86B50-92F5-4F05-8714-76EF9375819F}"/>
              </a:ext>
            </a:extLst>
          </p:cNvPr>
          <p:cNvSpPr/>
          <p:nvPr/>
        </p:nvSpPr>
        <p:spPr>
          <a:xfrm>
            <a:off x="3975466" y="2551284"/>
            <a:ext cx="795775" cy="1062317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A50C52AA-06E4-43CB-A8F5-39FB76B12D39}"/>
              </a:ext>
            </a:extLst>
          </p:cNvPr>
          <p:cNvSpPr/>
          <p:nvPr/>
        </p:nvSpPr>
        <p:spPr>
          <a:xfrm>
            <a:off x="2998587" y="2552825"/>
            <a:ext cx="795775" cy="1062317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74C066A2-EC1B-4717-9C2E-48C30D92D811}"/>
              </a:ext>
            </a:extLst>
          </p:cNvPr>
          <p:cNvSpPr/>
          <p:nvPr/>
        </p:nvSpPr>
        <p:spPr>
          <a:xfrm>
            <a:off x="2045339" y="2586515"/>
            <a:ext cx="724787" cy="19114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Ferramentas necessárias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E0A684-1A36-49C0-91D9-4275E80535E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47" y="79555"/>
            <a:ext cx="1469868" cy="34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0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2757575" y="3500141"/>
            <a:ext cx="1759837" cy="12772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1100" dirty="0"/>
              <a:t>Posicione a estante em pé, no sentido vertical, e prossiga com a fixação dos parafusos no lado da coluna que estava virado para a superfície de apoio inicialmente.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3105276" y="712029"/>
            <a:ext cx="1843036" cy="612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100" dirty="0">
                <a:solidFill>
                  <a:schemeClr val="tx1"/>
                </a:solidFill>
              </a:rPr>
              <a:t>Deve ser colocado um parafuso em cada lateral da coluna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7750586" y="557719"/>
            <a:ext cx="1949813" cy="24565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100" dirty="0">
                <a:solidFill>
                  <a:schemeClr val="tx1"/>
                </a:solidFill>
              </a:rPr>
              <a:t>Após finalizada a montagem, verificar se a estante está no esquadro, tendo como base as medidas das distâncias dos locais indicados pelas setas da imagem ao lado. O ideal é que as duas medidas estejam iguais. Caso os valores sejam diferentes, realizar ajuste manual. Finalizado o ajuste basta apertar os parafusos e a estante já estará pronta pra uso.</a:t>
            </a: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97" b="100000" l="0" r="97356"/>
                    </a14:imgEffect>
                    <a14:imgEffect>
                      <a14:sharpenSoften amount="5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35" y="1558169"/>
            <a:ext cx="2943982" cy="1506544"/>
          </a:xfrm>
          <a:prstGeom prst="rect">
            <a:avLst/>
          </a:prstGeom>
        </p:spPr>
      </p:pic>
      <p:sp>
        <p:nvSpPr>
          <p:cNvPr id="22" name="Elipse 21"/>
          <p:cNvSpPr/>
          <p:nvPr/>
        </p:nvSpPr>
        <p:spPr>
          <a:xfrm rot="2411409">
            <a:off x="3043452" y="1946758"/>
            <a:ext cx="387401" cy="2138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de Seta Reta 22"/>
          <p:cNvCxnSpPr>
            <a:cxnSpLocks/>
            <a:stCxn id="17" idx="2"/>
            <a:endCxn id="22" idx="0"/>
          </p:cNvCxnSpPr>
          <p:nvPr/>
        </p:nvCxnSpPr>
        <p:spPr>
          <a:xfrm flipH="1">
            <a:off x="3306146" y="1324029"/>
            <a:ext cx="720648" cy="6479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Imagem 23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99" b="97767" l="4890" r="90379"/>
                    </a14:imgEffect>
                    <a14:imgEffect>
                      <a14:sharpenSoften amount="50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01" t="5680" r="9938" b="2514"/>
          <a:stretch/>
        </p:blipFill>
        <p:spPr>
          <a:xfrm>
            <a:off x="4994073" y="475025"/>
            <a:ext cx="2517623" cy="2640734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3611" b="92593" l="21198" r="62187"/>
                    </a14:imgEffect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9" t="11881" r="37566" b="7978"/>
          <a:stretch/>
        </p:blipFill>
        <p:spPr>
          <a:xfrm>
            <a:off x="365700" y="3794964"/>
            <a:ext cx="2178621" cy="2343667"/>
          </a:xfrm>
          <a:prstGeom prst="rect">
            <a:avLst/>
          </a:prstGeom>
        </p:spPr>
      </p:pic>
      <p:cxnSp>
        <p:nvCxnSpPr>
          <p:cNvPr id="26" name="Conector de Seta Reta 25"/>
          <p:cNvCxnSpPr/>
          <p:nvPr/>
        </p:nvCxnSpPr>
        <p:spPr>
          <a:xfrm flipH="1">
            <a:off x="2425082" y="4603991"/>
            <a:ext cx="360000" cy="142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cxnSpLocks/>
          </p:cNvCxnSpPr>
          <p:nvPr/>
        </p:nvCxnSpPr>
        <p:spPr>
          <a:xfrm>
            <a:off x="194111" y="4448849"/>
            <a:ext cx="279110" cy="2374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cxnSpLocks/>
          </p:cNvCxnSpPr>
          <p:nvPr/>
        </p:nvCxnSpPr>
        <p:spPr>
          <a:xfrm>
            <a:off x="248304" y="5443418"/>
            <a:ext cx="241036" cy="2374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2413467" y="5449788"/>
            <a:ext cx="360000" cy="142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cxnSpLocks/>
          </p:cNvCxnSpPr>
          <p:nvPr/>
        </p:nvCxnSpPr>
        <p:spPr>
          <a:xfrm>
            <a:off x="4953000" y="555140"/>
            <a:ext cx="13571" cy="58902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V="1">
            <a:off x="5259026" y="747411"/>
            <a:ext cx="2079021" cy="226688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/>
          <p:nvPr/>
        </p:nvCxnSpPr>
        <p:spPr>
          <a:xfrm flipH="1" flipV="1">
            <a:off x="5259026" y="682521"/>
            <a:ext cx="2079021" cy="222513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1025EE9-9A8F-4CE5-9B49-E87DDA3C96CA}"/>
              </a:ext>
            </a:extLst>
          </p:cNvPr>
          <p:cNvSpPr txBox="1"/>
          <p:nvPr/>
        </p:nvSpPr>
        <p:spPr>
          <a:xfrm>
            <a:off x="263947" y="3238531"/>
            <a:ext cx="1266797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dirty="0">
                <a:ln>
                  <a:solidFill>
                    <a:schemeClr val="tx1"/>
                  </a:solidFill>
                </a:ln>
              </a:rPr>
              <a:t>4º Passo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C1C51D4-E635-437E-BBC7-6D92D912397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5" y="6300600"/>
            <a:ext cx="433219" cy="265708"/>
          </a:xfrm>
          <a:prstGeom prst="rect">
            <a:avLst/>
          </a:prstGeom>
        </p:spPr>
      </p:pic>
      <p:sp>
        <p:nvSpPr>
          <p:cNvPr id="39" name="Retângulo 38">
            <a:extLst>
              <a:ext uri="{FF2B5EF4-FFF2-40B4-BE49-F238E27FC236}">
                <a16:creationId xmlns:a16="http://schemas.microsoft.com/office/drawing/2014/main" id="{251F07A3-3A9D-4676-958A-4A97409507C4}"/>
              </a:ext>
            </a:extLst>
          </p:cNvPr>
          <p:cNvSpPr/>
          <p:nvPr/>
        </p:nvSpPr>
        <p:spPr>
          <a:xfrm>
            <a:off x="699745" y="6222420"/>
            <a:ext cx="1510529" cy="44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800" b="1" dirty="0">
                <a:solidFill>
                  <a:schemeClr val="tx1"/>
                </a:solidFill>
              </a:rPr>
              <a:t>PRODUTO </a:t>
            </a:r>
          </a:p>
          <a:p>
            <a:pPr algn="just"/>
            <a:r>
              <a:rPr lang="pt-BR" sz="800" b="1" dirty="0">
                <a:solidFill>
                  <a:schemeClr val="tx1"/>
                </a:solidFill>
              </a:rPr>
              <a:t>RECICLÁVEL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5E302AC6-7CEF-42BB-BA61-4B3687F18C29}"/>
              </a:ext>
            </a:extLst>
          </p:cNvPr>
          <p:cNvSpPr/>
          <p:nvPr/>
        </p:nvSpPr>
        <p:spPr>
          <a:xfrm>
            <a:off x="5002015" y="3325673"/>
            <a:ext cx="4626465" cy="612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100" dirty="0">
                <a:solidFill>
                  <a:schemeClr val="tx1"/>
                </a:solidFill>
              </a:rPr>
              <a:t>IMPORTANTE: Para estantes com reforço em X no fundo e lateral, os reforços maiores deverão ser fixados no fundo em forma de X e os reforços menores deverão ser fixados nas laterais também em forma de X, a fixação é feita com parafusos.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0D5F9EA-80A0-4035-A065-3548E3B6CD68}"/>
              </a:ext>
            </a:extLst>
          </p:cNvPr>
          <p:cNvSpPr txBox="1"/>
          <p:nvPr/>
        </p:nvSpPr>
        <p:spPr>
          <a:xfrm>
            <a:off x="5230182" y="5688508"/>
            <a:ext cx="2309022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050" dirty="0"/>
              <a:t>Av. Coletora Secundária III, Nº 9519, </a:t>
            </a:r>
            <a:r>
              <a:rPr lang="pt-BR" sz="1050" dirty="0" err="1"/>
              <a:t>Qd</a:t>
            </a:r>
            <a:r>
              <a:rPr lang="pt-BR" sz="1050" dirty="0"/>
              <a:t> C/E Lote 00001 CEP 64.038-250 – Bairro Pedra Miúda</a:t>
            </a:r>
          </a:p>
          <a:p>
            <a:r>
              <a:rPr lang="pt-BR" sz="1050" dirty="0"/>
              <a:t>(86) 3219 1200</a:t>
            </a:r>
          </a:p>
          <a:p>
            <a:r>
              <a:rPr lang="pt-BR" sz="1050" dirty="0"/>
              <a:t>sac@soacoindustrial.com.br</a:t>
            </a:r>
          </a:p>
          <a:p>
            <a:endParaRPr lang="pt-BR" sz="1050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D4631998-8093-429B-8C6B-7FE74808817D}"/>
              </a:ext>
            </a:extLst>
          </p:cNvPr>
          <p:cNvSpPr/>
          <p:nvPr/>
        </p:nvSpPr>
        <p:spPr>
          <a:xfrm>
            <a:off x="8193360" y="6048217"/>
            <a:ext cx="1507039" cy="612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900" dirty="0">
                <a:solidFill>
                  <a:schemeClr val="tx1"/>
                </a:solidFill>
              </a:rPr>
              <a:t>MP-SA-0018:00</a:t>
            </a:r>
          </a:p>
          <a:p>
            <a:pPr algn="r"/>
            <a:r>
              <a:rPr lang="pt-BR" sz="900" dirty="0">
                <a:solidFill>
                  <a:schemeClr val="tx1"/>
                </a:solidFill>
              </a:rPr>
              <a:t>Data Rev. 18/08/2020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5C150CC7-99C1-46C1-94FB-1BC7559B9D40}"/>
              </a:ext>
            </a:extLst>
          </p:cNvPr>
          <p:cNvSpPr/>
          <p:nvPr/>
        </p:nvSpPr>
        <p:spPr>
          <a:xfrm>
            <a:off x="333667" y="107663"/>
            <a:ext cx="3971262" cy="31179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Abadi" panose="020B0604020104020204" pitchFamily="34" charset="0"/>
              </a:rPr>
              <a:t>INSTRUÇÃO DE MONTAGEM – ESTANTE DE AÇO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8DAF0535-1370-445A-BDFD-D788F72514D0}"/>
              </a:ext>
            </a:extLst>
          </p:cNvPr>
          <p:cNvSpPr/>
          <p:nvPr/>
        </p:nvSpPr>
        <p:spPr>
          <a:xfrm>
            <a:off x="5352416" y="107663"/>
            <a:ext cx="3971262" cy="31179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Abadi" panose="020B0604020104020204" pitchFamily="34" charset="0"/>
              </a:rPr>
              <a:t>INSTRUÇÃO DE MONTAGEM – ESTANTE DE AÇO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A49088B-7E91-417F-BFBF-5CEEF997D7C0}"/>
              </a:ext>
            </a:extLst>
          </p:cNvPr>
          <p:cNvSpPr txBox="1"/>
          <p:nvPr/>
        </p:nvSpPr>
        <p:spPr>
          <a:xfrm>
            <a:off x="5060657" y="4057418"/>
            <a:ext cx="1266797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dirty="0">
                <a:ln>
                  <a:solidFill>
                    <a:schemeClr val="tx1"/>
                  </a:solidFill>
                </a:ln>
              </a:rPr>
              <a:t>Limpeza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9175278B-B03F-4F26-A75A-E667608834DE}"/>
              </a:ext>
            </a:extLst>
          </p:cNvPr>
          <p:cNvSpPr/>
          <p:nvPr/>
        </p:nvSpPr>
        <p:spPr>
          <a:xfrm>
            <a:off x="5002015" y="4438772"/>
            <a:ext cx="4626465" cy="106182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Passar um pano levemente umedecido com água ou detergente neutro e em seguida um pano seco para as limpezas do dia a dia.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Nunca use produtos abrasivos, como saponáceos, esponja de aço, escova com cerdas duras, entre outros. - Evitar expor/utilizar os produtos em ambientes com alta umidade, exemplo: câmaras frias, saunas e áreas molhadas.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Não armazenar produtos corrosivos, exemplo: ácido, cloro </a:t>
            </a:r>
            <a:r>
              <a:rPr lang="pt-BR" sz="1100" dirty="0" err="1">
                <a:solidFill>
                  <a:schemeClr val="tx1"/>
                </a:solidFill>
              </a:rPr>
              <a:t>etc</a:t>
            </a:r>
            <a:endParaRPr lang="pt-BR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5269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4217435</TotalTime>
  <Words>554</Words>
  <Application>Microsoft Office PowerPoint</Application>
  <PresentationFormat>Papel A4 (210 x 297 mm)</PresentationFormat>
  <Paragraphs>59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Abadi</vt:lpstr>
      <vt:lpstr>Arial</vt:lpstr>
      <vt:lpstr>Calibri</vt:lpstr>
      <vt:lpstr>Tema do Office</vt:lpstr>
      <vt:lpstr>1_Tema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soaco</dc:creator>
  <cp:lastModifiedBy>Eliel Lima</cp:lastModifiedBy>
  <cp:revision>499</cp:revision>
  <cp:lastPrinted>2020-08-18T13:44:38Z</cp:lastPrinted>
  <dcterms:created xsi:type="dcterms:W3CDTF">2017-01-16T11:13:17Z</dcterms:created>
  <dcterms:modified xsi:type="dcterms:W3CDTF">2021-08-26T13:35:21Z</dcterms:modified>
</cp:coreProperties>
</file>