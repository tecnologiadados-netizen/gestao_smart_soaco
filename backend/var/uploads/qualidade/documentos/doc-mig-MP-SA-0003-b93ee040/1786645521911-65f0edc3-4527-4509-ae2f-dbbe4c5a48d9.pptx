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274" r:id="rId4"/>
    <p:sldId id="276" r:id="rId5"/>
    <p:sldId id="257" r:id="rId6"/>
    <p:sldId id="270" r:id="rId7"/>
    <p:sldId id="273" r:id="rId8"/>
    <p:sldId id="271" r:id="rId9"/>
    <p:sldId id="268" r:id="rId10"/>
    <p:sldId id="275" r:id="rId11"/>
    <p:sldId id="277" r:id="rId12"/>
    <p:sldId id="278" r:id="rId13"/>
    <p:sldId id="272" r:id="rId14"/>
  </p:sldIdLst>
  <p:sldSz cx="6858000" cy="9906000" type="A4"/>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1897" autoAdjust="0"/>
  </p:normalViewPr>
  <p:slideViewPr>
    <p:cSldViewPr showGuides="1">
      <p:cViewPr varScale="1">
        <p:scale>
          <a:sx n="77" d="100"/>
          <a:sy n="77" d="100"/>
        </p:scale>
        <p:origin x="3102" y="114"/>
      </p:cViewPr>
      <p:guideLst>
        <p:guide orient="horz" pos="3119"/>
        <p:guide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16/12/2021</a:t>
            </a:fld>
            <a:endParaRPr lang="pt-BR"/>
          </a:p>
        </p:txBody>
      </p:sp>
      <p:sp>
        <p:nvSpPr>
          <p:cNvPr id="4" name="Espaço Reservado para Imagem de Slide 3"/>
          <p:cNvSpPr>
            <a:spLocks noGrp="1" noRot="1" noChangeAspect="1"/>
          </p:cNvSpPr>
          <p:nvPr>
            <p:ph type="sldImg" idx="2"/>
          </p:nvPr>
        </p:nvSpPr>
        <p:spPr>
          <a:xfrm>
            <a:off x="2143125" y="750888"/>
            <a:ext cx="260191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28"/>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8384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4</a:t>
            </a:fld>
            <a:endParaRPr lang="pt-BR"/>
          </a:p>
        </p:txBody>
      </p:sp>
    </p:spTree>
    <p:extLst>
      <p:ext uri="{BB962C8B-B14F-4D97-AF65-F5344CB8AC3E}">
        <p14:creationId xmlns:p14="http://schemas.microsoft.com/office/powerpoint/2010/main" val="2745813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5</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8</a:t>
            </a:fld>
            <a:endParaRPr lang="pt-BR"/>
          </a:p>
        </p:txBody>
      </p:sp>
    </p:spTree>
    <p:extLst>
      <p:ext uri="{BB962C8B-B14F-4D97-AF65-F5344CB8AC3E}">
        <p14:creationId xmlns:p14="http://schemas.microsoft.com/office/powerpoint/2010/main" val="742853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11AC81D-F00A-4827-A703-3C0D445EB022}"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D1D2AD8-56C7-4730-81A3-F6C5FAADA359}"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E29E6F26-40DE-4B52-A781-4BC8EFF4F8A4}"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3F7730DF-6810-4948-876A-5238452348F4}"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EF6986-E8F5-4AE8-84CE-76D530498E52}" type="datetime1">
              <a:rPr lang="pt-BR" smtClean="0"/>
              <a:t>16/12/2021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BB8614-5CD0-4073-B427-9822F8FE630A}" type="datetime1">
              <a:rPr lang="pt-BR" smtClean="0"/>
              <a:t>16/12/2021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A113F0-2AEE-472C-84E2-03C9B57727C0}" type="datetime1">
              <a:rPr lang="pt-BR" smtClean="0"/>
              <a:t>16/12/2021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8E070D2-94BC-48E5-B127-F2DFB91F768A}"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880EC5B0-C529-45C5-8187-D18054ED49EE}" type="datetime1">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5DB8301-19F6-49C6-9F02-EA6B70895F07}"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E58C0016-1382-42F4-A486-D110CC0B9456}" type="datetime1">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45783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531031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58863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120161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16/12/2021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714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16/12/2021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983702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16/12/2021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9021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465306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16/12/2021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231251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661561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2753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D71D3B16-BA37-4540-B7FD-29529CECC0E0}" type="datetime1">
              <a:rPr lang="pt-BR" smtClean="0"/>
              <a:t>16/12/2021</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4AD7A122-14BC-4870-B74C-82AB71BD4EFB}" type="datetimeFigureOut">
              <a:rPr lang="pt-BR" smtClean="0"/>
              <a:t>16/12/2021</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948341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soacoindustrial.com.br/" TargetMode="External"/><Relationship Id="rId2" Type="http://schemas.openxmlformats.org/officeDocument/2006/relationships/image" Target="../media/image11.jpeg"/><Relationship Id="rId1" Type="http://schemas.openxmlformats.org/officeDocument/2006/relationships/slideLayout" Target="../slideLayouts/slideLayout13.xml"/><Relationship Id="rId5" Type="http://schemas.openxmlformats.org/officeDocument/2006/relationships/image" Target="../media/image2.jpeg"/><Relationship Id="rId4" Type="http://schemas.openxmlformats.org/officeDocument/2006/relationships/hyperlink" Target="mailto:sac@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1" name="CaixaDeTexto 140"/>
          <p:cNvSpPr txBox="1"/>
          <p:nvPr/>
        </p:nvSpPr>
        <p:spPr>
          <a:xfrm>
            <a:off x="315860" y="210253"/>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NATURAL</a:t>
            </a:r>
          </a:p>
        </p:txBody>
      </p:sp>
      <p:cxnSp>
        <p:nvCxnSpPr>
          <p:cNvPr id="3" name="Conector reto 2">
            <a:extLst>
              <a:ext uri="{FF2B5EF4-FFF2-40B4-BE49-F238E27FC236}">
                <a16:creationId xmlns:a16="http://schemas.microsoft.com/office/drawing/2014/main" id="{028337A0-0653-400B-861B-19331BCEEE53}"/>
              </a:ext>
            </a:extLst>
          </p:cNvPr>
          <p:cNvCxnSpPr>
            <a:cxnSpLocks/>
          </p:cNvCxnSpPr>
          <p:nvPr/>
        </p:nvCxnSpPr>
        <p:spPr>
          <a:xfrm>
            <a:off x="9643" y="141783"/>
            <a:ext cx="68387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a:cxnSpLocks/>
          </p:cNvCxnSpPr>
          <p:nvPr/>
        </p:nvCxnSpPr>
        <p:spPr>
          <a:xfrm>
            <a:off x="9643" y="620759"/>
            <a:ext cx="68387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1A6FB963-CC61-4B50-85F2-FDE336ACBEB4}"/>
              </a:ext>
            </a:extLst>
          </p:cNvPr>
          <p:cNvSpPr txBox="1"/>
          <p:nvPr/>
        </p:nvSpPr>
        <p:spPr>
          <a:xfrm>
            <a:off x="3599318" y="5975271"/>
            <a:ext cx="3280808" cy="1362296"/>
          </a:xfrm>
          <a:prstGeom prst="rect">
            <a:avLst/>
          </a:prstGeom>
          <a:noFill/>
        </p:spPr>
        <p:txBody>
          <a:bodyPr wrap="square" rtlCol="0">
            <a:spAutoFit/>
          </a:bodyPr>
          <a:lstStyle/>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Instruções</a:t>
            </a:r>
          </a:p>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Especificações</a:t>
            </a:r>
          </a:p>
          <a:p>
            <a:pPr marL="449233" indent="-449233" defTabSz="1366508">
              <a:buFont typeface="Wingdings" panose="05000000000000000000" pitchFamily="2" charset="2"/>
              <a:buChar char="ü"/>
              <a:defRPr/>
            </a:pPr>
            <a:r>
              <a:rPr lang="pt-BR" sz="2751" b="1" dirty="0">
                <a:solidFill>
                  <a:prstClr val="black"/>
                </a:solidFill>
                <a:latin typeface="Monda" pitchFamily="2" charset="0"/>
                <a:cs typeface="Arial" panose="020B0604020202020204" pitchFamily="34" charset="0"/>
              </a:rPr>
              <a:t>Garantia</a:t>
            </a:r>
          </a:p>
        </p:txBody>
      </p:sp>
      <p:sp>
        <p:nvSpPr>
          <p:cNvPr id="12" name="CaixaDeTexto 11">
            <a:extLst>
              <a:ext uri="{FF2B5EF4-FFF2-40B4-BE49-F238E27FC236}">
                <a16:creationId xmlns:a16="http://schemas.microsoft.com/office/drawing/2014/main" id="{041A7CB0-8B4D-427E-A547-A67EB8EF1759}"/>
              </a:ext>
            </a:extLst>
          </p:cNvPr>
          <p:cNvSpPr txBox="1"/>
          <p:nvPr/>
        </p:nvSpPr>
        <p:spPr>
          <a:xfrm>
            <a:off x="3343191" y="7698354"/>
            <a:ext cx="3453280" cy="1301959"/>
          </a:xfrm>
          <a:prstGeom prst="rect">
            <a:avLst/>
          </a:prstGeom>
          <a:noFill/>
        </p:spPr>
        <p:txBody>
          <a:bodyPr wrap="square" rtlCol="0">
            <a:spAutoFit/>
          </a:bodyPr>
          <a:lstStyle/>
          <a:p>
            <a:pPr algn="just" defTabSz="1366508">
              <a:defRPr/>
            </a:pPr>
            <a:r>
              <a:rPr lang="pt-BR" sz="1572" dirty="0">
                <a:solidFill>
                  <a:prstClr val="black"/>
                </a:solidFill>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4" name="Imagem 3">
            <a:extLst>
              <a:ext uri="{FF2B5EF4-FFF2-40B4-BE49-F238E27FC236}">
                <a16:creationId xmlns:a16="http://schemas.microsoft.com/office/drawing/2014/main" id="{4ADA277A-830F-47B6-88F8-183D5C066F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089" y="3935303"/>
            <a:ext cx="2996395" cy="3370793"/>
          </a:xfrm>
          <a:prstGeom prst="rect">
            <a:avLst/>
          </a:prstGeom>
        </p:spPr>
      </p:pic>
      <p:sp>
        <p:nvSpPr>
          <p:cNvPr id="124" name="CaixaDeTexto 123">
            <a:extLst>
              <a:ext uri="{FF2B5EF4-FFF2-40B4-BE49-F238E27FC236}">
                <a16:creationId xmlns:a16="http://schemas.microsoft.com/office/drawing/2014/main" id="{366BB4C6-C283-425E-A7D5-D29A3DB6C113}"/>
              </a:ext>
            </a:extLst>
          </p:cNvPr>
          <p:cNvSpPr txBox="1"/>
          <p:nvPr/>
        </p:nvSpPr>
        <p:spPr>
          <a:xfrm>
            <a:off x="271424" y="4980235"/>
            <a:ext cx="386260" cy="2325861"/>
          </a:xfrm>
          <a:prstGeom prst="rect">
            <a:avLst/>
          </a:prstGeom>
          <a:noFill/>
        </p:spPr>
        <p:txBody>
          <a:bodyPr vert="vert270" wrap="square" rtlCol="0">
            <a:spAutoFit/>
          </a:bodyPr>
          <a:lstStyle/>
          <a:p>
            <a:pPr algn="just" defTabSz="1366508">
              <a:defRPr/>
            </a:pPr>
            <a:r>
              <a:rPr lang="pt-BR" sz="1310" i="1" dirty="0">
                <a:solidFill>
                  <a:prstClr val="black"/>
                </a:solidFill>
                <a:latin typeface="Arial" panose="020B0604020202020204" pitchFamily="34" charset="0"/>
                <a:cs typeface="Arial" panose="020B0604020202020204" pitchFamily="34" charset="0"/>
              </a:rPr>
              <a:t>Modelo: BVNVSC-120 </a:t>
            </a:r>
          </a:p>
        </p:txBody>
      </p:sp>
      <p:sp>
        <p:nvSpPr>
          <p:cNvPr id="69" name="CaixaDeTexto 68">
            <a:extLst>
              <a:ext uri="{FF2B5EF4-FFF2-40B4-BE49-F238E27FC236}">
                <a16:creationId xmlns:a16="http://schemas.microsoft.com/office/drawing/2014/main" id="{5DC4F30F-C700-4806-B846-809DEB299A17}"/>
              </a:ext>
            </a:extLst>
          </p:cNvPr>
          <p:cNvSpPr txBox="1"/>
          <p:nvPr/>
        </p:nvSpPr>
        <p:spPr>
          <a:xfrm>
            <a:off x="1456439" y="1809211"/>
            <a:ext cx="4210698" cy="1705082"/>
          </a:xfrm>
          <a:prstGeom prst="rect">
            <a:avLst/>
          </a:prstGeom>
          <a:noFill/>
        </p:spPr>
        <p:txBody>
          <a:bodyPr wrap="square" rtlCol="0">
            <a:spAutoFit/>
          </a:bodyPr>
          <a:lstStyle/>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cxnSp>
        <p:nvCxnSpPr>
          <p:cNvPr id="82" name="Conector reto 81">
            <a:extLst>
              <a:ext uri="{FF2B5EF4-FFF2-40B4-BE49-F238E27FC236}">
                <a16:creationId xmlns:a16="http://schemas.microsoft.com/office/drawing/2014/main" id="{F41EAA0E-86AF-4FFD-9AA7-3C94E0F37621}"/>
              </a:ext>
            </a:extLst>
          </p:cNvPr>
          <p:cNvCxnSpPr>
            <a:cxnSpLocks/>
          </p:cNvCxnSpPr>
          <p:nvPr/>
        </p:nvCxnSpPr>
        <p:spPr>
          <a:xfrm>
            <a:off x="40540" y="9669879"/>
            <a:ext cx="6749104"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83" name="Imagem 82">
            <a:extLst>
              <a:ext uri="{FF2B5EF4-FFF2-40B4-BE49-F238E27FC236}">
                <a16:creationId xmlns:a16="http://schemas.microsoft.com/office/drawing/2014/main" id="{550DB26B-D890-4B61-8C32-0F6C940B8C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624" y="9332615"/>
            <a:ext cx="915445" cy="274332"/>
          </a:xfrm>
          <a:prstGeom prst="rect">
            <a:avLst/>
          </a:prstGeom>
        </p:spPr>
      </p:pic>
      <p:pic>
        <p:nvPicPr>
          <p:cNvPr id="84" name="Imagem 83">
            <a:extLst>
              <a:ext uri="{FF2B5EF4-FFF2-40B4-BE49-F238E27FC236}">
                <a16:creationId xmlns:a16="http://schemas.microsoft.com/office/drawing/2014/main" id="{09BFDD60-5937-4E35-B520-2D368DB4A7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00884" y="9332615"/>
            <a:ext cx="915445" cy="274332"/>
          </a:xfrm>
          <a:prstGeom prst="rect">
            <a:avLst/>
          </a:prstGeom>
        </p:spPr>
      </p:pic>
      <p:pic>
        <p:nvPicPr>
          <p:cNvPr id="85" name="Imagem 84">
            <a:extLst>
              <a:ext uri="{FF2B5EF4-FFF2-40B4-BE49-F238E27FC236}">
                <a16:creationId xmlns:a16="http://schemas.microsoft.com/office/drawing/2014/main" id="{2E6AADCF-2875-422D-8BDE-C23E84593F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7144" y="9332615"/>
            <a:ext cx="915445" cy="274332"/>
          </a:xfrm>
          <a:prstGeom prst="rect">
            <a:avLst/>
          </a:prstGeom>
        </p:spPr>
      </p:pic>
      <p:pic>
        <p:nvPicPr>
          <p:cNvPr id="86" name="Imagem 85">
            <a:extLst>
              <a:ext uri="{FF2B5EF4-FFF2-40B4-BE49-F238E27FC236}">
                <a16:creationId xmlns:a16="http://schemas.microsoft.com/office/drawing/2014/main" id="{13EF0E57-F2B5-4FA5-8B5A-1C98D82BE4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3404" y="9332615"/>
            <a:ext cx="915445" cy="274332"/>
          </a:xfrm>
          <a:prstGeom prst="rect">
            <a:avLst/>
          </a:prstGeom>
        </p:spPr>
      </p:pic>
      <p:pic>
        <p:nvPicPr>
          <p:cNvPr id="87" name="Imagem 86">
            <a:extLst>
              <a:ext uri="{FF2B5EF4-FFF2-40B4-BE49-F238E27FC236}">
                <a16:creationId xmlns:a16="http://schemas.microsoft.com/office/drawing/2014/main" id="{355B4DC3-70C9-4AE0-AA65-043C83D576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9664" y="9332615"/>
            <a:ext cx="915445" cy="274332"/>
          </a:xfrm>
          <a:prstGeom prst="rect">
            <a:avLst/>
          </a:prstGeom>
        </p:spPr>
      </p:pic>
      <p:pic>
        <p:nvPicPr>
          <p:cNvPr id="88" name="Imagem 87">
            <a:extLst>
              <a:ext uri="{FF2B5EF4-FFF2-40B4-BE49-F238E27FC236}">
                <a16:creationId xmlns:a16="http://schemas.microsoft.com/office/drawing/2014/main" id="{10F7EB3B-A5FF-4601-BF92-057E449539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25923" y="9332615"/>
            <a:ext cx="915445" cy="274332"/>
          </a:xfrm>
          <a:prstGeom prst="rect">
            <a:avLst/>
          </a:prstGeom>
        </p:spPr>
      </p:pic>
      <p:cxnSp>
        <p:nvCxnSpPr>
          <p:cNvPr id="89" name="Conector reto 88">
            <a:extLst>
              <a:ext uri="{FF2B5EF4-FFF2-40B4-BE49-F238E27FC236}">
                <a16:creationId xmlns:a16="http://schemas.microsoft.com/office/drawing/2014/main" id="{DB9F43C5-5907-46A1-A1A2-82C59882BB98}"/>
              </a:ext>
            </a:extLst>
          </p:cNvPr>
          <p:cNvCxnSpPr>
            <a:cxnSpLocks/>
          </p:cNvCxnSpPr>
          <p:nvPr/>
        </p:nvCxnSpPr>
        <p:spPr>
          <a:xfrm>
            <a:off x="40892" y="9246589"/>
            <a:ext cx="67484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597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325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68413" y="747986"/>
            <a:ext cx="6603631" cy="1866345"/>
          </a:xfrm>
          <a:prstGeom prst="rect">
            <a:avLst/>
          </a:prstGeom>
          <a:noFill/>
        </p:spPr>
        <p:txBody>
          <a:bodyPr wrap="square" rtlCol="0">
            <a:spAutoFit/>
          </a:bodyPr>
          <a:lstStyle/>
          <a:p>
            <a:pPr algn="just"/>
            <a:r>
              <a:rPr lang="pt-BR" sz="1310" dirty="0"/>
              <a:t>Gostaríamos de parabeniza-lo(a)  pela aquisição de seu novo produto “Balcão refrigerado” fabricado pela </a:t>
            </a:r>
            <a:r>
              <a:rPr lang="pt-BR" sz="1310" i="1" dirty="0"/>
              <a:t>Só Aço Industrial LTDA</a:t>
            </a:r>
            <a:r>
              <a:rPr lang="pt-BR" sz="1310" dirty="0"/>
              <a:t>. Buscando a melhor análise de custo/beneficio pelo cliente, a Só Aço Industrial, sempre busca inovar em seus processos, aumentar a eficiência com que atende o cliente e inserir no mercado produtos de alta qualidade.</a:t>
            </a:r>
          </a:p>
          <a:p>
            <a:pPr algn="just"/>
            <a:r>
              <a:rPr lang="pt-BR" sz="1310" dirty="0"/>
              <a:t>Portanto, sugerimos a leitura  deste manual de maneira minuciosa e qualquer dúvidas ficaremos satisfeitos em sana-las.</a:t>
            </a:r>
          </a:p>
          <a:p>
            <a:pPr algn="just"/>
            <a:endParaRPr lang="pt-BR" sz="1310" dirty="0"/>
          </a:p>
          <a:p>
            <a:pPr algn="r"/>
            <a:r>
              <a:rPr lang="pt-BR" sz="1310" b="1" dirty="0"/>
              <a:t>Só Aço Industrial LTDA</a:t>
            </a:r>
            <a:r>
              <a:rPr lang="pt-BR" sz="1310" dirty="0"/>
              <a:t> </a:t>
            </a:r>
          </a:p>
          <a:p>
            <a:pPr algn="just"/>
            <a:r>
              <a:rPr lang="pt-BR" sz="1048" dirty="0"/>
              <a:t> </a:t>
            </a:r>
          </a:p>
        </p:txBody>
      </p:sp>
      <p:sp>
        <p:nvSpPr>
          <p:cNvPr id="8" name="Retângulo 7">
            <a:extLst>
              <a:ext uri="{FF2B5EF4-FFF2-40B4-BE49-F238E27FC236}">
                <a16:creationId xmlns:a16="http://schemas.microsoft.com/office/drawing/2014/main" id="{4BBA1114-1AF9-43DB-9BE1-B680876876D7}"/>
              </a:ext>
            </a:extLst>
          </p:cNvPr>
          <p:cNvSpPr/>
          <p:nvPr/>
        </p:nvSpPr>
        <p:spPr>
          <a:xfrm>
            <a:off x="68413" y="200472"/>
            <a:ext cx="6721173" cy="455189"/>
          </a:xfrm>
          <a:prstGeom prst="rect">
            <a:avLst/>
          </a:prstGeom>
          <a:solidFill>
            <a:schemeClr val="bg1">
              <a:lumMod val="85000"/>
            </a:schemeClr>
          </a:solidFill>
        </p:spPr>
        <p:txBody>
          <a:bodyPr wrap="square" rtlCol="0" anchor="ctr">
            <a:spAutoFit/>
          </a:bodyPr>
          <a:lstStyle/>
          <a:p>
            <a:r>
              <a:rPr lang="pt-BR" sz="2358" dirty="0">
                <a:latin typeface="Arial Rounded MT Bold" panose="020F0704030504030204" pitchFamily="34" charset="0"/>
              </a:rPr>
              <a:t>APRESENTAÇÃO</a:t>
            </a:r>
          </a:p>
        </p:txBody>
      </p:sp>
      <p:sp>
        <p:nvSpPr>
          <p:cNvPr id="2" name="CaixaDeTexto 1">
            <a:extLst>
              <a:ext uri="{FF2B5EF4-FFF2-40B4-BE49-F238E27FC236}">
                <a16:creationId xmlns:a16="http://schemas.microsoft.com/office/drawing/2014/main" id="{68D55697-2B46-4B29-B96B-8BE932CFF598}"/>
              </a:ext>
            </a:extLst>
          </p:cNvPr>
          <p:cNvSpPr txBox="1"/>
          <p:nvPr/>
        </p:nvSpPr>
        <p:spPr>
          <a:xfrm>
            <a:off x="68413" y="2643109"/>
            <a:ext cx="6603631" cy="908839"/>
          </a:xfrm>
          <a:prstGeom prst="rect">
            <a:avLst/>
          </a:prstGeom>
          <a:noFill/>
        </p:spPr>
        <p:txBody>
          <a:bodyPr wrap="square" rtlCol="0">
            <a:spAutoFit/>
          </a:bodyPr>
          <a:lstStyle/>
          <a:p>
            <a:pPr algn="just"/>
            <a:r>
              <a:rPr lang="pt-BR" sz="1376" b="1" dirty="0"/>
              <a:t>NOTA: </a:t>
            </a:r>
            <a:r>
              <a:rPr lang="pt-BR" sz="1310" i="1" dirty="0"/>
              <a:t>Guarde a </a:t>
            </a:r>
            <a:r>
              <a:rPr lang="pt-BR" sz="1310" i="1" u="sng" dirty="0"/>
              <a:t>nota fiscal </a:t>
            </a:r>
            <a:r>
              <a:rPr lang="pt-BR" sz="131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 name="Retângulo 2">
            <a:extLst>
              <a:ext uri="{FF2B5EF4-FFF2-40B4-BE49-F238E27FC236}">
                <a16:creationId xmlns:a16="http://schemas.microsoft.com/office/drawing/2014/main" id="{CD107282-333D-4746-982F-87E1388086CA}"/>
              </a:ext>
            </a:extLst>
          </p:cNvPr>
          <p:cNvSpPr/>
          <p:nvPr/>
        </p:nvSpPr>
        <p:spPr>
          <a:xfrm>
            <a:off x="68413" y="3758234"/>
            <a:ext cx="672117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41" b="1" dirty="0">
                <a:solidFill>
                  <a:schemeClr val="tx1"/>
                </a:solidFill>
              </a:rPr>
              <a:t>Índice</a:t>
            </a:r>
          </a:p>
        </p:txBody>
      </p:sp>
      <p:graphicFrame>
        <p:nvGraphicFramePr>
          <p:cNvPr id="9" name="Tabela 8">
            <a:extLst>
              <a:ext uri="{FF2B5EF4-FFF2-40B4-BE49-F238E27FC236}">
                <a16:creationId xmlns:a16="http://schemas.microsoft.com/office/drawing/2014/main" id="{8471ED97-07C0-4B08-9321-72D47013FB0D}"/>
              </a:ext>
            </a:extLst>
          </p:cNvPr>
          <p:cNvGraphicFramePr>
            <a:graphicFrameLocks noGrp="1"/>
          </p:cNvGraphicFramePr>
          <p:nvPr>
            <p:extLst>
              <p:ext uri="{D42A27DB-BD31-4B8C-83A1-F6EECF244321}">
                <p14:modId xmlns:p14="http://schemas.microsoft.com/office/powerpoint/2010/main" val="2118941642"/>
              </p:ext>
            </p:extLst>
          </p:nvPr>
        </p:nvGraphicFramePr>
        <p:xfrm>
          <a:off x="64578" y="4296111"/>
          <a:ext cx="6721173" cy="2940673"/>
        </p:xfrm>
        <a:graphic>
          <a:graphicData uri="http://schemas.openxmlformats.org/drawingml/2006/table">
            <a:tbl>
              <a:tblPr>
                <a:tableStyleId>{5C22544A-7EE6-4342-B048-85BDC9FD1C3A}</a:tableStyleId>
              </a:tblPr>
              <a:tblGrid>
                <a:gridCol w="6041440">
                  <a:extLst>
                    <a:ext uri="{9D8B030D-6E8A-4147-A177-3AD203B41FA5}">
                      <a16:colId xmlns:a16="http://schemas.microsoft.com/office/drawing/2014/main" val="1649317139"/>
                    </a:ext>
                  </a:extLst>
                </a:gridCol>
                <a:gridCol w="679733">
                  <a:extLst>
                    <a:ext uri="{9D8B030D-6E8A-4147-A177-3AD203B41FA5}">
                      <a16:colId xmlns:a16="http://schemas.microsoft.com/office/drawing/2014/main" val="3475215270"/>
                    </a:ext>
                  </a:extLst>
                </a:gridCol>
              </a:tblGrid>
              <a:tr h="249574">
                <a:tc>
                  <a:txBody>
                    <a:bodyPr/>
                    <a:lstStyle/>
                    <a:p>
                      <a:pPr algn="l" fontAlgn="b"/>
                      <a:r>
                        <a:rPr lang="pt-BR" sz="1200" u="none" strike="noStrike" dirty="0">
                          <a:effectLst/>
                          <a:latin typeface="Arial" panose="020B0604020202020204" pitchFamily="34" charset="0"/>
                          <a:cs typeface="Arial" panose="020B0604020202020204" pitchFamily="34" charset="0"/>
                        </a:rPr>
                        <a:t>Apresentação .....................................................................................................................</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1</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741572"/>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Para sua segurança............................................................................................................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4642009"/>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Instalação............................................................................................................................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84776"/>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Utilização.............................................................................................................................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2</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39741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Iluminação...........................................................................................................................</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389243"/>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Troca da lâmpada...............................................................................................................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3</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17531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Limpeza..............................................................................................................................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648284"/>
                  </a:ext>
                </a:extLst>
              </a:tr>
              <a:tr h="249574">
                <a:tc>
                  <a:txBody>
                    <a:bodyPr/>
                    <a:lstStyle/>
                    <a:p>
                      <a:pPr algn="l" fontAlgn="b"/>
                      <a:r>
                        <a:rPr lang="pt-BR" sz="1200" b="0" i="0" u="none" strike="noStrike" dirty="0">
                          <a:solidFill>
                            <a:srgbClr val="000000"/>
                          </a:solidFill>
                          <a:effectLst/>
                          <a:latin typeface="Arial" panose="020B0604020202020204" pitchFamily="34" charset="0"/>
                          <a:cs typeface="Arial" panose="020B0604020202020204" pitchFamily="34" charset="0"/>
                        </a:rPr>
                        <a:t>Prateleiras...........................................................................................................................</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945888"/>
                  </a:ext>
                </a:extLst>
              </a:tr>
              <a:tr h="192172">
                <a:tc>
                  <a:txBody>
                    <a:bodyPr/>
                    <a:lstStyle/>
                    <a:p>
                      <a:pPr algn="l" fontAlgn="b"/>
                      <a:r>
                        <a:rPr lang="pt-BR" sz="1200" u="none" strike="noStrike" dirty="0">
                          <a:effectLst/>
                          <a:latin typeface="Arial" panose="020B0604020202020204" pitchFamily="34" charset="0"/>
                          <a:cs typeface="Arial" panose="020B0604020202020204" pitchFamily="34" charset="0"/>
                        </a:rPr>
                        <a:t>Recomendações.................................................................................................................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493560"/>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Características gerais..........................................................................................................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5</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518565"/>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Ocorrências de Defeitos......................................................................................................</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6</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6489344"/>
                  </a:ext>
                </a:extLst>
              </a:tr>
              <a:tr h="249574">
                <a:tc>
                  <a:txBody>
                    <a:bodyPr/>
                    <a:lstStyle/>
                    <a:p>
                      <a:pPr algn="l" fontAlgn="b"/>
                      <a:r>
                        <a:rPr lang="pt-BR" sz="1200" u="none" strike="noStrike" dirty="0">
                          <a:effectLst/>
                          <a:latin typeface="Arial" panose="020B0604020202020204" pitchFamily="34" charset="0"/>
                          <a:cs typeface="Arial" panose="020B0604020202020204" pitchFamily="34" charset="0"/>
                        </a:rPr>
                        <a:t>Termos de Garantia.............................................................................................................</a:t>
                      </a:r>
                      <a:endParaRPr lang="pt-BR" sz="1200" b="0" i="0" u="none" strike="noStrike" dirty="0">
                        <a:solidFill>
                          <a:srgbClr val="000000"/>
                        </a:solidFill>
                        <a:effectLst/>
                        <a:latin typeface="Arial" panose="020B0604020202020204" pitchFamily="34" charset="0"/>
                        <a:cs typeface="Arial" panose="020B0604020202020204" pitchFamily="34" charset="0"/>
                      </a:endParaRP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1200" b="0" i="0" u="none" strike="noStrike" dirty="0">
                          <a:solidFill>
                            <a:srgbClr val="000000"/>
                          </a:solidFill>
                          <a:effectLst/>
                          <a:latin typeface="Arial" panose="020B0604020202020204" pitchFamily="34" charset="0"/>
                          <a:cs typeface="Arial" panose="020B0604020202020204" pitchFamily="34" charset="0"/>
                        </a:rPr>
                        <a:t>7</a:t>
                      </a:r>
                    </a:p>
                  </a:txBody>
                  <a:tcPr marL="12479" marR="12479" marT="1247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349956"/>
                  </a:ext>
                </a:extLst>
              </a:tr>
            </a:tbl>
          </a:graphicData>
        </a:graphic>
      </p:graphicFrame>
      <p:sp>
        <p:nvSpPr>
          <p:cNvPr id="10" name="CaixaDeTexto 9">
            <a:extLst>
              <a:ext uri="{FF2B5EF4-FFF2-40B4-BE49-F238E27FC236}">
                <a16:creationId xmlns:a16="http://schemas.microsoft.com/office/drawing/2014/main" id="{CE87DAD6-2E8E-48FE-BFD6-31CEFD67260E}"/>
              </a:ext>
            </a:extLst>
          </p:cNvPr>
          <p:cNvSpPr txBox="1"/>
          <p:nvPr/>
        </p:nvSpPr>
        <p:spPr>
          <a:xfrm>
            <a:off x="3122523" y="9508291"/>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01</a:t>
            </a:r>
          </a:p>
        </p:txBody>
      </p:sp>
    </p:spTree>
    <p:extLst>
      <p:ext uri="{BB962C8B-B14F-4D97-AF65-F5344CB8AC3E}">
        <p14:creationId xmlns:p14="http://schemas.microsoft.com/office/powerpoint/2010/main" val="1745526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tângulo 14">
            <a:extLst>
              <a:ext uri="{FF2B5EF4-FFF2-40B4-BE49-F238E27FC236}">
                <a16:creationId xmlns:a16="http://schemas.microsoft.com/office/drawing/2014/main" id="{82323E52-BACF-48AD-B8FA-8F60F81D68A0}"/>
              </a:ext>
            </a:extLst>
          </p:cNvPr>
          <p:cNvSpPr/>
          <p:nvPr/>
        </p:nvSpPr>
        <p:spPr>
          <a:xfrm>
            <a:off x="153070" y="128464"/>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 Para sua segurança</a:t>
            </a:r>
          </a:p>
        </p:txBody>
      </p:sp>
      <p:sp>
        <p:nvSpPr>
          <p:cNvPr id="16" name="CaixaDeTexto 15">
            <a:extLst>
              <a:ext uri="{FF2B5EF4-FFF2-40B4-BE49-F238E27FC236}">
                <a16:creationId xmlns:a16="http://schemas.microsoft.com/office/drawing/2014/main" id="{D020CBAE-9A36-4705-8C13-3EB891B71474}"/>
              </a:ext>
            </a:extLst>
          </p:cNvPr>
          <p:cNvSpPr txBox="1"/>
          <p:nvPr/>
        </p:nvSpPr>
        <p:spPr>
          <a:xfrm>
            <a:off x="83621" y="459857"/>
            <a:ext cx="3696842" cy="2108269"/>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1.1 Não instale o balcão próximo a fontes de calor ou produtos inflamáveis</a:t>
            </a:r>
          </a:p>
          <a:p>
            <a:pPr algn="just"/>
            <a:r>
              <a:rPr lang="pt-BR" sz="1310" dirty="0">
                <a:latin typeface="Arial" panose="020B0604020202020204" pitchFamily="34" charset="0"/>
                <a:cs typeface="Arial" panose="020B0604020202020204" pitchFamily="34" charset="0"/>
              </a:rPr>
              <a:t>1.2 Utilize uma tomada exclusiva para a ligação do balcão, não faça o uso de extensões ou conectores</a:t>
            </a:r>
          </a:p>
          <a:p>
            <a:pPr algn="just"/>
            <a:r>
              <a:rPr lang="pt-BR" sz="1310" dirty="0">
                <a:latin typeface="Arial" panose="020B0604020202020204" pitchFamily="34" charset="0"/>
                <a:cs typeface="Arial" panose="020B0604020202020204" pitchFamily="34" charset="0"/>
              </a:rPr>
              <a:t>1.3 Não desligue o balcão puxando pelo cabo elétrico. O manuseio deve ser realizado através do plug do cabo.</a:t>
            </a:r>
          </a:p>
          <a:p>
            <a:pPr algn="just"/>
            <a:r>
              <a:rPr lang="pt-BR" sz="1310" dirty="0">
                <a:latin typeface="Arial" panose="020B0604020202020204" pitchFamily="34" charset="0"/>
                <a:cs typeface="Arial" panose="020B0604020202020204" pitchFamily="34" charset="0"/>
              </a:rPr>
              <a:t>1.4 Desligue o balcão da tomada sempre que fizer limpeza ou manutenção. </a:t>
            </a:r>
          </a:p>
        </p:txBody>
      </p:sp>
      <p:pic>
        <p:nvPicPr>
          <p:cNvPr id="19" name="Imagem 18">
            <a:extLst>
              <a:ext uri="{FF2B5EF4-FFF2-40B4-BE49-F238E27FC236}">
                <a16:creationId xmlns:a16="http://schemas.microsoft.com/office/drawing/2014/main" id="{BB0353E3-5EE1-4D68-ACED-8DC532F46A56}"/>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rot="5400000">
            <a:off x="3634221" y="767172"/>
            <a:ext cx="1033076" cy="719079"/>
          </a:xfrm>
          <a:prstGeom prst="rect">
            <a:avLst/>
          </a:prstGeom>
        </p:spPr>
      </p:pic>
      <p:pic>
        <p:nvPicPr>
          <p:cNvPr id="21" name="Imagem 20">
            <a:extLst>
              <a:ext uri="{FF2B5EF4-FFF2-40B4-BE49-F238E27FC236}">
                <a16:creationId xmlns:a16="http://schemas.microsoft.com/office/drawing/2014/main" id="{65358F54-8830-46DE-9F78-FDAE0571EF7F}"/>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741649" y="1634734"/>
            <a:ext cx="1491591" cy="937482"/>
          </a:xfrm>
          <a:prstGeom prst="rect">
            <a:avLst/>
          </a:prstGeom>
        </p:spPr>
      </p:pic>
      <p:pic>
        <p:nvPicPr>
          <p:cNvPr id="23" name="Imagem 22">
            <a:extLst>
              <a:ext uri="{FF2B5EF4-FFF2-40B4-BE49-F238E27FC236}">
                <a16:creationId xmlns:a16="http://schemas.microsoft.com/office/drawing/2014/main" id="{89889606-65C3-4FE2-B027-8EC6926897B5}"/>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r="51692"/>
          <a:stretch/>
        </p:blipFill>
        <p:spPr>
          <a:xfrm>
            <a:off x="4382109" y="443796"/>
            <a:ext cx="719079" cy="677290"/>
          </a:xfrm>
          <a:prstGeom prst="rect">
            <a:avLst/>
          </a:prstGeom>
        </p:spPr>
      </p:pic>
      <p:pic>
        <p:nvPicPr>
          <p:cNvPr id="27" name="Imagem 26">
            <a:extLst>
              <a:ext uri="{FF2B5EF4-FFF2-40B4-BE49-F238E27FC236}">
                <a16:creationId xmlns:a16="http://schemas.microsoft.com/office/drawing/2014/main" id="{EA28DB48-C487-46E4-8020-E6721CDC6A1A}"/>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0957" t="-10857" r="-7995" b="-1991"/>
          <a:stretch/>
        </p:blipFill>
        <p:spPr>
          <a:xfrm>
            <a:off x="6068289" y="1824434"/>
            <a:ext cx="849038" cy="764306"/>
          </a:xfrm>
          <a:prstGeom prst="rect">
            <a:avLst/>
          </a:prstGeom>
        </p:spPr>
      </p:pic>
      <p:sp>
        <p:nvSpPr>
          <p:cNvPr id="14" name="Retângulo 13">
            <a:extLst>
              <a:ext uri="{FF2B5EF4-FFF2-40B4-BE49-F238E27FC236}">
                <a16:creationId xmlns:a16="http://schemas.microsoft.com/office/drawing/2014/main" id="{57800981-84E5-4AE5-954D-E3152E965CC4}"/>
              </a:ext>
            </a:extLst>
          </p:cNvPr>
          <p:cNvSpPr/>
          <p:nvPr/>
        </p:nvSpPr>
        <p:spPr>
          <a:xfrm>
            <a:off x="153070" y="281090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2. Instalação</a:t>
            </a:r>
          </a:p>
        </p:txBody>
      </p:sp>
      <p:sp>
        <p:nvSpPr>
          <p:cNvPr id="17" name="CaixaDeTexto 16">
            <a:extLst>
              <a:ext uri="{FF2B5EF4-FFF2-40B4-BE49-F238E27FC236}">
                <a16:creationId xmlns:a16="http://schemas.microsoft.com/office/drawing/2014/main" id="{3090799C-3C07-4C6D-A68C-F3F0A9F2BABB}"/>
              </a:ext>
            </a:extLst>
          </p:cNvPr>
          <p:cNvSpPr txBox="1"/>
          <p:nvPr/>
        </p:nvSpPr>
        <p:spPr>
          <a:xfrm>
            <a:off x="101301" y="3128155"/>
            <a:ext cx="6573180" cy="4124206"/>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2.1 Escolha um local seco, arejado, plano e principalmente, longe da exposição de fontes de calor</a:t>
            </a:r>
          </a:p>
          <a:p>
            <a:pPr algn="just"/>
            <a:r>
              <a:rPr lang="pt-BR" sz="1310" dirty="0">
                <a:latin typeface="Arial" panose="020B0604020202020204" pitchFamily="34" charset="0"/>
                <a:cs typeface="Arial" panose="020B0604020202020204" pitchFamily="34" charset="0"/>
              </a:rPr>
              <a:t>2.2 A unidade de refrigeração do balcão deve ter a entrada e saída de ar livres, sem bloqueio de paredes ou objetos.</a:t>
            </a:r>
          </a:p>
          <a:p>
            <a:pPr algn="just"/>
            <a:r>
              <a:rPr lang="pt-BR" sz="1310" dirty="0">
                <a:latin typeface="Arial" panose="020B0604020202020204" pitchFamily="34" charset="0"/>
                <a:cs typeface="Arial" panose="020B0604020202020204" pitchFamily="34" charset="0"/>
              </a:rPr>
              <a:t>2.3 Providenciar tomada exclusiva de energia elétrica com aterramento, voltagem e potência equivalente ao do balcão. Se a tensão da rede local apresentar variações muito bruscas, torna-se necessário a utilização de um estabilizador de tensão, com capacidade compatível com o consumo em Watt. A variação na tensão não pode ser superior a 10%, para mais ou para menos.</a:t>
            </a:r>
          </a:p>
          <a:p>
            <a:pPr algn="just"/>
            <a:r>
              <a:rPr lang="pt-BR" sz="1310" dirty="0">
                <a:latin typeface="Arial" panose="020B0604020202020204" pitchFamily="34" charset="0"/>
                <a:cs typeface="Arial" panose="020B0604020202020204" pitchFamily="34" charset="0"/>
              </a:rPr>
              <a:t>2.4 Retire a embalagem e as películas de proteção das chapas metálicas. Caso haja peças em aço inox é muito importante retirar a película azul de proteção para evitar manchas.</a:t>
            </a:r>
          </a:p>
          <a:p>
            <a:pPr algn="just"/>
            <a:r>
              <a:rPr lang="pt-BR" sz="1310" dirty="0">
                <a:latin typeface="Arial" panose="020B0604020202020204" pitchFamily="34" charset="0"/>
                <a:cs typeface="Arial" panose="020B0604020202020204" pitchFamily="34" charset="0"/>
              </a:rPr>
              <a:t>2.5 Inserir o plug na tomada exclusiva para o produto. O pino central do plugue do cordão de alimentação elétrica do balcão, corresponde a ligação do fio terra, seguindo a norma padrão de aterramento. O aterramento é necessário independente da voltagem da rede elétrica e </a:t>
            </a:r>
            <a:r>
              <a:rPr lang="pt-BR" sz="1310" b="1" dirty="0">
                <a:latin typeface="Arial" panose="020B0604020202020204" pitchFamily="34" charset="0"/>
                <a:cs typeface="Arial" panose="020B0604020202020204" pitchFamily="34" charset="0"/>
              </a:rPr>
              <a:t>NÃO</a:t>
            </a:r>
            <a:r>
              <a:rPr lang="pt-BR" sz="1310" dirty="0">
                <a:latin typeface="Arial" panose="020B0604020202020204" pitchFamily="34" charset="0"/>
                <a:cs typeface="Arial" panose="020B0604020202020204" pitchFamily="34" charset="0"/>
              </a:rPr>
              <a:t> deve ser feita ao fio neutro da rede elétrica, da água de gás ou torneiras. Para fazer um aterramento correto siga as normas da ABNT.</a:t>
            </a:r>
          </a:p>
          <a:p>
            <a:pPr algn="just"/>
            <a:endParaRPr lang="pt-BR" sz="1310" dirty="0">
              <a:latin typeface="Arial" panose="020B0604020202020204" pitchFamily="34" charset="0"/>
              <a:cs typeface="Arial" panose="020B0604020202020204" pitchFamily="34" charset="0"/>
            </a:endParaRPr>
          </a:p>
          <a:p>
            <a:pPr algn="just"/>
            <a:r>
              <a:rPr lang="pt-BR" sz="1310" b="1" dirty="0">
                <a:latin typeface="Arial" panose="020B0604020202020204" pitchFamily="34" charset="0"/>
                <a:cs typeface="Arial" panose="020B0604020202020204" pitchFamily="34" charset="0"/>
              </a:rPr>
              <a:t>NOTA: </a:t>
            </a:r>
            <a:r>
              <a:rPr lang="pt-BR" sz="1310" dirty="0">
                <a:latin typeface="Arial" panose="020B0604020202020204" pitchFamily="34" charset="0"/>
                <a:cs typeface="Arial" panose="020B0604020202020204" pitchFamily="34" charset="0"/>
              </a:rPr>
              <a:t>Se o cordão de alimentação for rompido ou danificado, deverá ser substituído pelo fabricante ou técnico autorizado ou pessoa qualificada, a fim de evitar riscos.</a:t>
            </a:r>
          </a:p>
        </p:txBody>
      </p:sp>
      <p:sp>
        <p:nvSpPr>
          <p:cNvPr id="18" name="Retângulo 17">
            <a:extLst>
              <a:ext uri="{FF2B5EF4-FFF2-40B4-BE49-F238E27FC236}">
                <a16:creationId xmlns:a16="http://schemas.microsoft.com/office/drawing/2014/main" id="{951473B9-A093-4245-A653-752CBC42B771}"/>
              </a:ext>
            </a:extLst>
          </p:cNvPr>
          <p:cNvSpPr/>
          <p:nvPr/>
        </p:nvSpPr>
        <p:spPr>
          <a:xfrm>
            <a:off x="111960" y="719298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3. Utilização</a:t>
            </a:r>
          </a:p>
        </p:txBody>
      </p:sp>
      <p:sp>
        <p:nvSpPr>
          <p:cNvPr id="20" name="CaixaDeTexto 19">
            <a:extLst>
              <a:ext uri="{FF2B5EF4-FFF2-40B4-BE49-F238E27FC236}">
                <a16:creationId xmlns:a16="http://schemas.microsoft.com/office/drawing/2014/main" id="{B3294B49-949E-44C0-B10A-B9C56C40BE50}"/>
              </a:ext>
            </a:extLst>
          </p:cNvPr>
          <p:cNvSpPr txBox="1"/>
          <p:nvPr/>
        </p:nvSpPr>
        <p:spPr>
          <a:xfrm>
            <a:off x="101300" y="7493506"/>
            <a:ext cx="6573180" cy="293927"/>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3.1 O balcão é destinado à exposição de produtos em temperatura ambiente</a:t>
            </a:r>
            <a:r>
              <a:rPr lang="pt-BR" sz="1310" dirty="0">
                <a:solidFill>
                  <a:srgbClr val="FF0000"/>
                </a:solidFill>
                <a:latin typeface="Arial" panose="020B0604020202020204" pitchFamily="34" charset="0"/>
                <a:cs typeface="Arial" panose="020B0604020202020204" pitchFamily="34" charset="0"/>
              </a:rPr>
              <a:t>.</a:t>
            </a:r>
          </a:p>
        </p:txBody>
      </p:sp>
      <p:sp>
        <p:nvSpPr>
          <p:cNvPr id="24" name="CaixaDeTexto 23">
            <a:extLst>
              <a:ext uri="{FF2B5EF4-FFF2-40B4-BE49-F238E27FC236}">
                <a16:creationId xmlns:a16="http://schemas.microsoft.com/office/drawing/2014/main" id="{B69030B1-1C0B-4E4F-85C4-FA2462543163}"/>
              </a:ext>
            </a:extLst>
          </p:cNvPr>
          <p:cNvSpPr txBox="1"/>
          <p:nvPr/>
        </p:nvSpPr>
        <p:spPr>
          <a:xfrm>
            <a:off x="3140183" y="9439552"/>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02</a:t>
            </a:r>
          </a:p>
        </p:txBody>
      </p:sp>
      <p:sp>
        <p:nvSpPr>
          <p:cNvPr id="30" name="CaixaDeTexto 29">
            <a:extLst>
              <a:ext uri="{FF2B5EF4-FFF2-40B4-BE49-F238E27FC236}">
                <a16:creationId xmlns:a16="http://schemas.microsoft.com/office/drawing/2014/main" id="{22DCA115-2EFE-4207-A16D-65475D16E527}"/>
              </a:ext>
            </a:extLst>
          </p:cNvPr>
          <p:cNvSpPr txBox="1"/>
          <p:nvPr/>
        </p:nvSpPr>
        <p:spPr>
          <a:xfrm>
            <a:off x="84252" y="8152715"/>
            <a:ext cx="6603631" cy="898708"/>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4.1 O balcão possui lâmpadas de LED tubular interna </a:t>
            </a:r>
          </a:p>
          <a:p>
            <a:pPr algn="just"/>
            <a:r>
              <a:rPr lang="pt-BR" sz="1310" dirty="0">
                <a:latin typeface="Arial" panose="020B0604020202020204" pitchFamily="34" charset="0"/>
                <a:cs typeface="Arial" panose="020B0604020202020204" pitchFamily="34" charset="0"/>
              </a:rPr>
              <a:t>4.2 A Quantidade de lâmpadas depende das dimensões do produto.</a:t>
            </a:r>
          </a:p>
          <a:p>
            <a:pPr algn="just"/>
            <a:r>
              <a:rPr lang="pt-BR" sz="1310" dirty="0">
                <a:latin typeface="Arial" panose="020B0604020202020204" pitchFamily="34" charset="0"/>
                <a:cs typeface="Arial" panose="020B0604020202020204" pitchFamily="34" charset="0"/>
              </a:rPr>
              <a:t>4.3 As lâmpadas são acionadas através do interruptor localizado na parte posterior direito.</a:t>
            </a:r>
          </a:p>
        </p:txBody>
      </p:sp>
      <p:sp>
        <p:nvSpPr>
          <p:cNvPr id="31" name="Retângulo 30">
            <a:extLst>
              <a:ext uri="{FF2B5EF4-FFF2-40B4-BE49-F238E27FC236}">
                <a16:creationId xmlns:a16="http://schemas.microsoft.com/office/drawing/2014/main" id="{C873559A-6CA5-4EA6-86E8-186D5613D3E3}"/>
              </a:ext>
            </a:extLst>
          </p:cNvPr>
          <p:cNvSpPr/>
          <p:nvPr/>
        </p:nvSpPr>
        <p:spPr>
          <a:xfrm>
            <a:off x="142314" y="7887241"/>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4.  Iluminação</a:t>
            </a:r>
            <a:endParaRPr lang="pt-BR" sz="1441" b="1" i="1" dirty="0">
              <a:solidFill>
                <a:schemeClr val="tx1"/>
              </a:solidFill>
            </a:endParaRPr>
          </a:p>
        </p:txBody>
      </p:sp>
    </p:spTree>
    <p:extLst>
      <p:ext uri="{BB962C8B-B14F-4D97-AF65-F5344CB8AC3E}">
        <p14:creationId xmlns:p14="http://schemas.microsoft.com/office/powerpoint/2010/main" val="2232449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253F2D6-1465-4637-9907-E3E636C03309}"/>
              </a:ext>
            </a:extLst>
          </p:cNvPr>
          <p:cNvSpPr txBox="1"/>
          <p:nvPr/>
        </p:nvSpPr>
        <p:spPr>
          <a:xfrm>
            <a:off x="3149960" y="944136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03</a:t>
            </a:r>
          </a:p>
        </p:txBody>
      </p:sp>
      <p:sp>
        <p:nvSpPr>
          <p:cNvPr id="5" name="Retângulo 4">
            <a:extLst>
              <a:ext uri="{FF2B5EF4-FFF2-40B4-BE49-F238E27FC236}">
                <a16:creationId xmlns:a16="http://schemas.microsoft.com/office/drawing/2014/main" id="{4D807BF9-65F6-4578-B46D-FCABF3A20A56}"/>
              </a:ext>
            </a:extLst>
          </p:cNvPr>
          <p:cNvSpPr/>
          <p:nvPr/>
        </p:nvSpPr>
        <p:spPr>
          <a:xfrm>
            <a:off x="149973" y="12846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5. Troca da Lâmpada</a:t>
            </a:r>
          </a:p>
        </p:txBody>
      </p:sp>
      <p:sp>
        <p:nvSpPr>
          <p:cNvPr id="6" name="Retângulo 5">
            <a:extLst>
              <a:ext uri="{FF2B5EF4-FFF2-40B4-BE49-F238E27FC236}">
                <a16:creationId xmlns:a16="http://schemas.microsoft.com/office/drawing/2014/main" id="{2942003C-C87B-4396-AC53-D84B181D8A94}"/>
              </a:ext>
            </a:extLst>
          </p:cNvPr>
          <p:cNvSpPr/>
          <p:nvPr/>
        </p:nvSpPr>
        <p:spPr>
          <a:xfrm>
            <a:off x="95850" y="461276"/>
            <a:ext cx="6603631" cy="1100301"/>
          </a:xfrm>
          <a:prstGeom prst="rect">
            <a:avLst/>
          </a:prstGeom>
        </p:spPr>
        <p:txBody>
          <a:bodyPr wrap="square">
            <a:spAutoFit/>
          </a:bodyPr>
          <a:lstStyle/>
          <a:p>
            <a:pPr algn="just"/>
            <a:r>
              <a:rPr lang="pt-BR" sz="1310" dirty="0">
                <a:latin typeface="Arial" panose="020B0604020202020204" pitchFamily="34" charset="0"/>
                <a:cs typeface="Arial" panose="020B0604020202020204" pitchFamily="34" charset="0"/>
              </a:rPr>
              <a:t>5.1 Antes de iniciar o processo de troca da lâmpada deve – se providenciar lâmpadas do mesmo modelo e potência.</a:t>
            </a:r>
          </a:p>
          <a:p>
            <a:pPr algn="just"/>
            <a:r>
              <a:rPr lang="pt-BR" sz="1310" dirty="0">
                <a:latin typeface="Arial" panose="020B0604020202020204" pitchFamily="34" charset="0"/>
                <a:cs typeface="Arial" panose="020B0604020202020204" pitchFamily="34" charset="0"/>
              </a:rPr>
              <a:t>5.2 Para a troca da lâmpada é necessário que o balcão esteja desligado da rede elétrica, retirando o cabo elétrico da tomada.</a:t>
            </a:r>
          </a:p>
          <a:p>
            <a:pPr algn="just"/>
            <a:r>
              <a:rPr lang="pt-BR" sz="1310" dirty="0">
                <a:latin typeface="Arial" panose="020B0604020202020204" pitchFamily="34" charset="0"/>
                <a:cs typeface="Arial" panose="020B0604020202020204" pitchFamily="34" charset="0"/>
              </a:rPr>
              <a:t>5.3 Para a troca siga as instruções a seguir.</a:t>
            </a:r>
          </a:p>
        </p:txBody>
      </p:sp>
      <p:graphicFrame>
        <p:nvGraphicFramePr>
          <p:cNvPr id="7" name="Tabela 6">
            <a:extLst>
              <a:ext uri="{FF2B5EF4-FFF2-40B4-BE49-F238E27FC236}">
                <a16:creationId xmlns:a16="http://schemas.microsoft.com/office/drawing/2014/main" id="{ED66E93D-05DC-4CE5-BE2C-D09D40E67155}"/>
              </a:ext>
            </a:extLst>
          </p:cNvPr>
          <p:cNvGraphicFramePr>
            <a:graphicFrameLocks noGrp="1"/>
          </p:cNvGraphicFramePr>
          <p:nvPr>
            <p:extLst>
              <p:ext uri="{D42A27DB-BD31-4B8C-83A1-F6EECF244321}">
                <p14:modId xmlns:p14="http://schemas.microsoft.com/office/powerpoint/2010/main" val="3677083138"/>
              </p:ext>
            </p:extLst>
          </p:nvPr>
        </p:nvGraphicFramePr>
        <p:xfrm>
          <a:off x="155140" y="1638489"/>
          <a:ext cx="6497733" cy="5615488"/>
        </p:xfrm>
        <a:graphic>
          <a:graphicData uri="http://schemas.openxmlformats.org/drawingml/2006/table">
            <a:tbl>
              <a:tblPr firstRow="1" bandRow="1">
                <a:tableStyleId>{5940675A-B579-460E-94D1-54222C63F5DA}</a:tableStyleId>
              </a:tblPr>
              <a:tblGrid>
                <a:gridCol w="3573268">
                  <a:extLst>
                    <a:ext uri="{9D8B030D-6E8A-4147-A177-3AD203B41FA5}">
                      <a16:colId xmlns:a16="http://schemas.microsoft.com/office/drawing/2014/main" val="1446479236"/>
                    </a:ext>
                  </a:extLst>
                </a:gridCol>
                <a:gridCol w="2924465">
                  <a:extLst>
                    <a:ext uri="{9D8B030D-6E8A-4147-A177-3AD203B41FA5}">
                      <a16:colId xmlns:a16="http://schemas.microsoft.com/office/drawing/2014/main" val="7825786"/>
                    </a:ext>
                  </a:extLst>
                </a:gridCol>
              </a:tblGrid>
              <a:tr h="1464635">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300" dirty="0">
                          <a:latin typeface="Arial" panose="020B0604020202020204" pitchFamily="34" charset="0"/>
                          <a:cs typeface="Arial" panose="020B0604020202020204" pitchFamily="34" charset="0"/>
                        </a:rPr>
                        <a:t>5.4 Remover a lâmpada da presilha de encaixe.</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3082228576"/>
                  </a:ext>
                </a:extLst>
              </a:tr>
              <a:tr h="1530098">
                <a:tc>
                  <a:txBody>
                    <a:bodyPr/>
                    <a:lstStyle/>
                    <a:p>
                      <a:pPr algn="just"/>
                      <a:r>
                        <a:rPr lang="pt-BR" sz="1300" dirty="0">
                          <a:latin typeface="Arial" panose="020B0604020202020204" pitchFamily="34" charset="0"/>
                          <a:cs typeface="Arial" panose="020B0604020202020204" pitchFamily="34" charset="0"/>
                        </a:rPr>
                        <a:t>5.5 Remover o soquete da lâmpada queimada.</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973863748"/>
                  </a:ext>
                </a:extLst>
              </a:tr>
              <a:tr h="1416818">
                <a:tc>
                  <a:txBody>
                    <a:bodyPr/>
                    <a:lstStyle/>
                    <a:p>
                      <a:r>
                        <a:rPr lang="pt-BR" sz="1300" kern="1200" dirty="0">
                          <a:solidFill>
                            <a:schemeClr val="tx1"/>
                          </a:solidFill>
                          <a:latin typeface="Arial" panose="020B0604020202020204" pitchFamily="34" charset="0"/>
                          <a:ea typeface="+mn-ea"/>
                          <a:cs typeface="Arial" panose="020B0604020202020204" pitchFamily="34" charset="0"/>
                        </a:rPr>
                        <a:t>5.6 Encaixar o soquete na lâmpada que irá substituir. O encaixe deve ser conforme figura ao lado.</a:t>
                      </a:r>
                      <a:endParaRPr lang="pt-BR" sz="1200" kern="1200" dirty="0">
                        <a:solidFill>
                          <a:schemeClr val="tx1"/>
                        </a:solidFill>
                        <a:latin typeface="Arial" panose="020B0604020202020204" pitchFamily="34" charset="0"/>
                        <a:ea typeface="+mn-ea"/>
                        <a:cs typeface="Arial" panose="020B0604020202020204" pitchFamily="34" charset="0"/>
                      </a:endParaRP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2066149738"/>
                  </a:ext>
                </a:extLst>
              </a:tr>
              <a:tr h="1203937">
                <a:tc>
                  <a:txBody>
                    <a:bodyPr/>
                    <a:lstStyle/>
                    <a:p>
                      <a:r>
                        <a:rPr lang="pt-BR" sz="1300" kern="1200" dirty="0">
                          <a:solidFill>
                            <a:schemeClr val="tx1"/>
                          </a:solidFill>
                          <a:latin typeface="Arial" panose="020B0604020202020204" pitchFamily="34" charset="0"/>
                          <a:ea typeface="+mn-ea"/>
                          <a:cs typeface="Arial" panose="020B0604020202020204" pitchFamily="34" charset="0"/>
                        </a:rPr>
                        <a:t>5.7 Após realizar a troca da lâmpada, encaixa-la novamente à presilha de encaixe.</a:t>
                      </a:r>
                    </a:p>
                  </a:txBody>
                  <a:tcPr marL="119795" marR="119795" marT="59898" marB="59898"/>
                </a:tc>
                <a:tc>
                  <a:txBody>
                    <a:bodyPr/>
                    <a:lstStyle/>
                    <a:p>
                      <a:endParaRPr lang="pt-BR" sz="13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747302260"/>
                  </a:ext>
                </a:extLst>
              </a:tr>
            </a:tbl>
          </a:graphicData>
        </a:graphic>
      </p:graphicFrame>
      <p:pic>
        <p:nvPicPr>
          <p:cNvPr id="8" name="Imagem 7">
            <a:extLst>
              <a:ext uri="{FF2B5EF4-FFF2-40B4-BE49-F238E27FC236}">
                <a16:creationId xmlns:a16="http://schemas.microsoft.com/office/drawing/2014/main" id="{6B6A119B-B2BC-4532-A721-E1A45545781C}"/>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5975" b="51534"/>
          <a:stretch/>
        </p:blipFill>
        <p:spPr>
          <a:xfrm>
            <a:off x="4143410" y="1893485"/>
            <a:ext cx="2147030" cy="919311"/>
          </a:xfrm>
          <a:prstGeom prst="rect">
            <a:avLst/>
          </a:prstGeom>
        </p:spPr>
      </p:pic>
      <p:pic>
        <p:nvPicPr>
          <p:cNvPr id="9" name="Imagem 8">
            <a:extLst>
              <a:ext uri="{FF2B5EF4-FFF2-40B4-BE49-F238E27FC236}">
                <a16:creationId xmlns:a16="http://schemas.microsoft.com/office/drawing/2014/main" id="{2EC9584B-8CD2-4650-B426-8BCE1990C370}"/>
              </a:ext>
            </a:extLst>
          </p:cNvPr>
          <p:cNvPicPr>
            <a:picLocks noChangeAspect="1"/>
          </p:cNvPicPr>
          <p:nvPr/>
        </p:nvPicPr>
        <p:blipFill>
          <a:blip r:embed="rId4" cstate="print">
            <a:grayscl/>
            <a:extLst>
              <a:ext uri="{28A0092B-C50C-407E-A947-70E740481C1C}">
                <a14:useLocalDpi xmlns:a14="http://schemas.microsoft.com/office/drawing/2010/main" val="0"/>
              </a:ext>
            </a:extLst>
          </a:blip>
          <a:stretch>
            <a:fillRect/>
          </a:stretch>
        </p:blipFill>
        <p:spPr>
          <a:xfrm>
            <a:off x="4579047" y="3310729"/>
            <a:ext cx="1144367" cy="1021050"/>
          </a:xfrm>
          <a:prstGeom prst="rect">
            <a:avLst/>
          </a:prstGeom>
        </p:spPr>
      </p:pic>
      <p:pic>
        <p:nvPicPr>
          <p:cNvPr id="10" name="Imagem 9">
            <a:extLst>
              <a:ext uri="{FF2B5EF4-FFF2-40B4-BE49-F238E27FC236}">
                <a16:creationId xmlns:a16="http://schemas.microsoft.com/office/drawing/2014/main" id="{42F4F791-673F-43BF-9724-27E927CD3CEA}"/>
              </a:ext>
            </a:extLst>
          </p:cNvPr>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579045" y="4814050"/>
            <a:ext cx="1144367" cy="1020406"/>
          </a:xfrm>
          <a:prstGeom prst="rect">
            <a:avLst/>
          </a:prstGeom>
        </p:spPr>
      </p:pic>
      <p:cxnSp>
        <p:nvCxnSpPr>
          <p:cNvPr id="11" name="Conector de Seta Reta 10">
            <a:extLst>
              <a:ext uri="{FF2B5EF4-FFF2-40B4-BE49-F238E27FC236}">
                <a16:creationId xmlns:a16="http://schemas.microsoft.com/office/drawing/2014/main" id="{DC8BE52B-CC4A-499C-972F-A888A049B99A}"/>
              </a:ext>
            </a:extLst>
          </p:cNvPr>
          <p:cNvCxnSpPr>
            <a:cxnSpLocks/>
          </p:cNvCxnSpPr>
          <p:nvPr/>
        </p:nvCxnSpPr>
        <p:spPr>
          <a:xfrm flipH="1">
            <a:off x="4969712" y="4051893"/>
            <a:ext cx="3679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ector de Seta Reta 11">
            <a:extLst>
              <a:ext uri="{FF2B5EF4-FFF2-40B4-BE49-F238E27FC236}">
                <a16:creationId xmlns:a16="http://schemas.microsoft.com/office/drawing/2014/main" id="{37A45126-A9A4-4E70-9892-0C16973C008D}"/>
              </a:ext>
            </a:extLst>
          </p:cNvPr>
          <p:cNvCxnSpPr>
            <a:cxnSpLocks/>
          </p:cNvCxnSpPr>
          <p:nvPr/>
        </p:nvCxnSpPr>
        <p:spPr>
          <a:xfrm>
            <a:off x="4929219" y="5574617"/>
            <a:ext cx="2877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3" name="Imagem 12">
            <a:extLst>
              <a:ext uri="{FF2B5EF4-FFF2-40B4-BE49-F238E27FC236}">
                <a16:creationId xmlns:a16="http://schemas.microsoft.com/office/drawing/2014/main" id="{71448D32-AB4F-45CE-8B5C-6AC959B81C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99830" y="6263256"/>
            <a:ext cx="902794" cy="902794"/>
          </a:xfrm>
          <a:prstGeom prst="rect">
            <a:avLst/>
          </a:prstGeom>
        </p:spPr>
      </p:pic>
      <p:sp>
        <p:nvSpPr>
          <p:cNvPr id="14" name="Retângulo 13">
            <a:extLst>
              <a:ext uri="{FF2B5EF4-FFF2-40B4-BE49-F238E27FC236}">
                <a16:creationId xmlns:a16="http://schemas.microsoft.com/office/drawing/2014/main" id="{FA03B085-B3A9-40D6-8714-3DC23D827CE8}"/>
              </a:ext>
            </a:extLst>
          </p:cNvPr>
          <p:cNvSpPr/>
          <p:nvPr/>
        </p:nvSpPr>
        <p:spPr>
          <a:xfrm>
            <a:off x="125838" y="731811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6. Limpeza</a:t>
            </a:r>
          </a:p>
        </p:txBody>
      </p:sp>
      <p:sp>
        <p:nvSpPr>
          <p:cNvPr id="15" name="CaixaDeTexto 14">
            <a:extLst>
              <a:ext uri="{FF2B5EF4-FFF2-40B4-BE49-F238E27FC236}">
                <a16:creationId xmlns:a16="http://schemas.microsoft.com/office/drawing/2014/main" id="{7D632E64-5353-46AC-94D3-43A35E0D4BFF}"/>
              </a:ext>
            </a:extLst>
          </p:cNvPr>
          <p:cNvSpPr txBox="1"/>
          <p:nvPr/>
        </p:nvSpPr>
        <p:spPr>
          <a:xfrm>
            <a:off x="63502" y="7595967"/>
            <a:ext cx="6551859" cy="1705082"/>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6.1 Antes da limpeza do balcão é necessário que o produto esteja desligado da rede elétrica</a:t>
            </a:r>
          </a:p>
          <a:p>
            <a:pPr algn="just"/>
            <a:r>
              <a:rPr lang="pt-BR" sz="1310" dirty="0">
                <a:latin typeface="Arial" panose="020B0604020202020204" pitchFamily="34" charset="0"/>
                <a:cs typeface="Arial" panose="020B0604020202020204" pitchFamily="34" charset="0"/>
              </a:rPr>
              <a:t>6.2Para a limpeza do balcão utilize somente um pano umedecido com água e sabão neutro.</a:t>
            </a:r>
          </a:p>
          <a:p>
            <a:pPr algn="just"/>
            <a:r>
              <a:rPr lang="pt-BR" sz="1310" dirty="0">
                <a:latin typeface="Arial" panose="020B0604020202020204" pitchFamily="34" charset="0"/>
                <a:cs typeface="Arial" panose="020B0604020202020204" pitchFamily="34" charset="0"/>
              </a:rPr>
              <a:t>6.3 Não utilize produtos tóxicos (álcool, solventes e etc.)  ou produtos abrasivos.</a:t>
            </a:r>
          </a:p>
          <a:p>
            <a:pPr algn="just"/>
            <a:r>
              <a:rPr lang="pt-BR" sz="1310" dirty="0">
                <a:latin typeface="Arial" panose="020B0604020202020204" pitchFamily="34" charset="0"/>
                <a:cs typeface="Arial" panose="020B0604020202020204" pitchFamily="34" charset="0"/>
              </a:rPr>
              <a:t>6.4 Não utilize esponjas de aço, escovas, objetos pontiagudos, objetos cortantes ou qualquer material que possa danificar o produto.</a:t>
            </a:r>
          </a:p>
          <a:p>
            <a:pPr algn="just"/>
            <a:r>
              <a:rPr lang="pt-BR" sz="1310" dirty="0">
                <a:latin typeface="Arial" panose="020B0604020202020204" pitchFamily="34" charset="0"/>
                <a:cs typeface="Arial" panose="020B0604020202020204" pitchFamily="34" charset="0"/>
              </a:rPr>
              <a:t>6.5 Não esguiche água no balcão.</a:t>
            </a:r>
          </a:p>
        </p:txBody>
      </p:sp>
    </p:spTree>
    <p:extLst>
      <p:ext uri="{BB962C8B-B14F-4D97-AF65-F5344CB8AC3E}">
        <p14:creationId xmlns:p14="http://schemas.microsoft.com/office/powerpoint/2010/main" val="101673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33C9981-A8DA-432A-88B1-BEF606C34BC2}"/>
              </a:ext>
            </a:extLst>
          </p:cNvPr>
          <p:cNvSpPr/>
          <p:nvPr/>
        </p:nvSpPr>
        <p:spPr>
          <a:xfrm>
            <a:off x="153070" y="94880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8. Recomendações</a:t>
            </a:r>
          </a:p>
        </p:txBody>
      </p:sp>
      <p:sp>
        <p:nvSpPr>
          <p:cNvPr id="5" name="CaixaDeTexto 4">
            <a:extLst>
              <a:ext uri="{FF2B5EF4-FFF2-40B4-BE49-F238E27FC236}">
                <a16:creationId xmlns:a16="http://schemas.microsoft.com/office/drawing/2014/main" id="{8A9BCC81-A8B4-4BAA-8BD6-AAC92EE464EE}"/>
              </a:ext>
            </a:extLst>
          </p:cNvPr>
          <p:cNvSpPr txBox="1"/>
          <p:nvPr/>
        </p:nvSpPr>
        <p:spPr>
          <a:xfrm>
            <a:off x="120341" y="1238076"/>
            <a:ext cx="6615122" cy="2309863"/>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8.1 Leia atentamente todos os itens deste manual, para evitar problemas face a não observância durante a instalação ou uso do equipamento.</a:t>
            </a:r>
          </a:p>
          <a:p>
            <a:pPr algn="just"/>
            <a:r>
              <a:rPr lang="pt-BR" sz="1310" dirty="0">
                <a:latin typeface="Arial" panose="020B0604020202020204" pitchFamily="34" charset="0"/>
                <a:cs typeface="Arial" panose="020B0604020202020204" pitchFamily="34" charset="0"/>
              </a:rPr>
              <a:t>8.2 Não instale o equipamento próximo a fontes de calor ou produtos inflamáveis.</a:t>
            </a:r>
          </a:p>
          <a:p>
            <a:pPr algn="just"/>
            <a:r>
              <a:rPr lang="pt-BR" sz="1310" dirty="0">
                <a:latin typeface="Arial" panose="020B0604020202020204" pitchFamily="34" charset="0"/>
                <a:cs typeface="Arial" panose="020B0604020202020204" pitchFamily="34" charset="0"/>
              </a:rPr>
              <a:t>8.3 Desligue o pino da tomada sempre que for efetuar a limpeza do equipamento ou ainda trocar as lâmpadas.</a:t>
            </a:r>
          </a:p>
          <a:p>
            <a:pPr algn="just"/>
            <a:r>
              <a:rPr lang="pt-BR" sz="1310" dirty="0">
                <a:latin typeface="Arial" panose="020B0604020202020204" pitchFamily="34" charset="0"/>
                <a:cs typeface="Arial" panose="020B0604020202020204" pitchFamily="34" charset="0"/>
              </a:rPr>
              <a:t>8.4 Nunca desligue o equipamento puxando pelo cabo, mas sim pelo plug.</a:t>
            </a:r>
          </a:p>
          <a:p>
            <a:pPr algn="just"/>
            <a:r>
              <a:rPr lang="pt-BR" sz="1310" dirty="0">
                <a:latin typeface="Arial" panose="020B0604020202020204" pitchFamily="34" charset="0"/>
                <a:cs typeface="Arial" panose="020B0604020202020204" pitchFamily="34" charset="0"/>
              </a:rPr>
              <a:t>8.5 Nivele o equipamento de forma adequada ao uso.</a:t>
            </a:r>
          </a:p>
          <a:p>
            <a:pPr algn="just"/>
            <a:r>
              <a:rPr lang="pt-BR" sz="1310" dirty="0">
                <a:latin typeface="Arial" panose="020B0604020202020204" pitchFamily="34" charset="0"/>
                <a:cs typeface="Arial" panose="020B0604020202020204" pitchFamily="34" charset="0"/>
              </a:rPr>
              <a:t>8.7 Não armazenar substâncias explosivas, medicamentos, eletrônicos ou químicos, pois podem contaminar a mercadoria alimentícia armazenada no balcão.</a:t>
            </a:r>
          </a:p>
          <a:p>
            <a:pPr algn="just"/>
            <a:r>
              <a:rPr lang="pt-BR" sz="1310" dirty="0">
                <a:latin typeface="Arial" panose="020B0604020202020204" pitchFamily="34" charset="0"/>
                <a:cs typeface="Arial" panose="020B0604020202020204" pitchFamily="34" charset="0"/>
              </a:rPr>
              <a:t>8.10 A Só Aço Industrial reserva-se o direito de efetuar modificações de materiais sem aviso prévio. As ilustrações são meramente ilustrativas.</a:t>
            </a:r>
            <a:endParaRPr lang="pt-BR" sz="1310" dirty="0"/>
          </a:p>
        </p:txBody>
      </p:sp>
      <p:sp>
        <p:nvSpPr>
          <p:cNvPr id="6" name="Retângulo 5">
            <a:extLst>
              <a:ext uri="{FF2B5EF4-FFF2-40B4-BE49-F238E27FC236}">
                <a16:creationId xmlns:a16="http://schemas.microsoft.com/office/drawing/2014/main" id="{4DCC081B-13B6-496D-BEB0-F33AA4475E0B}"/>
              </a:ext>
            </a:extLst>
          </p:cNvPr>
          <p:cNvSpPr/>
          <p:nvPr/>
        </p:nvSpPr>
        <p:spPr>
          <a:xfrm>
            <a:off x="153070" y="128464"/>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7. Prateleiras</a:t>
            </a:r>
          </a:p>
        </p:txBody>
      </p:sp>
      <p:sp>
        <p:nvSpPr>
          <p:cNvPr id="7" name="CaixaDeTexto 6">
            <a:extLst>
              <a:ext uri="{FF2B5EF4-FFF2-40B4-BE49-F238E27FC236}">
                <a16:creationId xmlns:a16="http://schemas.microsoft.com/office/drawing/2014/main" id="{CD350655-0B46-40E1-995E-A26E96C3A175}"/>
              </a:ext>
            </a:extLst>
          </p:cNvPr>
          <p:cNvSpPr txBox="1"/>
          <p:nvPr/>
        </p:nvSpPr>
        <p:spPr>
          <a:xfrm>
            <a:off x="89806" y="424618"/>
            <a:ext cx="6615123" cy="495520"/>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7.1 As mercadorias devem ser distribuídas uniformemente sobre a prateleira. Informamos que a carga máxima indicada para cada prateleiras é de 20Kg por metro.</a:t>
            </a:r>
          </a:p>
        </p:txBody>
      </p:sp>
      <p:sp>
        <p:nvSpPr>
          <p:cNvPr id="8" name="Retângulo 7">
            <a:extLst>
              <a:ext uri="{FF2B5EF4-FFF2-40B4-BE49-F238E27FC236}">
                <a16:creationId xmlns:a16="http://schemas.microsoft.com/office/drawing/2014/main" id="{094F0995-F2BC-46BA-A236-46B2363771CA}"/>
              </a:ext>
            </a:extLst>
          </p:cNvPr>
          <p:cNvSpPr/>
          <p:nvPr/>
        </p:nvSpPr>
        <p:spPr>
          <a:xfrm>
            <a:off x="153070" y="358954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9. Características gerais</a:t>
            </a:r>
          </a:p>
        </p:txBody>
      </p:sp>
      <p:sp>
        <p:nvSpPr>
          <p:cNvPr id="9" name="CaixaDeTexto 8">
            <a:extLst>
              <a:ext uri="{FF2B5EF4-FFF2-40B4-BE49-F238E27FC236}">
                <a16:creationId xmlns:a16="http://schemas.microsoft.com/office/drawing/2014/main" id="{897B8084-C644-4F0E-9E34-D7628539C405}"/>
              </a:ext>
            </a:extLst>
          </p:cNvPr>
          <p:cNvSpPr txBox="1"/>
          <p:nvPr/>
        </p:nvSpPr>
        <p:spPr>
          <a:xfrm>
            <a:off x="131715" y="3866012"/>
            <a:ext cx="6592372" cy="1301895"/>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9.1 Fabricado em chapa de aço inox ou </a:t>
            </a:r>
            <a:r>
              <a:rPr lang="pt-BR" sz="1310" dirty="0" err="1">
                <a:latin typeface="Arial" panose="020B0604020202020204" pitchFamily="34" charset="0"/>
                <a:cs typeface="Arial" panose="020B0604020202020204" pitchFamily="34" charset="0"/>
              </a:rPr>
              <a:t>pré</a:t>
            </a:r>
            <a:r>
              <a:rPr lang="pt-BR" sz="1310" dirty="0">
                <a:latin typeface="Arial" panose="020B0604020202020204" pitchFamily="34" charset="0"/>
                <a:cs typeface="Arial" panose="020B0604020202020204" pitchFamily="34" charset="0"/>
              </a:rPr>
              <a:t>-pintada.</a:t>
            </a:r>
          </a:p>
          <a:p>
            <a:pPr algn="just"/>
            <a:r>
              <a:rPr lang="pt-BR" sz="1310" dirty="0">
                <a:latin typeface="Arial" panose="020B0604020202020204" pitchFamily="34" charset="0"/>
                <a:cs typeface="Arial" panose="020B0604020202020204" pitchFamily="34" charset="0"/>
              </a:rPr>
              <a:t>9.2 Temperaturas internas variam conforme a temperatura ambiente local. Temperatura de teste 30° C.</a:t>
            </a:r>
          </a:p>
          <a:p>
            <a:pPr algn="just"/>
            <a:r>
              <a:rPr lang="pt-BR" sz="1310" dirty="0">
                <a:latin typeface="Arial" panose="020B0604020202020204" pitchFamily="34" charset="0"/>
                <a:cs typeface="Arial" panose="020B0604020202020204" pitchFamily="34" charset="0"/>
              </a:rPr>
              <a:t>9.4 O produto está disponível em diversas cores. Consultar setor comercial as cores disponíveis.</a:t>
            </a:r>
          </a:p>
          <a:p>
            <a:pPr algn="just"/>
            <a:endParaRPr lang="pt-BR" sz="1310" dirty="0"/>
          </a:p>
        </p:txBody>
      </p:sp>
      <p:sp>
        <p:nvSpPr>
          <p:cNvPr id="10" name="Retângulo 9">
            <a:extLst>
              <a:ext uri="{FF2B5EF4-FFF2-40B4-BE49-F238E27FC236}">
                <a16:creationId xmlns:a16="http://schemas.microsoft.com/office/drawing/2014/main" id="{45A7F4F2-30BF-4433-A7BB-150996EDE405}"/>
              </a:ext>
            </a:extLst>
          </p:cNvPr>
          <p:cNvSpPr/>
          <p:nvPr/>
        </p:nvSpPr>
        <p:spPr>
          <a:xfrm>
            <a:off x="144931" y="5046503"/>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10. Ocorrência de defeito</a:t>
            </a:r>
            <a:endParaRPr lang="pt-BR" sz="1441" b="1" i="1" dirty="0">
              <a:solidFill>
                <a:schemeClr val="tx1"/>
              </a:solidFill>
            </a:endParaRPr>
          </a:p>
        </p:txBody>
      </p:sp>
      <p:graphicFrame>
        <p:nvGraphicFramePr>
          <p:cNvPr id="11" name="Tabela 10">
            <a:extLst>
              <a:ext uri="{FF2B5EF4-FFF2-40B4-BE49-F238E27FC236}">
                <a16:creationId xmlns:a16="http://schemas.microsoft.com/office/drawing/2014/main" id="{4238D55A-7045-483B-A466-08321556BAAC}"/>
              </a:ext>
            </a:extLst>
          </p:cNvPr>
          <p:cNvGraphicFramePr>
            <a:graphicFrameLocks noGrp="1"/>
          </p:cNvGraphicFramePr>
          <p:nvPr>
            <p:extLst>
              <p:ext uri="{D42A27DB-BD31-4B8C-83A1-F6EECF244321}">
                <p14:modId xmlns:p14="http://schemas.microsoft.com/office/powerpoint/2010/main" val="2640261478"/>
              </p:ext>
            </p:extLst>
          </p:nvPr>
        </p:nvGraphicFramePr>
        <p:xfrm>
          <a:off x="144931" y="5812499"/>
          <a:ext cx="6551859" cy="2611222"/>
        </p:xfrm>
        <a:graphic>
          <a:graphicData uri="http://schemas.openxmlformats.org/drawingml/2006/table">
            <a:tbl>
              <a:tblPr firstRow="1" bandRow="1">
                <a:tableStyleId>{5940675A-B579-460E-94D1-54222C63F5DA}</a:tableStyleId>
              </a:tblPr>
              <a:tblGrid>
                <a:gridCol w="1330407">
                  <a:extLst>
                    <a:ext uri="{9D8B030D-6E8A-4147-A177-3AD203B41FA5}">
                      <a16:colId xmlns:a16="http://schemas.microsoft.com/office/drawing/2014/main" val="516497271"/>
                    </a:ext>
                  </a:extLst>
                </a:gridCol>
                <a:gridCol w="2169764">
                  <a:extLst>
                    <a:ext uri="{9D8B030D-6E8A-4147-A177-3AD203B41FA5}">
                      <a16:colId xmlns:a16="http://schemas.microsoft.com/office/drawing/2014/main" val="2071908709"/>
                    </a:ext>
                  </a:extLst>
                </a:gridCol>
                <a:gridCol w="3051688">
                  <a:extLst>
                    <a:ext uri="{9D8B030D-6E8A-4147-A177-3AD203B41FA5}">
                      <a16:colId xmlns:a16="http://schemas.microsoft.com/office/drawing/2014/main" val="1403055962"/>
                    </a:ext>
                  </a:extLst>
                </a:gridCol>
              </a:tblGrid>
              <a:tr h="299489">
                <a:tc>
                  <a:txBody>
                    <a:bodyPr/>
                    <a:lstStyle/>
                    <a:p>
                      <a:pPr algn="ctr"/>
                      <a:r>
                        <a:rPr lang="pt-BR" sz="1200" b="1" dirty="0">
                          <a:latin typeface="Arial" panose="020B0604020202020204" pitchFamily="34" charset="0"/>
                          <a:cs typeface="Arial" panose="020B0604020202020204" pitchFamily="34" charset="0"/>
                        </a:rPr>
                        <a:t>Sintoma</a:t>
                      </a:r>
                    </a:p>
                  </a:txBody>
                  <a:tcPr marL="119795" marR="119795" marT="59898" marB="59898">
                    <a:solidFill>
                      <a:schemeClr val="bg1">
                        <a:lumMod val="85000"/>
                      </a:schemeClr>
                    </a:solidFill>
                  </a:tcPr>
                </a:tc>
                <a:tc>
                  <a:txBody>
                    <a:bodyPr/>
                    <a:lstStyle/>
                    <a:p>
                      <a:pPr algn="ctr"/>
                      <a:r>
                        <a:rPr lang="pt-BR" sz="1200" b="1" dirty="0">
                          <a:latin typeface="Arial" panose="020B0604020202020204" pitchFamily="34" charset="0"/>
                          <a:cs typeface="Arial" panose="020B0604020202020204" pitchFamily="34" charset="0"/>
                        </a:rPr>
                        <a:t>Causa provável</a:t>
                      </a:r>
                    </a:p>
                  </a:txBody>
                  <a:tcPr marL="119795" marR="119795" marT="59898" marB="59898">
                    <a:solidFill>
                      <a:schemeClr val="bg1">
                        <a:lumMod val="85000"/>
                      </a:schemeClr>
                    </a:solidFill>
                  </a:tcPr>
                </a:tc>
                <a:tc>
                  <a:txBody>
                    <a:bodyPr/>
                    <a:lstStyle/>
                    <a:p>
                      <a:pPr algn="ctr"/>
                      <a:r>
                        <a:rPr lang="pt-BR" sz="1200" b="1" dirty="0">
                          <a:latin typeface="Arial" panose="020B0604020202020204" pitchFamily="34" charset="0"/>
                          <a:cs typeface="Arial" panose="020B0604020202020204" pitchFamily="34" charset="0"/>
                        </a:rPr>
                        <a:t>Solução</a:t>
                      </a:r>
                    </a:p>
                  </a:txBody>
                  <a:tcPr marL="119795" marR="119795" marT="59898" marB="59898">
                    <a:solidFill>
                      <a:schemeClr val="bg1">
                        <a:lumMod val="85000"/>
                      </a:schemeClr>
                    </a:solidFill>
                  </a:tcPr>
                </a:tc>
                <a:extLst>
                  <a:ext uri="{0D108BD9-81ED-4DB2-BD59-A6C34878D82A}">
                    <a16:rowId xmlns:a16="http://schemas.microsoft.com/office/drawing/2014/main" val="50831440"/>
                  </a:ext>
                </a:extLst>
              </a:tr>
              <a:tr h="658875">
                <a:tc rowSpan="4">
                  <a:txBody>
                    <a:bodyPr/>
                    <a:lstStyle/>
                    <a:p>
                      <a:pPr algn="ctr"/>
                      <a:r>
                        <a:rPr lang="pt-BR" sz="1200" dirty="0">
                          <a:latin typeface="Arial" panose="020B0604020202020204" pitchFamily="34" charset="0"/>
                          <a:cs typeface="Arial" panose="020B0604020202020204" pitchFamily="34" charset="0"/>
                        </a:rPr>
                        <a:t>Lâmpada não acende</a:t>
                      </a:r>
                    </a:p>
                  </a:txBody>
                  <a:tcPr marL="119795" marR="119795" marT="59898" marB="59898" anchor="ctr"/>
                </a:tc>
                <a:tc>
                  <a:txBody>
                    <a:bodyPr/>
                    <a:lstStyle/>
                    <a:p>
                      <a:r>
                        <a:rPr lang="pt-BR" sz="1200" dirty="0">
                          <a:latin typeface="Arial" panose="020B0604020202020204" pitchFamily="34" charset="0"/>
                          <a:cs typeface="Arial" panose="020B0604020202020204" pitchFamily="34" charset="0"/>
                        </a:rPr>
                        <a:t>Rede elétrica de abastecimento sem energia elétrica</a:t>
                      </a:r>
                    </a:p>
                  </a:txBody>
                  <a:tcPr marL="119795" marR="119795" marT="59898" marB="59898"/>
                </a:tc>
                <a:tc>
                  <a:txBody>
                    <a:bodyPr/>
                    <a:lstStyle/>
                    <a:p>
                      <a:r>
                        <a:rPr lang="pt-BR" sz="1200" dirty="0">
                          <a:latin typeface="Arial" panose="020B0604020202020204" pitchFamily="34" charset="0"/>
                          <a:cs typeface="Arial" panose="020B0604020202020204" pitchFamily="34" charset="0"/>
                        </a:rPr>
                        <a:t>Aguardar retorno do reabastecimento de energia.</a:t>
                      </a:r>
                    </a:p>
                  </a:txBody>
                  <a:tcPr marL="119795" marR="119795" marT="59898" marB="59898"/>
                </a:tc>
                <a:extLst>
                  <a:ext uri="{0D108BD9-81ED-4DB2-BD59-A6C34878D82A}">
                    <a16:rowId xmlns:a16="http://schemas.microsoft.com/office/drawing/2014/main" val="4282304594"/>
                  </a:ext>
                </a:extLst>
              </a:tr>
              <a:tr h="485837">
                <a:tc vMerge="1">
                  <a:txBody>
                    <a:bodyPr/>
                    <a:lstStyle/>
                    <a:p>
                      <a:endParaRPr lang="pt-BR"/>
                    </a:p>
                  </a:txBody>
                  <a:tcPr/>
                </a:tc>
                <a:tc>
                  <a:txBody>
                    <a:bodyPr/>
                    <a:lstStyle/>
                    <a:p>
                      <a:r>
                        <a:rPr lang="pt-BR" sz="1200" dirty="0">
                          <a:latin typeface="Arial" panose="020B0604020202020204" pitchFamily="34" charset="0"/>
                          <a:cs typeface="Arial" panose="020B0604020202020204" pitchFamily="34" charset="0"/>
                        </a:rPr>
                        <a:t>Interruptor do balcão desligado</a:t>
                      </a:r>
                    </a:p>
                  </a:txBody>
                  <a:tcPr marL="119795" marR="119795" marT="59898" marB="59898"/>
                </a:tc>
                <a:tc>
                  <a:txBody>
                    <a:bodyPr/>
                    <a:lstStyle/>
                    <a:p>
                      <a:r>
                        <a:rPr lang="pt-BR" sz="1200" dirty="0">
                          <a:latin typeface="Arial" panose="020B0604020202020204" pitchFamily="34" charset="0"/>
                          <a:cs typeface="Arial" panose="020B0604020202020204" pitchFamily="34" charset="0"/>
                        </a:rPr>
                        <a:t>Localize o interruptor do produto e </a:t>
                      </a:r>
                      <a:r>
                        <a:rPr lang="pt-BR" sz="1200">
                          <a:latin typeface="Arial" panose="020B0604020202020204" pitchFamily="34" charset="0"/>
                          <a:cs typeface="Arial" panose="020B0604020202020204" pitchFamily="34" charset="0"/>
                        </a:rPr>
                        <a:t>o acione.</a:t>
                      </a:r>
                      <a:endParaRPr lang="pt-BR" sz="1200" dirty="0">
                        <a:latin typeface="Arial" panose="020B0604020202020204" pitchFamily="34" charset="0"/>
                        <a:cs typeface="Arial" panose="020B0604020202020204" pitchFamily="34" charset="0"/>
                      </a:endParaRPr>
                    </a:p>
                  </a:txBody>
                  <a:tcPr marL="119795" marR="119795" marT="59898" marB="59898"/>
                </a:tc>
                <a:extLst>
                  <a:ext uri="{0D108BD9-81ED-4DB2-BD59-A6C34878D82A}">
                    <a16:rowId xmlns:a16="http://schemas.microsoft.com/office/drawing/2014/main" val="793521351"/>
                  </a:ext>
                </a:extLst>
              </a:tr>
              <a:tr h="485837">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200" dirty="0">
                          <a:latin typeface="Arial" panose="020B0604020202020204" pitchFamily="34" charset="0"/>
                          <a:cs typeface="Arial" panose="020B0604020202020204" pitchFamily="34" charset="0"/>
                        </a:rPr>
                        <a:t>Tomada com mau contato </a:t>
                      </a:r>
                    </a:p>
                  </a:txBody>
                  <a:tcPr marL="119795" marR="119795" marT="59898" marB="59898"/>
                </a:tc>
                <a:tc>
                  <a:txBody>
                    <a:bodyPr/>
                    <a:lstStyle/>
                    <a:p>
                      <a:r>
                        <a:rPr lang="pt-BR" sz="1200" dirty="0">
                          <a:latin typeface="Arial" panose="020B0604020202020204" pitchFamily="34" charset="0"/>
                          <a:cs typeface="Arial" panose="020B0604020202020204" pitchFamily="34" charset="0"/>
                        </a:rPr>
                        <a:t>Corrigir o defeito da tomada</a:t>
                      </a:r>
                    </a:p>
                  </a:txBody>
                  <a:tcPr marL="119795" marR="119795" marT="59898" marB="59898"/>
                </a:tc>
                <a:extLst>
                  <a:ext uri="{0D108BD9-81ED-4DB2-BD59-A6C34878D82A}">
                    <a16:rowId xmlns:a16="http://schemas.microsoft.com/office/drawing/2014/main" val="949567063"/>
                  </a:ext>
                </a:extLst>
              </a:tr>
              <a:tr h="485837">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1200" dirty="0">
                          <a:latin typeface="Arial" panose="020B0604020202020204" pitchFamily="34" charset="0"/>
                          <a:cs typeface="Arial" panose="020B0604020202020204" pitchFamily="34" charset="0"/>
                        </a:rPr>
                        <a:t>Cordão de alimentação rompido ou danificado.</a:t>
                      </a:r>
                    </a:p>
                  </a:txBody>
                  <a:tcPr marL="119795" marR="119795" marT="59898" marB="59898"/>
                </a:tc>
                <a:tc>
                  <a:txBody>
                    <a:bodyPr/>
                    <a:lstStyle/>
                    <a:p>
                      <a:r>
                        <a:rPr lang="pt-BR" sz="1200" dirty="0">
                          <a:latin typeface="Arial" panose="020B0604020202020204" pitchFamily="34" charset="0"/>
                          <a:cs typeface="Arial" panose="020B0604020202020204" pitchFamily="34" charset="0"/>
                        </a:rPr>
                        <a:t>Entrar em contato com assistência técnica autorizada para substituição do cabo.</a:t>
                      </a:r>
                    </a:p>
                  </a:txBody>
                  <a:tcPr marL="119795" marR="119795" marT="59898" marB="59898"/>
                </a:tc>
                <a:extLst>
                  <a:ext uri="{0D108BD9-81ED-4DB2-BD59-A6C34878D82A}">
                    <a16:rowId xmlns:a16="http://schemas.microsoft.com/office/drawing/2014/main" val="561615044"/>
                  </a:ext>
                </a:extLst>
              </a:tr>
            </a:tbl>
          </a:graphicData>
        </a:graphic>
      </p:graphicFrame>
      <p:sp>
        <p:nvSpPr>
          <p:cNvPr id="12" name="CaixaDeTexto 11">
            <a:extLst>
              <a:ext uri="{FF2B5EF4-FFF2-40B4-BE49-F238E27FC236}">
                <a16:creationId xmlns:a16="http://schemas.microsoft.com/office/drawing/2014/main" id="{33017445-DD40-474D-B11E-030B30B6B6CA}"/>
              </a:ext>
            </a:extLst>
          </p:cNvPr>
          <p:cNvSpPr txBox="1"/>
          <p:nvPr/>
        </p:nvSpPr>
        <p:spPr>
          <a:xfrm>
            <a:off x="144931" y="5347027"/>
            <a:ext cx="6551859" cy="495520"/>
          </a:xfrm>
          <a:prstGeom prst="rect">
            <a:avLst/>
          </a:prstGeom>
          <a:noFill/>
        </p:spPr>
        <p:txBody>
          <a:bodyPr wrap="square" rtlCol="0">
            <a:spAutoFit/>
          </a:bodyPr>
          <a:lstStyle/>
          <a:p>
            <a:pPr algn="just"/>
            <a:r>
              <a:rPr lang="pt-BR" sz="1310" dirty="0">
                <a:latin typeface="Arial" panose="020B0604020202020204" pitchFamily="34" charset="0"/>
                <a:cs typeface="Arial" panose="020B0604020202020204" pitchFamily="34" charset="0"/>
              </a:rPr>
              <a:t>10.1 Se observar qualquer problema em seu equipamento, antes de chamar a assistência técnica, verifique os seguintes pontos.</a:t>
            </a:r>
          </a:p>
        </p:txBody>
      </p:sp>
      <p:sp>
        <p:nvSpPr>
          <p:cNvPr id="13" name="CaixaDeTexto 12">
            <a:extLst>
              <a:ext uri="{FF2B5EF4-FFF2-40B4-BE49-F238E27FC236}">
                <a16:creationId xmlns:a16="http://schemas.microsoft.com/office/drawing/2014/main" id="{90113F64-CDB5-47DE-AB46-75D0C7947457}"/>
              </a:ext>
            </a:extLst>
          </p:cNvPr>
          <p:cNvSpPr txBox="1"/>
          <p:nvPr/>
        </p:nvSpPr>
        <p:spPr>
          <a:xfrm>
            <a:off x="3149662" y="9350524"/>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04</a:t>
            </a:r>
          </a:p>
        </p:txBody>
      </p:sp>
    </p:spTree>
    <p:extLst>
      <p:ext uri="{BB962C8B-B14F-4D97-AF65-F5344CB8AC3E}">
        <p14:creationId xmlns:p14="http://schemas.microsoft.com/office/powerpoint/2010/main" val="71153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ixaDeTexto 15">
            <a:extLst>
              <a:ext uri="{FF2B5EF4-FFF2-40B4-BE49-F238E27FC236}">
                <a16:creationId xmlns:a16="http://schemas.microsoft.com/office/drawing/2014/main" id="{D020CBAE-9A36-4705-8C13-3EB891B71474}"/>
              </a:ext>
            </a:extLst>
          </p:cNvPr>
          <p:cNvSpPr txBox="1"/>
          <p:nvPr/>
        </p:nvSpPr>
        <p:spPr>
          <a:xfrm>
            <a:off x="59833" y="503429"/>
            <a:ext cx="6621307" cy="304058"/>
          </a:xfrm>
          <a:prstGeom prst="rect">
            <a:avLst/>
          </a:prstGeom>
          <a:noFill/>
        </p:spPr>
        <p:txBody>
          <a:bodyPr wrap="square" rtlCol="0">
            <a:spAutoFit/>
          </a:bodyPr>
          <a:lstStyle/>
          <a:p>
            <a:pPr algn="just"/>
            <a:endParaRPr lang="pt-BR" sz="1376" dirty="0"/>
          </a:p>
        </p:txBody>
      </p:sp>
      <p:sp>
        <p:nvSpPr>
          <p:cNvPr id="39" name="CaixaDeTexto 38">
            <a:extLst>
              <a:ext uri="{FF2B5EF4-FFF2-40B4-BE49-F238E27FC236}">
                <a16:creationId xmlns:a16="http://schemas.microsoft.com/office/drawing/2014/main" id="{41DB5342-7B7D-4389-BF7C-35576E987587}"/>
              </a:ext>
            </a:extLst>
          </p:cNvPr>
          <p:cNvSpPr txBox="1"/>
          <p:nvPr/>
        </p:nvSpPr>
        <p:spPr>
          <a:xfrm>
            <a:off x="3464004" y="951648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05</a:t>
            </a:r>
          </a:p>
        </p:txBody>
      </p:sp>
      <p:sp>
        <p:nvSpPr>
          <p:cNvPr id="17" name="Retângulo 16">
            <a:extLst>
              <a:ext uri="{FF2B5EF4-FFF2-40B4-BE49-F238E27FC236}">
                <a16:creationId xmlns:a16="http://schemas.microsoft.com/office/drawing/2014/main" id="{4A1017C6-FCA2-4FD3-87CA-1D12352CE7D2}"/>
              </a:ext>
            </a:extLst>
          </p:cNvPr>
          <p:cNvSpPr/>
          <p:nvPr/>
        </p:nvSpPr>
        <p:spPr>
          <a:xfrm>
            <a:off x="44624" y="200472"/>
            <a:ext cx="6721173" cy="374590"/>
          </a:xfrm>
          <a:prstGeom prst="rect">
            <a:avLst/>
          </a:prstGeom>
          <a:solidFill>
            <a:schemeClr val="bg1">
              <a:lumMod val="85000"/>
            </a:schemeClr>
          </a:solidFill>
        </p:spPr>
        <p:txBody>
          <a:bodyPr wrap="square" rtlCol="0" anchor="ctr">
            <a:spAutoFit/>
          </a:bodyPr>
          <a:lstStyle/>
          <a:p>
            <a:pPr algn="ctr"/>
            <a:r>
              <a:rPr lang="pt-BR" sz="1834" b="1" dirty="0">
                <a:latin typeface="Arial" panose="020B0604020202020204" pitchFamily="34" charset="0"/>
                <a:cs typeface="Arial" panose="020B0604020202020204" pitchFamily="34" charset="0"/>
              </a:rPr>
              <a:t>TERMO DE GARANTIA</a:t>
            </a:r>
          </a:p>
        </p:txBody>
      </p:sp>
      <p:sp>
        <p:nvSpPr>
          <p:cNvPr id="9" name="CaixaDeTexto 8">
            <a:extLst>
              <a:ext uri="{FF2B5EF4-FFF2-40B4-BE49-F238E27FC236}">
                <a16:creationId xmlns:a16="http://schemas.microsoft.com/office/drawing/2014/main" id="{043F9E37-8738-4FEC-BE41-26E04D6B25E4}"/>
              </a:ext>
            </a:extLst>
          </p:cNvPr>
          <p:cNvSpPr txBox="1"/>
          <p:nvPr/>
        </p:nvSpPr>
        <p:spPr>
          <a:xfrm>
            <a:off x="44624" y="575062"/>
            <a:ext cx="6721173" cy="7032694"/>
          </a:xfrm>
          <a:prstGeom prst="rect">
            <a:avLst/>
          </a:prstGeom>
          <a:noFill/>
        </p:spPr>
        <p:txBody>
          <a:bodyPr wrap="square" rtlCol="0">
            <a:spAutoFit/>
          </a:bodyPr>
          <a:lstStyle/>
          <a:p>
            <a:pPr algn="just"/>
            <a:r>
              <a:rPr lang="pt-BR" sz="1100" dirty="0">
                <a:latin typeface="Arial" panose="020B0604020202020204" pitchFamily="34" charset="0"/>
                <a:cs typeface="Arial" panose="020B0604020202020204" pitchFamily="34" charset="0"/>
              </a:rPr>
              <a:t>Os produtos Só Aço são garantidos pela Só Aço, na forma estabelecida:</a:t>
            </a:r>
          </a:p>
          <a:p>
            <a:pPr algn="just"/>
            <a:endParaRPr lang="pt-BR" sz="1100" dirty="0">
              <a:latin typeface="Arial" panose="020B0604020202020204" pitchFamily="34" charset="0"/>
              <a:cs typeface="Arial" panose="020B0604020202020204" pitchFamily="34" charset="0"/>
            </a:endParaRPr>
          </a:p>
          <a:p>
            <a:pPr marL="176213" indent="-176213" algn="just">
              <a:buAutoNum type="arabicPeriod"/>
            </a:pPr>
            <a:r>
              <a:rPr lang="pt-BR" sz="110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110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110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110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11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11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100" b="1" dirty="0">
                <a:latin typeface="Arial" panose="020B0604020202020204" pitchFamily="34" charset="0"/>
                <a:cs typeface="Arial" panose="020B0604020202020204" pitchFamily="34" charset="0"/>
              </a:rPr>
              <a:t>Observação:</a:t>
            </a:r>
            <a:r>
              <a:rPr lang="pt-BR" sz="110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1100" dirty="0">
              <a:latin typeface="Arial" panose="020B0604020202020204" pitchFamily="34" charset="0"/>
              <a:cs typeface="Arial" panose="020B0604020202020204" pitchFamily="34" charset="0"/>
            </a:endParaRPr>
          </a:p>
          <a:p>
            <a:pPr algn="just"/>
            <a:r>
              <a:rPr lang="pt-BR" sz="1100" b="1" i="1" dirty="0">
                <a:latin typeface="Arial" panose="020B0604020202020204" pitchFamily="34" charset="0"/>
                <a:cs typeface="Arial" panose="020B0604020202020204" pitchFamily="34" charset="0"/>
              </a:rPr>
              <a:t>2. Serviços de Garantia</a:t>
            </a:r>
          </a:p>
          <a:p>
            <a:pPr algn="just"/>
            <a:r>
              <a:rPr lang="pt-BR" sz="11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10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100" b="1" dirty="0">
              <a:latin typeface="Arial" panose="020B0604020202020204" pitchFamily="34" charset="0"/>
              <a:cs typeface="Arial" panose="020B0604020202020204" pitchFamily="34" charset="0"/>
            </a:endParaRPr>
          </a:p>
          <a:p>
            <a:pPr algn="just"/>
            <a:r>
              <a:rPr lang="pt-BR" sz="1100" b="1" dirty="0">
                <a:latin typeface="Arial" panose="020B0604020202020204" pitchFamily="34" charset="0"/>
                <a:cs typeface="Arial" panose="020B0604020202020204" pitchFamily="34" charset="0"/>
              </a:rPr>
              <a:t>3. Extinção da garantia</a:t>
            </a:r>
          </a:p>
          <a:p>
            <a:pPr algn="just"/>
            <a:r>
              <a:rPr lang="pt-BR" sz="11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1100" dirty="0">
                <a:latin typeface="Arial" panose="020B0604020202020204" pitchFamily="34" charset="0"/>
                <a:cs typeface="Arial" panose="020B0604020202020204" pitchFamily="34" charset="0"/>
              </a:rPr>
              <a:t>ATENÇÃO</a:t>
            </a:r>
          </a:p>
          <a:p>
            <a:pPr marL="176213" indent="-176213" algn="just">
              <a:buAutoNum type="alphaLcParenR"/>
            </a:pPr>
            <a:r>
              <a:rPr lang="pt-BR" sz="11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11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1100" dirty="0">
                <a:latin typeface="Arial" panose="020B0604020202020204" pitchFamily="34" charset="0"/>
                <a:cs typeface="Arial" panose="020B0604020202020204" pitchFamily="34" charset="0"/>
              </a:rPr>
              <a:t>A Só Aço se reserva do direito de alterar as características dos seus produtos sem aviso prévio. </a:t>
            </a:r>
          </a:p>
        </p:txBody>
      </p:sp>
      <p:graphicFrame>
        <p:nvGraphicFramePr>
          <p:cNvPr id="10" name="Tabela 9">
            <a:extLst>
              <a:ext uri="{FF2B5EF4-FFF2-40B4-BE49-F238E27FC236}">
                <a16:creationId xmlns:a16="http://schemas.microsoft.com/office/drawing/2014/main" id="{E8FC017C-6449-4CB5-B72F-2A9476F4789F}"/>
              </a:ext>
            </a:extLst>
          </p:cNvPr>
          <p:cNvGraphicFramePr>
            <a:graphicFrameLocks noGrp="1"/>
          </p:cNvGraphicFramePr>
          <p:nvPr>
            <p:extLst>
              <p:ext uri="{D42A27DB-BD31-4B8C-83A1-F6EECF244321}">
                <p14:modId xmlns:p14="http://schemas.microsoft.com/office/powerpoint/2010/main" val="2428722908"/>
              </p:ext>
            </p:extLst>
          </p:nvPr>
        </p:nvGraphicFramePr>
        <p:xfrm>
          <a:off x="160790" y="7833320"/>
          <a:ext cx="6577158" cy="1361572"/>
        </p:xfrm>
        <a:graphic>
          <a:graphicData uri="http://schemas.openxmlformats.org/drawingml/2006/table">
            <a:tbl>
              <a:tblPr firstRow="1" bandRow="1">
                <a:tableStyleId>{2D5ABB26-0587-4C30-8999-92F81FD0307C}</a:tableStyleId>
              </a:tblPr>
              <a:tblGrid>
                <a:gridCol w="1096193">
                  <a:extLst>
                    <a:ext uri="{9D8B030D-6E8A-4147-A177-3AD203B41FA5}">
                      <a16:colId xmlns:a16="http://schemas.microsoft.com/office/drawing/2014/main" val="1713468828"/>
                    </a:ext>
                  </a:extLst>
                </a:gridCol>
                <a:gridCol w="1096193">
                  <a:extLst>
                    <a:ext uri="{9D8B030D-6E8A-4147-A177-3AD203B41FA5}">
                      <a16:colId xmlns:a16="http://schemas.microsoft.com/office/drawing/2014/main" val="2269615378"/>
                    </a:ext>
                  </a:extLst>
                </a:gridCol>
                <a:gridCol w="1096193">
                  <a:extLst>
                    <a:ext uri="{9D8B030D-6E8A-4147-A177-3AD203B41FA5}">
                      <a16:colId xmlns:a16="http://schemas.microsoft.com/office/drawing/2014/main" val="3517463195"/>
                    </a:ext>
                  </a:extLst>
                </a:gridCol>
                <a:gridCol w="1096193">
                  <a:extLst>
                    <a:ext uri="{9D8B030D-6E8A-4147-A177-3AD203B41FA5}">
                      <a16:colId xmlns:a16="http://schemas.microsoft.com/office/drawing/2014/main" val="3012284916"/>
                    </a:ext>
                  </a:extLst>
                </a:gridCol>
                <a:gridCol w="1096193">
                  <a:extLst>
                    <a:ext uri="{9D8B030D-6E8A-4147-A177-3AD203B41FA5}">
                      <a16:colId xmlns:a16="http://schemas.microsoft.com/office/drawing/2014/main" val="3103919278"/>
                    </a:ext>
                  </a:extLst>
                </a:gridCol>
                <a:gridCol w="1096193">
                  <a:extLst>
                    <a:ext uri="{9D8B030D-6E8A-4147-A177-3AD203B41FA5}">
                      <a16:colId xmlns:a16="http://schemas.microsoft.com/office/drawing/2014/main" val="2449578342"/>
                    </a:ext>
                  </a:extLst>
                </a:gridCol>
              </a:tblGrid>
              <a:tr h="340393">
                <a:tc gridSpan="6">
                  <a:txBody>
                    <a:bodyPr/>
                    <a:lstStyle/>
                    <a:p>
                      <a:pPr algn="ctr"/>
                      <a:r>
                        <a:rPr lang="pt-BR" sz="1050" b="1" dirty="0">
                          <a:latin typeface="Arial" panose="020B0604020202020204" pitchFamily="34" charset="0"/>
                          <a:cs typeface="Arial" panose="020B0604020202020204" pitchFamily="34" charset="0"/>
                        </a:rPr>
                        <a:t>Dados necessários para abertura do atendimento</a:t>
                      </a:r>
                      <a:endParaRPr lang="pt-BR" sz="11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40393">
                <a:tc>
                  <a:txBody>
                    <a:bodyPr/>
                    <a:lstStyle/>
                    <a:p>
                      <a:r>
                        <a:rPr lang="pt-BR" sz="9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40393">
                <a:tc>
                  <a:txBody>
                    <a:bodyPr/>
                    <a:lstStyle/>
                    <a:p>
                      <a:r>
                        <a:rPr lang="pt-BR" sz="9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9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40393">
                <a:tc>
                  <a:txBody>
                    <a:bodyPr/>
                    <a:lstStyle/>
                    <a:p>
                      <a:r>
                        <a:rPr lang="pt-BR" sz="9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9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947278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727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547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194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9BB4527F-89E3-44CC-9E84-9AA28FEC81DF}"/>
              </a:ext>
            </a:extLst>
          </p:cNvPr>
          <p:cNvCxnSpPr>
            <a:cxnSpLocks/>
          </p:cNvCxnSpPr>
          <p:nvPr/>
        </p:nvCxnSpPr>
        <p:spPr>
          <a:xfrm>
            <a:off x="67128" y="200472"/>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 name="Conector reto 4">
            <a:extLst>
              <a:ext uri="{FF2B5EF4-FFF2-40B4-BE49-F238E27FC236}">
                <a16:creationId xmlns:a16="http://schemas.microsoft.com/office/drawing/2014/main" id="{DF413D89-00D2-4CA2-99CF-4F219F211FB2}"/>
              </a:ext>
            </a:extLst>
          </p:cNvPr>
          <p:cNvCxnSpPr>
            <a:cxnSpLocks/>
          </p:cNvCxnSpPr>
          <p:nvPr/>
        </p:nvCxnSpPr>
        <p:spPr>
          <a:xfrm>
            <a:off x="67128" y="679448"/>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4" name="Imagem 13">
            <a:extLst>
              <a:ext uri="{FF2B5EF4-FFF2-40B4-BE49-F238E27FC236}">
                <a16:creationId xmlns:a16="http://schemas.microsoft.com/office/drawing/2014/main" id="{14521F77-0E76-4020-A611-4E2F399130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86" y="725469"/>
            <a:ext cx="1559003" cy="365525"/>
          </a:xfrm>
          <a:prstGeom prst="rect">
            <a:avLst/>
          </a:prstGeom>
        </p:spPr>
      </p:pic>
      <p:sp>
        <p:nvSpPr>
          <p:cNvPr id="15" name="CaixaDeTexto 14">
            <a:extLst>
              <a:ext uri="{FF2B5EF4-FFF2-40B4-BE49-F238E27FC236}">
                <a16:creationId xmlns:a16="http://schemas.microsoft.com/office/drawing/2014/main" id="{FE3C783F-27D2-4D54-8EE4-24AFC7999440}"/>
              </a:ext>
            </a:extLst>
          </p:cNvPr>
          <p:cNvSpPr txBox="1"/>
          <p:nvPr/>
        </p:nvSpPr>
        <p:spPr>
          <a:xfrm>
            <a:off x="315860" y="268942"/>
            <a:ext cx="6226281" cy="41485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defTabSz="1366508">
              <a:defRPr/>
            </a:pPr>
            <a:r>
              <a:rPr lang="pt-BR" sz="2096" b="1" dirty="0">
                <a:solidFill>
                  <a:prstClr val="black"/>
                </a:solidFill>
                <a:latin typeface="Monda" pitchFamily="2" charset="0"/>
              </a:rPr>
              <a:t>BALCÃO NATURAL</a:t>
            </a:r>
          </a:p>
        </p:txBody>
      </p:sp>
      <p:pic>
        <p:nvPicPr>
          <p:cNvPr id="16" name="Imagem 15">
            <a:extLst>
              <a:ext uri="{FF2B5EF4-FFF2-40B4-BE49-F238E27FC236}">
                <a16:creationId xmlns:a16="http://schemas.microsoft.com/office/drawing/2014/main" id="{45D35015-375D-4A01-80FB-5742FED077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5492" y="725469"/>
            <a:ext cx="1559003" cy="365525"/>
          </a:xfrm>
          <a:prstGeom prst="rect">
            <a:avLst/>
          </a:prstGeom>
        </p:spPr>
      </p:pic>
      <p:pic>
        <p:nvPicPr>
          <p:cNvPr id="17" name="Imagem 16">
            <a:extLst>
              <a:ext uri="{FF2B5EF4-FFF2-40B4-BE49-F238E27FC236}">
                <a16:creationId xmlns:a16="http://schemas.microsoft.com/office/drawing/2014/main" id="{9389419B-B04F-4EC1-823E-B005BC63E4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799" y="725469"/>
            <a:ext cx="1559003" cy="365525"/>
          </a:xfrm>
          <a:prstGeom prst="rect">
            <a:avLst/>
          </a:prstGeom>
        </p:spPr>
      </p:pic>
      <p:pic>
        <p:nvPicPr>
          <p:cNvPr id="18" name="Imagem 17">
            <a:extLst>
              <a:ext uri="{FF2B5EF4-FFF2-40B4-BE49-F238E27FC236}">
                <a16:creationId xmlns:a16="http://schemas.microsoft.com/office/drawing/2014/main" id="{F5049002-983D-481E-9180-88445A0E6A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106" y="725469"/>
            <a:ext cx="1559003" cy="365525"/>
          </a:xfrm>
          <a:prstGeom prst="rect">
            <a:avLst/>
          </a:prstGeom>
        </p:spPr>
      </p:pic>
      <p:pic>
        <p:nvPicPr>
          <p:cNvPr id="19" name="Imagem 18">
            <a:extLst>
              <a:ext uri="{FF2B5EF4-FFF2-40B4-BE49-F238E27FC236}">
                <a16:creationId xmlns:a16="http://schemas.microsoft.com/office/drawing/2014/main" id="{C7975D5C-3359-439C-8F47-CF54705ACB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39" y="1153927"/>
            <a:ext cx="1559003" cy="365525"/>
          </a:xfrm>
          <a:prstGeom prst="rect">
            <a:avLst/>
          </a:prstGeom>
        </p:spPr>
      </p:pic>
      <p:pic>
        <p:nvPicPr>
          <p:cNvPr id="20" name="Imagem 19">
            <a:extLst>
              <a:ext uri="{FF2B5EF4-FFF2-40B4-BE49-F238E27FC236}">
                <a16:creationId xmlns:a16="http://schemas.microsoft.com/office/drawing/2014/main" id="{EAF65095-BAE6-4A70-8028-257C9A3E5D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4545" y="1153927"/>
            <a:ext cx="1559003" cy="365525"/>
          </a:xfrm>
          <a:prstGeom prst="rect">
            <a:avLst/>
          </a:prstGeom>
        </p:spPr>
      </p:pic>
      <p:pic>
        <p:nvPicPr>
          <p:cNvPr id="21" name="Imagem 20">
            <a:extLst>
              <a:ext uri="{FF2B5EF4-FFF2-40B4-BE49-F238E27FC236}">
                <a16:creationId xmlns:a16="http://schemas.microsoft.com/office/drawing/2014/main" id="{209F8480-FEA9-40B8-8964-46B253A610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7852" y="1153927"/>
            <a:ext cx="1559003" cy="365525"/>
          </a:xfrm>
          <a:prstGeom prst="rect">
            <a:avLst/>
          </a:prstGeom>
        </p:spPr>
      </p:pic>
      <p:pic>
        <p:nvPicPr>
          <p:cNvPr id="22" name="Imagem 21">
            <a:extLst>
              <a:ext uri="{FF2B5EF4-FFF2-40B4-BE49-F238E27FC236}">
                <a16:creationId xmlns:a16="http://schemas.microsoft.com/office/drawing/2014/main" id="{3BA4B81F-FE1F-48B7-8B36-22B4B80597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1159" y="1153927"/>
            <a:ext cx="1559003" cy="365525"/>
          </a:xfrm>
          <a:prstGeom prst="rect">
            <a:avLst/>
          </a:prstGeom>
        </p:spPr>
      </p:pic>
      <p:pic>
        <p:nvPicPr>
          <p:cNvPr id="23" name="Imagem 22">
            <a:extLst>
              <a:ext uri="{FF2B5EF4-FFF2-40B4-BE49-F238E27FC236}">
                <a16:creationId xmlns:a16="http://schemas.microsoft.com/office/drawing/2014/main" id="{55647090-DC90-498D-AFB5-C96F72FCF5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71" y="1582384"/>
            <a:ext cx="1559003" cy="365525"/>
          </a:xfrm>
          <a:prstGeom prst="rect">
            <a:avLst/>
          </a:prstGeom>
        </p:spPr>
      </p:pic>
      <p:pic>
        <p:nvPicPr>
          <p:cNvPr id="24" name="Imagem 23">
            <a:extLst>
              <a:ext uri="{FF2B5EF4-FFF2-40B4-BE49-F238E27FC236}">
                <a16:creationId xmlns:a16="http://schemas.microsoft.com/office/drawing/2014/main" id="{929F6028-9429-479E-8136-3F5FE0AE5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4777" y="1582384"/>
            <a:ext cx="1559003" cy="365525"/>
          </a:xfrm>
          <a:prstGeom prst="rect">
            <a:avLst/>
          </a:prstGeom>
        </p:spPr>
      </p:pic>
      <p:pic>
        <p:nvPicPr>
          <p:cNvPr id="25" name="Imagem 24">
            <a:extLst>
              <a:ext uri="{FF2B5EF4-FFF2-40B4-BE49-F238E27FC236}">
                <a16:creationId xmlns:a16="http://schemas.microsoft.com/office/drawing/2014/main" id="{2E7A6310-4DBB-4EF0-ACB9-8BAB1F214D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8083" y="1582384"/>
            <a:ext cx="1559003" cy="365525"/>
          </a:xfrm>
          <a:prstGeom prst="rect">
            <a:avLst/>
          </a:prstGeom>
        </p:spPr>
      </p:pic>
      <p:pic>
        <p:nvPicPr>
          <p:cNvPr id="26" name="Imagem 25">
            <a:extLst>
              <a:ext uri="{FF2B5EF4-FFF2-40B4-BE49-F238E27FC236}">
                <a16:creationId xmlns:a16="http://schemas.microsoft.com/office/drawing/2014/main" id="{751BC89B-62A3-4E14-A971-D3105F92E8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1391" y="1582384"/>
            <a:ext cx="1559003" cy="365525"/>
          </a:xfrm>
          <a:prstGeom prst="rect">
            <a:avLst/>
          </a:prstGeom>
        </p:spPr>
      </p:pic>
      <p:pic>
        <p:nvPicPr>
          <p:cNvPr id="27" name="Imagem 26">
            <a:extLst>
              <a:ext uri="{FF2B5EF4-FFF2-40B4-BE49-F238E27FC236}">
                <a16:creationId xmlns:a16="http://schemas.microsoft.com/office/drawing/2014/main" id="{83519678-3AAF-4D8A-A4E9-761F0CB17B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65" y="2004483"/>
            <a:ext cx="1559003" cy="365525"/>
          </a:xfrm>
          <a:prstGeom prst="rect">
            <a:avLst/>
          </a:prstGeom>
        </p:spPr>
      </p:pic>
      <p:pic>
        <p:nvPicPr>
          <p:cNvPr id="28" name="Imagem 27">
            <a:extLst>
              <a:ext uri="{FF2B5EF4-FFF2-40B4-BE49-F238E27FC236}">
                <a16:creationId xmlns:a16="http://schemas.microsoft.com/office/drawing/2014/main" id="{65360BE1-7BDF-4A72-9B76-C8CB818B1F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9072" y="2004483"/>
            <a:ext cx="1559003" cy="365525"/>
          </a:xfrm>
          <a:prstGeom prst="rect">
            <a:avLst/>
          </a:prstGeom>
        </p:spPr>
      </p:pic>
      <p:pic>
        <p:nvPicPr>
          <p:cNvPr id="29" name="Imagem 28">
            <a:extLst>
              <a:ext uri="{FF2B5EF4-FFF2-40B4-BE49-F238E27FC236}">
                <a16:creationId xmlns:a16="http://schemas.microsoft.com/office/drawing/2014/main" id="{5710B212-0DCC-4BAB-97C5-AB292E1D43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2378" y="2004483"/>
            <a:ext cx="1559003" cy="365525"/>
          </a:xfrm>
          <a:prstGeom prst="rect">
            <a:avLst/>
          </a:prstGeom>
        </p:spPr>
      </p:pic>
      <p:pic>
        <p:nvPicPr>
          <p:cNvPr id="30" name="Imagem 29">
            <a:extLst>
              <a:ext uri="{FF2B5EF4-FFF2-40B4-BE49-F238E27FC236}">
                <a16:creationId xmlns:a16="http://schemas.microsoft.com/office/drawing/2014/main" id="{0D833297-AE82-4FEB-9D12-69FC5EC3EB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5686" y="2004483"/>
            <a:ext cx="1559003" cy="365525"/>
          </a:xfrm>
          <a:prstGeom prst="rect">
            <a:avLst/>
          </a:prstGeom>
        </p:spPr>
      </p:pic>
      <p:pic>
        <p:nvPicPr>
          <p:cNvPr id="31" name="Imagem 30">
            <a:extLst>
              <a:ext uri="{FF2B5EF4-FFF2-40B4-BE49-F238E27FC236}">
                <a16:creationId xmlns:a16="http://schemas.microsoft.com/office/drawing/2014/main" id="{DBF6553A-75CA-4F70-A416-E9FD63DE9A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18" y="2432941"/>
            <a:ext cx="1559003" cy="365525"/>
          </a:xfrm>
          <a:prstGeom prst="rect">
            <a:avLst/>
          </a:prstGeom>
        </p:spPr>
      </p:pic>
      <p:pic>
        <p:nvPicPr>
          <p:cNvPr id="32" name="Imagem 31">
            <a:extLst>
              <a:ext uri="{FF2B5EF4-FFF2-40B4-BE49-F238E27FC236}">
                <a16:creationId xmlns:a16="http://schemas.microsoft.com/office/drawing/2014/main" id="{5008AEC1-940B-44C7-A9A3-70028E2E6F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124" y="2432941"/>
            <a:ext cx="1559003" cy="365525"/>
          </a:xfrm>
          <a:prstGeom prst="rect">
            <a:avLst/>
          </a:prstGeom>
        </p:spPr>
      </p:pic>
      <p:pic>
        <p:nvPicPr>
          <p:cNvPr id="33" name="Imagem 32">
            <a:extLst>
              <a:ext uri="{FF2B5EF4-FFF2-40B4-BE49-F238E27FC236}">
                <a16:creationId xmlns:a16="http://schemas.microsoft.com/office/drawing/2014/main" id="{A2151009-38A9-424B-A1C2-2EE3AFDCB2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1431" y="2432941"/>
            <a:ext cx="1559003" cy="365525"/>
          </a:xfrm>
          <a:prstGeom prst="rect">
            <a:avLst/>
          </a:prstGeom>
        </p:spPr>
      </p:pic>
      <p:pic>
        <p:nvPicPr>
          <p:cNvPr id="34" name="Imagem 33">
            <a:extLst>
              <a:ext uri="{FF2B5EF4-FFF2-40B4-BE49-F238E27FC236}">
                <a16:creationId xmlns:a16="http://schemas.microsoft.com/office/drawing/2014/main" id="{481D30B3-7705-4E93-A820-5B5E7FAA88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4738" y="2432941"/>
            <a:ext cx="1559003" cy="365525"/>
          </a:xfrm>
          <a:prstGeom prst="rect">
            <a:avLst/>
          </a:prstGeom>
        </p:spPr>
      </p:pic>
      <p:pic>
        <p:nvPicPr>
          <p:cNvPr id="35" name="Imagem 34">
            <a:extLst>
              <a:ext uri="{FF2B5EF4-FFF2-40B4-BE49-F238E27FC236}">
                <a16:creationId xmlns:a16="http://schemas.microsoft.com/office/drawing/2014/main" id="{91FF52C7-DE10-41F7-8D7C-8BE6CE4A3C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50" y="2861398"/>
            <a:ext cx="1559003" cy="365525"/>
          </a:xfrm>
          <a:prstGeom prst="rect">
            <a:avLst/>
          </a:prstGeom>
        </p:spPr>
      </p:pic>
      <p:pic>
        <p:nvPicPr>
          <p:cNvPr id="36" name="Imagem 35">
            <a:extLst>
              <a:ext uri="{FF2B5EF4-FFF2-40B4-BE49-F238E27FC236}">
                <a16:creationId xmlns:a16="http://schemas.microsoft.com/office/drawing/2014/main" id="{2EF6669A-1CA5-4525-AD39-B5E817B615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8356" y="2861398"/>
            <a:ext cx="1559003" cy="365525"/>
          </a:xfrm>
          <a:prstGeom prst="rect">
            <a:avLst/>
          </a:prstGeom>
        </p:spPr>
      </p:pic>
      <p:pic>
        <p:nvPicPr>
          <p:cNvPr id="37" name="Imagem 36">
            <a:extLst>
              <a:ext uri="{FF2B5EF4-FFF2-40B4-BE49-F238E27FC236}">
                <a16:creationId xmlns:a16="http://schemas.microsoft.com/office/drawing/2014/main" id="{AFF02E9C-FDEC-40D2-8896-ADA48FA944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1663" y="2861398"/>
            <a:ext cx="1559003" cy="365525"/>
          </a:xfrm>
          <a:prstGeom prst="rect">
            <a:avLst/>
          </a:prstGeom>
        </p:spPr>
      </p:pic>
      <p:pic>
        <p:nvPicPr>
          <p:cNvPr id="38" name="Imagem 37">
            <a:extLst>
              <a:ext uri="{FF2B5EF4-FFF2-40B4-BE49-F238E27FC236}">
                <a16:creationId xmlns:a16="http://schemas.microsoft.com/office/drawing/2014/main" id="{6BA4AFA6-3C4E-4951-BE73-DCD561AF69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4970" y="2861398"/>
            <a:ext cx="1559003" cy="365525"/>
          </a:xfrm>
          <a:prstGeom prst="rect">
            <a:avLst/>
          </a:prstGeom>
        </p:spPr>
      </p:pic>
      <p:pic>
        <p:nvPicPr>
          <p:cNvPr id="39" name="Imagem 38">
            <a:extLst>
              <a:ext uri="{FF2B5EF4-FFF2-40B4-BE49-F238E27FC236}">
                <a16:creationId xmlns:a16="http://schemas.microsoft.com/office/drawing/2014/main" id="{E71252E7-5098-411B-BA8F-0AEBF735F4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39" y="3285896"/>
            <a:ext cx="1559003" cy="365525"/>
          </a:xfrm>
          <a:prstGeom prst="rect">
            <a:avLst/>
          </a:prstGeom>
        </p:spPr>
      </p:pic>
      <p:pic>
        <p:nvPicPr>
          <p:cNvPr id="40" name="Imagem 39">
            <a:extLst>
              <a:ext uri="{FF2B5EF4-FFF2-40B4-BE49-F238E27FC236}">
                <a16:creationId xmlns:a16="http://schemas.microsoft.com/office/drawing/2014/main" id="{349F2505-43F7-4B63-B000-67AA62CE49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4545" y="3285896"/>
            <a:ext cx="1559003" cy="365525"/>
          </a:xfrm>
          <a:prstGeom prst="rect">
            <a:avLst/>
          </a:prstGeom>
        </p:spPr>
      </p:pic>
      <p:pic>
        <p:nvPicPr>
          <p:cNvPr id="41" name="Imagem 40">
            <a:extLst>
              <a:ext uri="{FF2B5EF4-FFF2-40B4-BE49-F238E27FC236}">
                <a16:creationId xmlns:a16="http://schemas.microsoft.com/office/drawing/2014/main" id="{E920A870-E02D-4972-86F5-DC7F617A67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7852" y="3285896"/>
            <a:ext cx="1559003" cy="365525"/>
          </a:xfrm>
          <a:prstGeom prst="rect">
            <a:avLst/>
          </a:prstGeom>
        </p:spPr>
      </p:pic>
      <p:pic>
        <p:nvPicPr>
          <p:cNvPr id="42" name="Imagem 41">
            <a:extLst>
              <a:ext uri="{FF2B5EF4-FFF2-40B4-BE49-F238E27FC236}">
                <a16:creationId xmlns:a16="http://schemas.microsoft.com/office/drawing/2014/main" id="{AAB84A7A-16C0-48B9-839D-460C267146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1159" y="3285896"/>
            <a:ext cx="1559003" cy="365525"/>
          </a:xfrm>
          <a:prstGeom prst="rect">
            <a:avLst/>
          </a:prstGeom>
        </p:spPr>
      </p:pic>
      <p:pic>
        <p:nvPicPr>
          <p:cNvPr id="43" name="Imagem 42">
            <a:extLst>
              <a:ext uri="{FF2B5EF4-FFF2-40B4-BE49-F238E27FC236}">
                <a16:creationId xmlns:a16="http://schemas.microsoft.com/office/drawing/2014/main" id="{2704CAAF-5635-463C-8E48-CB599160BD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92" y="3714353"/>
            <a:ext cx="1559003" cy="365525"/>
          </a:xfrm>
          <a:prstGeom prst="rect">
            <a:avLst/>
          </a:prstGeom>
        </p:spPr>
      </p:pic>
      <p:pic>
        <p:nvPicPr>
          <p:cNvPr id="44" name="Imagem 43">
            <a:extLst>
              <a:ext uri="{FF2B5EF4-FFF2-40B4-BE49-F238E27FC236}">
                <a16:creationId xmlns:a16="http://schemas.microsoft.com/office/drawing/2014/main" id="{423F8336-9103-4831-9CE3-8DEA1B5BBF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3598" y="3714353"/>
            <a:ext cx="1559003" cy="365525"/>
          </a:xfrm>
          <a:prstGeom prst="rect">
            <a:avLst/>
          </a:prstGeom>
        </p:spPr>
      </p:pic>
      <p:pic>
        <p:nvPicPr>
          <p:cNvPr id="45" name="Imagem 44">
            <a:extLst>
              <a:ext uri="{FF2B5EF4-FFF2-40B4-BE49-F238E27FC236}">
                <a16:creationId xmlns:a16="http://schemas.microsoft.com/office/drawing/2014/main" id="{A6D5FE7A-4E31-476B-AAAD-F27CFC99F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6904" y="3714353"/>
            <a:ext cx="1559003" cy="365525"/>
          </a:xfrm>
          <a:prstGeom prst="rect">
            <a:avLst/>
          </a:prstGeom>
        </p:spPr>
      </p:pic>
      <p:pic>
        <p:nvPicPr>
          <p:cNvPr id="46" name="Imagem 45">
            <a:extLst>
              <a:ext uri="{FF2B5EF4-FFF2-40B4-BE49-F238E27FC236}">
                <a16:creationId xmlns:a16="http://schemas.microsoft.com/office/drawing/2014/main" id="{310EA98C-3038-4306-846B-38DF5E020C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212" y="3714353"/>
            <a:ext cx="1559003" cy="365525"/>
          </a:xfrm>
          <a:prstGeom prst="rect">
            <a:avLst/>
          </a:prstGeom>
        </p:spPr>
      </p:pic>
      <p:pic>
        <p:nvPicPr>
          <p:cNvPr id="47" name="Imagem 46">
            <a:extLst>
              <a:ext uri="{FF2B5EF4-FFF2-40B4-BE49-F238E27FC236}">
                <a16:creationId xmlns:a16="http://schemas.microsoft.com/office/drawing/2014/main" id="{2B097C6A-0D9B-40AE-8083-DDF37240BF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523" y="4142811"/>
            <a:ext cx="1559003" cy="365525"/>
          </a:xfrm>
          <a:prstGeom prst="rect">
            <a:avLst/>
          </a:prstGeom>
        </p:spPr>
      </p:pic>
      <p:pic>
        <p:nvPicPr>
          <p:cNvPr id="48" name="Imagem 47">
            <a:extLst>
              <a:ext uri="{FF2B5EF4-FFF2-40B4-BE49-F238E27FC236}">
                <a16:creationId xmlns:a16="http://schemas.microsoft.com/office/drawing/2014/main" id="{C03EBB62-DE4D-434D-9F5F-E5FA849D58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3830" y="4142811"/>
            <a:ext cx="1559003" cy="365525"/>
          </a:xfrm>
          <a:prstGeom prst="rect">
            <a:avLst/>
          </a:prstGeom>
        </p:spPr>
      </p:pic>
      <p:pic>
        <p:nvPicPr>
          <p:cNvPr id="49" name="Imagem 48">
            <a:extLst>
              <a:ext uri="{FF2B5EF4-FFF2-40B4-BE49-F238E27FC236}">
                <a16:creationId xmlns:a16="http://schemas.microsoft.com/office/drawing/2014/main" id="{CB90CC03-D80F-43E7-A313-7C47F50E42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7136" y="4142811"/>
            <a:ext cx="1559003" cy="365525"/>
          </a:xfrm>
          <a:prstGeom prst="rect">
            <a:avLst/>
          </a:prstGeom>
        </p:spPr>
      </p:pic>
      <p:pic>
        <p:nvPicPr>
          <p:cNvPr id="50" name="Imagem 49">
            <a:extLst>
              <a:ext uri="{FF2B5EF4-FFF2-40B4-BE49-F238E27FC236}">
                <a16:creationId xmlns:a16="http://schemas.microsoft.com/office/drawing/2014/main" id="{6DD653C4-EA89-400A-9C4F-2823E05457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0444" y="4142811"/>
            <a:ext cx="1559003" cy="365525"/>
          </a:xfrm>
          <a:prstGeom prst="rect">
            <a:avLst/>
          </a:prstGeom>
        </p:spPr>
      </p:pic>
      <p:pic>
        <p:nvPicPr>
          <p:cNvPr id="51" name="Imagem 50">
            <a:extLst>
              <a:ext uri="{FF2B5EF4-FFF2-40B4-BE49-F238E27FC236}">
                <a16:creationId xmlns:a16="http://schemas.microsoft.com/office/drawing/2014/main" id="{AE1597C4-FC5D-4DF5-854E-A8E80556DA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18" y="4564910"/>
            <a:ext cx="1559003" cy="365525"/>
          </a:xfrm>
          <a:prstGeom prst="rect">
            <a:avLst/>
          </a:prstGeom>
        </p:spPr>
      </p:pic>
      <p:pic>
        <p:nvPicPr>
          <p:cNvPr id="52" name="Imagem 51">
            <a:extLst>
              <a:ext uri="{FF2B5EF4-FFF2-40B4-BE49-F238E27FC236}">
                <a16:creationId xmlns:a16="http://schemas.microsoft.com/office/drawing/2014/main" id="{BCEFD25C-1C22-4F23-B096-1C5418652C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124" y="4564910"/>
            <a:ext cx="1559003" cy="365525"/>
          </a:xfrm>
          <a:prstGeom prst="rect">
            <a:avLst/>
          </a:prstGeom>
        </p:spPr>
      </p:pic>
      <p:pic>
        <p:nvPicPr>
          <p:cNvPr id="53" name="Imagem 52">
            <a:extLst>
              <a:ext uri="{FF2B5EF4-FFF2-40B4-BE49-F238E27FC236}">
                <a16:creationId xmlns:a16="http://schemas.microsoft.com/office/drawing/2014/main" id="{95A74108-B988-44DD-9E6E-32BBF7D819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1431" y="4564910"/>
            <a:ext cx="1559003" cy="365525"/>
          </a:xfrm>
          <a:prstGeom prst="rect">
            <a:avLst/>
          </a:prstGeom>
        </p:spPr>
      </p:pic>
      <p:pic>
        <p:nvPicPr>
          <p:cNvPr id="54" name="Imagem 53">
            <a:extLst>
              <a:ext uri="{FF2B5EF4-FFF2-40B4-BE49-F238E27FC236}">
                <a16:creationId xmlns:a16="http://schemas.microsoft.com/office/drawing/2014/main" id="{E8D566C8-108E-4D16-9FCF-A37CE84FB6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4738" y="4564910"/>
            <a:ext cx="1559003" cy="365525"/>
          </a:xfrm>
          <a:prstGeom prst="rect">
            <a:avLst/>
          </a:prstGeom>
        </p:spPr>
      </p:pic>
      <p:pic>
        <p:nvPicPr>
          <p:cNvPr id="55" name="Imagem 54">
            <a:extLst>
              <a:ext uri="{FF2B5EF4-FFF2-40B4-BE49-F238E27FC236}">
                <a16:creationId xmlns:a16="http://schemas.microsoft.com/office/drawing/2014/main" id="{CF9715D2-DE8D-4FB3-AD51-5BB2309685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871" y="4993367"/>
            <a:ext cx="1559003" cy="365525"/>
          </a:xfrm>
          <a:prstGeom prst="rect">
            <a:avLst/>
          </a:prstGeom>
        </p:spPr>
      </p:pic>
      <p:pic>
        <p:nvPicPr>
          <p:cNvPr id="56" name="Imagem 55">
            <a:extLst>
              <a:ext uri="{FF2B5EF4-FFF2-40B4-BE49-F238E27FC236}">
                <a16:creationId xmlns:a16="http://schemas.microsoft.com/office/drawing/2014/main" id="{43D52EA3-7FCD-48AF-A808-11B325C9A7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7177" y="4993367"/>
            <a:ext cx="1559003" cy="365525"/>
          </a:xfrm>
          <a:prstGeom prst="rect">
            <a:avLst/>
          </a:prstGeom>
        </p:spPr>
      </p:pic>
      <p:pic>
        <p:nvPicPr>
          <p:cNvPr id="57" name="Imagem 56">
            <a:extLst>
              <a:ext uri="{FF2B5EF4-FFF2-40B4-BE49-F238E27FC236}">
                <a16:creationId xmlns:a16="http://schemas.microsoft.com/office/drawing/2014/main" id="{93FAA550-98C9-40C1-9BEA-BCDB8FB61C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0484" y="4993367"/>
            <a:ext cx="1559003" cy="365525"/>
          </a:xfrm>
          <a:prstGeom prst="rect">
            <a:avLst/>
          </a:prstGeom>
        </p:spPr>
      </p:pic>
      <p:pic>
        <p:nvPicPr>
          <p:cNvPr id="58" name="Imagem 57">
            <a:extLst>
              <a:ext uri="{FF2B5EF4-FFF2-40B4-BE49-F238E27FC236}">
                <a16:creationId xmlns:a16="http://schemas.microsoft.com/office/drawing/2014/main" id="{EDF9FF54-620C-4875-8F5B-2085A41777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3791" y="4993367"/>
            <a:ext cx="1559003" cy="365525"/>
          </a:xfrm>
          <a:prstGeom prst="rect">
            <a:avLst/>
          </a:prstGeom>
        </p:spPr>
      </p:pic>
      <p:pic>
        <p:nvPicPr>
          <p:cNvPr id="59" name="Imagem 58">
            <a:extLst>
              <a:ext uri="{FF2B5EF4-FFF2-40B4-BE49-F238E27FC236}">
                <a16:creationId xmlns:a16="http://schemas.microsoft.com/office/drawing/2014/main" id="{0F1ABEF8-3DD3-4493-953A-3CA41271F4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3" y="5421825"/>
            <a:ext cx="1559003" cy="365525"/>
          </a:xfrm>
          <a:prstGeom prst="rect">
            <a:avLst/>
          </a:prstGeom>
        </p:spPr>
      </p:pic>
      <p:pic>
        <p:nvPicPr>
          <p:cNvPr id="60" name="Imagem 59">
            <a:extLst>
              <a:ext uri="{FF2B5EF4-FFF2-40B4-BE49-F238E27FC236}">
                <a16:creationId xmlns:a16="http://schemas.microsoft.com/office/drawing/2014/main" id="{D63DCBDA-9314-4890-9553-D0E324C981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7409" y="5421825"/>
            <a:ext cx="1559003" cy="365525"/>
          </a:xfrm>
          <a:prstGeom prst="rect">
            <a:avLst/>
          </a:prstGeom>
        </p:spPr>
      </p:pic>
      <p:pic>
        <p:nvPicPr>
          <p:cNvPr id="61" name="Imagem 60">
            <a:extLst>
              <a:ext uri="{FF2B5EF4-FFF2-40B4-BE49-F238E27FC236}">
                <a16:creationId xmlns:a16="http://schemas.microsoft.com/office/drawing/2014/main" id="{574B806D-EE0D-44BB-BF3C-741E77B67F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0715" y="5421825"/>
            <a:ext cx="1559003" cy="365525"/>
          </a:xfrm>
          <a:prstGeom prst="rect">
            <a:avLst/>
          </a:prstGeom>
        </p:spPr>
      </p:pic>
      <p:pic>
        <p:nvPicPr>
          <p:cNvPr id="62" name="Imagem 61">
            <a:extLst>
              <a:ext uri="{FF2B5EF4-FFF2-40B4-BE49-F238E27FC236}">
                <a16:creationId xmlns:a16="http://schemas.microsoft.com/office/drawing/2014/main" id="{E9773FBE-9F23-4892-9E54-A346F49CA7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4023" y="5421825"/>
            <a:ext cx="1559003" cy="365525"/>
          </a:xfrm>
          <a:prstGeom prst="rect">
            <a:avLst/>
          </a:prstGeom>
        </p:spPr>
      </p:pic>
      <p:pic>
        <p:nvPicPr>
          <p:cNvPr id="63" name="Imagem 62">
            <a:extLst>
              <a:ext uri="{FF2B5EF4-FFF2-40B4-BE49-F238E27FC236}">
                <a16:creationId xmlns:a16="http://schemas.microsoft.com/office/drawing/2014/main" id="{3CC8E613-C1A0-414C-B8C1-6C14791D19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92" y="5871913"/>
            <a:ext cx="1559003" cy="365525"/>
          </a:xfrm>
          <a:prstGeom prst="rect">
            <a:avLst/>
          </a:prstGeom>
        </p:spPr>
      </p:pic>
      <p:pic>
        <p:nvPicPr>
          <p:cNvPr id="64" name="Imagem 63">
            <a:extLst>
              <a:ext uri="{FF2B5EF4-FFF2-40B4-BE49-F238E27FC236}">
                <a16:creationId xmlns:a16="http://schemas.microsoft.com/office/drawing/2014/main" id="{A67A82C5-CEEE-459C-ACEF-8FDBE0F92D2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3598" y="5871913"/>
            <a:ext cx="1559003" cy="365525"/>
          </a:xfrm>
          <a:prstGeom prst="rect">
            <a:avLst/>
          </a:prstGeom>
        </p:spPr>
      </p:pic>
      <p:pic>
        <p:nvPicPr>
          <p:cNvPr id="65" name="Imagem 64">
            <a:extLst>
              <a:ext uri="{FF2B5EF4-FFF2-40B4-BE49-F238E27FC236}">
                <a16:creationId xmlns:a16="http://schemas.microsoft.com/office/drawing/2014/main" id="{CC327147-F99C-47C5-A291-BC0CD65D97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6904" y="5871913"/>
            <a:ext cx="1559003" cy="365525"/>
          </a:xfrm>
          <a:prstGeom prst="rect">
            <a:avLst/>
          </a:prstGeom>
        </p:spPr>
      </p:pic>
      <p:pic>
        <p:nvPicPr>
          <p:cNvPr id="66" name="Imagem 65">
            <a:extLst>
              <a:ext uri="{FF2B5EF4-FFF2-40B4-BE49-F238E27FC236}">
                <a16:creationId xmlns:a16="http://schemas.microsoft.com/office/drawing/2014/main" id="{25A89439-E757-4239-AEF4-231955AF8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0212" y="5871913"/>
            <a:ext cx="1559003" cy="365525"/>
          </a:xfrm>
          <a:prstGeom prst="rect">
            <a:avLst/>
          </a:prstGeom>
        </p:spPr>
      </p:pic>
      <p:pic>
        <p:nvPicPr>
          <p:cNvPr id="67" name="Imagem 66">
            <a:extLst>
              <a:ext uri="{FF2B5EF4-FFF2-40B4-BE49-F238E27FC236}">
                <a16:creationId xmlns:a16="http://schemas.microsoft.com/office/drawing/2014/main" id="{80909D70-3C30-4F6B-B2E8-A57C8F7C7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344" y="6300370"/>
            <a:ext cx="1559003" cy="365525"/>
          </a:xfrm>
          <a:prstGeom prst="rect">
            <a:avLst/>
          </a:prstGeom>
        </p:spPr>
      </p:pic>
      <p:pic>
        <p:nvPicPr>
          <p:cNvPr id="68" name="Imagem 67">
            <a:extLst>
              <a:ext uri="{FF2B5EF4-FFF2-40B4-BE49-F238E27FC236}">
                <a16:creationId xmlns:a16="http://schemas.microsoft.com/office/drawing/2014/main" id="{1922CDD2-A25E-49CD-AC92-AF481565E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2651" y="6300370"/>
            <a:ext cx="1559003" cy="365525"/>
          </a:xfrm>
          <a:prstGeom prst="rect">
            <a:avLst/>
          </a:prstGeom>
        </p:spPr>
      </p:pic>
      <p:pic>
        <p:nvPicPr>
          <p:cNvPr id="69" name="Imagem 68">
            <a:extLst>
              <a:ext uri="{FF2B5EF4-FFF2-40B4-BE49-F238E27FC236}">
                <a16:creationId xmlns:a16="http://schemas.microsoft.com/office/drawing/2014/main" id="{344A86BA-C39A-49D8-8F7E-BB8AD9E2F2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5957" y="6300370"/>
            <a:ext cx="1559003" cy="365525"/>
          </a:xfrm>
          <a:prstGeom prst="rect">
            <a:avLst/>
          </a:prstGeom>
        </p:spPr>
      </p:pic>
      <p:pic>
        <p:nvPicPr>
          <p:cNvPr id="70" name="Imagem 69">
            <a:extLst>
              <a:ext uri="{FF2B5EF4-FFF2-40B4-BE49-F238E27FC236}">
                <a16:creationId xmlns:a16="http://schemas.microsoft.com/office/drawing/2014/main" id="{B156F9BC-3B52-4007-AA27-585E88FA5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39265" y="6300370"/>
            <a:ext cx="1559003" cy="365525"/>
          </a:xfrm>
          <a:prstGeom prst="rect">
            <a:avLst/>
          </a:prstGeom>
        </p:spPr>
      </p:pic>
      <p:pic>
        <p:nvPicPr>
          <p:cNvPr id="71" name="Imagem 70">
            <a:extLst>
              <a:ext uri="{FF2B5EF4-FFF2-40B4-BE49-F238E27FC236}">
                <a16:creationId xmlns:a16="http://schemas.microsoft.com/office/drawing/2014/main" id="{0F2CF2BC-0228-4A74-A384-A62BB02206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76" y="6728828"/>
            <a:ext cx="1559003" cy="365525"/>
          </a:xfrm>
          <a:prstGeom prst="rect">
            <a:avLst/>
          </a:prstGeom>
        </p:spPr>
      </p:pic>
      <p:pic>
        <p:nvPicPr>
          <p:cNvPr id="72" name="Imagem 71">
            <a:extLst>
              <a:ext uri="{FF2B5EF4-FFF2-40B4-BE49-F238E27FC236}">
                <a16:creationId xmlns:a16="http://schemas.microsoft.com/office/drawing/2014/main" id="{E3175D0C-D71C-4C81-8788-68F7414057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2883" y="6728828"/>
            <a:ext cx="1559003" cy="365525"/>
          </a:xfrm>
          <a:prstGeom prst="rect">
            <a:avLst/>
          </a:prstGeom>
        </p:spPr>
      </p:pic>
      <p:pic>
        <p:nvPicPr>
          <p:cNvPr id="73" name="Imagem 72">
            <a:extLst>
              <a:ext uri="{FF2B5EF4-FFF2-40B4-BE49-F238E27FC236}">
                <a16:creationId xmlns:a16="http://schemas.microsoft.com/office/drawing/2014/main" id="{5BB6A5F6-8625-48A4-9058-D1B197C328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189" y="6728828"/>
            <a:ext cx="1559003" cy="365525"/>
          </a:xfrm>
          <a:prstGeom prst="rect">
            <a:avLst/>
          </a:prstGeom>
        </p:spPr>
      </p:pic>
      <p:pic>
        <p:nvPicPr>
          <p:cNvPr id="74" name="Imagem 73">
            <a:extLst>
              <a:ext uri="{FF2B5EF4-FFF2-40B4-BE49-F238E27FC236}">
                <a16:creationId xmlns:a16="http://schemas.microsoft.com/office/drawing/2014/main" id="{1203828C-0800-47F9-BCD2-4F8DBC5C19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9497" y="6728828"/>
            <a:ext cx="1559003" cy="365525"/>
          </a:xfrm>
          <a:prstGeom prst="rect">
            <a:avLst/>
          </a:prstGeom>
        </p:spPr>
      </p:pic>
      <p:pic>
        <p:nvPicPr>
          <p:cNvPr id="75" name="Imagem 74">
            <a:extLst>
              <a:ext uri="{FF2B5EF4-FFF2-40B4-BE49-F238E27FC236}">
                <a16:creationId xmlns:a16="http://schemas.microsoft.com/office/drawing/2014/main" id="{BF5370E4-C4BE-45D5-B73B-3FF682068F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871" y="7150927"/>
            <a:ext cx="1559003" cy="365525"/>
          </a:xfrm>
          <a:prstGeom prst="rect">
            <a:avLst/>
          </a:prstGeom>
        </p:spPr>
      </p:pic>
      <p:pic>
        <p:nvPicPr>
          <p:cNvPr id="76" name="Imagem 75">
            <a:extLst>
              <a:ext uri="{FF2B5EF4-FFF2-40B4-BE49-F238E27FC236}">
                <a16:creationId xmlns:a16="http://schemas.microsoft.com/office/drawing/2014/main" id="{82F8C0E7-6412-4F41-B902-EF7204C1F2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7177" y="7150927"/>
            <a:ext cx="1559003" cy="365525"/>
          </a:xfrm>
          <a:prstGeom prst="rect">
            <a:avLst/>
          </a:prstGeom>
        </p:spPr>
      </p:pic>
      <p:pic>
        <p:nvPicPr>
          <p:cNvPr id="77" name="Imagem 76">
            <a:extLst>
              <a:ext uri="{FF2B5EF4-FFF2-40B4-BE49-F238E27FC236}">
                <a16:creationId xmlns:a16="http://schemas.microsoft.com/office/drawing/2014/main" id="{96FDD74E-7B3A-475D-9853-9189D506A1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0484" y="7150927"/>
            <a:ext cx="1559003" cy="365525"/>
          </a:xfrm>
          <a:prstGeom prst="rect">
            <a:avLst/>
          </a:prstGeom>
        </p:spPr>
      </p:pic>
      <p:pic>
        <p:nvPicPr>
          <p:cNvPr id="78" name="Imagem 77">
            <a:extLst>
              <a:ext uri="{FF2B5EF4-FFF2-40B4-BE49-F238E27FC236}">
                <a16:creationId xmlns:a16="http://schemas.microsoft.com/office/drawing/2014/main" id="{EFFA91DC-0B84-4DDD-AD76-14C7C26CA0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3791" y="7150927"/>
            <a:ext cx="1559003" cy="365525"/>
          </a:xfrm>
          <a:prstGeom prst="rect">
            <a:avLst/>
          </a:prstGeom>
        </p:spPr>
      </p:pic>
      <p:pic>
        <p:nvPicPr>
          <p:cNvPr id="79" name="Imagem 78">
            <a:extLst>
              <a:ext uri="{FF2B5EF4-FFF2-40B4-BE49-F238E27FC236}">
                <a16:creationId xmlns:a16="http://schemas.microsoft.com/office/drawing/2014/main" id="{EC010FDB-0E42-45B7-835C-6174ADF53A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24" y="7579384"/>
            <a:ext cx="1559003" cy="365525"/>
          </a:xfrm>
          <a:prstGeom prst="rect">
            <a:avLst/>
          </a:prstGeom>
        </p:spPr>
      </p:pic>
      <p:pic>
        <p:nvPicPr>
          <p:cNvPr id="80" name="Imagem 79">
            <a:extLst>
              <a:ext uri="{FF2B5EF4-FFF2-40B4-BE49-F238E27FC236}">
                <a16:creationId xmlns:a16="http://schemas.microsoft.com/office/drawing/2014/main" id="{4CB6053C-BAEB-4ADE-99B4-D1FE169F08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6230" y="7579384"/>
            <a:ext cx="1559003" cy="365525"/>
          </a:xfrm>
          <a:prstGeom prst="rect">
            <a:avLst/>
          </a:prstGeom>
        </p:spPr>
      </p:pic>
      <p:pic>
        <p:nvPicPr>
          <p:cNvPr id="81" name="Imagem 80">
            <a:extLst>
              <a:ext uri="{FF2B5EF4-FFF2-40B4-BE49-F238E27FC236}">
                <a16:creationId xmlns:a16="http://schemas.microsoft.com/office/drawing/2014/main" id="{D29B9BC9-0C34-4533-8DA2-DCE24FAEEB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9536" y="7579384"/>
            <a:ext cx="1559003" cy="365525"/>
          </a:xfrm>
          <a:prstGeom prst="rect">
            <a:avLst/>
          </a:prstGeom>
        </p:spPr>
      </p:pic>
      <p:pic>
        <p:nvPicPr>
          <p:cNvPr id="82" name="Imagem 81">
            <a:extLst>
              <a:ext uri="{FF2B5EF4-FFF2-40B4-BE49-F238E27FC236}">
                <a16:creationId xmlns:a16="http://schemas.microsoft.com/office/drawing/2014/main" id="{0EEB5BA4-E109-408B-9C31-4674925AFE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844" y="7579384"/>
            <a:ext cx="1559003" cy="365525"/>
          </a:xfrm>
          <a:prstGeom prst="rect">
            <a:avLst/>
          </a:prstGeom>
        </p:spPr>
      </p:pic>
      <p:pic>
        <p:nvPicPr>
          <p:cNvPr id="83" name="Imagem 82">
            <a:extLst>
              <a:ext uri="{FF2B5EF4-FFF2-40B4-BE49-F238E27FC236}">
                <a16:creationId xmlns:a16="http://schemas.microsoft.com/office/drawing/2014/main" id="{7FF236FB-49BC-4560-80A3-E6DFA142FC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155" y="8007842"/>
            <a:ext cx="1559003" cy="365525"/>
          </a:xfrm>
          <a:prstGeom prst="rect">
            <a:avLst/>
          </a:prstGeom>
        </p:spPr>
      </p:pic>
      <p:pic>
        <p:nvPicPr>
          <p:cNvPr id="84" name="Imagem 83">
            <a:extLst>
              <a:ext uri="{FF2B5EF4-FFF2-40B4-BE49-F238E27FC236}">
                <a16:creationId xmlns:a16="http://schemas.microsoft.com/office/drawing/2014/main" id="{D1B65F92-AA93-4D3A-A364-F476CAE052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6462" y="8007842"/>
            <a:ext cx="1559003" cy="365525"/>
          </a:xfrm>
          <a:prstGeom prst="rect">
            <a:avLst/>
          </a:prstGeom>
        </p:spPr>
      </p:pic>
      <p:pic>
        <p:nvPicPr>
          <p:cNvPr id="85" name="Imagem 84">
            <a:extLst>
              <a:ext uri="{FF2B5EF4-FFF2-40B4-BE49-F238E27FC236}">
                <a16:creationId xmlns:a16="http://schemas.microsoft.com/office/drawing/2014/main" id="{C50972A6-6F02-4412-9BBD-E0FBC79249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9768" y="8007842"/>
            <a:ext cx="1559003" cy="365525"/>
          </a:xfrm>
          <a:prstGeom prst="rect">
            <a:avLst/>
          </a:prstGeom>
        </p:spPr>
      </p:pic>
      <p:pic>
        <p:nvPicPr>
          <p:cNvPr id="86" name="Imagem 85">
            <a:extLst>
              <a:ext uri="{FF2B5EF4-FFF2-40B4-BE49-F238E27FC236}">
                <a16:creationId xmlns:a16="http://schemas.microsoft.com/office/drawing/2014/main" id="{71F6EC0D-B1AD-4933-ABC1-2B33CFF540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3076" y="8007842"/>
            <a:ext cx="1559003" cy="365525"/>
          </a:xfrm>
          <a:prstGeom prst="rect">
            <a:avLst/>
          </a:prstGeom>
        </p:spPr>
      </p:pic>
      <p:pic>
        <p:nvPicPr>
          <p:cNvPr id="87" name="Imagem 86">
            <a:extLst>
              <a:ext uri="{FF2B5EF4-FFF2-40B4-BE49-F238E27FC236}">
                <a16:creationId xmlns:a16="http://schemas.microsoft.com/office/drawing/2014/main" id="{085C4D44-B4FA-4C2F-B1F4-660DFFF7AE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564" y="8437398"/>
            <a:ext cx="1559003" cy="365525"/>
          </a:xfrm>
          <a:prstGeom prst="rect">
            <a:avLst/>
          </a:prstGeom>
        </p:spPr>
      </p:pic>
      <p:pic>
        <p:nvPicPr>
          <p:cNvPr id="88" name="Imagem 87">
            <a:extLst>
              <a:ext uri="{FF2B5EF4-FFF2-40B4-BE49-F238E27FC236}">
                <a16:creationId xmlns:a16="http://schemas.microsoft.com/office/drawing/2014/main" id="{E6AF8666-224C-46AC-BCA0-D057035D6A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3870" y="8437398"/>
            <a:ext cx="1559003" cy="365525"/>
          </a:xfrm>
          <a:prstGeom prst="rect">
            <a:avLst/>
          </a:prstGeom>
        </p:spPr>
      </p:pic>
      <p:pic>
        <p:nvPicPr>
          <p:cNvPr id="89" name="Imagem 88">
            <a:extLst>
              <a:ext uri="{FF2B5EF4-FFF2-40B4-BE49-F238E27FC236}">
                <a16:creationId xmlns:a16="http://schemas.microsoft.com/office/drawing/2014/main" id="{078B0D22-79DE-4323-A211-9A2857603E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7177" y="8437398"/>
            <a:ext cx="1559003" cy="365525"/>
          </a:xfrm>
          <a:prstGeom prst="rect">
            <a:avLst/>
          </a:prstGeom>
        </p:spPr>
      </p:pic>
      <p:pic>
        <p:nvPicPr>
          <p:cNvPr id="90" name="Imagem 89">
            <a:extLst>
              <a:ext uri="{FF2B5EF4-FFF2-40B4-BE49-F238E27FC236}">
                <a16:creationId xmlns:a16="http://schemas.microsoft.com/office/drawing/2014/main" id="{301A384A-E4DE-4DBD-9D73-C89F109DA6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0485" y="8437398"/>
            <a:ext cx="1559003" cy="365525"/>
          </a:xfrm>
          <a:prstGeom prst="rect">
            <a:avLst/>
          </a:prstGeom>
        </p:spPr>
      </p:pic>
      <p:pic>
        <p:nvPicPr>
          <p:cNvPr id="91" name="Imagem 90">
            <a:extLst>
              <a:ext uri="{FF2B5EF4-FFF2-40B4-BE49-F238E27FC236}">
                <a16:creationId xmlns:a16="http://schemas.microsoft.com/office/drawing/2014/main" id="{3BA70943-8067-4E31-AE0E-F2E37620FB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66" y="8879706"/>
            <a:ext cx="1559003" cy="365525"/>
          </a:xfrm>
          <a:prstGeom prst="rect">
            <a:avLst/>
          </a:prstGeom>
        </p:spPr>
      </p:pic>
      <p:pic>
        <p:nvPicPr>
          <p:cNvPr id="92" name="Imagem 91">
            <a:extLst>
              <a:ext uri="{FF2B5EF4-FFF2-40B4-BE49-F238E27FC236}">
                <a16:creationId xmlns:a16="http://schemas.microsoft.com/office/drawing/2014/main" id="{CD151D3C-909D-420B-B6C4-1AC819486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5473" y="8879706"/>
            <a:ext cx="1559003" cy="365525"/>
          </a:xfrm>
          <a:prstGeom prst="rect">
            <a:avLst/>
          </a:prstGeom>
        </p:spPr>
      </p:pic>
      <p:pic>
        <p:nvPicPr>
          <p:cNvPr id="93" name="Imagem 92">
            <a:extLst>
              <a:ext uri="{FF2B5EF4-FFF2-40B4-BE49-F238E27FC236}">
                <a16:creationId xmlns:a16="http://schemas.microsoft.com/office/drawing/2014/main" id="{D5EB27F8-F9A2-43D1-8CFD-1FB7B1928A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779" y="8879706"/>
            <a:ext cx="1559003" cy="365525"/>
          </a:xfrm>
          <a:prstGeom prst="rect">
            <a:avLst/>
          </a:prstGeom>
        </p:spPr>
      </p:pic>
      <p:pic>
        <p:nvPicPr>
          <p:cNvPr id="94" name="Imagem 93">
            <a:extLst>
              <a:ext uri="{FF2B5EF4-FFF2-40B4-BE49-F238E27FC236}">
                <a16:creationId xmlns:a16="http://schemas.microsoft.com/office/drawing/2014/main" id="{41000028-1CB6-44C1-81EB-F35E26E3FC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087" y="8879706"/>
            <a:ext cx="1559003" cy="365525"/>
          </a:xfrm>
          <a:prstGeom prst="rect">
            <a:avLst/>
          </a:prstGeom>
        </p:spPr>
      </p:pic>
      <p:sp>
        <p:nvSpPr>
          <p:cNvPr id="95" name="CaixaDeTexto 94">
            <a:extLst>
              <a:ext uri="{FF2B5EF4-FFF2-40B4-BE49-F238E27FC236}">
                <a16:creationId xmlns:a16="http://schemas.microsoft.com/office/drawing/2014/main" id="{8A421D48-B611-4266-9374-537A3C39F171}"/>
              </a:ext>
            </a:extLst>
          </p:cNvPr>
          <p:cNvSpPr txBox="1"/>
          <p:nvPr/>
        </p:nvSpPr>
        <p:spPr>
          <a:xfrm>
            <a:off x="485077" y="6661726"/>
            <a:ext cx="5864746" cy="2168607"/>
          </a:xfrm>
          <a:prstGeom prst="rect">
            <a:avLst/>
          </a:prstGeom>
          <a:solidFill>
            <a:schemeClr val="bg1"/>
          </a:solidFill>
          <a:ln>
            <a:noFill/>
          </a:ln>
        </p:spPr>
        <p:txBody>
          <a:bodyPr wrap="square" rtlCol="0">
            <a:spAutoFit/>
          </a:bodyPr>
          <a:lstStyle/>
          <a:p>
            <a:pPr algn="ctr"/>
            <a:r>
              <a:rPr lang="pt-BR" sz="2096" dirty="0">
                <a:ln>
                  <a:solidFill>
                    <a:srgbClr val="002060"/>
                  </a:solidFill>
                </a:ln>
                <a:solidFill>
                  <a:srgbClr val="002060"/>
                </a:solidFill>
                <a:latin typeface="Monda" panose="02000503000000000000" pitchFamily="2" charset="0"/>
              </a:rPr>
              <a:t>Só Aço Industrial Ltda</a:t>
            </a:r>
          </a:p>
          <a:p>
            <a:pPr algn="ctr"/>
            <a:r>
              <a:rPr lang="pt-BR" sz="1572" dirty="0">
                <a:ln>
                  <a:solidFill>
                    <a:srgbClr val="002060"/>
                  </a:solidFill>
                </a:ln>
                <a:solidFill>
                  <a:srgbClr val="002060"/>
                </a:solidFill>
                <a:latin typeface="Monda" panose="02000503000000000000" pitchFamily="2" charset="0"/>
              </a:rPr>
              <a:t>CNPJ: 04.041.754/0001-40</a:t>
            </a:r>
            <a:endParaRPr lang="pt-BR" sz="2096" dirty="0">
              <a:ln>
                <a:solidFill>
                  <a:srgbClr val="002060"/>
                </a:solidFill>
              </a:ln>
              <a:solidFill>
                <a:srgbClr val="002060"/>
              </a:solidFill>
              <a:latin typeface="Monda" panose="02000503000000000000" pitchFamily="2" charset="0"/>
            </a:endParaRPr>
          </a:p>
          <a:p>
            <a:pPr algn="ctr"/>
            <a:r>
              <a:rPr lang="pt-BR" sz="1441"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441" dirty="0">
                <a:ln>
                  <a:solidFill>
                    <a:srgbClr val="002060"/>
                  </a:solidFill>
                </a:ln>
                <a:solidFill>
                  <a:srgbClr val="002060"/>
                </a:solidFill>
                <a:latin typeface="Monda" panose="02000503000000000000" pitchFamily="2" charset="0"/>
              </a:rPr>
              <a:t>Telefones: (86) 3219 1200/1300</a:t>
            </a:r>
          </a:p>
          <a:p>
            <a:pPr algn="ctr"/>
            <a:r>
              <a:rPr lang="pt-BR" sz="1441" dirty="0">
                <a:ln>
                  <a:solidFill>
                    <a:srgbClr val="002060"/>
                  </a:solidFill>
                </a:ln>
                <a:solidFill>
                  <a:srgbClr val="002060"/>
                </a:solidFill>
                <a:latin typeface="Monda" panose="02000503000000000000" pitchFamily="2" charset="0"/>
              </a:rPr>
              <a:t>Teresina – Piauí</a:t>
            </a:r>
          </a:p>
          <a:p>
            <a:pPr algn="ctr"/>
            <a:r>
              <a:rPr lang="pt-BR" sz="1441" dirty="0">
                <a:ln>
                  <a:solidFill>
                    <a:srgbClr val="002060"/>
                  </a:solidFill>
                </a:ln>
                <a:solidFill>
                  <a:srgbClr val="002060"/>
                </a:solidFill>
                <a:latin typeface="Monda" panose="02000503000000000000" pitchFamily="2" charset="0"/>
              </a:rPr>
              <a:t>Site: </a:t>
            </a:r>
            <a:r>
              <a:rPr lang="pt-BR" sz="1441" dirty="0">
                <a:ln>
                  <a:solidFill>
                    <a:srgbClr val="002060"/>
                  </a:solidFill>
                </a:ln>
                <a:solidFill>
                  <a:srgbClr val="002060"/>
                </a:solidFill>
                <a:latin typeface="Monda" panose="02000503000000000000" pitchFamily="2" charset="0"/>
                <a:hlinkClick r:id="rId3"/>
              </a:rPr>
              <a:t>www.soacoindustrial.com.br</a:t>
            </a:r>
            <a:endParaRPr lang="pt-BR" sz="1441" dirty="0">
              <a:ln>
                <a:solidFill>
                  <a:srgbClr val="002060"/>
                </a:solidFill>
              </a:ln>
              <a:solidFill>
                <a:srgbClr val="002060"/>
              </a:solidFill>
              <a:latin typeface="Monda" panose="02000503000000000000" pitchFamily="2" charset="0"/>
            </a:endParaRPr>
          </a:p>
          <a:p>
            <a:pPr algn="ctr"/>
            <a:r>
              <a:rPr lang="pt-BR" sz="1441" dirty="0">
                <a:ln>
                  <a:solidFill>
                    <a:srgbClr val="002060"/>
                  </a:solidFill>
                </a:ln>
                <a:solidFill>
                  <a:srgbClr val="002060"/>
                </a:solidFill>
                <a:latin typeface="Monda" panose="02000503000000000000" pitchFamily="2" charset="0"/>
              </a:rPr>
              <a:t>Ouvidoria/SAC: </a:t>
            </a:r>
            <a:r>
              <a:rPr lang="pt-BR" sz="1441" dirty="0">
                <a:ln>
                  <a:solidFill>
                    <a:srgbClr val="002060"/>
                  </a:solidFill>
                </a:ln>
                <a:solidFill>
                  <a:srgbClr val="002060"/>
                </a:solidFill>
                <a:latin typeface="Monda" panose="02000503000000000000" pitchFamily="2" charset="0"/>
                <a:hlinkClick r:id="rId4"/>
              </a:rPr>
              <a:t>sac@soacoindustrial.com.br</a:t>
            </a:r>
            <a:endParaRPr lang="pt-BR" sz="1441" dirty="0">
              <a:ln>
                <a:solidFill>
                  <a:srgbClr val="002060"/>
                </a:solidFill>
              </a:ln>
              <a:solidFill>
                <a:srgbClr val="002060"/>
              </a:solidFill>
              <a:latin typeface="Monda" panose="02000503000000000000" pitchFamily="2" charset="0"/>
            </a:endParaRPr>
          </a:p>
          <a:p>
            <a:pPr algn="ctr"/>
            <a:r>
              <a:rPr lang="pt-BR" sz="1179" dirty="0">
                <a:ln>
                  <a:solidFill>
                    <a:srgbClr val="002060"/>
                  </a:solidFill>
                </a:ln>
                <a:solidFill>
                  <a:srgbClr val="002060"/>
                </a:solidFill>
                <a:latin typeface="Monda" panose="02000503000000000000" pitchFamily="2" charset="0"/>
              </a:rPr>
              <a:t>MP-SA-0003.Rev. 1</a:t>
            </a:r>
          </a:p>
        </p:txBody>
      </p:sp>
      <p:cxnSp>
        <p:nvCxnSpPr>
          <p:cNvPr id="96" name="Conector reto 95">
            <a:extLst>
              <a:ext uri="{FF2B5EF4-FFF2-40B4-BE49-F238E27FC236}">
                <a16:creationId xmlns:a16="http://schemas.microsoft.com/office/drawing/2014/main" id="{E92ACCEE-C127-4828-A4D8-2DC6BC3C479F}"/>
              </a:ext>
            </a:extLst>
          </p:cNvPr>
          <p:cNvCxnSpPr>
            <a:cxnSpLocks/>
          </p:cNvCxnSpPr>
          <p:nvPr/>
        </p:nvCxnSpPr>
        <p:spPr>
          <a:xfrm>
            <a:off x="40540" y="9669879"/>
            <a:ext cx="6749104"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97" name="Imagem 96">
            <a:extLst>
              <a:ext uri="{FF2B5EF4-FFF2-40B4-BE49-F238E27FC236}">
                <a16:creationId xmlns:a16="http://schemas.microsoft.com/office/drawing/2014/main" id="{3828EA65-FC80-406D-A1B6-DAD3BD5D07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24" y="9332615"/>
            <a:ext cx="915445" cy="274332"/>
          </a:xfrm>
          <a:prstGeom prst="rect">
            <a:avLst/>
          </a:prstGeom>
        </p:spPr>
      </p:pic>
      <p:pic>
        <p:nvPicPr>
          <p:cNvPr id="98" name="Imagem 97">
            <a:extLst>
              <a:ext uri="{FF2B5EF4-FFF2-40B4-BE49-F238E27FC236}">
                <a16:creationId xmlns:a16="http://schemas.microsoft.com/office/drawing/2014/main" id="{3749877B-924D-4345-BDA9-FB7C79541A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884" y="9332615"/>
            <a:ext cx="915445" cy="274332"/>
          </a:xfrm>
          <a:prstGeom prst="rect">
            <a:avLst/>
          </a:prstGeom>
        </p:spPr>
      </p:pic>
      <p:pic>
        <p:nvPicPr>
          <p:cNvPr id="99" name="Imagem 98">
            <a:extLst>
              <a:ext uri="{FF2B5EF4-FFF2-40B4-BE49-F238E27FC236}">
                <a16:creationId xmlns:a16="http://schemas.microsoft.com/office/drawing/2014/main" id="{76703CF1-996D-430B-9A36-869C43229B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57144" y="9332615"/>
            <a:ext cx="915445" cy="274332"/>
          </a:xfrm>
          <a:prstGeom prst="rect">
            <a:avLst/>
          </a:prstGeom>
        </p:spPr>
      </p:pic>
      <p:pic>
        <p:nvPicPr>
          <p:cNvPr id="100" name="Imagem 99">
            <a:extLst>
              <a:ext uri="{FF2B5EF4-FFF2-40B4-BE49-F238E27FC236}">
                <a16:creationId xmlns:a16="http://schemas.microsoft.com/office/drawing/2014/main" id="{7CC2E128-32B6-4BC1-A4E2-F91725989C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13404" y="9332615"/>
            <a:ext cx="915445" cy="274332"/>
          </a:xfrm>
          <a:prstGeom prst="rect">
            <a:avLst/>
          </a:prstGeom>
        </p:spPr>
      </p:pic>
      <p:pic>
        <p:nvPicPr>
          <p:cNvPr id="101" name="Imagem 100">
            <a:extLst>
              <a:ext uri="{FF2B5EF4-FFF2-40B4-BE49-F238E27FC236}">
                <a16:creationId xmlns:a16="http://schemas.microsoft.com/office/drawing/2014/main" id="{330F6ABD-FCFA-4157-8485-864929593E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9664" y="9332615"/>
            <a:ext cx="915445" cy="274332"/>
          </a:xfrm>
          <a:prstGeom prst="rect">
            <a:avLst/>
          </a:prstGeom>
        </p:spPr>
      </p:pic>
      <p:pic>
        <p:nvPicPr>
          <p:cNvPr id="102" name="Imagem 101">
            <a:extLst>
              <a:ext uri="{FF2B5EF4-FFF2-40B4-BE49-F238E27FC236}">
                <a16:creationId xmlns:a16="http://schemas.microsoft.com/office/drawing/2014/main" id="{478CEEA9-44AD-4E3C-AF87-67F9D0EAE0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5923" y="9332615"/>
            <a:ext cx="915445" cy="274332"/>
          </a:xfrm>
          <a:prstGeom prst="rect">
            <a:avLst/>
          </a:prstGeom>
        </p:spPr>
      </p:pic>
      <p:cxnSp>
        <p:nvCxnSpPr>
          <p:cNvPr id="103" name="Conector reto 102">
            <a:extLst>
              <a:ext uri="{FF2B5EF4-FFF2-40B4-BE49-F238E27FC236}">
                <a16:creationId xmlns:a16="http://schemas.microsoft.com/office/drawing/2014/main" id="{6DA3B15D-2E71-42EB-8E50-3590DAD61085}"/>
              </a:ext>
            </a:extLst>
          </p:cNvPr>
          <p:cNvCxnSpPr>
            <a:cxnSpLocks/>
          </p:cNvCxnSpPr>
          <p:nvPr/>
        </p:nvCxnSpPr>
        <p:spPr>
          <a:xfrm>
            <a:off x="40892" y="9246589"/>
            <a:ext cx="67484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91192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4212535</TotalTime>
  <Words>1683</Words>
  <Application>Microsoft Office PowerPoint</Application>
  <PresentationFormat>Papel A4 (210 x 297 mm)</PresentationFormat>
  <Paragraphs>150</Paragraphs>
  <Slides>12</Slides>
  <Notes>4</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12</vt:i4>
      </vt:variant>
    </vt:vector>
  </HeadingPairs>
  <TitlesOfParts>
    <vt:vector size="19" baseType="lpstr">
      <vt:lpstr>Arial</vt:lpstr>
      <vt:lpstr>Arial Rounded MT Bold</vt:lpstr>
      <vt:lpstr>Calibri</vt:lpstr>
      <vt:lpstr>Monda</vt:lpstr>
      <vt:lpstr>Wingdings</vt:lpstr>
      <vt:lpstr>Tema do Office</vt:lpstr>
      <vt:lpstr>1_Tema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Eliel Lima</cp:lastModifiedBy>
  <cp:revision>270</cp:revision>
  <cp:lastPrinted>2018-04-20T10:59:02Z</cp:lastPrinted>
  <dcterms:created xsi:type="dcterms:W3CDTF">2017-01-16T11:13:17Z</dcterms:created>
  <dcterms:modified xsi:type="dcterms:W3CDTF">2021-12-16T13:44:23Z</dcterms:modified>
</cp:coreProperties>
</file>