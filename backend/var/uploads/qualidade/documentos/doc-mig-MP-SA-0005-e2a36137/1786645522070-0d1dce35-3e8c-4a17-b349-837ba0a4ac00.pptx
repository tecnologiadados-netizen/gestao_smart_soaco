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1">
  <p:sldMasterIdLst>
    <p:sldMasterId id="2147483720" r:id="rId1"/>
  </p:sldMasterIdLst>
  <p:notesMasterIdLst>
    <p:notesMasterId r:id="rId22"/>
  </p:notesMasterIdLst>
  <p:handoutMasterIdLst>
    <p:handoutMasterId r:id="rId2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7315200" cy="104028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édio 1 - Ênfas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1116" y="-3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A2A9356B-9BD8-4299-B887-C8BE6CE448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05EA7E0B-E9B8-4C8E-9DE5-BDCBA4F494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B870A9-3DD3-46F1-8649-81F068724D24}" type="datetimeFigureOut">
              <a:rPr lang="pt-BR" smtClean="0"/>
              <a:t>24/06/2020</a:t>
            </a:fld>
            <a:endParaRPr lang="pt-BR"/>
          </a:p>
        </p:txBody>
      </p:sp>
      <p:sp>
        <p:nvSpPr>
          <p:cNvPr id="4" name="Espaço Reservado para Rodapé 3">
            <a:extLst>
              <a:ext uri="{FF2B5EF4-FFF2-40B4-BE49-F238E27FC236}">
                <a16:creationId xmlns:a16="http://schemas.microsoft.com/office/drawing/2014/main" id="{CF72BE02-991E-4969-BCE0-76A83DB02F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B514CCAE-556C-4333-82FB-FB613C52C9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13286D-048B-4720-88E1-3C3F06421AB6}" type="slidenum">
              <a:rPr lang="pt-BR" smtClean="0"/>
              <a:t>‹nº›</a:t>
            </a:fld>
            <a:endParaRPr lang="pt-BR"/>
          </a:p>
        </p:txBody>
      </p:sp>
    </p:spTree>
    <p:extLst>
      <p:ext uri="{BB962C8B-B14F-4D97-AF65-F5344CB8AC3E}">
        <p14:creationId xmlns:p14="http://schemas.microsoft.com/office/powerpoint/2010/main" val="1276094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8FC76-128E-466F-9C3D-DB4F6FE8F626}" type="datetimeFigureOut">
              <a:rPr lang="pt-BR" smtClean="0"/>
              <a:t>24/06/2020</a:t>
            </a:fld>
            <a:endParaRPr lang="pt-BR"/>
          </a:p>
        </p:txBody>
      </p:sp>
      <p:sp>
        <p:nvSpPr>
          <p:cNvPr id="4" name="Espaço Reservado para Imagem de Slide 3"/>
          <p:cNvSpPr>
            <a:spLocks noGrp="1" noRot="1" noChangeAspect="1"/>
          </p:cNvSpPr>
          <p:nvPr>
            <p:ph type="sldImg" idx="2"/>
          </p:nvPr>
        </p:nvSpPr>
        <p:spPr>
          <a:xfrm>
            <a:off x="2343150" y="1143000"/>
            <a:ext cx="21717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B01EF-71A3-4476-B18D-E0F093503A32}" type="slidenum">
              <a:rPr lang="pt-BR" smtClean="0"/>
              <a:t>‹nº›</a:t>
            </a:fld>
            <a:endParaRPr lang="pt-BR"/>
          </a:p>
        </p:txBody>
      </p:sp>
    </p:spTree>
    <p:extLst>
      <p:ext uri="{BB962C8B-B14F-4D97-AF65-F5344CB8AC3E}">
        <p14:creationId xmlns:p14="http://schemas.microsoft.com/office/powerpoint/2010/main" val="32997384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702511"/>
            <a:ext cx="6217920" cy="3621746"/>
          </a:xfrm>
        </p:spPr>
        <p:txBody>
          <a:bodyPr anchor="b"/>
          <a:lstStyle>
            <a:lvl1pPr algn="ctr">
              <a:defRPr sz="4800"/>
            </a:lvl1pPr>
          </a:lstStyle>
          <a:p>
            <a:r>
              <a:rPr lang="pt-BR"/>
              <a:t>Clique para editar o título Mestre</a:t>
            </a:r>
            <a:endParaRPr lang="en-US" dirty="0"/>
          </a:p>
        </p:txBody>
      </p:sp>
      <p:sp>
        <p:nvSpPr>
          <p:cNvPr id="3" name="Subtitle 2"/>
          <p:cNvSpPr>
            <a:spLocks noGrp="1"/>
          </p:cNvSpPr>
          <p:nvPr>
            <p:ph type="subTitle" idx="1"/>
          </p:nvPr>
        </p:nvSpPr>
        <p:spPr>
          <a:xfrm>
            <a:off x="914400" y="5463925"/>
            <a:ext cx="5486400" cy="2511622"/>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9CB7D92-88B0-44F7-AD01-6200CB511865}" type="datetime1">
              <a:rPr lang="pt-BR" smtClean="0"/>
              <a:t>24/06/2020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04133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DAD90D-6F13-4BC4-9AC2-BF2469909003}" type="datetime1">
              <a:rPr lang="pt-BR" smtClean="0"/>
              <a:t>24/06/2020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1586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99110" y="2593501"/>
            <a:ext cx="6309360" cy="4327312"/>
          </a:xfrm>
        </p:spPr>
        <p:txBody>
          <a:bodyPr anchor="b"/>
          <a:lstStyle>
            <a:lvl1pPr>
              <a:defRPr sz="4800"/>
            </a:lvl1pPr>
          </a:lstStyle>
          <a:p>
            <a:r>
              <a:rPr lang="pt-BR"/>
              <a:t>Clique para editar o título Mestre</a:t>
            </a:r>
            <a:endParaRPr lang="en-US" dirty="0"/>
          </a:p>
        </p:txBody>
      </p:sp>
      <p:sp>
        <p:nvSpPr>
          <p:cNvPr id="3" name="Text Placeholder 2"/>
          <p:cNvSpPr>
            <a:spLocks noGrp="1"/>
          </p:cNvSpPr>
          <p:nvPr>
            <p:ph type="body" idx="1"/>
          </p:nvPr>
        </p:nvSpPr>
        <p:spPr>
          <a:xfrm>
            <a:off x="499110" y="6961751"/>
            <a:ext cx="6309360" cy="2275631"/>
          </a:xfrm>
        </p:spPr>
        <p:txBody>
          <a:bodyPr/>
          <a:lstStyle>
            <a:lvl1pPr marL="0" indent="0">
              <a:buNone/>
              <a:defRPr sz="1920">
                <a:solidFill>
                  <a:schemeClr val="tx1"/>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0B16D8B-996A-4807-A6ED-22D061C1B72B}" type="datetime1">
              <a:rPr lang="pt-BR" smtClean="0"/>
              <a:t>24/06/2020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22589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5029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7033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4F27C9B-E6EE-4AD5-8C85-80856F7DCF75}" type="datetime1">
              <a:rPr lang="pt-BR" smtClean="0"/>
              <a:t>24/06/2020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414879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503873" y="553860"/>
            <a:ext cx="6309360" cy="201074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503874" y="2550153"/>
            <a:ext cx="3094672"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4" name="Content Placeholder 3"/>
          <p:cNvSpPr>
            <a:spLocks noGrp="1"/>
          </p:cNvSpPr>
          <p:nvPr>
            <p:ph sz="half" idx="2"/>
          </p:nvPr>
        </p:nvSpPr>
        <p:spPr>
          <a:xfrm>
            <a:off x="503874" y="3799944"/>
            <a:ext cx="3094672"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703320" y="2550153"/>
            <a:ext cx="3109913"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6" name="Content Placeholder 5"/>
          <p:cNvSpPr>
            <a:spLocks noGrp="1"/>
          </p:cNvSpPr>
          <p:nvPr>
            <p:ph sz="quarter" idx="4"/>
          </p:nvPr>
        </p:nvSpPr>
        <p:spPr>
          <a:xfrm>
            <a:off x="3703320" y="3799944"/>
            <a:ext cx="3109913"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53DCFF-1039-4897-8771-4CC5BB8A1A63}" type="datetime1">
              <a:rPr lang="pt-BR" smtClean="0"/>
              <a:t>24/06/2020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8129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C7B156DD-BF07-4E60-917A-7794FB56AD79}" type="datetime1">
              <a:rPr lang="pt-BR" smtClean="0"/>
              <a:t>24/06/2020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82497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E1FC1-2381-4E8B-A154-6581F35D3896}" type="datetime1">
              <a:rPr lang="pt-BR" smtClean="0"/>
              <a:t>24/06/2020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74323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Content Placeholder 2"/>
          <p:cNvSpPr>
            <a:spLocks noGrp="1"/>
          </p:cNvSpPr>
          <p:nvPr>
            <p:ph idx="1"/>
          </p:nvPr>
        </p:nvSpPr>
        <p:spPr>
          <a:xfrm>
            <a:off x="3109913" y="1497826"/>
            <a:ext cx="3703320" cy="7392793"/>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1324ED-6763-4699-B0AD-7E84EC8B1644}" type="datetime1">
              <a:rPr lang="pt-BR" smtClean="0"/>
              <a:t>24/06/2020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79540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109913" y="1497826"/>
            <a:ext cx="3703320" cy="7392793"/>
          </a:xfrm>
        </p:spPr>
        <p:txBody>
          <a:bodyPr anchor="t"/>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A787823-8AAA-4251-8902-B1251986900F}" type="datetime1">
              <a:rPr lang="pt-BR" smtClean="0"/>
              <a:t>24/06/2020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0738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64B236B-6AF9-49C3-A0B5-2F12C3332F52}" type="datetime1">
              <a:rPr lang="pt-BR" smtClean="0"/>
              <a:t>24/06/2020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43803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34940" y="553857"/>
            <a:ext cx="1577340" cy="881596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502920" y="553857"/>
            <a:ext cx="4640580" cy="881596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030F9BB-7B19-4E67-86FC-488194CA39F5}" type="datetime1">
              <a:rPr lang="pt-BR" smtClean="0"/>
              <a:t>24/06/2020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7099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553860"/>
            <a:ext cx="6309360" cy="20107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502920" y="2769287"/>
            <a:ext cx="6309360" cy="660053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502920" y="9641939"/>
            <a:ext cx="1645920" cy="553857"/>
          </a:xfrm>
          <a:prstGeom prst="rect">
            <a:avLst/>
          </a:prstGeom>
        </p:spPr>
        <p:txBody>
          <a:bodyPr vert="horz" lIns="91440" tIns="45720" rIns="91440" bIns="45720" rtlCol="0" anchor="ctr"/>
          <a:lstStyle>
            <a:lvl1pPr algn="l">
              <a:defRPr sz="960">
                <a:solidFill>
                  <a:schemeClr val="tx1">
                    <a:tint val="75000"/>
                  </a:schemeClr>
                </a:solidFill>
              </a:defRPr>
            </a:lvl1pPr>
          </a:lstStyle>
          <a:p>
            <a:fld id="{DB62FD4C-7811-4D32-B0B3-252873AF79EA}" type="datetime1">
              <a:rPr lang="pt-BR" smtClean="0"/>
              <a:t>24/06/2020</a:t>
            </a:fld>
            <a:endParaRPr lang="pt-BR"/>
          </a:p>
        </p:txBody>
      </p:sp>
      <p:sp>
        <p:nvSpPr>
          <p:cNvPr id="5" name="Footer Placeholder 4"/>
          <p:cNvSpPr>
            <a:spLocks noGrp="1"/>
          </p:cNvSpPr>
          <p:nvPr>
            <p:ph type="ftr" sz="quarter" idx="3"/>
          </p:nvPr>
        </p:nvSpPr>
        <p:spPr>
          <a:xfrm>
            <a:off x="2423160" y="9641939"/>
            <a:ext cx="2468880" cy="553857"/>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5166360" y="9641939"/>
            <a:ext cx="1645920" cy="553857"/>
          </a:xfrm>
          <a:prstGeom prst="rect">
            <a:avLst/>
          </a:prstGeom>
        </p:spPr>
        <p:txBody>
          <a:bodyPr vert="horz" lIns="91440" tIns="45720" rIns="91440" bIns="45720" rtlCol="0" anchor="ctr"/>
          <a:lstStyle>
            <a:lvl1pPr algn="r">
              <a:defRPr sz="960">
                <a:solidFill>
                  <a:schemeClr val="tx1">
                    <a:tint val="75000"/>
                  </a:schemeClr>
                </a:solidFill>
              </a:defRPr>
            </a:lvl1pPr>
          </a:lstStyle>
          <a:p>
            <a:fld id="{136BC063-5F49-4282-BA96-4716B49D2CCE}" type="slidenum">
              <a:rPr lang="pt-BR" smtClean="0"/>
              <a:t>‹nº›</a:t>
            </a:fld>
            <a:endParaRPr lang="pt-BR"/>
          </a:p>
        </p:txBody>
      </p:sp>
    </p:spTree>
    <p:extLst>
      <p:ext uri="{BB962C8B-B14F-4D97-AF65-F5344CB8AC3E}">
        <p14:creationId xmlns:p14="http://schemas.microsoft.com/office/powerpoint/2010/main" val="50478578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9.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gif"/><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microsoft.com/office/2007/relationships/hdphoto" Target="../media/hdphoto5.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microsoft.com/office/2007/relationships/hdphoto" Target="../media/hdphoto7.wdp"/><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oacoindustrial.com.br/"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sac@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to 5">
            <a:extLst>
              <a:ext uri="{FF2B5EF4-FFF2-40B4-BE49-F238E27FC236}">
                <a16:creationId xmlns:a16="http://schemas.microsoft.com/office/drawing/2014/main" id="{028337A0-0653-400B-861B-19331BCEEE53}"/>
              </a:ext>
            </a:extLst>
          </p:cNvPr>
          <p:cNvCxnSpPr>
            <a:cxnSpLocks/>
          </p:cNvCxnSpPr>
          <p:nvPr/>
        </p:nvCxnSpPr>
        <p:spPr>
          <a:xfrm>
            <a:off x="43544"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028337A0-0653-400B-861B-19331BCEEE53}"/>
              </a:ext>
            </a:extLst>
          </p:cNvPr>
          <p:cNvCxnSpPr>
            <a:cxnSpLocks/>
          </p:cNvCxnSpPr>
          <p:nvPr/>
        </p:nvCxnSpPr>
        <p:spPr>
          <a:xfrm>
            <a:off x="57600"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CaixaDeTexto 140">
            <a:extLst>
              <a:ext uri="{FF2B5EF4-FFF2-40B4-BE49-F238E27FC236}">
                <a16:creationId xmlns:a16="http://schemas.microsoft.com/office/drawing/2014/main" id="{4FE9CA6A-59E5-459F-9D1E-B0C496A82728}"/>
              </a:ext>
            </a:extLst>
          </p:cNvPr>
          <p:cNvSpPr txBox="1"/>
          <p:nvPr/>
        </p:nvSpPr>
        <p:spPr>
          <a:xfrm>
            <a:off x="2221286" y="88862"/>
            <a:ext cx="2727484" cy="338554"/>
          </a:xfrm>
          <a:prstGeom prst="rect">
            <a:avLst/>
          </a:prstGeom>
          <a:noFill/>
        </p:spPr>
        <p:txBody>
          <a:bodyPr wrap="square" rtlCol="0">
            <a:spAutoFit/>
          </a:bodyPr>
          <a:lstStyle/>
          <a:p>
            <a:pPr algn="ctr"/>
            <a:r>
              <a:rPr lang="pt-BR" sz="1600" dirty="0">
                <a:solidFill>
                  <a:srgbClr val="000000"/>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FOGÃO INDUSTRIAL</a:t>
            </a:r>
            <a:endParaRPr lang="pt-BR" sz="2000" dirty="0">
              <a:latin typeface="Times New Roman" panose="02020603050405020304" pitchFamily="18" charset="0"/>
              <a:ea typeface="Times New Roman" panose="02020603050405020304" pitchFamily="18" charset="0"/>
            </a:endParaRPr>
          </a:p>
        </p:txBody>
      </p:sp>
      <p:sp>
        <p:nvSpPr>
          <p:cNvPr id="9" name="CaixaDeTexto 147">
            <a:extLst>
              <a:ext uri="{FF2B5EF4-FFF2-40B4-BE49-F238E27FC236}">
                <a16:creationId xmlns:a16="http://schemas.microsoft.com/office/drawing/2014/main" id="{CD229FDA-7E57-41CF-B706-D690A7BDC466}"/>
              </a:ext>
            </a:extLst>
          </p:cNvPr>
          <p:cNvSpPr txBox="1"/>
          <p:nvPr/>
        </p:nvSpPr>
        <p:spPr>
          <a:xfrm>
            <a:off x="1899768" y="2250183"/>
            <a:ext cx="3515663" cy="1446550"/>
          </a:xfrm>
          <a:prstGeom prst="rect">
            <a:avLst/>
          </a:prstGeom>
          <a:noFill/>
        </p:spPr>
        <p:txBody>
          <a:bodyPr wrap="square" rtlCol="0">
            <a:spAutoFit/>
          </a:bodyPr>
          <a:lstStyle/>
          <a:p>
            <a:pPr algn="ct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Manual</a:t>
            </a: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Calibri" panose="020F0502020204030204" pitchFamily="34" charset="0"/>
                <a:ea typeface="Times New Roman" panose="02020603050405020304" pitchFamily="18" charset="0"/>
                <a:cs typeface="Times New Roman" panose="02020603050405020304" pitchFamily="18" charset="0"/>
              </a:rPr>
              <a:t> </a:t>
            </a:r>
            <a:endParaRPr lang="pt-BR" dirty="0">
              <a:latin typeface="Times New Roman" panose="02020603050405020304" pitchFamily="18" charset="0"/>
              <a:ea typeface="Times New Roman" panose="02020603050405020304" pitchFamily="18" charset="0"/>
            </a:endParaRPr>
          </a:p>
          <a:p>
            <a:pPr algn="ct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do usuário</a:t>
            </a:r>
            <a:endParaRPr lang="pt-BR" dirty="0">
              <a:latin typeface="Times New Roman" panose="02020603050405020304" pitchFamily="18" charset="0"/>
              <a:ea typeface="Times New Roman" panose="02020603050405020304" pitchFamily="18" charset="0"/>
            </a:endParaRPr>
          </a:p>
        </p:txBody>
      </p:sp>
      <p:sp>
        <p:nvSpPr>
          <p:cNvPr id="10" name="Lua 9">
            <a:extLst>
              <a:ext uri="{FF2B5EF4-FFF2-40B4-BE49-F238E27FC236}">
                <a16:creationId xmlns:a16="http://schemas.microsoft.com/office/drawing/2014/main" id="{572E7D4B-AA72-4CC2-B674-0F07B6DC2A2B}"/>
              </a:ext>
            </a:extLst>
          </p:cNvPr>
          <p:cNvSpPr>
            <a:spLocks noChangeAspect="1"/>
          </p:cNvSpPr>
          <p:nvPr/>
        </p:nvSpPr>
        <p:spPr>
          <a:xfrm>
            <a:off x="401275" y="1780725"/>
            <a:ext cx="3854318" cy="2432878"/>
          </a:xfrm>
          <a:prstGeom prst="moon">
            <a:avLst>
              <a:gd name="adj" fmla="val 20511"/>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49530" tIns="24765" rIns="49530" bIns="24765"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endParaRPr lang="pt-BR" sz="1061"/>
          </a:p>
        </p:txBody>
      </p:sp>
      <p:sp>
        <p:nvSpPr>
          <p:cNvPr id="11" name="Lua 10">
            <a:extLst>
              <a:ext uri="{FF2B5EF4-FFF2-40B4-BE49-F238E27FC236}">
                <a16:creationId xmlns:a16="http://schemas.microsoft.com/office/drawing/2014/main" id="{47C342CB-C4E2-4BC8-9374-950C0DB94BA6}"/>
              </a:ext>
            </a:extLst>
          </p:cNvPr>
          <p:cNvSpPr>
            <a:spLocks noChangeAspect="1"/>
          </p:cNvSpPr>
          <p:nvPr/>
        </p:nvSpPr>
        <p:spPr>
          <a:xfrm flipH="1">
            <a:off x="3313672" y="2098881"/>
            <a:ext cx="3778544" cy="2363928"/>
          </a:xfrm>
          <a:prstGeom prst="moon">
            <a:avLst>
              <a:gd name="adj" fmla="val 21283"/>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49530" tIns="24765" rIns="49530" bIns="24765"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endParaRPr lang="pt-BR" sz="1061"/>
          </a:p>
        </p:txBody>
      </p:sp>
      <p:pic>
        <p:nvPicPr>
          <p:cNvPr id="12" name="Imagem 11">
            <a:extLst>
              <a:ext uri="{FF2B5EF4-FFF2-40B4-BE49-F238E27FC236}">
                <a16:creationId xmlns:a16="http://schemas.microsoft.com/office/drawing/2014/main" id="{1AD2D344-F032-484F-8E96-39173704B647}"/>
              </a:ext>
            </a:extLst>
          </p:cNvPr>
          <p:cNvPicPr/>
          <p:nvPr/>
        </p:nvPicPr>
        <p:blipFill rotWithShape="1">
          <a:blip r:embed="rId2" cstate="print">
            <a:extLst>
              <a:ext uri="{28A0092B-C50C-407E-A947-70E740481C1C}">
                <a14:useLocalDpi xmlns:a14="http://schemas.microsoft.com/office/drawing/2010/main" val="0"/>
              </a:ext>
            </a:extLst>
          </a:blip>
          <a:srcRect l="36020" t="13839" r="23084" b="6189"/>
          <a:stretch/>
        </p:blipFill>
        <p:spPr bwMode="auto">
          <a:xfrm>
            <a:off x="2651508" y="4861662"/>
            <a:ext cx="2012185" cy="2165410"/>
          </a:xfrm>
          <a:prstGeom prst="rect">
            <a:avLst/>
          </a:prstGeom>
          <a:noFill/>
          <a:ln>
            <a:noFill/>
          </a:ln>
          <a:extLst>
            <a:ext uri="{53640926-AAD7-44D8-BBD7-CCE9431645EC}">
              <a14:shadowObscured xmlns:a14="http://schemas.microsoft.com/office/drawing/2010/main"/>
            </a:ext>
          </a:extLst>
        </p:spPr>
      </p:pic>
      <p:sp>
        <p:nvSpPr>
          <p:cNvPr id="13" name="CaixaDeTexto 66">
            <a:extLst>
              <a:ext uri="{FF2B5EF4-FFF2-40B4-BE49-F238E27FC236}">
                <a16:creationId xmlns:a16="http://schemas.microsoft.com/office/drawing/2014/main" id="{E8B7D4A3-32C5-4F56-9BAB-7FA6541DBAAF}"/>
              </a:ext>
            </a:extLst>
          </p:cNvPr>
          <p:cNvSpPr txBox="1"/>
          <p:nvPr/>
        </p:nvSpPr>
        <p:spPr>
          <a:xfrm>
            <a:off x="2354388" y="4800024"/>
            <a:ext cx="292388" cy="2426979"/>
          </a:xfrm>
          <a:prstGeom prst="rect">
            <a:avLst/>
          </a:prstGeom>
          <a:noFill/>
        </p:spPr>
        <p:txBody>
          <a:bodyPr vert="vert270" wrap="square" rtlCol="0">
            <a:spAutoFit/>
          </a:bodyPr>
          <a:lstStyle/>
          <a:p>
            <a:r>
              <a:rPr lang="pt-BR" sz="700" i="1" dirty="0">
                <a:latin typeface="Arial" panose="020B0604020202020204" pitchFamily="34" charset="0"/>
                <a:ea typeface="Times New Roman" panose="02020603050405020304" pitchFamily="18" charset="0"/>
              </a:rPr>
              <a:t>Fogão Industrial 04 bocas simples com forno - </a:t>
            </a:r>
            <a:r>
              <a:rPr lang="pt-BR" sz="700" dirty="0">
                <a:latin typeface="Arial" panose="020B0604020202020204" pitchFamily="34" charset="0"/>
                <a:ea typeface="Times New Roman" panose="02020603050405020304" pitchFamily="18" charset="0"/>
              </a:rPr>
              <a:t>FFI Q430</a:t>
            </a:r>
            <a:endParaRPr lang="pt-BR" sz="700" dirty="0">
              <a:latin typeface="Times New Roman" panose="02020603050405020304" pitchFamily="18" charset="0"/>
              <a:ea typeface="Times New Roman" panose="02020603050405020304" pitchFamily="18" charset="0"/>
            </a:endParaRPr>
          </a:p>
        </p:txBody>
      </p:sp>
      <p:sp>
        <p:nvSpPr>
          <p:cNvPr id="14" name="CaixaDeTexto 4">
            <a:extLst>
              <a:ext uri="{FF2B5EF4-FFF2-40B4-BE49-F238E27FC236}">
                <a16:creationId xmlns:a16="http://schemas.microsoft.com/office/drawing/2014/main" id="{1A6FB963-CC61-4B50-85F2-FDE336ACBEB4}"/>
              </a:ext>
            </a:extLst>
          </p:cNvPr>
          <p:cNvSpPr txBox="1"/>
          <p:nvPr/>
        </p:nvSpPr>
        <p:spPr>
          <a:xfrm>
            <a:off x="4541343" y="7263928"/>
            <a:ext cx="2868388" cy="1200329"/>
          </a:xfrm>
          <a:prstGeom prst="rect">
            <a:avLst/>
          </a:prstGeom>
          <a:noFill/>
        </p:spPr>
        <p:txBody>
          <a:bodyPr wrap="square" rtlCol="0">
            <a:spAutoFit/>
          </a:bodyPr>
          <a:lstStyle/>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Instruções</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Especificações</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Garantia</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CaixaDeTexto 11">
            <a:extLst>
              <a:ext uri="{FF2B5EF4-FFF2-40B4-BE49-F238E27FC236}">
                <a16:creationId xmlns:a16="http://schemas.microsoft.com/office/drawing/2014/main" id="{041A7CB0-8B4D-427E-A547-A67EB8EF1759}"/>
              </a:ext>
            </a:extLst>
          </p:cNvPr>
          <p:cNvSpPr txBox="1"/>
          <p:nvPr/>
        </p:nvSpPr>
        <p:spPr>
          <a:xfrm>
            <a:off x="3313672" y="8534057"/>
            <a:ext cx="3825517" cy="1323439"/>
          </a:xfrm>
          <a:prstGeom prst="rect">
            <a:avLst/>
          </a:prstGeom>
          <a:noFill/>
        </p:spPr>
        <p:txBody>
          <a:bodyPr wrap="square" rtlCol="0">
            <a:spAutoFit/>
          </a:bodyPr>
          <a:lstStyle/>
          <a:p>
            <a:pPr algn="just"/>
            <a:r>
              <a:rPr lang="pt-BR" sz="1600" i="1" dirty="0">
                <a:solidFill>
                  <a:srgbClr val="000000"/>
                </a:solidFill>
                <a:latin typeface="Arial" panose="020B0604020202020204" pitchFamily="34" charset="0"/>
                <a:ea typeface="Times New Roman" panose="02020603050405020304" pitchFamily="18" charset="0"/>
              </a:rPr>
              <a:t>Parabéns pela sua nova aquisição! Para obter o máximo desempenho e garantir o perfeito funcionamento do seu produto, leia atentamente este manual. </a:t>
            </a:r>
            <a:endParaRPr lang="pt-BR" sz="1600" dirty="0">
              <a:latin typeface="Times New Roman" panose="02020603050405020304" pitchFamily="18" charset="0"/>
              <a:ea typeface="Times New Roman" panose="02020603050405020304" pitchFamily="18" charset="0"/>
            </a:endParaRPr>
          </a:p>
        </p:txBody>
      </p:sp>
      <p:pic>
        <p:nvPicPr>
          <p:cNvPr id="20" name="Imagem 19">
            <a:extLst>
              <a:ext uri="{FF2B5EF4-FFF2-40B4-BE49-F238E27FC236}">
                <a16:creationId xmlns:a16="http://schemas.microsoft.com/office/drawing/2014/main" id="{6CC78811-C7FA-4BCD-B7E2-FAD1E62E8197}"/>
              </a:ext>
            </a:extLst>
          </p:cNvPr>
          <p:cNvPicPr/>
          <p:nvPr/>
        </p:nvPicPr>
        <p:blipFill>
          <a:blip r:embed="rId3">
            <a:extLst>
              <a:ext uri="{28A0092B-C50C-407E-A947-70E740481C1C}">
                <a14:useLocalDpi xmlns:a14="http://schemas.microsoft.com/office/drawing/2010/main" val="0"/>
              </a:ext>
            </a:extLst>
          </a:blip>
          <a:stretch>
            <a:fillRect/>
          </a:stretch>
        </p:blipFill>
        <p:spPr>
          <a:xfrm>
            <a:off x="686123" y="9920024"/>
            <a:ext cx="593151" cy="322819"/>
          </a:xfrm>
          <a:prstGeom prst="rect">
            <a:avLst/>
          </a:prstGeom>
        </p:spPr>
      </p:pic>
      <p:pic>
        <p:nvPicPr>
          <p:cNvPr id="21" name="Imagem 20">
            <a:extLst>
              <a:ext uri="{FF2B5EF4-FFF2-40B4-BE49-F238E27FC236}">
                <a16:creationId xmlns:a16="http://schemas.microsoft.com/office/drawing/2014/main" id="{A69363DC-816C-496D-A78E-07097CAB450C}"/>
              </a:ext>
            </a:extLst>
          </p:cNvPr>
          <p:cNvPicPr/>
          <p:nvPr/>
        </p:nvPicPr>
        <p:blipFill>
          <a:blip r:embed="rId3">
            <a:extLst>
              <a:ext uri="{28A0092B-C50C-407E-A947-70E740481C1C}">
                <a14:useLocalDpi xmlns:a14="http://schemas.microsoft.com/office/drawing/2010/main" val="0"/>
              </a:ext>
            </a:extLst>
          </a:blip>
          <a:stretch>
            <a:fillRect/>
          </a:stretch>
        </p:blipFill>
        <p:spPr>
          <a:xfrm>
            <a:off x="5404033" y="9923454"/>
            <a:ext cx="593151" cy="322819"/>
          </a:xfrm>
          <a:prstGeom prst="rect">
            <a:avLst/>
          </a:prstGeom>
        </p:spPr>
      </p:pic>
      <p:pic>
        <p:nvPicPr>
          <p:cNvPr id="22" name="Imagem 21">
            <a:extLst>
              <a:ext uri="{FF2B5EF4-FFF2-40B4-BE49-F238E27FC236}">
                <a16:creationId xmlns:a16="http://schemas.microsoft.com/office/drawing/2014/main" id="{CF393E1D-2A4E-41F2-8B53-00E79A0B4D73}"/>
              </a:ext>
            </a:extLst>
          </p:cNvPr>
          <p:cNvPicPr/>
          <p:nvPr/>
        </p:nvPicPr>
        <p:blipFill>
          <a:blip r:embed="rId3">
            <a:extLst>
              <a:ext uri="{28A0092B-C50C-407E-A947-70E740481C1C}">
                <a14:useLocalDpi xmlns:a14="http://schemas.microsoft.com/office/drawing/2010/main" val="0"/>
              </a:ext>
            </a:extLst>
          </a:blip>
          <a:stretch>
            <a:fillRect/>
          </a:stretch>
        </p:blipFill>
        <p:spPr>
          <a:xfrm>
            <a:off x="1268752" y="9925151"/>
            <a:ext cx="593151" cy="322819"/>
          </a:xfrm>
          <a:prstGeom prst="rect">
            <a:avLst/>
          </a:prstGeom>
        </p:spPr>
      </p:pic>
      <p:pic>
        <p:nvPicPr>
          <p:cNvPr id="23" name="Imagem 22">
            <a:extLst>
              <a:ext uri="{FF2B5EF4-FFF2-40B4-BE49-F238E27FC236}">
                <a16:creationId xmlns:a16="http://schemas.microsoft.com/office/drawing/2014/main" id="{DFFB8D07-F98D-47A6-A00C-7A79B31C215B}"/>
              </a:ext>
            </a:extLst>
          </p:cNvPr>
          <p:cNvPicPr/>
          <p:nvPr/>
        </p:nvPicPr>
        <p:blipFill>
          <a:blip r:embed="rId3">
            <a:extLst>
              <a:ext uri="{28A0092B-C50C-407E-A947-70E740481C1C}">
                <a14:useLocalDpi xmlns:a14="http://schemas.microsoft.com/office/drawing/2010/main" val="0"/>
              </a:ext>
            </a:extLst>
          </a:blip>
          <a:stretch>
            <a:fillRect/>
          </a:stretch>
        </p:blipFill>
        <p:spPr>
          <a:xfrm>
            <a:off x="1861903" y="9924491"/>
            <a:ext cx="593151" cy="322818"/>
          </a:xfrm>
          <a:prstGeom prst="rect">
            <a:avLst/>
          </a:prstGeom>
        </p:spPr>
      </p:pic>
      <p:pic>
        <p:nvPicPr>
          <p:cNvPr id="24" name="Imagem 23">
            <a:extLst>
              <a:ext uri="{FF2B5EF4-FFF2-40B4-BE49-F238E27FC236}">
                <a16:creationId xmlns:a16="http://schemas.microsoft.com/office/drawing/2014/main" id="{59A5AA64-8E0C-471F-80DF-6C05AE7555FE}"/>
              </a:ext>
            </a:extLst>
          </p:cNvPr>
          <p:cNvPicPr/>
          <p:nvPr/>
        </p:nvPicPr>
        <p:blipFill>
          <a:blip r:embed="rId3">
            <a:extLst>
              <a:ext uri="{28A0092B-C50C-407E-A947-70E740481C1C}">
                <a14:useLocalDpi xmlns:a14="http://schemas.microsoft.com/office/drawing/2010/main" val="0"/>
              </a:ext>
            </a:extLst>
          </a:blip>
          <a:stretch>
            <a:fillRect/>
          </a:stretch>
        </p:blipFill>
        <p:spPr>
          <a:xfrm>
            <a:off x="2455053" y="9926220"/>
            <a:ext cx="593151" cy="322819"/>
          </a:xfrm>
          <a:prstGeom prst="rect">
            <a:avLst/>
          </a:prstGeom>
        </p:spPr>
      </p:pic>
      <p:pic>
        <p:nvPicPr>
          <p:cNvPr id="25" name="Imagem 24">
            <a:extLst>
              <a:ext uri="{FF2B5EF4-FFF2-40B4-BE49-F238E27FC236}">
                <a16:creationId xmlns:a16="http://schemas.microsoft.com/office/drawing/2014/main" id="{F68DE6B6-6A2D-4740-A96F-690BBB49D66C}"/>
              </a:ext>
            </a:extLst>
          </p:cNvPr>
          <p:cNvPicPr/>
          <p:nvPr/>
        </p:nvPicPr>
        <p:blipFill>
          <a:blip r:embed="rId3">
            <a:extLst>
              <a:ext uri="{28A0092B-C50C-407E-A947-70E740481C1C}">
                <a14:useLocalDpi xmlns:a14="http://schemas.microsoft.com/office/drawing/2010/main" val="0"/>
              </a:ext>
            </a:extLst>
          </a:blip>
          <a:stretch>
            <a:fillRect/>
          </a:stretch>
        </p:blipFill>
        <p:spPr>
          <a:xfrm>
            <a:off x="3048204" y="9926220"/>
            <a:ext cx="593151" cy="322819"/>
          </a:xfrm>
          <a:prstGeom prst="rect">
            <a:avLst/>
          </a:prstGeom>
        </p:spPr>
      </p:pic>
      <p:pic>
        <p:nvPicPr>
          <p:cNvPr id="26" name="Imagem 25">
            <a:extLst>
              <a:ext uri="{FF2B5EF4-FFF2-40B4-BE49-F238E27FC236}">
                <a16:creationId xmlns:a16="http://schemas.microsoft.com/office/drawing/2014/main" id="{B3402524-04E0-45CA-8214-EB01FC11B8C6}"/>
              </a:ext>
            </a:extLst>
          </p:cNvPr>
          <p:cNvPicPr/>
          <p:nvPr/>
        </p:nvPicPr>
        <p:blipFill>
          <a:blip r:embed="rId3">
            <a:extLst>
              <a:ext uri="{28A0092B-C50C-407E-A947-70E740481C1C}">
                <a14:useLocalDpi xmlns:a14="http://schemas.microsoft.com/office/drawing/2010/main" val="0"/>
              </a:ext>
            </a:extLst>
          </a:blip>
          <a:stretch>
            <a:fillRect/>
          </a:stretch>
        </p:blipFill>
        <p:spPr>
          <a:xfrm>
            <a:off x="3641354" y="9925843"/>
            <a:ext cx="593151" cy="322819"/>
          </a:xfrm>
          <a:prstGeom prst="rect">
            <a:avLst/>
          </a:prstGeom>
        </p:spPr>
      </p:pic>
      <p:pic>
        <p:nvPicPr>
          <p:cNvPr id="27" name="Imagem 26">
            <a:extLst>
              <a:ext uri="{FF2B5EF4-FFF2-40B4-BE49-F238E27FC236}">
                <a16:creationId xmlns:a16="http://schemas.microsoft.com/office/drawing/2014/main" id="{7A1DD0DE-EAE6-42C3-9D7A-E441EA338E00}"/>
              </a:ext>
            </a:extLst>
          </p:cNvPr>
          <p:cNvPicPr/>
          <p:nvPr/>
        </p:nvPicPr>
        <p:blipFill>
          <a:blip r:embed="rId3">
            <a:extLst>
              <a:ext uri="{28A0092B-C50C-407E-A947-70E740481C1C}">
                <a14:useLocalDpi xmlns:a14="http://schemas.microsoft.com/office/drawing/2010/main" val="0"/>
              </a:ext>
            </a:extLst>
          </a:blip>
          <a:stretch>
            <a:fillRect/>
          </a:stretch>
        </p:blipFill>
        <p:spPr>
          <a:xfrm>
            <a:off x="4234505" y="9935498"/>
            <a:ext cx="593151" cy="322819"/>
          </a:xfrm>
          <a:prstGeom prst="rect">
            <a:avLst/>
          </a:prstGeom>
        </p:spPr>
      </p:pic>
      <p:pic>
        <p:nvPicPr>
          <p:cNvPr id="28" name="Imagem 27">
            <a:extLst>
              <a:ext uri="{FF2B5EF4-FFF2-40B4-BE49-F238E27FC236}">
                <a16:creationId xmlns:a16="http://schemas.microsoft.com/office/drawing/2014/main" id="{D60D8A8B-7E62-46DB-8054-2C5144C97245}"/>
              </a:ext>
            </a:extLst>
          </p:cNvPr>
          <p:cNvPicPr/>
          <p:nvPr/>
        </p:nvPicPr>
        <p:blipFill>
          <a:blip r:embed="rId3">
            <a:extLst>
              <a:ext uri="{28A0092B-C50C-407E-A947-70E740481C1C}">
                <a14:useLocalDpi xmlns:a14="http://schemas.microsoft.com/office/drawing/2010/main" val="0"/>
              </a:ext>
            </a:extLst>
          </a:blip>
          <a:stretch>
            <a:fillRect/>
          </a:stretch>
        </p:blipFill>
        <p:spPr>
          <a:xfrm>
            <a:off x="4827656" y="9935081"/>
            <a:ext cx="593151" cy="322819"/>
          </a:xfrm>
          <a:prstGeom prst="rect">
            <a:avLst/>
          </a:prstGeom>
        </p:spPr>
      </p:pic>
      <p:cxnSp>
        <p:nvCxnSpPr>
          <p:cNvPr id="29" name="Conector reto 28">
            <a:extLst>
              <a:ext uri="{FF2B5EF4-FFF2-40B4-BE49-F238E27FC236}">
                <a16:creationId xmlns:a16="http://schemas.microsoft.com/office/drawing/2014/main" id="{19590BE7-432F-4D4D-B372-F3BA492D4AE6}"/>
              </a:ext>
            </a:extLst>
          </p:cNvPr>
          <p:cNvCxnSpPr>
            <a:cxnSpLocks/>
          </p:cNvCxnSpPr>
          <p:nvPr/>
        </p:nvCxnSpPr>
        <p:spPr>
          <a:xfrm>
            <a:off x="57600" y="9865663"/>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389B9AB1-F037-45F6-AEA5-E2F337459935}"/>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31" name="Imagem 30">
            <a:extLst>
              <a:ext uri="{FF2B5EF4-FFF2-40B4-BE49-F238E27FC236}">
                <a16:creationId xmlns:a16="http://schemas.microsoft.com/office/drawing/2014/main" id="{545F220C-99FC-4A35-B91A-86A8DF0E5459}"/>
              </a:ext>
            </a:extLst>
          </p:cNvPr>
          <p:cNvPicPr/>
          <p:nvPr/>
        </p:nvPicPr>
        <p:blipFill>
          <a:blip r:embed="rId3">
            <a:extLst>
              <a:ext uri="{28A0092B-C50C-407E-A947-70E740481C1C}">
                <a14:useLocalDpi xmlns:a14="http://schemas.microsoft.com/office/drawing/2010/main" val="0"/>
              </a:ext>
            </a:extLst>
          </a:blip>
          <a:stretch>
            <a:fillRect/>
          </a:stretch>
        </p:blipFill>
        <p:spPr>
          <a:xfrm>
            <a:off x="68496" y="9878415"/>
            <a:ext cx="593151" cy="322819"/>
          </a:xfrm>
          <a:prstGeom prst="rect">
            <a:avLst/>
          </a:prstGeom>
        </p:spPr>
      </p:pic>
      <p:pic>
        <p:nvPicPr>
          <p:cNvPr id="32" name="Imagem 31">
            <a:extLst>
              <a:ext uri="{FF2B5EF4-FFF2-40B4-BE49-F238E27FC236}">
                <a16:creationId xmlns:a16="http://schemas.microsoft.com/office/drawing/2014/main" id="{F9C02923-DCEB-4869-A603-A6A2CC792839}"/>
              </a:ext>
            </a:extLst>
          </p:cNvPr>
          <p:cNvPicPr/>
          <p:nvPr/>
        </p:nvPicPr>
        <p:blipFill>
          <a:blip r:embed="rId3">
            <a:extLst>
              <a:ext uri="{28A0092B-C50C-407E-A947-70E740481C1C}">
                <a14:useLocalDpi xmlns:a14="http://schemas.microsoft.com/office/drawing/2010/main" val="0"/>
              </a:ext>
            </a:extLst>
          </a:blip>
          <a:stretch>
            <a:fillRect/>
          </a:stretch>
        </p:blipFill>
        <p:spPr>
          <a:xfrm>
            <a:off x="6041866" y="9903816"/>
            <a:ext cx="593151" cy="322819"/>
          </a:xfrm>
          <a:prstGeom prst="rect">
            <a:avLst/>
          </a:prstGeom>
        </p:spPr>
      </p:pic>
      <p:pic>
        <p:nvPicPr>
          <p:cNvPr id="33" name="Imagem 32">
            <a:extLst>
              <a:ext uri="{FF2B5EF4-FFF2-40B4-BE49-F238E27FC236}">
                <a16:creationId xmlns:a16="http://schemas.microsoft.com/office/drawing/2014/main" id="{60E2FE26-39A8-477A-9028-8E772C6CA23C}"/>
              </a:ext>
            </a:extLst>
          </p:cNvPr>
          <p:cNvPicPr/>
          <p:nvPr/>
        </p:nvPicPr>
        <p:blipFill>
          <a:blip r:embed="rId3">
            <a:extLst>
              <a:ext uri="{28A0092B-C50C-407E-A947-70E740481C1C}">
                <a14:useLocalDpi xmlns:a14="http://schemas.microsoft.com/office/drawing/2010/main" val="0"/>
              </a:ext>
            </a:extLst>
          </a:blip>
          <a:stretch>
            <a:fillRect/>
          </a:stretch>
        </p:blipFill>
        <p:spPr>
          <a:xfrm>
            <a:off x="6612205" y="9909211"/>
            <a:ext cx="593151" cy="322819"/>
          </a:xfrm>
          <a:prstGeom prst="rect">
            <a:avLst/>
          </a:prstGeom>
        </p:spPr>
      </p:pic>
      <p:sp>
        <p:nvSpPr>
          <p:cNvPr id="2" name="Espaço Reservado para Número de Slide 1">
            <a:extLst>
              <a:ext uri="{FF2B5EF4-FFF2-40B4-BE49-F238E27FC236}">
                <a16:creationId xmlns:a16="http://schemas.microsoft.com/office/drawing/2014/main" id="{2DEDD9E1-EE76-4A66-93CA-B87E0A46A323}"/>
              </a:ext>
            </a:extLst>
          </p:cNvPr>
          <p:cNvSpPr>
            <a:spLocks noGrp="1"/>
          </p:cNvSpPr>
          <p:nvPr>
            <p:ph type="sldNum" sz="quarter" idx="12"/>
          </p:nvPr>
        </p:nvSpPr>
        <p:spPr/>
        <p:txBody>
          <a:bodyPr/>
          <a:lstStyle/>
          <a:p>
            <a:fld id="{136BC063-5F49-4282-BA96-4716B49D2CCE}" type="slidenum">
              <a:rPr lang="pt-BR" smtClean="0"/>
              <a:t>1</a:t>
            </a:fld>
            <a:endParaRPr lang="pt-BR"/>
          </a:p>
        </p:txBody>
      </p:sp>
    </p:spTree>
    <p:extLst>
      <p:ext uri="{BB962C8B-B14F-4D97-AF65-F5344CB8AC3E}">
        <p14:creationId xmlns:p14="http://schemas.microsoft.com/office/powerpoint/2010/main" val="35906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FB65CC21-1BCD-44AA-9D6B-32DD12E16B6F}"/>
              </a:ext>
            </a:extLst>
          </p:cNvPr>
          <p:cNvSpPr/>
          <p:nvPr/>
        </p:nvSpPr>
        <p:spPr>
          <a:xfrm>
            <a:off x="237600" y="98750"/>
            <a:ext cx="6840000" cy="2207592"/>
          </a:xfrm>
          <a:prstGeom prst="rect">
            <a:avLst/>
          </a:prstGeom>
        </p:spPr>
        <p:txBody>
          <a:bodyPr wrap="square">
            <a:spAutoFit/>
          </a:bodyPr>
          <a:lstStyle/>
          <a:p>
            <a:pPr algn="just">
              <a:lnSpc>
                <a:spcPct val="107000"/>
              </a:lnSpc>
              <a:spcAft>
                <a:spcPts val="450"/>
              </a:spcAft>
            </a:pPr>
            <a:r>
              <a:rPr lang="pt-BR" sz="1600" b="1" dirty="0">
                <a:latin typeface="Arial" panose="020B0604020202020204" pitchFamily="34" charset="0"/>
                <a:ea typeface="Calibri" panose="020F0502020204030204" pitchFamily="34" charset="0"/>
                <a:cs typeface="Arial" panose="020B0604020202020204" pitchFamily="34" charset="0"/>
              </a:rPr>
              <a:t>APRESENTAÇÃO</a:t>
            </a:r>
            <a:endParaRPr lang="pt-BR" sz="16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dirty="0">
                <a:latin typeface="Arial" panose="020B0604020202020204" pitchFamily="34" charset="0"/>
                <a:ea typeface="Calibri" panose="020F0502020204030204" pitchFamily="34" charset="0"/>
                <a:cs typeface="Arial" panose="020B0604020202020204" pitchFamily="34" charset="0"/>
              </a:rPr>
              <a:t>Gostaríamos de parabeniza-lo(a) pela aquisição de seu novo produto “Fogão Industrial” fabricado pela </a:t>
            </a:r>
            <a:r>
              <a:rPr lang="pt-BR" sz="1600" i="1" dirty="0">
                <a:latin typeface="Arial" panose="020B0604020202020204" pitchFamily="34" charset="0"/>
                <a:ea typeface="Calibri" panose="020F0502020204030204" pitchFamily="34" charset="0"/>
                <a:cs typeface="Arial" panose="020B0604020202020204" pitchFamily="34" charset="0"/>
              </a:rPr>
              <a:t>Só Aço Industrial LTDA</a:t>
            </a:r>
            <a:r>
              <a:rPr lang="pt-BR" sz="1600" dirty="0">
                <a:latin typeface="Arial" panose="020B0604020202020204" pitchFamily="34" charset="0"/>
                <a:ea typeface="Calibri" panose="020F0502020204030204" pitchFamily="34" charset="0"/>
                <a:cs typeface="Arial" panose="020B0604020202020204" pitchFamily="34" charset="0"/>
              </a:rPr>
              <a:t>. Buscando a melhor análise de custo/benefício pelo cliente, a Só Aço Industrial, sempre busca inovar em seus processos, aumentar a eficiência com que atende o cliente e inserir no mercado produtos de alta qualidade.</a:t>
            </a:r>
            <a:endParaRPr lang="pt-BR" sz="16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dirty="0">
                <a:latin typeface="Arial" panose="020B0604020202020204" pitchFamily="34" charset="0"/>
                <a:ea typeface="Calibri" panose="020F0502020204030204" pitchFamily="34" charset="0"/>
                <a:cs typeface="Arial" panose="020B0604020202020204" pitchFamily="34" charset="0"/>
              </a:rPr>
              <a:t>Portanto, sugerimos a leitura deste manual de maneira minuciosa e qualquer dúvida ficaremos satisfeitos em sana-las.</a:t>
            </a:r>
            <a:endParaRPr lang="pt-BR" sz="16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16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819BBF86-CB00-458E-9967-81CD801D825A}"/>
              </a:ext>
            </a:extLst>
          </p:cNvPr>
          <p:cNvSpPr/>
          <p:nvPr/>
        </p:nvSpPr>
        <p:spPr>
          <a:xfrm>
            <a:off x="237600" y="18321"/>
            <a:ext cx="6840000" cy="1169551"/>
          </a:xfrm>
          <a:prstGeom prst="rect">
            <a:avLst/>
          </a:prstGeom>
        </p:spPr>
        <p:txBody>
          <a:bodyPr>
            <a:spAutoFit/>
          </a:bodyPr>
          <a:lstStyle/>
          <a:p>
            <a:pPr algn="r">
              <a:spcAft>
                <a:spcPts val="600"/>
              </a:spcAft>
            </a:pPr>
            <a:r>
              <a:rPr lang="pt-BR" sz="1300" b="1" dirty="0">
                <a:latin typeface="Arial" panose="020B0604020202020204" pitchFamily="34" charset="0"/>
                <a:ea typeface="Calibri" panose="020F0502020204030204" pitchFamily="34" charset="0"/>
                <a:cs typeface="Arial" panose="020B0604020202020204" pitchFamily="34" charset="0"/>
              </a:rPr>
              <a:t>Só Aço Industrial LTDA</a:t>
            </a:r>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NOTA:</a:t>
            </a:r>
            <a:r>
              <a:rPr lang="pt-BR" sz="1300" dirty="0">
                <a:latin typeface="Arial" panose="020B0604020202020204" pitchFamily="34" charset="0"/>
                <a:ea typeface="Calibri" panose="020F0502020204030204" pitchFamily="34" charset="0"/>
                <a:cs typeface="Arial" panose="020B0604020202020204" pitchFamily="34" charset="0"/>
              </a:rPr>
              <a:t> Guarde a Nota fiscal de compra, ela será necessária caso precise utilizar os serviços da Assistência Técnica Só Aço no período de garantia. Também não remova a etiqueta de identificação do produto. Nela constam informações imprescindíveis em caso de necessidade de reparos.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8" name="Retângulo 7">
            <a:extLst>
              <a:ext uri="{FF2B5EF4-FFF2-40B4-BE49-F238E27FC236}">
                <a16:creationId xmlns:a16="http://schemas.microsoft.com/office/drawing/2014/main" id="{F70D05CD-3902-46C3-8A28-64B59371958E}"/>
              </a:ext>
            </a:extLst>
          </p:cNvPr>
          <p:cNvSpPr/>
          <p:nvPr/>
        </p:nvSpPr>
        <p:spPr>
          <a:xfrm>
            <a:off x="237600" y="124373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500" b="1">
                <a:solidFill>
                  <a:srgbClr val="000000"/>
                </a:solidFill>
                <a:latin typeface="Arial" panose="020B0604020202020204" pitchFamily="34" charset="0"/>
                <a:ea typeface="Times New Roman" panose="02020603050405020304" pitchFamily="18" charset="0"/>
              </a:rPr>
              <a:t>Índice</a:t>
            </a:r>
            <a:endParaRPr lang="pt-BR" sz="1500">
              <a:latin typeface="Times New Roman" panose="02020603050405020304" pitchFamily="18" charset="0"/>
              <a:ea typeface="Times New Roman" panose="02020603050405020304" pitchFamily="18" charset="0"/>
            </a:endParaRPr>
          </a:p>
        </p:txBody>
      </p:sp>
      <p:graphicFrame>
        <p:nvGraphicFramePr>
          <p:cNvPr id="12" name="Tabela 11">
            <a:extLst>
              <a:ext uri="{FF2B5EF4-FFF2-40B4-BE49-F238E27FC236}">
                <a16:creationId xmlns:a16="http://schemas.microsoft.com/office/drawing/2014/main" id="{D6F76AF6-0E61-4391-83F1-F8495926652C}"/>
              </a:ext>
            </a:extLst>
          </p:cNvPr>
          <p:cNvGraphicFramePr>
            <a:graphicFrameLocks noGrp="1"/>
          </p:cNvGraphicFramePr>
          <p:nvPr>
            <p:extLst>
              <p:ext uri="{D42A27DB-BD31-4B8C-83A1-F6EECF244321}">
                <p14:modId xmlns:p14="http://schemas.microsoft.com/office/powerpoint/2010/main" val="2843123768"/>
              </p:ext>
            </p:extLst>
          </p:nvPr>
        </p:nvGraphicFramePr>
        <p:xfrm>
          <a:off x="237600" y="1493322"/>
          <a:ext cx="6840000" cy="8614410"/>
        </p:xfrm>
        <a:graphic>
          <a:graphicData uri="http://schemas.openxmlformats.org/drawingml/2006/table">
            <a:tbl>
              <a:tblPr>
                <a:tableStyleId>{2D5ABB26-0587-4C30-8999-92F81FD0307C}</a:tableStyleId>
              </a:tblPr>
              <a:tblGrid>
                <a:gridCol w="5780903">
                  <a:extLst>
                    <a:ext uri="{9D8B030D-6E8A-4147-A177-3AD203B41FA5}">
                      <a16:colId xmlns:a16="http://schemas.microsoft.com/office/drawing/2014/main" val="3937252583"/>
                    </a:ext>
                  </a:extLst>
                </a:gridCol>
                <a:gridCol w="1059097">
                  <a:extLst>
                    <a:ext uri="{9D8B030D-6E8A-4147-A177-3AD203B41FA5}">
                      <a16:colId xmlns:a16="http://schemas.microsoft.com/office/drawing/2014/main" val="2847224976"/>
                    </a:ext>
                  </a:extLst>
                </a:gridCol>
              </a:tblGrid>
              <a:tr h="190500">
                <a:tc>
                  <a:txBody>
                    <a:bodyPr/>
                    <a:lstStyle/>
                    <a:p>
                      <a:pPr algn="l" rtl="0" fontAlgn="ctr"/>
                      <a:r>
                        <a:rPr lang="pt-BR" sz="1600" b="1" u="none" strike="noStrike" dirty="0">
                          <a:solidFill>
                            <a:sysClr val="windowText" lastClr="000000"/>
                          </a:solidFill>
                          <a:effectLst/>
                        </a:rPr>
                        <a:t>1. Introdução’</a:t>
                      </a:r>
                      <a:endParaRPr lang="pt-BR" sz="1600" b="1"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974586"/>
                  </a:ext>
                </a:extLst>
              </a:tr>
              <a:tr h="190500">
                <a:tc>
                  <a:txBody>
                    <a:bodyPr/>
                    <a:lstStyle/>
                    <a:p>
                      <a:pPr algn="l" rtl="0" fontAlgn="ctr"/>
                      <a:r>
                        <a:rPr lang="pt-BR" sz="1600" u="none" strike="noStrike" dirty="0">
                          <a:solidFill>
                            <a:sysClr val="windowText" lastClr="000000"/>
                          </a:solidFill>
                          <a:effectLst/>
                        </a:rPr>
                        <a:t>1.1 Conheça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7525"/>
                  </a:ext>
                </a:extLst>
              </a:tr>
              <a:tr h="190500">
                <a:tc>
                  <a:txBody>
                    <a:bodyPr/>
                    <a:lstStyle/>
                    <a:p>
                      <a:pPr algn="l" rtl="0" fontAlgn="ctr"/>
                      <a:r>
                        <a:rPr lang="pt-BR" sz="1600" u="none" strike="noStrike" dirty="0">
                          <a:solidFill>
                            <a:sysClr val="windowText" lastClr="000000"/>
                          </a:solidFill>
                          <a:effectLst/>
                        </a:rPr>
                        <a:t>1.2 Características dos modelos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082354"/>
                  </a:ext>
                </a:extLst>
              </a:tr>
              <a:tr h="190500">
                <a:tc>
                  <a:txBody>
                    <a:bodyPr/>
                    <a:lstStyle/>
                    <a:p>
                      <a:pPr algn="l" rtl="0" fontAlgn="ctr"/>
                      <a:r>
                        <a:rPr lang="pt-BR" sz="1600" u="none" strike="noStrike" dirty="0">
                          <a:solidFill>
                            <a:sysClr val="windowText" lastClr="000000"/>
                          </a:solidFill>
                          <a:effectLst/>
                        </a:rPr>
                        <a:t>1.3 Simbologia</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42972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2. Dicas de segurança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374151"/>
                  </a:ext>
                </a:extLst>
              </a:tr>
              <a:tr h="190500">
                <a:tc>
                  <a:txBody>
                    <a:bodyPr/>
                    <a:lstStyle/>
                    <a:p>
                      <a:pPr algn="l" rtl="0" fontAlgn="ctr"/>
                      <a:r>
                        <a:rPr lang="pt-BR" sz="1600" u="none" strike="noStrike" dirty="0">
                          <a:solidFill>
                            <a:sysClr val="windowText" lastClr="000000"/>
                          </a:solidFill>
                          <a:effectLst/>
                        </a:rPr>
                        <a:t>2.1 Cuidados especiais com crianças e animais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362219"/>
                  </a:ext>
                </a:extLst>
              </a:tr>
              <a:tr h="190500">
                <a:tc>
                  <a:txBody>
                    <a:bodyPr/>
                    <a:lstStyle/>
                    <a:p>
                      <a:pPr algn="l" rtl="0" fontAlgn="ctr"/>
                      <a:r>
                        <a:rPr lang="pt-BR" sz="1600" u="none" strike="noStrike" dirty="0">
                          <a:solidFill>
                            <a:sysClr val="windowText" lastClr="000000"/>
                          </a:solidFill>
                          <a:effectLst/>
                        </a:rPr>
                        <a:t>2.2 Cuidados especiais no manuseio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92721"/>
                  </a:ext>
                </a:extLst>
              </a:tr>
              <a:tr h="190500">
                <a:tc>
                  <a:txBody>
                    <a:bodyPr/>
                    <a:lstStyle/>
                    <a:p>
                      <a:pPr algn="l" rtl="0" fontAlgn="ctr"/>
                      <a:r>
                        <a:rPr lang="pt-BR" sz="1600" u="none" strike="noStrike" dirty="0">
                          <a:solidFill>
                            <a:sysClr val="windowText" lastClr="000000"/>
                          </a:solidFill>
                          <a:effectLst/>
                        </a:rPr>
                        <a:t>2.3 Orientações de movimentação e localização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469759"/>
                  </a:ext>
                </a:extLst>
              </a:tr>
              <a:tr h="190500">
                <a:tc>
                  <a:txBody>
                    <a:bodyPr/>
                    <a:lstStyle/>
                    <a:p>
                      <a:pPr algn="l" rtl="0" fontAlgn="ctr"/>
                      <a:r>
                        <a:rPr lang="pt-BR" sz="1600" u="none" strike="noStrike" dirty="0">
                          <a:solidFill>
                            <a:sysClr val="windowText" lastClr="000000"/>
                          </a:solidFill>
                          <a:effectLst/>
                        </a:rPr>
                        <a:t>2.4 Evite os riscos de incêndio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57044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3. Instalação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319952"/>
                  </a:ext>
                </a:extLst>
              </a:tr>
              <a:tr h="190500">
                <a:tc>
                  <a:txBody>
                    <a:bodyPr/>
                    <a:lstStyle/>
                    <a:p>
                      <a:pPr algn="l" rtl="0" fontAlgn="ctr"/>
                      <a:r>
                        <a:rPr lang="pt-BR" sz="1600" u="none" strike="noStrike" dirty="0">
                          <a:solidFill>
                            <a:sysClr val="windowText" lastClr="000000"/>
                          </a:solidFill>
                          <a:effectLst/>
                        </a:rPr>
                        <a:t>3.1 Pré-instalação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962273"/>
                  </a:ext>
                </a:extLst>
              </a:tr>
              <a:tr h="190500">
                <a:tc>
                  <a:txBody>
                    <a:bodyPr/>
                    <a:lstStyle/>
                    <a:p>
                      <a:pPr algn="l" rtl="0" fontAlgn="ctr"/>
                      <a:r>
                        <a:rPr lang="pt-BR" sz="1600" u="none" strike="noStrike" dirty="0">
                          <a:solidFill>
                            <a:sysClr val="windowText" lastClr="000000"/>
                          </a:solidFill>
                          <a:effectLst/>
                        </a:rPr>
                        <a:t>3.2 Instalação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974902"/>
                  </a:ext>
                </a:extLst>
              </a:tr>
              <a:tr h="190500">
                <a:tc>
                  <a:txBody>
                    <a:bodyPr/>
                    <a:lstStyle/>
                    <a:p>
                      <a:pPr algn="l" rtl="0" fontAlgn="ctr"/>
                      <a:r>
                        <a:rPr lang="pt-BR" sz="1600" u="none" strike="noStrike" dirty="0">
                          <a:solidFill>
                            <a:sysClr val="windowText" lastClr="000000"/>
                          </a:solidFill>
                          <a:effectLst/>
                        </a:rPr>
                        <a:t>3.3 Orientações de manuseio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966951"/>
                  </a:ext>
                </a:extLst>
              </a:tr>
              <a:tr h="190500">
                <a:tc>
                  <a:txBody>
                    <a:bodyPr/>
                    <a:lstStyle/>
                    <a:p>
                      <a:pPr algn="l" rtl="0" fontAlgn="ctr"/>
                      <a:r>
                        <a:rPr lang="pt-BR" sz="1600" u="none" strike="noStrike" dirty="0">
                          <a:solidFill>
                            <a:sysClr val="windowText" lastClr="000000"/>
                          </a:solidFill>
                          <a:effectLst/>
                        </a:rPr>
                        <a:t>3.4 Pré-instalação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827671"/>
                  </a:ext>
                </a:extLst>
              </a:tr>
              <a:tr h="190500">
                <a:tc>
                  <a:txBody>
                    <a:bodyPr/>
                    <a:lstStyle/>
                    <a:p>
                      <a:pPr algn="l" rtl="0" fontAlgn="ctr"/>
                      <a:r>
                        <a:rPr lang="pt-BR" sz="1600" u="none" strike="noStrike" dirty="0">
                          <a:solidFill>
                            <a:sysClr val="windowText" lastClr="000000"/>
                          </a:solidFill>
                          <a:effectLst/>
                        </a:rPr>
                        <a:t>3.5 Instalação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7369258"/>
                  </a:ext>
                </a:extLst>
              </a:tr>
              <a:tr h="190500">
                <a:tc>
                  <a:txBody>
                    <a:bodyPr/>
                    <a:lstStyle/>
                    <a:p>
                      <a:pPr algn="l" rtl="0" fontAlgn="ctr"/>
                      <a:r>
                        <a:rPr lang="pt-BR" sz="1600" u="none" strike="noStrike" dirty="0">
                          <a:solidFill>
                            <a:sysClr val="windowText" lastClr="000000"/>
                          </a:solidFill>
                          <a:effectLst/>
                        </a:rPr>
                        <a:t>3.6 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677201"/>
                  </a:ext>
                </a:extLst>
              </a:tr>
              <a:tr h="190500">
                <a:tc>
                  <a:txBody>
                    <a:bodyPr/>
                    <a:lstStyle/>
                    <a:p>
                      <a:pPr algn="l" rtl="0" fontAlgn="ctr"/>
                      <a:r>
                        <a:rPr lang="pt-BR" sz="1600" u="none" strike="noStrike" dirty="0">
                          <a:solidFill>
                            <a:sysClr val="windowText" lastClr="000000"/>
                          </a:solidFill>
                          <a:effectLst/>
                        </a:rPr>
                        <a:t>3.7 Vazamento de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29987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4. Acendimento dos queimadores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436759"/>
                  </a:ext>
                </a:extLst>
              </a:tr>
              <a:tr h="190500">
                <a:tc>
                  <a:txBody>
                    <a:bodyPr/>
                    <a:lstStyle/>
                    <a:p>
                      <a:pPr algn="l" rtl="0" fontAlgn="ctr"/>
                      <a:r>
                        <a:rPr lang="pt-BR" sz="1600" u="none" strike="noStrike" dirty="0">
                          <a:solidFill>
                            <a:sysClr val="windowText" lastClr="000000"/>
                          </a:solidFill>
                          <a:effectLst/>
                        </a:rPr>
                        <a:t>4.1 Acendimento manual dos queimadores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4631643"/>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5.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600553"/>
                  </a:ext>
                </a:extLst>
              </a:tr>
              <a:tr h="190500">
                <a:tc>
                  <a:txBody>
                    <a:bodyPr/>
                    <a:lstStyle/>
                    <a:p>
                      <a:pPr algn="l" rtl="0" fontAlgn="ctr"/>
                      <a:r>
                        <a:rPr lang="pt-BR" sz="1600" u="none" strike="noStrike" dirty="0">
                          <a:solidFill>
                            <a:sysClr val="windowText" lastClr="000000"/>
                          </a:solidFill>
                          <a:effectLst/>
                        </a:rPr>
                        <a:t>5.1 Acendimento manual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742680"/>
                  </a:ext>
                </a:extLst>
              </a:tr>
              <a:tr h="190500">
                <a:tc>
                  <a:txBody>
                    <a:bodyPr/>
                    <a:lstStyle/>
                    <a:p>
                      <a:pPr algn="l" rtl="0" fontAlgn="ctr"/>
                      <a:r>
                        <a:rPr lang="pt-BR" sz="1600" u="none" strike="noStrike" dirty="0">
                          <a:solidFill>
                            <a:sysClr val="windowText" lastClr="000000"/>
                          </a:solidFill>
                          <a:effectLst/>
                        </a:rPr>
                        <a:t>5.2 Instrução Importante</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933184"/>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6. Recomendações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921123"/>
                  </a:ext>
                </a:extLst>
              </a:tr>
              <a:tr h="190500">
                <a:tc>
                  <a:txBody>
                    <a:bodyPr/>
                    <a:lstStyle/>
                    <a:p>
                      <a:pPr algn="l" rtl="0" fontAlgn="ctr"/>
                      <a:r>
                        <a:rPr lang="pt-BR" sz="1600" u="none" strike="noStrike" dirty="0">
                          <a:solidFill>
                            <a:sysClr val="windowText" lastClr="000000"/>
                          </a:solidFill>
                          <a:effectLst/>
                        </a:rPr>
                        <a:t>6.1 Bandeja coletora de resíduos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982835"/>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7. Orientações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115926"/>
                  </a:ext>
                </a:extLst>
              </a:tr>
              <a:tr h="190500">
                <a:tc>
                  <a:txBody>
                    <a:bodyPr/>
                    <a:lstStyle/>
                    <a:p>
                      <a:pPr algn="l" rtl="0" fontAlgn="ctr"/>
                      <a:r>
                        <a:rPr lang="pt-BR" sz="1600" u="none" strike="noStrike" dirty="0">
                          <a:solidFill>
                            <a:sysClr val="windowText" lastClr="000000"/>
                          </a:solidFill>
                          <a:effectLst/>
                        </a:rPr>
                        <a:t>7.1 Limpeza de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814308"/>
                  </a:ext>
                </a:extLst>
              </a:tr>
              <a:tr h="190500">
                <a:tc>
                  <a:txBody>
                    <a:bodyPr/>
                    <a:lstStyle/>
                    <a:p>
                      <a:pPr algn="l" rtl="0" fontAlgn="ctr"/>
                      <a:r>
                        <a:rPr lang="pt-BR" sz="1600" u="none" strike="noStrike" dirty="0">
                          <a:solidFill>
                            <a:sysClr val="windowText" lastClr="000000"/>
                          </a:solidFill>
                          <a:effectLst/>
                        </a:rPr>
                        <a:t>7.2 Cuidados na manutenção e limpeza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99837"/>
                  </a:ext>
                </a:extLst>
              </a:tr>
              <a:tr h="190500">
                <a:tc>
                  <a:txBody>
                    <a:bodyPr/>
                    <a:lstStyle/>
                    <a:p>
                      <a:pPr algn="l" rtl="0" fontAlgn="ctr"/>
                      <a:r>
                        <a:rPr lang="pt-BR" sz="1600" u="none" strike="noStrike" dirty="0">
                          <a:solidFill>
                            <a:sysClr val="windowText" lastClr="000000"/>
                          </a:solidFill>
                          <a:effectLst/>
                        </a:rPr>
                        <a:t>7.3 Outros cuidados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701621"/>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8. Limpeza do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927014"/>
                  </a:ext>
                </a:extLst>
              </a:tr>
              <a:tr h="190500">
                <a:tc>
                  <a:txBody>
                    <a:bodyPr/>
                    <a:lstStyle/>
                    <a:p>
                      <a:pPr algn="l" rtl="0" fontAlgn="ctr"/>
                      <a:r>
                        <a:rPr lang="pt-BR" sz="1600" u="none" strike="noStrike" dirty="0">
                          <a:solidFill>
                            <a:sysClr val="windowText" lastClr="000000"/>
                          </a:solidFill>
                          <a:effectLst/>
                        </a:rPr>
                        <a:t>8.1 Limpeza da porta do forno de vidro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2820"/>
                  </a:ext>
                </a:extLst>
              </a:tr>
              <a:tr h="190500">
                <a:tc>
                  <a:txBody>
                    <a:bodyPr/>
                    <a:lstStyle/>
                    <a:p>
                      <a:pPr algn="l" rtl="0" fontAlgn="ctr"/>
                      <a:r>
                        <a:rPr lang="pt-BR" sz="1600" u="none" strike="noStrike" dirty="0">
                          <a:solidFill>
                            <a:sysClr val="windowText" lastClr="000000"/>
                          </a:solidFill>
                          <a:effectLst/>
                        </a:rPr>
                        <a:t>8.2 Recomendações importantes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640990"/>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9. Análise e resolução de problemas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37141"/>
                  </a:ext>
                </a:extLst>
              </a:tr>
              <a:tr h="190500">
                <a:tc>
                  <a:txBody>
                    <a:bodyPr/>
                    <a:lstStyle/>
                    <a:p>
                      <a:pPr algn="l" rtl="0" fontAlgn="ctr"/>
                      <a:r>
                        <a:rPr lang="pt-BR" sz="1600" u="none" strike="noStrike" dirty="0">
                          <a:solidFill>
                            <a:sysClr val="windowText" lastClr="000000"/>
                          </a:solidFill>
                          <a:effectLst/>
                        </a:rPr>
                        <a:t>9.1 Problemas e soluções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500917"/>
                  </a:ext>
                </a:extLst>
              </a:tr>
              <a:tr h="190500">
                <a:tc>
                  <a:txBody>
                    <a:bodyPr/>
                    <a:lstStyle/>
                    <a:p>
                      <a:pPr algn="l" fontAlgn="b"/>
                      <a:r>
                        <a:rPr lang="pt-BR" sz="1600" b="1" u="none" strike="noStrike" dirty="0">
                          <a:solidFill>
                            <a:sysClr val="windowText" lastClr="000000"/>
                          </a:solidFill>
                          <a:effectLst/>
                        </a:rPr>
                        <a:t>TERMO DE GARANTIA</a:t>
                      </a:r>
                      <a:endParaRPr lang="pt-BR" sz="1600" b="1" i="0" u="none" strike="noStrike" dirty="0">
                        <a:solidFill>
                          <a:sysClr val="windowText" lastClr="000000"/>
                        </a:solidFill>
                        <a:effectLst/>
                        <a:latin typeface="Calibri" panose="020F050202020403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pt-BR" sz="1600" b="1" i="0" u="none" strike="noStrike" dirty="0">
                          <a:solidFill>
                            <a:sysClr val="windowText" lastClr="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6661276"/>
                  </a:ext>
                </a:extLst>
              </a:tr>
            </a:tbl>
          </a:graphicData>
        </a:graphic>
      </p:graphicFrame>
    </p:spTree>
    <p:extLst>
      <p:ext uri="{BB962C8B-B14F-4D97-AF65-F5344CB8AC3E}">
        <p14:creationId xmlns:p14="http://schemas.microsoft.com/office/powerpoint/2010/main" val="228047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D344DE00-277C-42BB-8506-5962BD98197B}"/>
              </a:ext>
            </a:extLst>
          </p:cNvPr>
          <p:cNvSpPr/>
          <p:nvPr/>
        </p:nvSpPr>
        <p:spPr>
          <a:xfrm>
            <a:off x="250361" y="123876"/>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u="sng"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1. Introdução</a:t>
            </a:r>
            <a:endPar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2" name="Retângulo 41">
            <a:extLst>
              <a:ext uri="{FF2B5EF4-FFF2-40B4-BE49-F238E27FC236}">
                <a16:creationId xmlns:a16="http://schemas.microsoft.com/office/drawing/2014/main" id="{136114C4-A9DF-451A-A21A-1A5C23016D79}"/>
              </a:ext>
            </a:extLst>
          </p:cNvPr>
          <p:cNvSpPr/>
          <p:nvPr/>
        </p:nvSpPr>
        <p:spPr>
          <a:xfrm>
            <a:off x="237600" y="406559"/>
            <a:ext cx="6840000" cy="646331"/>
          </a:xfrm>
          <a:prstGeom prst="rect">
            <a:avLst/>
          </a:prstGeom>
        </p:spPr>
        <p:txBody>
          <a:bodyPr wrap="square">
            <a:spAutoFit/>
          </a:bodyPr>
          <a:lstStyle/>
          <a:p>
            <a:pPr algn="just">
              <a:spcBef>
                <a:spcPts val="900"/>
              </a:spcBef>
            </a:pPr>
            <a:r>
              <a:rPr lang="pt-BR" sz="1200" dirty="0">
                <a:latin typeface="Arial" panose="020B0604020202020204" pitchFamily="34" charset="0"/>
                <a:ea typeface="Calibri" panose="020F0502020204030204" pitchFamily="34" charset="0"/>
                <a:cs typeface="Arial" panose="020B0604020202020204" pitchFamily="34" charset="0"/>
              </a:rPr>
              <a:t>A correta instalação e utilização do produto prorrogam a vida útil e melhora o</a:t>
            </a:r>
            <a:r>
              <a:rPr lang="pt-BR" sz="1200" dirty="0">
                <a:latin typeface="Arial" panose="020B0604020202020204" pitchFamily="34" charset="0"/>
                <a:ea typeface="Calibri" panose="020F0502020204030204" pitchFamily="34" charset="0"/>
                <a:cs typeface="Times New Roman" panose="02020603050405020304" pitchFamily="18" charset="0"/>
              </a:rPr>
              <a:t> </a:t>
            </a:r>
            <a:r>
              <a:rPr lang="pt-BR" sz="1200" dirty="0">
                <a:latin typeface="Arial" panose="020B0604020202020204" pitchFamily="34" charset="0"/>
                <a:ea typeface="Calibri" panose="020F0502020204030204" pitchFamily="34" charset="0"/>
                <a:cs typeface="Arial" panose="020B0604020202020204" pitchFamily="34" charset="0"/>
              </a:rPr>
              <a:t>aproveitamento, evitando dificuldades no uso diário.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3140" name="Imagem 40">
            <a:extLst>
              <a:ext uri="{FF2B5EF4-FFF2-40B4-BE49-F238E27FC236}">
                <a16:creationId xmlns:a16="http://schemas.microsoft.com/office/drawing/2014/main" id="{7B482BD7-5C16-4885-802C-0C25C31F9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971" t="7890" r="10049"/>
          <a:stretch>
            <a:fillRect/>
          </a:stretch>
        </p:blipFill>
        <p:spPr bwMode="auto">
          <a:xfrm>
            <a:off x="261972" y="1120996"/>
            <a:ext cx="2124000" cy="1830883"/>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Agrupar 45">
            <a:extLst>
              <a:ext uri="{FF2B5EF4-FFF2-40B4-BE49-F238E27FC236}">
                <a16:creationId xmlns:a16="http://schemas.microsoft.com/office/drawing/2014/main" id="{AC6D4CC9-D34E-4BF5-918B-4271D1D7EBAA}"/>
              </a:ext>
            </a:extLst>
          </p:cNvPr>
          <p:cNvGrpSpPr>
            <a:grpSpLocks noChangeAspect="1"/>
          </p:cNvGrpSpPr>
          <p:nvPr/>
        </p:nvGrpSpPr>
        <p:grpSpPr>
          <a:xfrm>
            <a:off x="1656736" y="1127357"/>
            <a:ext cx="432000" cy="230752"/>
            <a:chOff x="22757" y="-5805"/>
            <a:chExt cx="327280" cy="175789"/>
          </a:xfrm>
        </p:grpSpPr>
        <p:cxnSp>
          <p:nvCxnSpPr>
            <p:cNvPr id="47" name="Conector reto 46">
              <a:extLst>
                <a:ext uri="{FF2B5EF4-FFF2-40B4-BE49-F238E27FC236}">
                  <a16:creationId xmlns:a16="http://schemas.microsoft.com/office/drawing/2014/main" id="{D50B1C3E-B727-448D-95A9-618BB63CF667}"/>
                </a:ext>
              </a:extLst>
            </p:cNvPr>
            <p:cNvCxnSpPr/>
            <p:nvPr/>
          </p:nvCxnSpPr>
          <p:spPr>
            <a:xfrm flipV="1">
              <a:off x="22757" y="64294"/>
              <a:ext cx="255848" cy="1056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Elipse 47">
              <a:extLst>
                <a:ext uri="{FF2B5EF4-FFF2-40B4-BE49-F238E27FC236}">
                  <a16:creationId xmlns:a16="http://schemas.microsoft.com/office/drawing/2014/main" id="{49F08422-D919-4074-B5DB-FD6C53CB1F59}"/>
                </a:ext>
              </a:extLst>
            </p:cNvPr>
            <p:cNvSpPr/>
            <p:nvPr/>
          </p:nvSpPr>
          <p:spPr>
            <a:xfrm>
              <a:off x="254787" y="-5805"/>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2</a:t>
              </a:r>
            </a:p>
          </p:txBody>
        </p:sp>
      </p:grpSp>
      <p:grpSp>
        <p:nvGrpSpPr>
          <p:cNvPr id="49" name="Agrupar 48">
            <a:extLst>
              <a:ext uri="{FF2B5EF4-FFF2-40B4-BE49-F238E27FC236}">
                <a16:creationId xmlns:a16="http://schemas.microsoft.com/office/drawing/2014/main" id="{CC3948A6-B0A3-4399-B695-4623C545BB45}"/>
              </a:ext>
            </a:extLst>
          </p:cNvPr>
          <p:cNvGrpSpPr>
            <a:grpSpLocks noChangeAspect="1"/>
          </p:cNvGrpSpPr>
          <p:nvPr/>
        </p:nvGrpSpPr>
        <p:grpSpPr>
          <a:xfrm>
            <a:off x="1231995" y="1633397"/>
            <a:ext cx="1008000" cy="255296"/>
            <a:chOff x="-37256" y="0"/>
            <a:chExt cx="730517" cy="184785"/>
          </a:xfrm>
        </p:grpSpPr>
        <p:grpSp>
          <p:nvGrpSpPr>
            <p:cNvPr id="50" name="Agrupar 49">
              <a:extLst>
                <a:ext uri="{FF2B5EF4-FFF2-40B4-BE49-F238E27FC236}">
                  <a16:creationId xmlns:a16="http://schemas.microsoft.com/office/drawing/2014/main" id="{D3D3C707-610A-434D-B311-F847D055DEF9}"/>
                </a:ext>
              </a:extLst>
            </p:cNvPr>
            <p:cNvGrpSpPr/>
            <p:nvPr/>
          </p:nvGrpSpPr>
          <p:grpSpPr>
            <a:xfrm>
              <a:off x="12224" y="0"/>
              <a:ext cx="681037" cy="182880"/>
              <a:chOff x="-271462" y="0"/>
              <a:chExt cx="681037" cy="182880"/>
            </a:xfrm>
          </p:grpSpPr>
          <p:cxnSp>
            <p:nvCxnSpPr>
              <p:cNvPr id="52" name="Conector reto 51">
                <a:extLst>
                  <a:ext uri="{FF2B5EF4-FFF2-40B4-BE49-F238E27FC236}">
                    <a16:creationId xmlns:a16="http://schemas.microsoft.com/office/drawing/2014/main" id="{DCFAB733-31A7-4548-8DBF-79CD2AFE78B4}"/>
                  </a:ext>
                </a:extLst>
              </p:cNvPr>
              <p:cNvCxnSpPr>
                <a:endCxn id="53" idx="2"/>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Elipse 52">
                <a:extLst>
                  <a:ext uri="{FF2B5EF4-FFF2-40B4-BE49-F238E27FC236}">
                    <a16:creationId xmlns:a16="http://schemas.microsoft.com/office/drawing/2014/main" id="{52921077-5E10-44C2-A008-E2DC3AE6DB2E}"/>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1</a:t>
                </a:r>
              </a:p>
            </p:txBody>
          </p:sp>
        </p:grpSp>
        <p:cxnSp>
          <p:nvCxnSpPr>
            <p:cNvPr id="51" name="Conector reto 50">
              <a:extLst>
                <a:ext uri="{FF2B5EF4-FFF2-40B4-BE49-F238E27FC236}">
                  <a16:creationId xmlns:a16="http://schemas.microsoft.com/office/drawing/2014/main" id="{2A2BE4FE-492F-4D43-995E-76EF3081B0FD}"/>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Agrupar 53">
            <a:extLst>
              <a:ext uri="{FF2B5EF4-FFF2-40B4-BE49-F238E27FC236}">
                <a16:creationId xmlns:a16="http://schemas.microsoft.com/office/drawing/2014/main" id="{3B21293A-B290-4FA8-A835-5FCA4F759525}"/>
              </a:ext>
            </a:extLst>
          </p:cNvPr>
          <p:cNvGrpSpPr>
            <a:grpSpLocks noChangeAspect="1"/>
          </p:cNvGrpSpPr>
          <p:nvPr/>
        </p:nvGrpSpPr>
        <p:grpSpPr>
          <a:xfrm>
            <a:off x="308784" y="1238258"/>
            <a:ext cx="288000" cy="284799"/>
            <a:chOff x="205577" y="4890"/>
            <a:chExt cx="190328" cy="190328"/>
          </a:xfrm>
        </p:grpSpPr>
        <p:cxnSp>
          <p:nvCxnSpPr>
            <p:cNvPr id="55" name="Conector reto 54">
              <a:extLst>
                <a:ext uri="{FF2B5EF4-FFF2-40B4-BE49-F238E27FC236}">
                  <a16:creationId xmlns:a16="http://schemas.microsoft.com/office/drawing/2014/main" id="{68C39A8C-EDA2-4CD0-9425-3BCB62A175B6}"/>
                </a:ext>
              </a:extLst>
            </p:cNvPr>
            <p:cNvCxnSpPr/>
            <p:nvPr/>
          </p:nvCxnSpPr>
          <p:spPr>
            <a:xfrm flipH="1" flipV="1">
              <a:off x="278478" y="64279"/>
              <a:ext cx="117427" cy="13093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Elipse 55">
              <a:extLst>
                <a:ext uri="{FF2B5EF4-FFF2-40B4-BE49-F238E27FC236}">
                  <a16:creationId xmlns:a16="http://schemas.microsoft.com/office/drawing/2014/main" id="{7C61AF9E-2F77-4052-B566-81726EDB50D2}"/>
                </a:ext>
              </a:extLst>
            </p:cNvPr>
            <p:cNvSpPr/>
            <p:nvPr/>
          </p:nvSpPr>
          <p:spPr>
            <a:xfrm>
              <a:off x="205577" y="489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3</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57" name="Agrupar 56">
            <a:extLst>
              <a:ext uri="{FF2B5EF4-FFF2-40B4-BE49-F238E27FC236}">
                <a16:creationId xmlns:a16="http://schemas.microsoft.com/office/drawing/2014/main" id="{CB88F1DA-D90E-48D1-907B-A0749978B863}"/>
              </a:ext>
            </a:extLst>
          </p:cNvPr>
          <p:cNvGrpSpPr>
            <a:grpSpLocks noChangeAspect="1"/>
          </p:cNvGrpSpPr>
          <p:nvPr/>
        </p:nvGrpSpPr>
        <p:grpSpPr>
          <a:xfrm>
            <a:off x="1520939" y="1077483"/>
            <a:ext cx="288000" cy="341664"/>
            <a:chOff x="26484" y="-92124"/>
            <a:chExt cx="205532" cy="243984"/>
          </a:xfrm>
        </p:grpSpPr>
        <p:cxnSp>
          <p:nvCxnSpPr>
            <p:cNvPr id="58" name="Conector reto 57">
              <a:extLst>
                <a:ext uri="{FF2B5EF4-FFF2-40B4-BE49-F238E27FC236}">
                  <a16:creationId xmlns:a16="http://schemas.microsoft.com/office/drawing/2014/main" id="{4522D307-7031-428D-89C3-C0D5FC5851DD}"/>
                </a:ext>
              </a:extLst>
            </p:cNvPr>
            <p:cNvCxnSpPr>
              <a:endCxn id="59" idx="3"/>
            </p:cNvCxnSpPr>
            <p:nvPr/>
          </p:nvCxnSpPr>
          <p:spPr>
            <a:xfrm flipV="1">
              <a:off x="26484" y="-10823"/>
              <a:ext cx="124231" cy="16268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Elipse 58">
              <a:extLst>
                <a:ext uri="{FF2B5EF4-FFF2-40B4-BE49-F238E27FC236}">
                  <a16:creationId xmlns:a16="http://schemas.microsoft.com/office/drawing/2014/main" id="{13344474-9BC0-41A5-B66D-1CD090604FF6}"/>
                </a:ext>
              </a:extLst>
            </p:cNvPr>
            <p:cNvSpPr/>
            <p:nvPr/>
          </p:nvSpPr>
          <p:spPr>
            <a:xfrm>
              <a:off x="136766" y="-92124"/>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4</a:t>
              </a:r>
              <a:endParaRPr lang="pt-BR" sz="10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0" name="Agrupar 59">
            <a:extLst>
              <a:ext uri="{FF2B5EF4-FFF2-40B4-BE49-F238E27FC236}">
                <a16:creationId xmlns:a16="http://schemas.microsoft.com/office/drawing/2014/main" id="{401DF05B-3B44-4601-96D1-76B36949A087}"/>
              </a:ext>
            </a:extLst>
          </p:cNvPr>
          <p:cNvGrpSpPr>
            <a:grpSpLocks noChangeAspect="1"/>
          </p:cNvGrpSpPr>
          <p:nvPr/>
        </p:nvGrpSpPr>
        <p:grpSpPr>
          <a:xfrm>
            <a:off x="286972" y="1656898"/>
            <a:ext cx="468000" cy="188394"/>
            <a:chOff x="178630" y="-36535"/>
            <a:chExt cx="349391" cy="140823"/>
          </a:xfrm>
        </p:grpSpPr>
        <p:cxnSp>
          <p:nvCxnSpPr>
            <p:cNvPr id="61" name="Conector reto 60">
              <a:extLst>
                <a:ext uri="{FF2B5EF4-FFF2-40B4-BE49-F238E27FC236}">
                  <a16:creationId xmlns:a16="http://schemas.microsoft.com/office/drawing/2014/main" id="{C8F74D9D-D9B2-4132-B3F8-B2883ABAB0E4}"/>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5CF9566E-1582-48EB-8F73-9C95A3EDE2B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5</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3" name="Agrupar 62">
            <a:extLst>
              <a:ext uri="{FF2B5EF4-FFF2-40B4-BE49-F238E27FC236}">
                <a16:creationId xmlns:a16="http://schemas.microsoft.com/office/drawing/2014/main" id="{A0C21E43-2CBF-4F6C-B22F-517B596ABD60}"/>
              </a:ext>
            </a:extLst>
          </p:cNvPr>
          <p:cNvGrpSpPr>
            <a:grpSpLocks noChangeAspect="1"/>
          </p:cNvGrpSpPr>
          <p:nvPr/>
        </p:nvGrpSpPr>
        <p:grpSpPr>
          <a:xfrm>
            <a:off x="1590046" y="2168692"/>
            <a:ext cx="576000" cy="132034"/>
            <a:chOff x="19580" y="77333"/>
            <a:chExt cx="413071" cy="95249"/>
          </a:xfrm>
        </p:grpSpPr>
        <p:cxnSp>
          <p:nvCxnSpPr>
            <p:cNvPr id="64" name="Conector reto 63">
              <a:extLst>
                <a:ext uri="{FF2B5EF4-FFF2-40B4-BE49-F238E27FC236}">
                  <a16:creationId xmlns:a16="http://schemas.microsoft.com/office/drawing/2014/main" id="{F96D7DAD-7959-4C72-8619-0D4E04748A87}"/>
                </a:ext>
              </a:extLst>
            </p:cNvPr>
            <p:cNvCxnSpPr>
              <a:endCxn id="65"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Elipse 64">
              <a:extLst>
                <a:ext uri="{FF2B5EF4-FFF2-40B4-BE49-F238E27FC236}">
                  <a16:creationId xmlns:a16="http://schemas.microsoft.com/office/drawing/2014/main" id="{E3964900-B789-431D-A95F-A9E30E2497FB}"/>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6</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6" name="Agrupar 65">
            <a:extLst>
              <a:ext uri="{FF2B5EF4-FFF2-40B4-BE49-F238E27FC236}">
                <a16:creationId xmlns:a16="http://schemas.microsoft.com/office/drawing/2014/main" id="{70B3AF59-2846-4DA1-9E11-5ABF09BDBEE2}"/>
              </a:ext>
            </a:extLst>
          </p:cNvPr>
          <p:cNvGrpSpPr>
            <a:grpSpLocks noChangeAspect="1"/>
          </p:cNvGrpSpPr>
          <p:nvPr/>
        </p:nvGrpSpPr>
        <p:grpSpPr>
          <a:xfrm>
            <a:off x="1069702" y="2376732"/>
            <a:ext cx="972000" cy="246178"/>
            <a:chOff x="-37256" y="0"/>
            <a:chExt cx="730517" cy="184785"/>
          </a:xfrm>
        </p:grpSpPr>
        <p:grpSp>
          <p:nvGrpSpPr>
            <p:cNvPr id="67" name="Agrupar 66">
              <a:extLst>
                <a:ext uri="{FF2B5EF4-FFF2-40B4-BE49-F238E27FC236}">
                  <a16:creationId xmlns:a16="http://schemas.microsoft.com/office/drawing/2014/main" id="{D5B0EFE8-F133-48D0-B657-6C10FFA153E0}"/>
                </a:ext>
              </a:extLst>
            </p:cNvPr>
            <p:cNvGrpSpPr/>
            <p:nvPr/>
          </p:nvGrpSpPr>
          <p:grpSpPr>
            <a:xfrm>
              <a:off x="12224" y="0"/>
              <a:ext cx="681037" cy="182880"/>
              <a:chOff x="-271462" y="0"/>
              <a:chExt cx="681037" cy="182880"/>
            </a:xfrm>
          </p:grpSpPr>
          <p:cxnSp>
            <p:nvCxnSpPr>
              <p:cNvPr id="69" name="Conector reto 68">
                <a:extLst>
                  <a:ext uri="{FF2B5EF4-FFF2-40B4-BE49-F238E27FC236}">
                    <a16:creationId xmlns:a16="http://schemas.microsoft.com/office/drawing/2014/main" id="{3D05A478-FEE8-4A60-BC00-1FC388A4B85F}"/>
                  </a:ext>
                </a:extLst>
              </p:cNvPr>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0" name="Elipse 69">
                <a:extLst>
                  <a:ext uri="{FF2B5EF4-FFF2-40B4-BE49-F238E27FC236}">
                    <a16:creationId xmlns:a16="http://schemas.microsoft.com/office/drawing/2014/main" id="{8DD77B6A-91BB-40C5-8644-28B1CC1231FC}"/>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8</a:t>
                </a:r>
              </a:p>
            </p:txBody>
          </p:sp>
        </p:grpSp>
        <p:cxnSp>
          <p:nvCxnSpPr>
            <p:cNvPr id="68" name="Conector reto 67">
              <a:extLst>
                <a:ext uri="{FF2B5EF4-FFF2-40B4-BE49-F238E27FC236}">
                  <a16:creationId xmlns:a16="http://schemas.microsoft.com/office/drawing/2014/main" id="{F1139596-DB6D-4B25-9390-DAEF07FEF635}"/>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1" name="Agrupar 70">
            <a:extLst>
              <a:ext uri="{FF2B5EF4-FFF2-40B4-BE49-F238E27FC236}">
                <a16:creationId xmlns:a16="http://schemas.microsoft.com/office/drawing/2014/main" id="{64918F24-98FF-4B12-A188-1A5D4F8A221B}"/>
              </a:ext>
            </a:extLst>
          </p:cNvPr>
          <p:cNvGrpSpPr>
            <a:grpSpLocks noChangeAspect="1"/>
          </p:cNvGrpSpPr>
          <p:nvPr/>
        </p:nvGrpSpPr>
        <p:grpSpPr>
          <a:xfrm>
            <a:off x="411261" y="2166546"/>
            <a:ext cx="504000" cy="163726"/>
            <a:chOff x="178630" y="-36535"/>
            <a:chExt cx="349391" cy="140823"/>
          </a:xfrm>
        </p:grpSpPr>
        <p:cxnSp>
          <p:nvCxnSpPr>
            <p:cNvPr id="72" name="Conector reto 71">
              <a:extLst>
                <a:ext uri="{FF2B5EF4-FFF2-40B4-BE49-F238E27FC236}">
                  <a16:creationId xmlns:a16="http://schemas.microsoft.com/office/drawing/2014/main" id="{068ECD22-19C8-423E-A695-662FAD84FB80}"/>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11E86171-230D-4402-A318-BB99BA279CA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300" dirty="0">
                  <a:latin typeface="Arial" panose="020B0604020202020204" pitchFamily="34" charset="0"/>
                  <a:ea typeface="Calibri" panose="020F0502020204030204" pitchFamily="34" charset="0"/>
                  <a:cs typeface="Times New Roman" panose="02020603050405020304" pitchFamily="18" charset="0"/>
                </a:rPr>
                <a:t> </a:t>
              </a:r>
              <a:r>
                <a:rPr lang="pt-BR" sz="800" dirty="0">
                  <a:latin typeface="Arial" panose="020B0604020202020204" pitchFamily="34" charset="0"/>
                  <a:ea typeface="Calibri" panose="020F0502020204030204" pitchFamily="34" charset="0"/>
                  <a:cs typeface="Times New Roman" panose="02020603050405020304" pitchFamily="18" charset="0"/>
                </a:rPr>
                <a:t>8</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sp>
        <p:nvSpPr>
          <p:cNvPr id="43" name="Rectangle 75">
            <a:extLst>
              <a:ext uri="{FF2B5EF4-FFF2-40B4-BE49-F238E27FC236}">
                <a16:creationId xmlns:a16="http://schemas.microsoft.com/office/drawing/2014/main" id="{D35B5FE8-A84E-4355-8578-A726908BCACA}"/>
              </a:ext>
            </a:extLst>
          </p:cNvPr>
          <p:cNvSpPr>
            <a:spLocks noChangeArrowheads="1"/>
          </p:cNvSpPr>
          <p:nvPr/>
        </p:nvSpPr>
        <p:spPr bwMode="auto">
          <a:xfrm>
            <a:off x="1362808" y="289756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a:p>
        </p:txBody>
      </p:sp>
      <p:sp>
        <p:nvSpPr>
          <p:cNvPr id="45" name="Rectangle 77">
            <a:extLst>
              <a:ext uri="{FF2B5EF4-FFF2-40B4-BE49-F238E27FC236}">
                <a16:creationId xmlns:a16="http://schemas.microsoft.com/office/drawing/2014/main" id="{7639DD07-E8EB-42BF-8BD1-BBA1599D60A1}"/>
              </a:ext>
            </a:extLst>
          </p:cNvPr>
          <p:cNvSpPr>
            <a:spLocks noChangeArrowheads="1"/>
          </p:cNvSpPr>
          <p:nvPr/>
        </p:nvSpPr>
        <p:spPr bwMode="auto">
          <a:xfrm>
            <a:off x="1362808" y="3423449"/>
            <a:ext cx="6858000"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3136" name="Rectangle 79">
            <a:extLst>
              <a:ext uri="{FF2B5EF4-FFF2-40B4-BE49-F238E27FC236}">
                <a16:creationId xmlns:a16="http://schemas.microsoft.com/office/drawing/2014/main" id="{83BFE402-B7A8-46D1-8A6C-A584D77DD4BF}"/>
              </a:ext>
            </a:extLst>
          </p:cNvPr>
          <p:cNvSpPr>
            <a:spLocks noChangeArrowheads="1"/>
          </p:cNvSpPr>
          <p:nvPr/>
        </p:nvSpPr>
        <p:spPr bwMode="auto">
          <a:xfrm>
            <a:off x="1362808" y="306901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a:p>
        </p:txBody>
      </p:sp>
      <p:sp>
        <p:nvSpPr>
          <p:cNvPr id="3138" name="Rectangle 84">
            <a:extLst>
              <a:ext uri="{FF2B5EF4-FFF2-40B4-BE49-F238E27FC236}">
                <a16:creationId xmlns:a16="http://schemas.microsoft.com/office/drawing/2014/main" id="{62849003-3327-4D04-A9F9-834FF3C78AC8}"/>
              </a:ext>
            </a:extLst>
          </p:cNvPr>
          <p:cNvSpPr>
            <a:spLocks noChangeArrowheads="1"/>
          </p:cNvSpPr>
          <p:nvPr/>
        </p:nvSpPr>
        <p:spPr bwMode="auto">
          <a:xfrm>
            <a:off x="3713369" y="800175"/>
            <a:ext cx="3339859" cy="2469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pt-BR" altLang="pt-BR" sz="1200" b="1" dirty="0" bmk="_Toc526492136">
                <a:solidFill>
                  <a:srgbClr val="000000"/>
                </a:solidFill>
                <a:latin typeface="Arial" panose="020B0604020202020204" pitchFamily="34" charset="0"/>
                <a:ea typeface="Times New Roman" panose="02020603050405020304" pitchFamily="18" charset="0"/>
                <a:cs typeface="Times New Roman" panose="02020603050405020304" pitchFamily="18" charset="0"/>
              </a:rPr>
              <a:t>1.1 Conheça seu fogão</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1. Bandeja coletora (Aparadeira);</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2. Grelha (trempe) de ferro fundido; </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3. Mesa;</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4. Queimador</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5. Manípulos (botões de acendimento);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6. Pernas</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7. Paneleiro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8. Forno</a:t>
            </a:r>
            <a:endParaRPr lang="pt-BR" altLang="pt-BR" sz="1200" dirty="0"/>
          </a:p>
          <a:p>
            <a:pP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Outras informações no item 3.2 (Instalação do fogão)</a:t>
            </a:r>
            <a:endParaRPr lang="pt-BR" altLang="pt-BR" sz="1200" dirty="0"/>
          </a:p>
        </p:txBody>
      </p:sp>
      <p:sp>
        <p:nvSpPr>
          <p:cNvPr id="3143" name="Retângulo 3142">
            <a:extLst>
              <a:ext uri="{FF2B5EF4-FFF2-40B4-BE49-F238E27FC236}">
                <a16:creationId xmlns:a16="http://schemas.microsoft.com/office/drawing/2014/main" id="{F562AC45-9F9C-4414-804C-2F8D5A351663}"/>
              </a:ext>
            </a:extLst>
          </p:cNvPr>
          <p:cNvSpPr/>
          <p:nvPr/>
        </p:nvSpPr>
        <p:spPr>
          <a:xfrm>
            <a:off x="250361" y="3209922"/>
            <a:ext cx="2533066"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1.2 Características dos modelos</a:t>
            </a:r>
          </a:p>
        </p:txBody>
      </p:sp>
      <p:graphicFrame>
        <p:nvGraphicFramePr>
          <p:cNvPr id="3144" name="Tabela 3143">
            <a:extLst>
              <a:ext uri="{FF2B5EF4-FFF2-40B4-BE49-F238E27FC236}">
                <a16:creationId xmlns:a16="http://schemas.microsoft.com/office/drawing/2014/main" id="{52160A4A-D66E-41FA-8755-26073868A677}"/>
              </a:ext>
            </a:extLst>
          </p:cNvPr>
          <p:cNvGraphicFramePr>
            <a:graphicFrameLocks noGrp="1"/>
          </p:cNvGraphicFramePr>
          <p:nvPr>
            <p:extLst>
              <p:ext uri="{D42A27DB-BD31-4B8C-83A1-F6EECF244321}">
                <p14:modId xmlns:p14="http://schemas.microsoft.com/office/powerpoint/2010/main" val="3023827984"/>
              </p:ext>
            </p:extLst>
          </p:nvPr>
        </p:nvGraphicFramePr>
        <p:xfrm>
          <a:off x="653369" y="3615236"/>
          <a:ext cx="6120000" cy="647700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965342251"/>
                    </a:ext>
                  </a:extLst>
                </a:gridCol>
                <a:gridCol w="1452562">
                  <a:extLst>
                    <a:ext uri="{9D8B030D-6E8A-4147-A177-3AD203B41FA5}">
                      <a16:colId xmlns:a16="http://schemas.microsoft.com/office/drawing/2014/main" val="541632196"/>
                    </a:ext>
                  </a:extLst>
                </a:gridCol>
              </a:tblGrid>
              <a:tr h="68580">
                <a:tc>
                  <a:txBody>
                    <a:bodyPr/>
                    <a:lstStyle/>
                    <a:p>
                      <a:pPr algn="just">
                        <a:spcAft>
                          <a:spcPts val="0"/>
                        </a:spcAft>
                      </a:pPr>
                      <a:r>
                        <a:rPr lang="pt-BR" sz="1250" dirty="0">
                          <a:effectLst/>
                        </a:rPr>
                        <a:t>MODELO DO FOGÃO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SIMBOLOGIA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7623018"/>
                  </a:ext>
                </a:extLst>
              </a:tr>
              <a:tr h="68580">
                <a:tc>
                  <a:txBody>
                    <a:bodyPr/>
                    <a:lstStyle/>
                    <a:p>
                      <a:pPr algn="just">
                        <a:spcAft>
                          <a:spcPts val="0"/>
                        </a:spcAft>
                      </a:pPr>
                      <a:r>
                        <a:rPr lang="pt-BR" sz="1250">
                          <a:effectLst/>
                        </a:rPr>
                        <a:t>Fogão Industrial 01 boca dupla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QD140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911662"/>
                  </a:ext>
                </a:extLst>
              </a:tr>
              <a:tr h="68580">
                <a:tc>
                  <a:txBody>
                    <a:bodyPr/>
                    <a:lstStyle/>
                    <a:p>
                      <a:pPr algn="just">
                        <a:spcAft>
                          <a:spcPts val="0"/>
                        </a:spcAft>
                      </a:pPr>
                      <a:r>
                        <a:rPr lang="pt-BR" sz="1250" dirty="0">
                          <a:effectLst/>
                        </a:rPr>
                        <a:t>Fogão Industrial 01 boca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758948"/>
                  </a:ext>
                </a:extLst>
              </a:tr>
              <a:tr h="68580">
                <a:tc>
                  <a:txBody>
                    <a:bodyPr/>
                    <a:lstStyle/>
                    <a:p>
                      <a:pPr algn="just">
                        <a:spcAft>
                          <a:spcPts val="0"/>
                        </a:spcAft>
                      </a:pPr>
                      <a:r>
                        <a:rPr lang="pt-BR" sz="1250">
                          <a:effectLst/>
                        </a:rPr>
                        <a:t>Fogão Industrial 02 bocas: 01 simples e 01 dupla –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Q1QD13040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17785"/>
                  </a:ext>
                </a:extLst>
              </a:tr>
              <a:tr h="68580">
                <a:tc>
                  <a:txBody>
                    <a:bodyPr/>
                    <a:lstStyle/>
                    <a:p>
                      <a:pPr algn="just">
                        <a:spcAft>
                          <a:spcPts val="0"/>
                        </a:spcAft>
                      </a:pPr>
                      <a:r>
                        <a:rPr lang="pt-BR" sz="1250">
                          <a:effectLst/>
                        </a:rPr>
                        <a:t>Fogão Industrial 02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QD240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91895"/>
                  </a:ext>
                </a:extLst>
              </a:tr>
              <a:tr h="68580">
                <a:tc>
                  <a:txBody>
                    <a:bodyPr/>
                    <a:lstStyle/>
                    <a:p>
                      <a:pPr algn="just">
                        <a:spcAft>
                          <a:spcPts val="0"/>
                        </a:spcAft>
                      </a:pPr>
                      <a:r>
                        <a:rPr lang="pt-BR" sz="1250">
                          <a:effectLst/>
                        </a:rPr>
                        <a:t>Fogão Industrial 02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QD240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62253"/>
                  </a:ext>
                </a:extLst>
              </a:tr>
              <a:tr h="68580">
                <a:tc>
                  <a:txBody>
                    <a:bodyPr/>
                    <a:lstStyle/>
                    <a:p>
                      <a:pPr algn="just">
                        <a:spcAft>
                          <a:spcPts val="0"/>
                        </a:spcAft>
                      </a:pPr>
                      <a:r>
                        <a:rPr lang="pt-BR" sz="1250">
                          <a:effectLst/>
                        </a:rPr>
                        <a:t>Fogão Industrial 02 bocas sem forno: 01 simples e 01 dupla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Q1QD13040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346856"/>
                  </a:ext>
                </a:extLst>
              </a:tr>
              <a:tr h="68580">
                <a:tc>
                  <a:txBody>
                    <a:bodyPr/>
                    <a:lstStyle/>
                    <a:p>
                      <a:pPr algn="just">
                        <a:spcAft>
                          <a:spcPts val="0"/>
                        </a:spcAft>
                      </a:pPr>
                      <a:r>
                        <a:rPr lang="pt-BR" sz="1250">
                          <a:effectLst/>
                        </a:rPr>
                        <a:t>Fogão Industrial 02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19480"/>
                  </a:ext>
                </a:extLst>
              </a:tr>
              <a:tr h="68580">
                <a:tc>
                  <a:txBody>
                    <a:bodyPr/>
                    <a:lstStyle/>
                    <a:p>
                      <a:pPr algn="just">
                        <a:spcAft>
                          <a:spcPts val="0"/>
                        </a:spcAft>
                      </a:pPr>
                      <a:r>
                        <a:rPr lang="pt-BR" sz="1250">
                          <a:effectLst/>
                        </a:rPr>
                        <a:t>Fogão Industrial 02 bocas simples e 01 dupla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Q2QD130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7996194"/>
                  </a:ext>
                </a:extLst>
              </a:tr>
              <a:tr h="68580">
                <a:tc>
                  <a:txBody>
                    <a:bodyPr/>
                    <a:lstStyle/>
                    <a:p>
                      <a:pPr algn="just">
                        <a:spcAft>
                          <a:spcPts val="0"/>
                        </a:spcAft>
                      </a:pPr>
                      <a:r>
                        <a:rPr lang="pt-BR" sz="1250">
                          <a:effectLst/>
                        </a:rPr>
                        <a:t>Fogão Industrial 02 bocas simples e 02 duplas -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Q2QD23040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63583"/>
                  </a:ext>
                </a:extLst>
              </a:tr>
              <a:tr h="68580">
                <a:tc>
                  <a:txBody>
                    <a:bodyPr/>
                    <a:lstStyle/>
                    <a:p>
                      <a:pPr algn="just">
                        <a:spcAft>
                          <a:spcPts val="0"/>
                        </a:spcAft>
                      </a:pPr>
                      <a:r>
                        <a:rPr lang="pt-BR" sz="1250">
                          <a:effectLst/>
                        </a:rPr>
                        <a:t>Fogão Industrial 02 bocas simples e 02 duplas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Q2QD230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774072"/>
                  </a:ext>
                </a:extLst>
              </a:tr>
              <a:tr h="68580">
                <a:tc>
                  <a:txBody>
                    <a:bodyPr/>
                    <a:lstStyle/>
                    <a:p>
                      <a:pPr algn="just">
                        <a:spcAft>
                          <a:spcPts val="0"/>
                        </a:spcAft>
                      </a:pPr>
                      <a:r>
                        <a:rPr lang="pt-BR" sz="1250">
                          <a:effectLst/>
                        </a:rPr>
                        <a:t>Fogão Industrial 02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938761"/>
                  </a:ext>
                </a:extLst>
              </a:tr>
              <a:tr h="68580">
                <a:tc>
                  <a:txBody>
                    <a:bodyPr/>
                    <a:lstStyle/>
                    <a:p>
                      <a:pPr algn="just">
                        <a:spcAft>
                          <a:spcPts val="0"/>
                        </a:spcAft>
                      </a:pPr>
                      <a:r>
                        <a:rPr lang="pt-BR" sz="1250">
                          <a:effectLst/>
                        </a:rPr>
                        <a:t>Fogão Industrial 03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QD340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953127"/>
                  </a:ext>
                </a:extLst>
              </a:tr>
              <a:tr h="68580">
                <a:tc>
                  <a:txBody>
                    <a:bodyPr/>
                    <a:lstStyle/>
                    <a:p>
                      <a:pPr algn="just">
                        <a:spcAft>
                          <a:spcPts val="0"/>
                        </a:spcAft>
                      </a:pPr>
                      <a:r>
                        <a:rPr lang="pt-BR" sz="1250">
                          <a:effectLst/>
                        </a:rPr>
                        <a:t>Fogão Industrial 03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QD340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622024"/>
                  </a:ext>
                </a:extLst>
              </a:tr>
              <a:tr h="68580">
                <a:tc>
                  <a:txBody>
                    <a:bodyPr/>
                    <a:lstStyle/>
                    <a:p>
                      <a:pPr algn="just">
                        <a:spcAft>
                          <a:spcPts val="0"/>
                        </a:spcAft>
                      </a:pPr>
                      <a:r>
                        <a:rPr lang="pt-BR" sz="1250">
                          <a:effectLst/>
                        </a:rPr>
                        <a:t>Fogão Industrial 03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Q330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217158"/>
                  </a:ext>
                </a:extLst>
              </a:tr>
              <a:tr h="68580">
                <a:tc>
                  <a:txBody>
                    <a:bodyPr/>
                    <a:lstStyle/>
                    <a:p>
                      <a:pPr algn="just">
                        <a:spcAft>
                          <a:spcPts val="0"/>
                        </a:spcAft>
                      </a:pPr>
                      <a:r>
                        <a:rPr lang="pt-BR" sz="1250">
                          <a:effectLst/>
                        </a:rPr>
                        <a:t>Fogão Industrial 03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Q330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840693"/>
                  </a:ext>
                </a:extLst>
              </a:tr>
              <a:tr h="68580">
                <a:tc>
                  <a:txBody>
                    <a:bodyPr/>
                    <a:lstStyle/>
                    <a:p>
                      <a:pPr algn="just">
                        <a:spcAft>
                          <a:spcPts val="0"/>
                        </a:spcAft>
                      </a:pPr>
                      <a:r>
                        <a:rPr lang="pt-BR" sz="1250">
                          <a:effectLst/>
                        </a:rPr>
                        <a:t>Fogão Industrial 04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021185"/>
                  </a:ext>
                </a:extLst>
              </a:tr>
              <a:tr h="68580">
                <a:tc>
                  <a:txBody>
                    <a:bodyPr/>
                    <a:lstStyle/>
                    <a:p>
                      <a:pPr algn="just">
                        <a:spcAft>
                          <a:spcPts val="0"/>
                        </a:spcAft>
                      </a:pPr>
                      <a:r>
                        <a:rPr lang="pt-BR" sz="1250">
                          <a:effectLst/>
                        </a:rPr>
                        <a:t>Fogão Industrial 04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185145"/>
                  </a:ext>
                </a:extLst>
              </a:tr>
              <a:tr h="68580">
                <a:tc>
                  <a:txBody>
                    <a:bodyPr/>
                    <a:lstStyle/>
                    <a:p>
                      <a:pPr algn="just">
                        <a:spcAft>
                          <a:spcPts val="0"/>
                        </a:spcAft>
                      </a:pPr>
                      <a:r>
                        <a:rPr lang="pt-BR" sz="1250">
                          <a:effectLst/>
                        </a:rPr>
                        <a:t>Fogão Industrial 04 bocas duplas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911016"/>
                  </a:ext>
                </a:extLst>
              </a:tr>
              <a:tr h="68580">
                <a:tc>
                  <a:txBody>
                    <a:bodyPr/>
                    <a:lstStyle/>
                    <a:p>
                      <a:pPr algn="just">
                        <a:spcAft>
                          <a:spcPts val="0"/>
                        </a:spcAft>
                      </a:pPr>
                      <a:r>
                        <a:rPr lang="pt-BR" sz="1250">
                          <a:effectLst/>
                        </a:rPr>
                        <a:t>Fogão Industrial 04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412039"/>
                  </a:ext>
                </a:extLst>
              </a:tr>
              <a:tr h="68580">
                <a:tc>
                  <a:txBody>
                    <a:bodyPr/>
                    <a:lstStyle/>
                    <a:p>
                      <a:pPr algn="just">
                        <a:spcAft>
                          <a:spcPts val="0"/>
                        </a:spcAft>
                      </a:pPr>
                      <a:r>
                        <a:rPr lang="pt-BR" sz="1250">
                          <a:effectLst/>
                        </a:rPr>
                        <a:t>Fogão Industrial 04 bocas simples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391773"/>
                  </a:ext>
                </a:extLst>
              </a:tr>
              <a:tr h="68580">
                <a:tc>
                  <a:txBody>
                    <a:bodyPr/>
                    <a:lstStyle/>
                    <a:p>
                      <a:pPr algn="just">
                        <a:spcAft>
                          <a:spcPts val="0"/>
                        </a:spcAft>
                      </a:pPr>
                      <a:r>
                        <a:rPr lang="pt-BR" sz="1250">
                          <a:effectLst/>
                        </a:rPr>
                        <a:t>Fogão Industrial 04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175169"/>
                  </a:ext>
                </a:extLst>
              </a:tr>
              <a:tr h="68580">
                <a:tc>
                  <a:txBody>
                    <a:bodyPr/>
                    <a:lstStyle/>
                    <a:p>
                      <a:pPr algn="just">
                        <a:spcAft>
                          <a:spcPts val="0"/>
                        </a:spcAft>
                      </a:pPr>
                      <a:r>
                        <a:rPr lang="pt-BR" sz="1250">
                          <a:effectLst/>
                        </a:rPr>
                        <a:t>Fogão Industrial 04 bocas simples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354947"/>
                  </a:ext>
                </a:extLst>
              </a:tr>
              <a:tr h="68580">
                <a:tc>
                  <a:txBody>
                    <a:bodyPr/>
                    <a:lstStyle/>
                    <a:p>
                      <a:pPr algn="just">
                        <a:spcAft>
                          <a:spcPts val="0"/>
                        </a:spcAft>
                      </a:pPr>
                      <a:r>
                        <a:rPr lang="pt-BR" sz="1250">
                          <a:effectLst/>
                        </a:rPr>
                        <a:t>Fogão Industrial 04 bocas simples e 02 bocas duplas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Q4QD230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704187"/>
                  </a:ext>
                </a:extLst>
              </a:tr>
              <a:tr h="68580">
                <a:tc>
                  <a:txBody>
                    <a:bodyPr/>
                    <a:lstStyle/>
                    <a:p>
                      <a:pPr algn="just">
                        <a:spcAft>
                          <a:spcPts val="0"/>
                        </a:spcAft>
                      </a:pPr>
                      <a:r>
                        <a:rPr lang="pt-BR" sz="1250">
                          <a:effectLst/>
                        </a:rPr>
                        <a:t>Fogão Industrial 04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162069"/>
                  </a:ext>
                </a:extLst>
              </a:tr>
              <a:tr h="68580">
                <a:tc>
                  <a:txBody>
                    <a:bodyPr/>
                    <a:lstStyle/>
                    <a:p>
                      <a:pPr algn="just">
                        <a:spcAft>
                          <a:spcPts val="0"/>
                        </a:spcAft>
                      </a:pPr>
                      <a:r>
                        <a:rPr lang="pt-BR" sz="1250">
                          <a:effectLst/>
                        </a:rPr>
                        <a:t>Fogão Industrial 06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034383"/>
                  </a:ext>
                </a:extLst>
              </a:tr>
              <a:tr h="68580">
                <a:tc>
                  <a:txBody>
                    <a:bodyPr/>
                    <a:lstStyle/>
                    <a:p>
                      <a:pPr algn="just">
                        <a:spcAft>
                          <a:spcPts val="0"/>
                        </a:spcAft>
                      </a:pPr>
                      <a:r>
                        <a:rPr lang="pt-BR" sz="1250">
                          <a:effectLst/>
                        </a:rPr>
                        <a:t>Fogão Industrial 06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059406"/>
                  </a:ext>
                </a:extLst>
              </a:tr>
              <a:tr h="68580">
                <a:tc>
                  <a:txBody>
                    <a:bodyPr/>
                    <a:lstStyle/>
                    <a:p>
                      <a:pPr algn="just">
                        <a:spcAft>
                          <a:spcPts val="0"/>
                        </a:spcAft>
                      </a:pPr>
                      <a:r>
                        <a:rPr lang="pt-BR" sz="1250">
                          <a:effectLst/>
                        </a:rPr>
                        <a:t>Fogão Industrial 06 bocas duplas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967961"/>
                  </a:ext>
                </a:extLst>
              </a:tr>
              <a:tr h="68580">
                <a:tc>
                  <a:txBody>
                    <a:bodyPr/>
                    <a:lstStyle/>
                    <a:p>
                      <a:pPr algn="just">
                        <a:spcAft>
                          <a:spcPts val="0"/>
                        </a:spcAft>
                      </a:pPr>
                      <a:r>
                        <a:rPr lang="pt-BR" sz="1250">
                          <a:effectLst/>
                        </a:rPr>
                        <a:t>Fogão Industrial 06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496502"/>
                  </a:ext>
                </a:extLst>
              </a:tr>
              <a:tr h="68580">
                <a:tc>
                  <a:txBody>
                    <a:bodyPr/>
                    <a:lstStyle/>
                    <a:p>
                      <a:pPr algn="just">
                        <a:spcAft>
                          <a:spcPts val="0"/>
                        </a:spcAft>
                      </a:pPr>
                      <a:r>
                        <a:rPr lang="pt-BR" sz="1250">
                          <a:effectLst/>
                        </a:rPr>
                        <a:t>Fogão Industrial 06 bocas simples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14588"/>
                  </a:ext>
                </a:extLst>
              </a:tr>
              <a:tr h="68580">
                <a:tc>
                  <a:txBody>
                    <a:bodyPr/>
                    <a:lstStyle/>
                    <a:p>
                      <a:pPr algn="just">
                        <a:spcAft>
                          <a:spcPts val="0"/>
                        </a:spcAft>
                      </a:pPr>
                      <a:r>
                        <a:rPr lang="pt-BR" sz="1250">
                          <a:effectLst/>
                        </a:rPr>
                        <a:t>Fogão Industrial 06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107798"/>
                  </a:ext>
                </a:extLst>
              </a:tr>
              <a:tr h="68580">
                <a:tc>
                  <a:txBody>
                    <a:bodyPr/>
                    <a:lstStyle/>
                    <a:p>
                      <a:pPr algn="just">
                        <a:spcAft>
                          <a:spcPts val="0"/>
                        </a:spcAft>
                      </a:pPr>
                      <a:r>
                        <a:rPr lang="pt-BR" sz="1250" dirty="0">
                          <a:effectLst/>
                        </a:rPr>
                        <a:t>Fogão Industrial 06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428377"/>
                  </a:ext>
                </a:extLst>
              </a:tr>
              <a:tr h="68580">
                <a:tc>
                  <a:txBody>
                    <a:bodyPr/>
                    <a:lstStyle/>
                    <a:p>
                      <a:pPr algn="just">
                        <a:spcAft>
                          <a:spcPts val="0"/>
                        </a:spcAft>
                      </a:pPr>
                      <a:r>
                        <a:rPr lang="pt-BR" sz="1250">
                          <a:effectLst/>
                        </a:rPr>
                        <a:t>Fogão Industrial 06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099597"/>
                  </a:ext>
                </a:extLst>
              </a:tr>
              <a:tr h="68580">
                <a:tc>
                  <a:txBody>
                    <a:bodyPr/>
                    <a:lstStyle/>
                    <a:p>
                      <a:pPr algn="just">
                        <a:spcAft>
                          <a:spcPts val="0"/>
                        </a:spcAft>
                      </a:pPr>
                      <a:r>
                        <a:rPr lang="pt-BR" sz="1250">
                          <a:effectLst/>
                        </a:rPr>
                        <a:t>Fogão Industrial 08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QD840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65018"/>
                  </a:ext>
                </a:extLst>
              </a:tr>
            </a:tbl>
          </a:graphicData>
        </a:graphic>
      </p:graphicFrame>
      <p:sp>
        <p:nvSpPr>
          <p:cNvPr id="2" name="Espaço Reservado para Número de Slide 1">
            <a:extLst>
              <a:ext uri="{FF2B5EF4-FFF2-40B4-BE49-F238E27FC236}">
                <a16:creationId xmlns:a16="http://schemas.microsoft.com/office/drawing/2014/main" id="{B819A870-8417-4630-BE9E-CCCDFD5F65E0}"/>
              </a:ext>
            </a:extLst>
          </p:cNvPr>
          <p:cNvSpPr>
            <a:spLocks noGrp="1"/>
          </p:cNvSpPr>
          <p:nvPr>
            <p:ph type="sldNum" sz="quarter" idx="12"/>
          </p:nvPr>
        </p:nvSpPr>
        <p:spPr>
          <a:xfrm>
            <a:off x="5414010" y="9756239"/>
            <a:ext cx="1645920" cy="553857"/>
          </a:xfrm>
        </p:spPr>
        <p:txBody>
          <a:bodyPr/>
          <a:lstStyle/>
          <a:p>
            <a:fld id="{136BC063-5F49-4282-BA96-4716B49D2CCE}" type="slidenum">
              <a:rPr lang="pt-BR" smtClean="0"/>
              <a:t>4</a:t>
            </a:fld>
            <a:endParaRPr lang="pt-BR"/>
          </a:p>
        </p:txBody>
      </p:sp>
    </p:spTree>
    <p:extLst>
      <p:ext uri="{BB962C8B-B14F-4D97-AF65-F5344CB8AC3E}">
        <p14:creationId xmlns:p14="http://schemas.microsoft.com/office/powerpoint/2010/main" val="411068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1E3EB9E-AD30-4B62-86BA-EE5C4B042FDC}"/>
              </a:ext>
            </a:extLst>
          </p:cNvPr>
          <p:cNvSpPr/>
          <p:nvPr/>
        </p:nvSpPr>
        <p:spPr>
          <a:xfrm>
            <a:off x="323487" y="1880341"/>
            <a:ext cx="1273105"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1.3 Simbologia</a:t>
            </a:r>
          </a:p>
        </p:txBody>
      </p:sp>
      <p:sp>
        <p:nvSpPr>
          <p:cNvPr id="5" name="Retângulo 4">
            <a:extLst>
              <a:ext uri="{FF2B5EF4-FFF2-40B4-BE49-F238E27FC236}">
                <a16:creationId xmlns:a16="http://schemas.microsoft.com/office/drawing/2014/main" id="{E8C753B2-CA5F-47C2-A457-975B36BF053F}"/>
              </a:ext>
            </a:extLst>
          </p:cNvPr>
          <p:cNvSpPr/>
          <p:nvPr/>
        </p:nvSpPr>
        <p:spPr>
          <a:xfrm>
            <a:off x="323487" y="2284743"/>
            <a:ext cx="5487400" cy="276999"/>
          </a:xfrm>
          <a:prstGeom prst="rect">
            <a:avLst/>
          </a:prstGeom>
        </p:spPr>
        <p:txBody>
          <a:bodyPr wrap="none">
            <a:spAutoFit/>
          </a:bodyPr>
          <a:lstStyle/>
          <a:p>
            <a:pPr algn="just">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Entenda melhor o que significa a nomenclatura dos nossos fogões industriais:</a:t>
            </a:r>
          </a:p>
        </p:txBody>
      </p:sp>
      <p:graphicFrame>
        <p:nvGraphicFramePr>
          <p:cNvPr id="6" name="Tabela 5">
            <a:extLst>
              <a:ext uri="{FF2B5EF4-FFF2-40B4-BE49-F238E27FC236}">
                <a16:creationId xmlns:a16="http://schemas.microsoft.com/office/drawing/2014/main" id="{869B28E3-9646-4607-8BAE-8F036BFDCCD9}"/>
              </a:ext>
            </a:extLst>
          </p:cNvPr>
          <p:cNvGraphicFramePr>
            <a:graphicFrameLocks noGrp="1"/>
          </p:cNvGraphicFramePr>
          <p:nvPr>
            <p:extLst>
              <p:ext uri="{D42A27DB-BD31-4B8C-83A1-F6EECF244321}">
                <p14:modId xmlns:p14="http://schemas.microsoft.com/office/powerpoint/2010/main" val="4294181749"/>
              </p:ext>
            </p:extLst>
          </p:nvPr>
        </p:nvGraphicFramePr>
        <p:xfrm>
          <a:off x="597600" y="2543127"/>
          <a:ext cx="6120000" cy="4114800"/>
        </p:xfrm>
        <a:graphic>
          <a:graphicData uri="http://schemas.openxmlformats.org/drawingml/2006/table">
            <a:tbl>
              <a:tblPr firstRow="1" firstCol="1" bandRow="1">
                <a:tableStyleId>{2D5ABB26-0587-4C30-8999-92F81FD0307C}</a:tableStyleId>
              </a:tblPr>
              <a:tblGrid>
                <a:gridCol w="1602262">
                  <a:extLst>
                    <a:ext uri="{9D8B030D-6E8A-4147-A177-3AD203B41FA5}">
                      <a16:colId xmlns:a16="http://schemas.microsoft.com/office/drawing/2014/main" val="3524507142"/>
                    </a:ext>
                  </a:extLst>
                </a:gridCol>
                <a:gridCol w="4517738">
                  <a:extLst>
                    <a:ext uri="{9D8B030D-6E8A-4147-A177-3AD203B41FA5}">
                      <a16:colId xmlns:a16="http://schemas.microsoft.com/office/drawing/2014/main" val="2884109851"/>
                    </a:ext>
                  </a:extLst>
                </a:gridCol>
              </a:tblGrid>
              <a:tr h="68580">
                <a:tc>
                  <a:txBody>
                    <a:bodyPr/>
                    <a:lstStyle/>
                    <a:p>
                      <a:pPr algn="just">
                        <a:spcAft>
                          <a:spcPts val="0"/>
                        </a:spcAft>
                      </a:pPr>
                      <a:r>
                        <a:rPr lang="pt-BR" sz="1500">
                          <a:effectLst/>
                        </a:rPr>
                        <a:t>F</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Fogão</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856844"/>
                  </a:ext>
                </a:extLst>
              </a:tr>
              <a:tr h="68580">
                <a:tc>
                  <a:txBody>
                    <a:bodyPr/>
                    <a:lstStyle/>
                    <a:p>
                      <a:pPr algn="just">
                        <a:spcAft>
                          <a:spcPts val="0"/>
                        </a:spcAft>
                      </a:pPr>
                      <a:r>
                        <a:rPr lang="pt-BR" sz="1500">
                          <a:effectLst/>
                        </a:rPr>
                        <a:t>F</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Forno</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018863"/>
                  </a:ext>
                </a:extLst>
              </a:tr>
              <a:tr h="68580">
                <a:tc>
                  <a:txBody>
                    <a:bodyPr/>
                    <a:lstStyle/>
                    <a:p>
                      <a:pPr algn="just">
                        <a:spcAft>
                          <a:spcPts val="0"/>
                        </a:spcAft>
                      </a:pPr>
                      <a:r>
                        <a:rPr lang="pt-BR" sz="1500">
                          <a:effectLst/>
                        </a:rPr>
                        <a:t>I</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Industrial</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950367"/>
                  </a:ext>
                </a:extLst>
              </a:tr>
              <a:tr h="68580">
                <a:tc>
                  <a:txBody>
                    <a:bodyPr/>
                    <a:lstStyle/>
                    <a:p>
                      <a:pPr algn="just">
                        <a:spcAft>
                          <a:spcPts val="0"/>
                        </a:spcAft>
                      </a:pPr>
                      <a:r>
                        <a:rPr lang="pt-BR" sz="1500">
                          <a:effectLst/>
                        </a:rPr>
                        <a:t>C</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Chapa Bifeteira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559584"/>
                  </a:ext>
                </a:extLst>
              </a:tr>
              <a:tr h="68580">
                <a:tc>
                  <a:txBody>
                    <a:bodyPr/>
                    <a:lstStyle/>
                    <a:p>
                      <a:pPr algn="just">
                        <a:spcAft>
                          <a:spcPts val="0"/>
                        </a:spcAft>
                      </a:pPr>
                      <a:r>
                        <a:rPr lang="pt-BR" sz="1500">
                          <a:effectLst/>
                        </a:rPr>
                        <a:t>QD1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75281"/>
                  </a:ext>
                </a:extLst>
              </a:tr>
              <a:tr h="68580">
                <a:tc>
                  <a:txBody>
                    <a:bodyPr/>
                    <a:lstStyle/>
                    <a:p>
                      <a:pPr algn="just">
                        <a:spcAft>
                          <a:spcPts val="0"/>
                        </a:spcAft>
                      </a:pPr>
                      <a:r>
                        <a:rPr lang="pt-BR" sz="1500">
                          <a:effectLst/>
                        </a:rPr>
                        <a:t>QD2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331470"/>
                  </a:ext>
                </a:extLst>
              </a:tr>
              <a:tr h="68580">
                <a:tc>
                  <a:txBody>
                    <a:bodyPr/>
                    <a:lstStyle/>
                    <a:p>
                      <a:pPr algn="just">
                        <a:spcAft>
                          <a:spcPts val="0"/>
                        </a:spcAft>
                      </a:pPr>
                      <a:r>
                        <a:rPr lang="pt-BR" sz="1500">
                          <a:effectLst/>
                        </a:rPr>
                        <a:t>QD3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590560"/>
                  </a:ext>
                </a:extLst>
              </a:tr>
              <a:tr h="68580">
                <a:tc>
                  <a:txBody>
                    <a:bodyPr/>
                    <a:lstStyle/>
                    <a:p>
                      <a:pPr algn="just">
                        <a:spcAft>
                          <a:spcPts val="0"/>
                        </a:spcAft>
                      </a:pPr>
                      <a:r>
                        <a:rPr lang="pt-BR" sz="1500">
                          <a:effectLst/>
                        </a:rPr>
                        <a:t>QD4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802120"/>
                  </a:ext>
                </a:extLst>
              </a:tr>
              <a:tr h="68580">
                <a:tc>
                  <a:txBody>
                    <a:bodyPr/>
                    <a:lstStyle/>
                    <a:p>
                      <a:pPr algn="just">
                        <a:spcAft>
                          <a:spcPts val="0"/>
                        </a:spcAft>
                      </a:pPr>
                      <a:r>
                        <a:rPr lang="pt-BR" sz="1500">
                          <a:effectLst/>
                        </a:rPr>
                        <a:t>QD6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53648"/>
                  </a:ext>
                </a:extLst>
              </a:tr>
              <a:tr h="68580">
                <a:tc>
                  <a:txBody>
                    <a:bodyPr/>
                    <a:lstStyle/>
                    <a:p>
                      <a:pPr algn="just">
                        <a:spcAft>
                          <a:spcPts val="0"/>
                        </a:spcAft>
                      </a:pPr>
                      <a:r>
                        <a:rPr lang="pt-BR" sz="1500">
                          <a:effectLst/>
                        </a:rPr>
                        <a:t>QD8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364848"/>
                  </a:ext>
                </a:extLst>
              </a:tr>
              <a:tr h="68580">
                <a:tc>
                  <a:txBody>
                    <a:bodyPr/>
                    <a:lstStyle/>
                    <a:p>
                      <a:pPr algn="just">
                        <a:spcAft>
                          <a:spcPts val="0"/>
                        </a:spcAft>
                      </a:pPr>
                      <a:r>
                        <a:rPr lang="pt-BR" sz="1500">
                          <a:effectLst/>
                        </a:rPr>
                        <a:t>Q1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726396"/>
                  </a:ext>
                </a:extLst>
              </a:tr>
              <a:tr h="68580">
                <a:tc>
                  <a:txBody>
                    <a:bodyPr/>
                    <a:lstStyle/>
                    <a:p>
                      <a:pPr algn="just">
                        <a:spcAft>
                          <a:spcPts val="0"/>
                        </a:spcAft>
                      </a:pPr>
                      <a:r>
                        <a:rPr lang="pt-BR" sz="1500">
                          <a:effectLst/>
                        </a:rPr>
                        <a:t>Q2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842492"/>
                  </a:ext>
                </a:extLst>
              </a:tr>
              <a:tr h="68580">
                <a:tc>
                  <a:txBody>
                    <a:bodyPr/>
                    <a:lstStyle/>
                    <a:p>
                      <a:pPr algn="just">
                        <a:spcAft>
                          <a:spcPts val="0"/>
                        </a:spcAft>
                      </a:pPr>
                      <a:r>
                        <a:rPr lang="pt-BR" sz="1500">
                          <a:effectLst/>
                        </a:rPr>
                        <a:t>Q3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520346"/>
                  </a:ext>
                </a:extLst>
              </a:tr>
              <a:tr h="68580">
                <a:tc>
                  <a:txBody>
                    <a:bodyPr/>
                    <a:lstStyle/>
                    <a:p>
                      <a:pPr algn="just">
                        <a:spcAft>
                          <a:spcPts val="0"/>
                        </a:spcAft>
                      </a:pPr>
                      <a:r>
                        <a:rPr lang="pt-BR" sz="1500">
                          <a:effectLst/>
                        </a:rPr>
                        <a:t>Q4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6530"/>
                  </a:ext>
                </a:extLst>
              </a:tr>
              <a:tr h="68580">
                <a:tc>
                  <a:txBody>
                    <a:bodyPr/>
                    <a:lstStyle/>
                    <a:p>
                      <a:pPr algn="just">
                        <a:spcAft>
                          <a:spcPts val="0"/>
                        </a:spcAft>
                      </a:pPr>
                      <a:r>
                        <a:rPr lang="pt-BR" sz="1500">
                          <a:effectLst/>
                        </a:rPr>
                        <a:t>Q6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03898"/>
                  </a:ext>
                </a:extLst>
              </a:tr>
              <a:tr h="68580">
                <a:tc>
                  <a:txBody>
                    <a:bodyPr/>
                    <a:lstStyle/>
                    <a:p>
                      <a:pPr algn="just">
                        <a:spcAft>
                          <a:spcPts val="0"/>
                        </a:spcAft>
                      </a:pPr>
                      <a:r>
                        <a:rPr lang="pt-BR" sz="1500">
                          <a:effectLst/>
                        </a:rPr>
                        <a:t>Q8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543356"/>
                  </a:ext>
                </a:extLst>
              </a:tr>
              <a:tr h="68580">
                <a:tc>
                  <a:txBody>
                    <a:bodyPr/>
                    <a:lstStyle/>
                    <a:p>
                      <a:pPr algn="just">
                        <a:spcAft>
                          <a:spcPts val="0"/>
                        </a:spcAft>
                      </a:pPr>
                      <a:r>
                        <a:rPr lang="pt-BR" sz="1500">
                          <a:effectLst/>
                        </a:rPr>
                        <a:t>30</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Grelha medindo 30x30 cm</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936240"/>
                  </a:ext>
                </a:extLst>
              </a:tr>
              <a:tr h="68580">
                <a:tc>
                  <a:txBody>
                    <a:bodyPr/>
                    <a:lstStyle/>
                    <a:p>
                      <a:pPr algn="just">
                        <a:spcAft>
                          <a:spcPts val="0"/>
                        </a:spcAft>
                      </a:pPr>
                      <a:r>
                        <a:rPr lang="pt-BR" sz="1500" dirty="0">
                          <a:effectLst/>
                        </a:rPr>
                        <a:t>40</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Grelha medindo 40x40 cm</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876909"/>
                  </a:ext>
                </a:extLst>
              </a:tr>
            </a:tbl>
          </a:graphicData>
        </a:graphic>
      </p:graphicFrame>
      <p:sp>
        <p:nvSpPr>
          <p:cNvPr id="7" name="Retângulo 6">
            <a:extLst>
              <a:ext uri="{FF2B5EF4-FFF2-40B4-BE49-F238E27FC236}">
                <a16:creationId xmlns:a16="http://schemas.microsoft.com/office/drawing/2014/main" id="{838C3992-0C7F-49E2-A6E8-29B7E050462B}"/>
              </a:ext>
            </a:extLst>
          </p:cNvPr>
          <p:cNvSpPr/>
          <p:nvPr/>
        </p:nvSpPr>
        <p:spPr>
          <a:xfrm>
            <a:off x="237600" y="714334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2. Dicas de Segurança</a:t>
            </a:r>
          </a:p>
        </p:txBody>
      </p:sp>
      <p:sp>
        <p:nvSpPr>
          <p:cNvPr id="8" name="Retângulo 7">
            <a:extLst>
              <a:ext uri="{FF2B5EF4-FFF2-40B4-BE49-F238E27FC236}">
                <a16:creationId xmlns:a16="http://schemas.microsoft.com/office/drawing/2014/main" id="{961B29C3-3DA6-4DFE-9E2C-20650CC5B0D6}"/>
              </a:ext>
            </a:extLst>
          </p:cNvPr>
          <p:cNvSpPr/>
          <p:nvPr/>
        </p:nvSpPr>
        <p:spPr>
          <a:xfrm>
            <a:off x="237600" y="7547743"/>
            <a:ext cx="6840000" cy="1892826"/>
          </a:xfrm>
          <a:prstGeom prst="rect">
            <a:avLst/>
          </a:prstGeom>
        </p:spPr>
        <p:txBody>
          <a:bodyPr>
            <a:spAutoFit/>
          </a:bodyPr>
          <a:lstStyle/>
          <a:p>
            <a:pPr marL="257175" indent="-257175" algn="just">
              <a:spcBef>
                <a:spcPts val="900"/>
              </a:spcBef>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 instalação deve ser feita de acordo com as instruções do fabricante e por pessoas qualificadas e autorizadas;</a:t>
            </a:r>
          </a:p>
          <a:p>
            <a:pPr marL="257175" indent="-257175" algn="just">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Para eventuais reparos, dirija-se exclusivamente a um centro de assistência técnica autorizado pelo fabricante e solicite peças de reposição originais;</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O não cumprimento dos avisos contidos neste manual pode comprometer a segurança do   operador;</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Conservar em local adequado este manual para qualquer consulta.</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cs typeface="Arial" panose="020B0604020202020204" pitchFamily="34" charset="0"/>
            </a:endParaRPr>
          </a:p>
        </p:txBody>
      </p:sp>
      <p:graphicFrame>
        <p:nvGraphicFramePr>
          <p:cNvPr id="9" name="Tabela 8">
            <a:extLst>
              <a:ext uri="{FF2B5EF4-FFF2-40B4-BE49-F238E27FC236}">
                <a16:creationId xmlns:a16="http://schemas.microsoft.com/office/drawing/2014/main" id="{C5A0F859-3875-4985-945D-77D1330E7FBF}"/>
              </a:ext>
            </a:extLst>
          </p:cNvPr>
          <p:cNvGraphicFramePr>
            <a:graphicFrameLocks noGrp="1"/>
          </p:cNvGraphicFramePr>
          <p:nvPr>
            <p:extLst>
              <p:ext uri="{D42A27DB-BD31-4B8C-83A1-F6EECF244321}">
                <p14:modId xmlns:p14="http://schemas.microsoft.com/office/powerpoint/2010/main" val="2714091047"/>
              </p:ext>
            </p:extLst>
          </p:nvPr>
        </p:nvGraphicFramePr>
        <p:xfrm>
          <a:off x="597600" y="298302"/>
          <a:ext cx="6120000" cy="128016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615824558"/>
                    </a:ext>
                  </a:extLst>
                </a:gridCol>
                <a:gridCol w="1452562">
                  <a:extLst>
                    <a:ext uri="{9D8B030D-6E8A-4147-A177-3AD203B41FA5}">
                      <a16:colId xmlns:a16="http://schemas.microsoft.com/office/drawing/2014/main" val="3105656473"/>
                    </a:ext>
                  </a:extLst>
                </a:gridCol>
              </a:tblGrid>
              <a:tr h="68580">
                <a:tc>
                  <a:txBody>
                    <a:bodyPr/>
                    <a:lstStyle/>
                    <a:p>
                      <a:pPr algn="just">
                        <a:spcAft>
                          <a:spcPts val="0"/>
                        </a:spcAft>
                      </a:pPr>
                      <a:r>
                        <a:rPr lang="pt-BR" sz="1200" dirty="0">
                          <a:effectLst/>
                        </a:rPr>
                        <a:t>Fogão Industrial 08 bocas duplas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06776"/>
                  </a:ext>
                </a:extLst>
              </a:tr>
              <a:tr h="68580">
                <a:tc>
                  <a:txBody>
                    <a:bodyPr/>
                    <a:lstStyle/>
                    <a:p>
                      <a:pPr algn="just">
                        <a:spcAft>
                          <a:spcPts val="0"/>
                        </a:spcAft>
                      </a:pPr>
                      <a:r>
                        <a:rPr lang="pt-BR" sz="1200">
                          <a:effectLst/>
                        </a:rPr>
                        <a:t>Fogão Industrial 08 bocas duplas com forno e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FFIC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85405"/>
                  </a:ext>
                </a:extLst>
              </a:tr>
              <a:tr h="68580">
                <a:tc>
                  <a:txBody>
                    <a:bodyPr/>
                    <a:lstStyle/>
                    <a:p>
                      <a:pPr algn="just">
                        <a:spcAft>
                          <a:spcPts val="0"/>
                        </a:spcAft>
                      </a:pPr>
                      <a:r>
                        <a:rPr lang="pt-BR" sz="1200">
                          <a:effectLst/>
                        </a:rPr>
                        <a:t>Fogão Industrial 08 bocas duplas sem forno</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953807"/>
                  </a:ext>
                </a:extLst>
              </a:tr>
              <a:tr h="68580">
                <a:tc>
                  <a:txBody>
                    <a:bodyPr/>
                    <a:lstStyle/>
                    <a:p>
                      <a:pPr algn="just">
                        <a:spcAft>
                          <a:spcPts val="0"/>
                        </a:spcAft>
                      </a:pPr>
                      <a:r>
                        <a:rPr lang="pt-BR" sz="1200">
                          <a:effectLst/>
                        </a:rPr>
                        <a:t>Fogão Industrial 08 bocas simples com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504302"/>
                  </a:ext>
                </a:extLst>
              </a:tr>
              <a:tr h="68580">
                <a:tc>
                  <a:txBody>
                    <a:bodyPr/>
                    <a:lstStyle/>
                    <a:p>
                      <a:pPr algn="just">
                        <a:spcAft>
                          <a:spcPts val="0"/>
                        </a:spcAft>
                      </a:pPr>
                      <a:r>
                        <a:rPr lang="pt-BR" sz="1200" dirty="0">
                          <a:effectLst/>
                        </a:rPr>
                        <a:t>Fogão Industrial 08 bocas simples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248771"/>
                  </a:ext>
                </a:extLst>
              </a:tr>
              <a:tr h="68580">
                <a:tc>
                  <a:txBody>
                    <a:bodyPr/>
                    <a:lstStyle/>
                    <a:p>
                      <a:pPr algn="just">
                        <a:spcAft>
                          <a:spcPts val="0"/>
                        </a:spcAft>
                      </a:pPr>
                      <a:r>
                        <a:rPr lang="pt-BR" sz="1200" dirty="0">
                          <a:effectLst/>
                        </a:rPr>
                        <a:t>Fogão Industrial 08 bocas simples com forno e chapa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353404"/>
                  </a:ext>
                </a:extLst>
              </a:tr>
              <a:tr h="68580">
                <a:tc>
                  <a:txBody>
                    <a:bodyPr/>
                    <a:lstStyle/>
                    <a:p>
                      <a:pPr algn="just">
                        <a:spcAft>
                          <a:spcPts val="0"/>
                        </a:spcAft>
                      </a:pPr>
                      <a:r>
                        <a:rPr lang="pt-BR" sz="1200" dirty="0">
                          <a:effectLst/>
                        </a:rPr>
                        <a:t>Fogão Industrial 08 bocas simples sem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211310"/>
                  </a:ext>
                </a:extLst>
              </a:tr>
            </a:tbl>
          </a:graphicData>
        </a:graphic>
      </p:graphicFrame>
      <p:sp>
        <p:nvSpPr>
          <p:cNvPr id="2" name="Espaço Reservado para Número de Slide 1">
            <a:extLst>
              <a:ext uri="{FF2B5EF4-FFF2-40B4-BE49-F238E27FC236}">
                <a16:creationId xmlns:a16="http://schemas.microsoft.com/office/drawing/2014/main" id="{11F59C79-92CA-412F-944D-3A5299E5E8C0}"/>
              </a:ext>
            </a:extLst>
          </p:cNvPr>
          <p:cNvSpPr>
            <a:spLocks noGrp="1"/>
          </p:cNvSpPr>
          <p:nvPr>
            <p:ph type="sldNum" sz="quarter" idx="12"/>
          </p:nvPr>
        </p:nvSpPr>
        <p:spPr/>
        <p:txBody>
          <a:bodyPr/>
          <a:lstStyle/>
          <a:p>
            <a:fld id="{136BC063-5F49-4282-BA96-4716B49D2CCE}" type="slidenum">
              <a:rPr lang="pt-BR" smtClean="0"/>
              <a:t>5</a:t>
            </a:fld>
            <a:endParaRPr lang="pt-BR"/>
          </a:p>
        </p:txBody>
      </p:sp>
    </p:spTree>
    <p:extLst>
      <p:ext uri="{BB962C8B-B14F-4D97-AF65-F5344CB8AC3E}">
        <p14:creationId xmlns:p14="http://schemas.microsoft.com/office/powerpoint/2010/main" val="333542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Imagem 1">
            <a:extLst>
              <a:ext uri="{FF2B5EF4-FFF2-40B4-BE49-F238E27FC236}">
                <a16:creationId xmlns:a16="http://schemas.microsoft.com/office/drawing/2014/main" id="{5ED12E05-23AA-4C31-BD85-EE7F70EB2E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003"/>
          <a:stretch>
            <a:fillRect/>
          </a:stretch>
        </p:blipFill>
        <p:spPr bwMode="auto">
          <a:xfrm>
            <a:off x="5426763" y="1902573"/>
            <a:ext cx="1274546" cy="12883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Imagem 33" descr="Imagem relacionada">
            <a:extLst>
              <a:ext uri="{FF2B5EF4-FFF2-40B4-BE49-F238E27FC236}">
                <a16:creationId xmlns:a16="http://schemas.microsoft.com/office/drawing/2014/main" id="{51354346-D9C3-4D10-BADB-30FA883BB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888" y="303273"/>
            <a:ext cx="1269225" cy="9239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887D4E2-BCA4-4EA3-9673-17E1AEB4AAC7}"/>
              </a:ext>
            </a:extLst>
          </p:cNvPr>
          <p:cNvSpPr>
            <a:spLocks noChangeArrowheads="1"/>
          </p:cNvSpPr>
          <p:nvPr/>
        </p:nvSpPr>
        <p:spPr bwMode="auto">
          <a:xfrm>
            <a:off x="237599" y="355104"/>
            <a:ext cx="6840000" cy="138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.1 Cuidados especiais com crianças e animais</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da embalagem deste produto; </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do fogão mesmo estando desligado;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toquem na superfície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se mantenham próximos do mesmo quando em funcionamento e ainda quente, ou mesmo desligado.</a:t>
            </a:r>
            <a:endParaRPr lang="pt-BR" altLang="pt-BR" sz="1400" dirty="0"/>
          </a:p>
        </p:txBody>
      </p:sp>
      <p:sp>
        <p:nvSpPr>
          <p:cNvPr id="6" name="Rectangle 5">
            <a:extLst>
              <a:ext uri="{FF2B5EF4-FFF2-40B4-BE49-F238E27FC236}">
                <a16:creationId xmlns:a16="http://schemas.microsoft.com/office/drawing/2014/main" id="{7B8C9F68-833F-400F-9BBA-CD3E30032C34}"/>
              </a:ext>
            </a:extLst>
          </p:cNvPr>
          <p:cNvSpPr>
            <a:spLocks noChangeArrowheads="1"/>
          </p:cNvSpPr>
          <p:nvPr/>
        </p:nvSpPr>
        <p:spPr bwMode="auto">
          <a:xfrm>
            <a:off x="237599" y="2257596"/>
            <a:ext cx="6840000" cy="5909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.2 Cuidados especiais no manuseio do fogão</a:t>
            </a:r>
          </a:p>
          <a:p>
            <a:pPr algn="just" defTabSz="685800"/>
            <a:r>
              <a:rPr lang="pt-BR" altLang="pt-BR" sz="1400" dirty="0" bmk="">
                <a:ea typeface="Calibri" panose="020F0502020204030204" pitchFamily="34" charset="0"/>
                <a:cs typeface="Arial" panose="020B0604020202020204" pitchFamily="34" charset="0"/>
              </a:rPr>
              <a:t>Evite o contato com o interior do forno enquanto aquecido.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Se necessário, utilize luvas térmicas; 	</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Nos fogões que possuem fornos não armazene utensílios;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Ao utilizar óleo ou gordura nas frituras, o cuidado deve ser maior, pois os mesmos são inflamáveis;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o cabo das panelas virado para o lado de fora do fogão;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Antes de acender o forno, abra sua porta para evitar o acúmulo de gás dentro dele;</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panos ou materiais inflamáveis sob o fogão durante seu uso;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Verifique sempre se os botões estão na posição desligado quando o fogão não estiver sendo usado;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Mantenha o registro de gás fechado sempre que o fogão não estiver sendo utilizado.</a:t>
            </a:r>
            <a:endParaRPr lang="pt-BR" altLang="pt-BR" sz="1400" dirty="0" bmk=""/>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2.3 Orientações de movimentação e localização do produto</a:t>
            </a:r>
          </a:p>
          <a:p>
            <a:pPr algn="just" defTabSz="685800">
              <a:buFontTx/>
              <a:buChar char="•"/>
            </a:pPr>
            <a:r>
              <a:rPr lang="pt-BR" altLang="pt-BR" sz="1400" dirty="0" bmk="">
                <a:ea typeface="Times New Roman" panose="02020603050405020304" pitchFamily="18" charset="0"/>
                <a:cs typeface="Arial" panose="020B0604020202020204" pitchFamily="34" charset="0"/>
              </a:rPr>
              <a:t>Nunca movimente o seu fogão pelo cano dos registros ou pelo puxador da porta do forno.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Para deslocá-lo faça-o com duas pessoas ou mais, devido ao peso, o mesmo pode ser pego pela </a:t>
            </a:r>
            <a:r>
              <a:rPr lang="pt-BR" altLang="pt-BR" sz="1400" b="1" i="1" dirty="0" bmk="">
                <a:ea typeface="Times New Roman" panose="02020603050405020304" pitchFamily="18" charset="0"/>
                <a:cs typeface="Arial" panose="020B0604020202020204" pitchFamily="34" charset="0"/>
              </a:rPr>
              <a:t>mesa</a:t>
            </a:r>
            <a:r>
              <a:rPr lang="pt-BR" altLang="pt-BR" sz="1400" dirty="0" bmk="">
                <a:ea typeface="Times New Roman" panose="02020603050405020304" pitchFamily="18" charset="0"/>
                <a:cs typeface="Arial" panose="020B0604020202020204" pitchFamily="34" charset="0"/>
              </a:rPr>
              <a:t> para movimentação.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instale seu fogão sobre pisos plásticos ou carpetes.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instalar em locais com correntes de ar, por exemplo, próximo a janelas.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a instalação do fogão próximo a materiais inflamáveis, por exemplo: cortinas, panos de cozinha, etc.</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Certifique-se de que todos os botões/registros estejam na posição fechado.</a:t>
            </a:r>
            <a:endParaRPr lang="pt-BR" altLang="pt-BR" sz="1400" dirty="0" bmk=""/>
          </a:p>
          <a:p>
            <a:pPr algn="just" defTabSz="685800"/>
            <a:r>
              <a:rPr lang="pt-BR" altLang="pt-BR" sz="1400" dirty="0" bmk="">
                <a:solidFill>
                  <a:srgbClr val="FF0000"/>
                </a:solidFill>
                <a:ea typeface="Calibri" panose="020F0502020204030204" pitchFamily="34" charset="0"/>
                <a:cs typeface="Arial" panose="020B0604020202020204" pitchFamily="34" charset="0"/>
              </a:rPr>
              <a:t>ATENÇÃO: </a:t>
            </a:r>
            <a:r>
              <a:rPr lang="pt-BR" altLang="pt-BR" sz="1400" dirty="0" bmk="">
                <a:ea typeface="Calibri" panose="020F0502020204030204" pitchFamily="34" charset="0"/>
                <a:cs typeface="Arial" panose="020B0604020202020204" pitchFamily="34" charset="0"/>
              </a:rPr>
              <a:t>respeite a distância mínima entre os móveis e o fogão.</a:t>
            </a:r>
            <a:endParaRPr lang="pt-BR" altLang="pt-BR" sz="1400" b="1" dirty="0" bmk="">
              <a:solidFill>
                <a:srgbClr val="000000"/>
              </a:solidFill>
              <a:ea typeface="Times New Roman" panose="02020603050405020304" pitchFamily="18" charset="0"/>
              <a:cs typeface="Times New Roman" panose="02020603050405020304" pitchFamily="18" charset="0"/>
            </a:endParaRPr>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2.4 Evite os riscos de incêndio</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acumule resíduos de gordura na superfície ou partes internas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Nunca use chamas ou faíscas para localizar vazamento de gás.</a:t>
            </a:r>
            <a:endParaRPr lang="pt-BR" altLang="pt-BR" sz="1400" dirty="0"/>
          </a:p>
        </p:txBody>
      </p:sp>
      <p:sp>
        <p:nvSpPr>
          <p:cNvPr id="2" name="Espaço Reservado para Número de Slide 1">
            <a:extLst>
              <a:ext uri="{FF2B5EF4-FFF2-40B4-BE49-F238E27FC236}">
                <a16:creationId xmlns:a16="http://schemas.microsoft.com/office/drawing/2014/main" id="{D22EE738-0B13-407A-9341-8439644F8052}"/>
              </a:ext>
            </a:extLst>
          </p:cNvPr>
          <p:cNvSpPr>
            <a:spLocks noGrp="1"/>
          </p:cNvSpPr>
          <p:nvPr>
            <p:ph type="sldNum" sz="quarter" idx="12"/>
          </p:nvPr>
        </p:nvSpPr>
        <p:spPr/>
        <p:txBody>
          <a:bodyPr/>
          <a:lstStyle/>
          <a:p>
            <a:fld id="{136BC063-5F49-4282-BA96-4716B49D2CCE}" type="slidenum">
              <a:rPr lang="pt-BR" smtClean="0"/>
              <a:t>6</a:t>
            </a:fld>
            <a:endParaRPr lang="pt-BR"/>
          </a:p>
        </p:txBody>
      </p:sp>
    </p:spTree>
    <p:extLst>
      <p:ext uri="{BB962C8B-B14F-4D97-AF65-F5344CB8AC3E}">
        <p14:creationId xmlns:p14="http://schemas.microsoft.com/office/powerpoint/2010/main" val="81516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9CC4B49-C231-4CE3-890A-E6DD64566654}"/>
              </a:ext>
            </a:extLst>
          </p:cNvPr>
          <p:cNvSpPr/>
          <p:nvPr/>
        </p:nvSpPr>
        <p:spPr>
          <a:xfrm>
            <a:off x="237600" y="853033"/>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3. Instalação</a:t>
            </a:r>
          </a:p>
        </p:txBody>
      </p:sp>
      <p:sp>
        <p:nvSpPr>
          <p:cNvPr id="5" name="Retângulo 4">
            <a:extLst>
              <a:ext uri="{FF2B5EF4-FFF2-40B4-BE49-F238E27FC236}">
                <a16:creationId xmlns:a16="http://schemas.microsoft.com/office/drawing/2014/main" id="{86759AAD-C641-4B1B-B94D-48251F3B75ED}"/>
              </a:ext>
            </a:extLst>
          </p:cNvPr>
          <p:cNvSpPr/>
          <p:nvPr/>
        </p:nvSpPr>
        <p:spPr>
          <a:xfrm>
            <a:off x="237600" y="297341"/>
            <a:ext cx="6840000" cy="523220"/>
          </a:xfrm>
          <a:prstGeom prst="rect">
            <a:avLst/>
          </a:prstGeom>
        </p:spPr>
        <p:txBody>
          <a:bodyPr>
            <a:spAutoFit/>
          </a:bodyPr>
          <a:lstStyle/>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Nunca armazene álcool, gasolina ou qualquer outro líquido ou vapor inflamável próximo deste ou qualquer outro fogão.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22B94F2C-910B-49CF-B200-723B5C4C2C88}"/>
              </a:ext>
            </a:extLst>
          </p:cNvPr>
          <p:cNvSpPr/>
          <p:nvPr/>
        </p:nvSpPr>
        <p:spPr>
          <a:xfrm>
            <a:off x="237600" y="1163060"/>
            <a:ext cx="6840000" cy="523220"/>
          </a:xfrm>
          <a:prstGeom prst="rect">
            <a:avLst/>
          </a:prstGeom>
        </p:spPr>
        <p:txBody>
          <a:bodyPr>
            <a:spAutoFit/>
          </a:bodyPr>
          <a:lstStyle/>
          <a:p>
            <a:pPr algn="just">
              <a:spcBef>
                <a:spcPts val="900"/>
              </a:spcBef>
              <a:spcAft>
                <a:spcPts val="450"/>
              </a:spcAft>
            </a:pPr>
            <a:r>
              <a:rPr lang="pt-BR" sz="1400" dirty="0">
                <a:latin typeface="Arial" panose="020B0604020202020204" pitchFamily="34" charset="0"/>
                <a:ea typeface="Calibri" panose="020F0502020204030204" pitchFamily="34" charset="0"/>
                <a:cs typeface="Arial" panose="020B0604020202020204" pitchFamily="34" charset="0"/>
              </a:rPr>
              <a:t>Siga RIGOROSAMENTE passo-a-passo as instruções deste manual para instalação do fogão industrial; em caso de dúvidas consulte assistência técnica autorizada.</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sp>
        <p:nvSpPr>
          <p:cNvPr id="7" name="Retângulo 6">
            <a:extLst>
              <a:ext uri="{FF2B5EF4-FFF2-40B4-BE49-F238E27FC236}">
                <a16:creationId xmlns:a16="http://schemas.microsoft.com/office/drawing/2014/main" id="{62ADE3B9-FEDB-4BE5-9BCB-6A5C4E28A565}"/>
              </a:ext>
            </a:extLst>
          </p:cNvPr>
          <p:cNvSpPr/>
          <p:nvPr/>
        </p:nvSpPr>
        <p:spPr>
          <a:xfrm>
            <a:off x="237600" y="1890198"/>
            <a:ext cx="6840000" cy="7330212"/>
          </a:xfrm>
          <a:prstGeom prst="rect">
            <a:avLst/>
          </a:prstGeom>
        </p:spPr>
        <p:txBody>
          <a:bodyPr>
            <a:spAutoFit/>
          </a:bodyPr>
          <a:lstStyle/>
          <a:p>
            <a:pPr algn="just"/>
            <a:r>
              <a:rPr lang="pt-BR" sz="1400" b="1" dirty="0">
                <a:latin typeface="Arial" panose="020B0604020202020204" pitchFamily="34" charset="0"/>
                <a:ea typeface="Calibri" panose="020F0502020204030204" pitchFamily="34" charset="0"/>
                <a:cs typeface="Arial" panose="020B0604020202020204" pitchFamily="34" charset="0"/>
              </a:rPr>
              <a:t>DESCRIÇÃO DAS PEÇAS PARA A INSTALAÇÃO: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Paneleiro,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04 penas de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parafusos 5/16x1,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porcas 5/16x1</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Parte superior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Conforme item 3.2</a:t>
            </a:r>
            <a:r>
              <a:rPr lang="pt-BR" sz="1400" dirty="0">
                <a:latin typeface="Arial" panose="020B0604020202020204" pitchFamily="34" charset="0"/>
                <a:ea typeface="Calibri" panose="020F0502020204030204" pitchFamily="34" charset="0"/>
                <a:cs typeface="Times New Roman" panose="02020603050405020304" pitchFamily="18" charset="0"/>
              </a:rPr>
              <a:t> (</a:t>
            </a:r>
            <a:r>
              <a:rPr lang="pt-BR" sz="1400" b="1" dirty="0">
                <a:latin typeface="Arial" panose="020B0604020202020204" pitchFamily="34" charset="0"/>
                <a:ea typeface="Calibri" panose="020F0502020204030204" pitchFamily="34" charset="0"/>
                <a:cs typeface="Arial" panose="020B0604020202020204" pitchFamily="34" charset="0"/>
              </a:rPr>
              <a:t>Instalação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É necessário o uso da válvula reguladora de pressão, verifique com seu distribuidor de gás a válvula mais adequada. (Adquira separadamente)</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3.1 Pré-instalação</a:t>
            </a: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 PRODUTO DEVE SER DESEMBALADO COM CAUTELA.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use materiais pontiagudos (facas, tesoura com ponta, etc..) para a remoção da embalagem, pois isso pode danificar o produto.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No interior da embalagem você encontrará todos os ACESSÓRIOS ADICIONAIS.</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 instalação deve seguir as exigências deste manual.</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As instalações em prédios devem seguir os requisitos da NBR 13932.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instalar o fogão ao lado do refrigerador.</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Obrigatório a utilização de mangueira flexível PVC conforme NBR 8613 de diâmetro interno 10 mm para conexão ao fogão e comprimento entre 0,80 m a 1,25 m ou utilize mangueira metálica flexível (não acompanha o produto) de acordo com a norma NBR 14.177; sem emendas; o comprimento deve ser de 80 a 125cm.</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um bom desempenho, o fogão deve estar sempre nivelado.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Ao desligar qualquer queimador, assegure-se de que o botão correspondente volte totalmente para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facilitar a ignição, acenda o queimador antes de colocar a panela sobre a grelha.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Se após algumas tentativas não acender, verifique se as grelhas e os espalhadores estão colocadas corretamente.</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interromper o fornecimento do gás gire o botão no sentido horário até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8C4746BE-7FE2-4908-B312-C310F7508016}"/>
              </a:ext>
            </a:extLst>
          </p:cNvPr>
          <p:cNvSpPr>
            <a:spLocks noGrp="1"/>
          </p:cNvSpPr>
          <p:nvPr>
            <p:ph type="sldNum" sz="quarter" idx="12"/>
          </p:nvPr>
        </p:nvSpPr>
        <p:spPr/>
        <p:txBody>
          <a:bodyPr/>
          <a:lstStyle/>
          <a:p>
            <a:fld id="{136BC063-5F49-4282-BA96-4716B49D2CCE}" type="slidenum">
              <a:rPr lang="pt-BR" smtClean="0"/>
              <a:t>7</a:t>
            </a:fld>
            <a:endParaRPr lang="pt-BR"/>
          </a:p>
        </p:txBody>
      </p:sp>
    </p:spTree>
    <p:extLst>
      <p:ext uri="{BB962C8B-B14F-4D97-AF65-F5344CB8AC3E}">
        <p14:creationId xmlns:p14="http://schemas.microsoft.com/office/powerpoint/2010/main" val="408858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a 3">
            <a:extLst>
              <a:ext uri="{FF2B5EF4-FFF2-40B4-BE49-F238E27FC236}">
                <a16:creationId xmlns:a16="http://schemas.microsoft.com/office/drawing/2014/main" id="{80345FA1-423A-4D1F-840A-04C19B27DCF5}"/>
              </a:ext>
            </a:extLst>
          </p:cNvPr>
          <p:cNvGraphicFramePr>
            <a:graphicFrameLocks noGrp="1"/>
          </p:cNvGraphicFramePr>
          <p:nvPr>
            <p:extLst>
              <p:ext uri="{D42A27DB-BD31-4B8C-83A1-F6EECF244321}">
                <p14:modId xmlns:p14="http://schemas.microsoft.com/office/powerpoint/2010/main" val="3755047999"/>
              </p:ext>
            </p:extLst>
          </p:nvPr>
        </p:nvGraphicFramePr>
        <p:xfrm>
          <a:off x="597600" y="280759"/>
          <a:ext cx="6119999" cy="1357760"/>
        </p:xfrm>
        <a:graphic>
          <a:graphicData uri="http://schemas.openxmlformats.org/drawingml/2006/table">
            <a:tbl>
              <a:tblPr firstRow="1" bandRow="1">
                <a:tableStyleId>{2D5ABB26-0587-4C30-8999-92F81FD0307C}</a:tableStyleId>
              </a:tblPr>
              <a:tblGrid>
                <a:gridCol w="1759642">
                  <a:extLst>
                    <a:ext uri="{9D8B030D-6E8A-4147-A177-3AD203B41FA5}">
                      <a16:colId xmlns:a16="http://schemas.microsoft.com/office/drawing/2014/main" val="2429807188"/>
                    </a:ext>
                  </a:extLst>
                </a:gridCol>
                <a:gridCol w="1515706">
                  <a:extLst>
                    <a:ext uri="{9D8B030D-6E8A-4147-A177-3AD203B41FA5}">
                      <a16:colId xmlns:a16="http://schemas.microsoft.com/office/drawing/2014/main" val="2284381197"/>
                    </a:ext>
                  </a:extLst>
                </a:gridCol>
                <a:gridCol w="1572881">
                  <a:extLst>
                    <a:ext uri="{9D8B030D-6E8A-4147-A177-3AD203B41FA5}">
                      <a16:colId xmlns:a16="http://schemas.microsoft.com/office/drawing/2014/main" val="2464966213"/>
                    </a:ext>
                  </a:extLst>
                </a:gridCol>
                <a:gridCol w="1271770">
                  <a:extLst>
                    <a:ext uri="{9D8B030D-6E8A-4147-A177-3AD203B41FA5}">
                      <a16:colId xmlns:a16="http://schemas.microsoft.com/office/drawing/2014/main" val="4271594537"/>
                    </a:ext>
                  </a:extLst>
                </a:gridCol>
              </a:tblGrid>
              <a:tr h="431006">
                <a:tc>
                  <a:txBody>
                    <a:bodyPr/>
                    <a:lstStyle/>
                    <a:p>
                      <a:pPr>
                        <a:lnSpc>
                          <a:spcPct val="107000"/>
                        </a:lnSpc>
                      </a:pPr>
                      <a:endParaRPr lang="pt-BR" sz="1200" dirty="0">
                        <a:effectLst/>
                        <a:latin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Grande</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Pequeno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496246"/>
                  </a:ext>
                </a:extLst>
              </a:tr>
              <a:tr h="149924">
                <a:tc>
                  <a:txBody>
                    <a:bodyPr/>
                    <a:lstStyle/>
                    <a:p>
                      <a:pPr algn="ctr">
                        <a:lnSpc>
                          <a:spcPct val="107000"/>
                        </a:lnSpc>
                        <a:spcAft>
                          <a:spcPts val="600"/>
                        </a:spcAft>
                      </a:pPr>
                      <a:r>
                        <a:rPr lang="pt-BR" sz="1200" b="1" dirty="0">
                          <a:effectLst/>
                        </a:rPr>
                        <a:t>Descrição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Kg/h</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Kg/h</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630670"/>
                  </a:ext>
                </a:extLst>
              </a:tr>
              <a:tr h="134779">
                <a:tc>
                  <a:txBody>
                    <a:bodyPr/>
                    <a:lstStyle/>
                    <a:p>
                      <a:pPr algn="ctr">
                        <a:lnSpc>
                          <a:spcPct val="107000"/>
                        </a:lnSpc>
                        <a:spcAft>
                          <a:spcPts val="600"/>
                        </a:spcAft>
                      </a:pPr>
                      <a:r>
                        <a:rPr lang="pt-BR" sz="1200">
                          <a:effectLst/>
                        </a:rPr>
                        <a:t>Boca Simples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0,250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562160"/>
                  </a:ext>
                </a:extLst>
              </a:tr>
              <a:tr h="134779">
                <a:tc>
                  <a:txBody>
                    <a:bodyPr/>
                    <a:lstStyle/>
                    <a:p>
                      <a:pPr algn="ctr">
                        <a:lnSpc>
                          <a:spcPct val="107000"/>
                        </a:lnSpc>
                        <a:spcAft>
                          <a:spcPts val="600"/>
                        </a:spcAft>
                      </a:pPr>
                      <a:r>
                        <a:rPr lang="pt-BR" sz="1200">
                          <a:effectLst/>
                        </a:rPr>
                        <a:t>Boca Dupla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0,600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dirty="0">
                          <a:effectLst/>
                        </a:rPr>
                        <a:t>0,250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83649542"/>
                  </a:ext>
                </a:extLst>
              </a:tr>
            </a:tbl>
          </a:graphicData>
        </a:graphic>
      </p:graphicFrame>
      <p:sp>
        <p:nvSpPr>
          <p:cNvPr id="5" name="Retângulo 4">
            <a:extLst>
              <a:ext uri="{FF2B5EF4-FFF2-40B4-BE49-F238E27FC236}">
                <a16:creationId xmlns:a16="http://schemas.microsoft.com/office/drawing/2014/main" id="{AA4645B2-675E-433B-BE57-6391D942A264}"/>
              </a:ext>
            </a:extLst>
          </p:cNvPr>
          <p:cNvSpPr/>
          <p:nvPr/>
        </p:nvSpPr>
        <p:spPr>
          <a:xfrm>
            <a:off x="237599" y="1894939"/>
            <a:ext cx="6840000" cy="2495298"/>
          </a:xfrm>
          <a:prstGeom prst="rect">
            <a:avLst/>
          </a:prstGeom>
        </p:spPr>
        <p:txBody>
          <a:bodyPr>
            <a:spAutoFit/>
          </a:bodyPr>
          <a:lstStyle/>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Obs</a:t>
            </a:r>
            <a:r>
              <a:rPr lang="pt-BR" sz="1300" dirty="0">
                <a:latin typeface="Arial" panose="020B0604020202020204" pitchFamily="34" charset="0"/>
                <a:ea typeface="Calibri" panose="020F0502020204030204" pitchFamily="34" charset="0"/>
                <a:cs typeface="Arial" panose="020B0604020202020204" pitchFamily="34" charset="0"/>
              </a:rPr>
              <a:t>: A quantidade ideal de botijões a serem utilizados no seu fogão, com ou sem forno, será definida através do seguinte cálculo: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Ex</a:t>
            </a:r>
            <a:r>
              <a:rPr lang="pt-BR" sz="1300" dirty="0">
                <a:latin typeface="Arial" panose="020B0604020202020204" pitchFamily="34" charset="0"/>
                <a:ea typeface="Calibri" panose="020F0502020204030204" pitchFamily="34" charset="0"/>
                <a:cs typeface="Arial" panose="020B0604020202020204" pitchFamily="34" charset="0"/>
              </a:rPr>
              <a:t>: Para o fogão 2 bocas duplas com forno pequeno teremos o consumo 1,450 kg/h de gás, já que cada boca dupla consome 0,600 kg/h e temos 2 nesse caso, logo totaliza 1,200 kg/h. Por fim, quando somamos com o consumo do forno pequeno (0,250 kg/h), teremos o consumo total de 1,450 kg/h. Neste caso, considerando um regime de uso continuo e que os registros de passagem de gás estarão com abertura total, o ideal será colocar 3 botijões de 13 kg, sendo que cada um fornece 0,600 kg/h de gás ,totalizando uma capacidade de abastecimento de 1,800 kg/h de gás, interligados a uma válvula de 2 kg/h de gás .Verifique o consumo do seu modelo de equipamento e proceda com o cálculo de botijões necessários.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6" name="Retângulo 5">
            <a:extLst>
              <a:ext uri="{FF2B5EF4-FFF2-40B4-BE49-F238E27FC236}">
                <a16:creationId xmlns:a16="http://schemas.microsoft.com/office/drawing/2014/main" id="{DB016721-4A67-4A8E-B9BE-1E031D30F909}"/>
              </a:ext>
            </a:extLst>
          </p:cNvPr>
          <p:cNvSpPr/>
          <p:nvPr/>
        </p:nvSpPr>
        <p:spPr>
          <a:xfrm>
            <a:off x="237599" y="4835318"/>
            <a:ext cx="1888659" cy="276999"/>
          </a:xfrm>
          <a:prstGeom prst="rect">
            <a:avLst/>
          </a:prstGeom>
        </p:spPr>
        <p:txBody>
          <a:bodyPr wrap="none">
            <a:spAutoFit/>
          </a:bodyPr>
          <a:lstStyle/>
          <a:p>
            <a:r>
              <a:rPr lang="pt-BR" sz="1200" b="1" dirty="0">
                <a:latin typeface="Arial" panose="020B0604020202020204" pitchFamily="34" charset="0"/>
                <a:ea typeface="Calibri" panose="020F0502020204030204" pitchFamily="34" charset="0"/>
                <a:cs typeface="Times New Roman" panose="02020603050405020304" pitchFamily="18" charset="0"/>
              </a:rPr>
              <a:t>3.2 Instalação do fogão</a:t>
            </a:r>
            <a:endParaRPr lang="pt-BR" sz="1200" b="1" dirty="0"/>
          </a:p>
        </p:txBody>
      </p:sp>
      <p:pic>
        <p:nvPicPr>
          <p:cNvPr id="7" name="Picture 3">
            <a:extLst>
              <a:ext uri="{FF2B5EF4-FFF2-40B4-BE49-F238E27FC236}">
                <a16:creationId xmlns:a16="http://schemas.microsoft.com/office/drawing/2014/main" id="{11326F8B-9EBA-4512-9097-0E84809E902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081" r="1591"/>
          <a:stretch/>
        </p:blipFill>
        <p:spPr bwMode="auto">
          <a:xfrm>
            <a:off x="237598" y="5184432"/>
            <a:ext cx="3240000" cy="3832751"/>
          </a:xfrm>
          <a:prstGeom prst="rect">
            <a:avLst/>
          </a:prstGeom>
          <a:noFill/>
          <a:ln w="6350">
            <a:solidFill>
              <a:schemeClr val="tx1"/>
            </a:solidFill>
          </a:ln>
        </p:spPr>
      </p:pic>
      <p:graphicFrame>
        <p:nvGraphicFramePr>
          <p:cNvPr id="9" name="Tabela 8">
            <a:extLst>
              <a:ext uri="{FF2B5EF4-FFF2-40B4-BE49-F238E27FC236}">
                <a16:creationId xmlns:a16="http://schemas.microsoft.com/office/drawing/2014/main" id="{886D6428-368E-44B0-B84B-AAEF23740D75}"/>
              </a:ext>
            </a:extLst>
          </p:cNvPr>
          <p:cNvGraphicFramePr>
            <a:graphicFrameLocks noGrp="1"/>
          </p:cNvGraphicFramePr>
          <p:nvPr>
            <p:extLst>
              <p:ext uri="{D42A27DB-BD31-4B8C-83A1-F6EECF244321}">
                <p14:modId xmlns:p14="http://schemas.microsoft.com/office/powerpoint/2010/main" val="2567601667"/>
              </p:ext>
            </p:extLst>
          </p:nvPr>
        </p:nvGraphicFramePr>
        <p:xfrm>
          <a:off x="3837599" y="5660805"/>
          <a:ext cx="2880000" cy="2880003"/>
        </p:xfrm>
        <a:graphic>
          <a:graphicData uri="http://schemas.openxmlformats.org/drawingml/2006/table">
            <a:tbl>
              <a:tblPr firstRow="1" firstCol="1" bandRow="1">
                <a:tableStyleId>{9D7B26C5-4107-4FEC-AEDC-1716B250A1EF}</a:tableStyleId>
              </a:tblPr>
              <a:tblGrid>
                <a:gridCol w="323121">
                  <a:extLst>
                    <a:ext uri="{9D8B030D-6E8A-4147-A177-3AD203B41FA5}">
                      <a16:colId xmlns:a16="http://schemas.microsoft.com/office/drawing/2014/main" val="3307288058"/>
                    </a:ext>
                  </a:extLst>
                </a:gridCol>
                <a:gridCol w="2065176">
                  <a:extLst>
                    <a:ext uri="{9D8B030D-6E8A-4147-A177-3AD203B41FA5}">
                      <a16:colId xmlns:a16="http://schemas.microsoft.com/office/drawing/2014/main" val="924080352"/>
                    </a:ext>
                  </a:extLst>
                </a:gridCol>
                <a:gridCol w="491703">
                  <a:extLst>
                    <a:ext uri="{9D8B030D-6E8A-4147-A177-3AD203B41FA5}">
                      <a16:colId xmlns:a16="http://schemas.microsoft.com/office/drawing/2014/main" val="2369488183"/>
                    </a:ext>
                  </a:extLst>
                </a:gridCol>
              </a:tblGrid>
              <a:tr h="411429">
                <a:tc>
                  <a:txBody>
                    <a:bodyPr/>
                    <a:lstStyle/>
                    <a:p>
                      <a:pPr algn="ctr" rtl="0" fontAlgn="ctr"/>
                      <a:r>
                        <a:rPr lang="pt-BR" sz="1200" u="none" strike="noStrike">
                          <a:effectLst/>
                        </a:rPr>
                        <a:t>Id.</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Qtd.</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1968742"/>
                  </a:ext>
                </a:extLst>
              </a:tr>
              <a:tr h="411429">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Mesa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11149478"/>
                  </a:ext>
                </a:extLst>
              </a:tr>
              <a:tr h="411429">
                <a:tc>
                  <a:txBody>
                    <a:bodyPr/>
                    <a:lstStyle/>
                    <a:p>
                      <a:pPr algn="ctr" rtl="0" fontAlgn="ctr"/>
                      <a:r>
                        <a:rPr lang="pt-BR" sz="1200" u="none" strike="noStrike">
                          <a:effectLst/>
                        </a:rPr>
                        <a:t>2</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Bandeja (Aparadeira)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173179"/>
                  </a:ext>
                </a:extLst>
              </a:tr>
              <a:tr h="411429">
                <a:tc>
                  <a:txBody>
                    <a:bodyPr/>
                    <a:lstStyle/>
                    <a:p>
                      <a:pPr algn="ctr" rtl="0" fontAlgn="ctr"/>
                      <a:r>
                        <a:rPr lang="pt-BR" sz="1200" u="none" strike="noStrike">
                          <a:effectLst/>
                        </a:rPr>
                        <a:t>3</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Pernas</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6110102"/>
                  </a:ext>
                </a:extLst>
              </a:tr>
              <a:tr h="411429">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Paneleiro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141845"/>
                  </a:ext>
                </a:extLst>
              </a:tr>
              <a:tr h="411429">
                <a:tc>
                  <a:txBody>
                    <a:bodyPr/>
                    <a:lstStyle/>
                    <a:p>
                      <a:pPr algn="ctr" rtl="0" fontAlgn="ctr"/>
                      <a:r>
                        <a:rPr lang="pt-BR" sz="1200" u="none" strike="noStrike">
                          <a:effectLst/>
                        </a:rPr>
                        <a:t>5</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Parafuso sextavado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8</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9506915"/>
                  </a:ext>
                </a:extLst>
              </a:tr>
              <a:tr h="411429">
                <a:tc>
                  <a:txBody>
                    <a:bodyPr/>
                    <a:lstStyle/>
                    <a:p>
                      <a:pPr algn="ctr" rtl="0" fontAlgn="ctr"/>
                      <a:r>
                        <a:rPr lang="pt-BR" sz="1200" u="none" strike="noStrike">
                          <a:effectLst/>
                        </a:rPr>
                        <a:t>6</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Porca sextavada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8</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49476011"/>
                  </a:ext>
                </a:extLst>
              </a:tr>
            </a:tbl>
          </a:graphicData>
        </a:graphic>
      </p:graphicFrame>
      <p:sp>
        <p:nvSpPr>
          <p:cNvPr id="2" name="Espaço Reservado para Número de Slide 1">
            <a:extLst>
              <a:ext uri="{FF2B5EF4-FFF2-40B4-BE49-F238E27FC236}">
                <a16:creationId xmlns:a16="http://schemas.microsoft.com/office/drawing/2014/main" id="{23000A75-01D0-448A-B809-DFDD5DD5BF2B}"/>
              </a:ext>
            </a:extLst>
          </p:cNvPr>
          <p:cNvSpPr>
            <a:spLocks noGrp="1"/>
          </p:cNvSpPr>
          <p:nvPr>
            <p:ph type="sldNum" sz="quarter" idx="12"/>
          </p:nvPr>
        </p:nvSpPr>
        <p:spPr/>
        <p:txBody>
          <a:bodyPr/>
          <a:lstStyle/>
          <a:p>
            <a:fld id="{136BC063-5F49-4282-BA96-4716B49D2CCE}" type="slidenum">
              <a:rPr lang="pt-BR" smtClean="0"/>
              <a:t>8</a:t>
            </a:fld>
            <a:endParaRPr lang="pt-BR"/>
          </a:p>
        </p:txBody>
      </p:sp>
    </p:spTree>
    <p:extLst>
      <p:ext uri="{BB962C8B-B14F-4D97-AF65-F5344CB8AC3E}">
        <p14:creationId xmlns:p14="http://schemas.microsoft.com/office/powerpoint/2010/main" val="226321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99" name="Picture 4">
            <a:extLst>
              <a:ext uri="{FF2B5EF4-FFF2-40B4-BE49-F238E27FC236}">
                <a16:creationId xmlns:a16="http://schemas.microsoft.com/office/drawing/2014/main" id="{B2B7F3E8-F853-44CB-9734-6B8C49A79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583" y="550175"/>
            <a:ext cx="3276000" cy="25341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Caixa de Texto 45">
            <a:extLst>
              <a:ext uri="{FF2B5EF4-FFF2-40B4-BE49-F238E27FC236}">
                <a16:creationId xmlns:a16="http://schemas.microsoft.com/office/drawing/2014/main" id="{57F15081-993C-446F-A581-5E50A71C6136}"/>
              </a:ext>
            </a:extLst>
          </p:cNvPr>
          <p:cNvSpPr txBox="1">
            <a:spLocks noChangeArrowheads="1"/>
          </p:cNvSpPr>
          <p:nvPr/>
        </p:nvSpPr>
        <p:spPr bwMode="auto">
          <a:xfrm>
            <a:off x="333869" y="365021"/>
            <a:ext cx="936000" cy="180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Passo 1</a:t>
            </a:r>
            <a:endParaRPr lang="pt-BR" altLang="pt-BR" sz="1200" dirty="0">
              <a:latin typeface="Arial" panose="020B0604020202020204" pitchFamily="34" charset="0"/>
            </a:endParaRPr>
          </a:p>
        </p:txBody>
      </p:sp>
      <p:sp>
        <p:nvSpPr>
          <p:cNvPr id="9" name="Caixa de Texto 37">
            <a:extLst>
              <a:ext uri="{FF2B5EF4-FFF2-40B4-BE49-F238E27FC236}">
                <a16:creationId xmlns:a16="http://schemas.microsoft.com/office/drawing/2014/main" id="{6F9DB811-3AAD-4026-9DE1-A14BE9A0C1C4}"/>
              </a:ext>
            </a:extLst>
          </p:cNvPr>
          <p:cNvSpPr txBox="1">
            <a:spLocks noChangeArrowheads="1"/>
          </p:cNvSpPr>
          <p:nvPr/>
        </p:nvSpPr>
        <p:spPr bwMode="auto">
          <a:xfrm>
            <a:off x="2721259" y="597800"/>
            <a:ext cx="720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a:latin typeface="Arial" panose="020B0604020202020204" pitchFamily="34" charset="0"/>
                <a:ea typeface="Calibri" panose="020F0502020204030204" pitchFamily="34" charset="0"/>
                <a:cs typeface="Arial" panose="020B0604020202020204" pitchFamily="34" charset="0"/>
              </a:rPr>
              <a:t>Perna - c</a:t>
            </a:r>
            <a:endParaRPr lang="pt-BR" altLang="pt-BR" sz="1200">
              <a:latin typeface="Arial" panose="020B0604020202020204" pitchFamily="34" charset="0"/>
            </a:endParaRPr>
          </a:p>
        </p:txBody>
      </p:sp>
      <p:sp>
        <p:nvSpPr>
          <p:cNvPr id="10" name="Caixa de Texto 38">
            <a:extLst>
              <a:ext uri="{FF2B5EF4-FFF2-40B4-BE49-F238E27FC236}">
                <a16:creationId xmlns:a16="http://schemas.microsoft.com/office/drawing/2014/main" id="{99F8BE86-A28C-4243-A15C-FB69397F17CA}"/>
              </a:ext>
            </a:extLst>
          </p:cNvPr>
          <p:cNvSpPr txBox="1">
            <a:spLocks noChangeArrowheads="1"/>
          </p:cNvSpPr>
          <p:nvPr/>
        </p:nvSpPr>
        <p:spPr bwMode="auto">
          <a:xfrm>
            <a:off x="1042250" y="2050466"/>
            <a:ext cx="576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a</a:t>
            </a:r>
            <a:endParaRPr lang="pt-BR" altLang="pt-BR" sz="1000" dirty="0">
              <a:latin typeface="Arial" panose="020B0604020202020204" pitchFamily="34" charset="0"/>
            </a:endParaRPr>
          </a:p>
        </p:txBody>
      </p:sp>
      <p:sp>
        <p:nvSpPr>
          <p:cNvPr id="11" name="Caixa de Texto 39">
            <a:extLst>
              <a:ext uri="{FF2B5EF4-FFF2-40B4-BE49-F238E27FC236}">
                <a16:creationId xmlns:a16="http://schemas.microsoft.com/office/drawing/2014/main" id="{6B92E1A1-9922-4F04-A3D6-25C1C9203E63}"/>
              </a:ext>
            </a:extLst>
          </p:cNvPr>
          <p:cNvSpPr txBox="1">
            <a:spLocks noChangeArrowheads="1"/>
          </p:cNvSpPr>
          <p:nvPr/>
        </p:nvSpPr>
        <p:spPr bwMode="auto">
          <a:xfrm>
            <a:off x="2721259" y="2721712"/>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b</a:t>
            </a:r>
            <a:endParaRPr lang="pt-BR" altLang="pt-BR" sz="1000" dirty="0">
              <a:latin typeface="Arial" panose="020B0604020202020204" pitchFamily="34" charset="0"/>
            </a:endParaRPr>
          </a:p>
        </p:txBody>
      </p:sp>
      <p:sp>
        <p:nvSpPr>
          <p:cNvPr id="12" name="Caixa de Texto 78">
            <a:extLst>
              <a:ext uri="{FF2B5EF4-FFF2-40B4-BE49-F238E27FC236}">
                <a16:creationId xmlns:a16="http://schemas.microsoft.com/office/drawing/2014/main" id="{62963D3A-359A-4558-814D-5E8D94FB2F65}"/>
              </a:ext>
            </a:extLst>
          </p:cNvPr>
          <p:cNvSpPr txBox="1">
            <a:spLocks noChangeArrowheads="1"/>
          </p:cNvSpPr>
          <p:nvPr/>
        </p:nvSpPr>
        <p:spPr bwMode="auto">
          <a:xfrm>
            <a:off x="405297" y="575730"/>
            <a:ext cx="576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d</a:t>
            </a:r>
            <a:endParaRPr lang="pt-BR" altLang="pt-BR" sz="1000" dirty="0">
              <a:latin typeface="Arial" panose="020B0604020202020204" pitchFamily="34" charset="0"/>
            </a:endParaRPr>
          </a:p>
        </p:txBody>
      </p:sp>
      <p:cxnSp>
        <p:nvCxnSpPr>
          <p:cNvPr id="14" name="Conector de Seta Reta 13">
            <a:extLst>
              <a:ext uri="{FF2B5EF4-FFF2-40B4-BE49-F238E27FC236}">
                <a16:creationId xmlns:a16="http://schemas.microsoft.com/office/drawing/2014/main" id="{64B3B9A4-7144-4290-8753-3F3A448A96D2}"/>
              </a:ext>
            </a:extLst>
          </p:cNvPr>
          <p:cNvCxnSpPr>
            <a:cxnSpLocks/>
          </p:cNvCxnSpPr>
          <p:nvPr/>
        </p:nvCxnSpPr>
        <p:spPr>
          <a:xfrm flipV="1">
            <a:off x="2991259" y="2331757"/>
            <a:ext cx="350248" cy="3899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23D5B59-A06B-4D84-ADF6-4BECEC82B976}"/>
              </a:ext>
            </a:extLst>
          </p:cNvPr>
          <p:cNvCxnSpPr>
            <a:cxnSpLocks/>
          </p:cNvCxnSpPr>
          <p:nvPr/>
        </p:nvCxnSpPr>
        <p:spPr>
          <a:xfrm>
            <a:off x="1168242" y="998725"/>
            <a:ext cx="144000" cy="21763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DA51B17-BBC9-405F-82E0-5C5AE436AA64}"/>
              </a:ext>
            </a:extLst>
          </p:cNvPr>
          <p:cNvCxnSpPr/>
          <p:nvPr/>
        </p:nvCxnSpPr>
        <p:spPr>
          <a:xfrm flipH="1">
            <a:off x="2416635" y="732361"/>
            <a:ext cx="309086" cy="33814"/>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021ECF38-79D2-4E8F-9814-3BB85EFA616A}"/>
              </a:ext>
            </a:extLst>
          </p:cNvPr>
          <p:cNvCxnSpPr>
            <a:cxnSpLocks/>
          </p:cNvCxnSpPr>
          <p:nvPr/>
        </p:nvCxnSpPr>
        <p:spPr>
          <a:xfrm flipV="1">
            <a:off x="1609699" y="2131803"/>
            <a:ext cx="180000" cy="1"/>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Caixa de Texto 86">
            <a:extLst>
              <a:ext uri="{FF2B5EF4-FFF2-40B4-BE49-F238E27FC236}">
                <a16:creationId xmlns:a16="http://schemas.microsoft.com/office/drawing/2014/main" id="{84787DE1-0B99-419E-AB05-97CE9D83C8CD}"/>
              </a:ext>
            </a:extLst>
          </p:cNvPr>
          <p:cNvSpPr txBox="1">
            <a:spLocks noChangeArrowheads="1"/>
          </p:cNvSpPr>
          <p:nvPr/>
        </p:nvSpPr>
        <p:spPr bwMode="auto">
          <a:xfrm>
            <a:off x="1993583" y="1991237"/>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a</a:t>
            </a:r>
            <a:endParaRPr lang="pt-BR" altLang="pt-BR" sz="1000" dirty="0">
              <a:latin typeface="Arial" panose="020B0604020202020204" pitchFamily="34" charset="0"/>
            </a:endParaRPr>
          </a:p>
        </p:txBody>
      </p:sp>
      <p:cxnSp>
        <p:nvCxnSpPr>
          <p:cNvPr id="19" name="Conector de Seta Reta 18">
            <a:extLst>
              <a:ext uri="{FF2B5EF4-FFF2-40B4-BE49-F238E27FC236}">
                <a16:creationId xmlns:a16="http://schemas.microsoft.com/office/drawing/2014/main" id="{96DCE9D6-85ED-4289-B735-DF1300E02F2F}"/>
              </a:ext>
            </a:extLst>
          </p:cNvPr>
          <p:cNvCxnSpPr>
            <a:cxnSpLocks/>
            <a:stCxn id="12" idx="2"/>
          </p:cNvCxnSpPr>
          <p:nvPr/>
        </p:nvCxnSpPr>
        <p:spPr>
          <a:xfrm>
            <a:off x="693297" y="791730"/>
            <a:ext cx="130923" cy="42463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Caixa de Texto 88">
            <a:extLst>
              <a:ext uri="{FF2B5EF4-FFF2-40B4-BE49-F238E27FC236}">
                <a16:creationId xmlns:a16="http://schemas.microsoft.com/office/drawing/2014/main" id="{3F1D6DE0-AF7B-46A2-943E-65F103488B7B}"/>
              </a:ext>
            </a:extLst>
          </p:cNvPr>
          <p:cNvSpPr txBox="1">
            <a:spLocks noChangeArrowheads="1"/>
          </p:cNvSpPr>
          <p:nvPr/>
        </p:nvSpPr>
        <p:spPr bwMode="auto">
          <a:xfrm>
            <a:off x="824220" y="817285"/>
            <a:ext cx="540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d</a:t>
            </a:r>
            <a:endParaRPr lang="pt-BR" altLang="pt-BR" sz="2400" dirty="0">
              <a:latin typeface="Arial" panose="020B0604020202020204" pitchFamily="34" charset="0"/>
            </a:endParaRPr>
          </a:p>
        </p:txBody>
      </p:sp>
      <p:cxnSp>
        <p:nvCxnSpPr>
          <p:cNvPr id="21" name="Conector de Seta Reta 20">
            <a:extLst>
              <a:ext uri="{FF2B5EF4-FFF2-40B4-BE49-F238E27FC236}">
                <a16:creationId xmlns:a16="http://schemas.microsoft.com/office/drawing/2014/main" id="{DAE8020A-3177-4C2D-B2B1-25652CC8E3D1}"/>
              </a:ext>
            </a:extLst>
          </p:cNvPr>
          <p:cNvCxnSpPr>
            <a:cxnSpLocks/>
          </p:cNvCxnSpPr>
          <p:nvPr/>
        </p:nvCxnSpPr>
        <p:spPr>
          <a:xfrm flipH="1" flipV="1">
            <a:off x="2033606" y="1742081"/>
            <a:ext cx="47329" cy="26072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Caixa de Texto 90">
            <a:extLst>
              <a:ext uri="{FF2B5EF4-FFF2-40B4-BE49-F238E27FC236}">
                <a16:creationId xmlns:a16="http://schemas.microsoft.com/office/drawing/2014/main" id="{BEFA9F19-A9CE-4EAE-A8B3-DF718E1C9387}"/>
              </a:ext>
            </a:extLst>
          </p:cNvPr>
          <p:cNvSpPr txBox="1">
            <a:spLocks noChangeArrowheads="1"/>
          </p:cNvSpPr>
          <p:nvPr/>
        </p:nvSpPr>
        <p:spPr bwMode="auto">
          <a:xfrm>
            <a:off x="2721259" y="1858806"/>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b</a:t>
            </a:r>
            <a:endParaRPr lang="pt-BR" altLang="pt-BR" sz="1000" dirty="0">
              <a:latin typeface="Arial" panose="020B0604020202020204" pitchFamily="34" charset="0"/>
            </a:endParaRPr>
          </a:p>
        </p:txBody>
      </p:sp>
      <p:cxnSp>
        <p:nvCxnSpPr>
          <p:cNvPr id="23" name="Conector de Seta Reta 22">
            <a:extLst>
              <a:ext uri="{FF2B5EF4-FFF2-40B4-BE49-F238E27FC236}">
                <a16:creationId xmlns:a16="http://schemas.microsoft.com/office/drawing/2014/main" id="{65801CF6-B0EC-4C31-B876-1D5E42421D1C}"/>
              </a:ext>
            </a:extLst>
          </p:cNvPr>
          <p:cNvCxnSpPr>
            <a:cxnSpLocks/>
          </p:cNvCxnSpPr>
          <p:nvPr/>
        </p:nvCxnSpPr>
        <p:spPr>
          <a:xfrm>
            <a:off x="1985972" y="728075"/>
            <a:ext cx="288000" cy="91093"/>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Caixa de Texto 92">
            <a:extLst>
              <a:ext uri="{FF2B5EF4-FFF2-40B4-BE49-F238E27FC236}">
                <a16:creationId xmlns:a16="http://schemas.microsoft.com/office/drawing/2014/main" id="{24584D27-4D90-4777-9F81-47BFA49BFF6E}"/>
              </a:ext>
            </a:extLst>
          </p:cNvPr>
          <p:cNvSpPr txBox="1">
            <a:spLocks noChangeArrowheads="1"/>
          </p:cNvSpPr>
          <p:nvPr/>
        </p:nvSpPr>
        <p:spPr bwMode="auto">
          <a:xfrm>
            <a:off x="1379994" y="643173"/>
            <a:ext cx="612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c</a:t>
            </a:r>
            <a:endParaRPr lang="pt-BR" altLang="pt-BR" sz="1000" dirty="0">
              <a:latin typeface="Arial" panose="020B0604020202020204" pitchFamily="34" charset="0"/>
            </a:endParaRPr>
          </a:p>
        </p:txBody>
      </p:sp>
      <p:cxnSp>
        <p:nvCxnSpPr>
          <p:cNvPr id="25" name="Conector de Seta Reta 24">
            <a:extLst>
              <a:ext uri="{FF2B5EF4-FFF2-40B4-BE49-F238E27FC236}">
                <a16:creationId xmlns:a16="http://schemas.microsoft.com/office/drawing/2014/main" id="{208043B2-E9AB-4F71-A62A-84CD7E23A19A}"/>
              </a:ext>
            </a:extLst>
          </p:cNvPr>
          <p:cNvCxnSpPr>
            <a:cxnSpLocks/>
            <a:stCxn id="20" idx="0"/>
          </p:cNvCxnSpPr>
          <p:nvPr/>
        </p:nvCxnSpPr>
        <p:spPr>
          <a:xfrm flipH="1" flipV="1">
            <a:off x="2721259" y="1508130"/>
            <a:ext cx="270000" cy="35067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6" name="Agrupar 25">
            <a:extLst>
              <a:ext uri="{FF2B5EF4-FFF2-40B4-BE49-F238E27FC236}">
                <a16:creationId xmlns:a16="http://schemas.microsoft.com/office/drawing/2014/main" id="{B18A375C-00C8-4BB5-A171-9689CE64116F}"/>
              </a:ext>
            </a:extLst>
          </p:cNvPr>
          <p:cNvGrpSpPr/>
          <p:nvPr/>
        </p:nvGrpSpPr>
        <p:grpSpPr>
          <a:xfrm>
            <a:off x="344409" y="2568055"/>
            <a:ext cx="479811" cy="516305"/>
            <a:chOff x="0" y="0"/>
            <a:chExt cx="3441707" cy="3318516"/>
          </a:xfrm>
        </p:grpSpPr>
        <p:sp>
          <p:nvSpPr>
            <p:cNvPr id="27" name="Retângulo 26">
              <a:extLst>
                <a:ext uri="{FF2B5EF4-FFF2-40B4-BE49-F238E27FC236}">
                  <a16:creationId xmlns:a16="http://schemas.microsoft.com/office/drawing/2014/main" id="{E2205275-51DD-443B-82B6-6FCE1E93CDD1}"/>
                </a:ext>
              </a:extLst>
            </p:cNvPr>
            <p:cNvSpPr/>
            <p:nvPr/>
          </p:nvSpPr>
          <p:spPr>
            <a:xfrm>
              <a:off x="246445" y="282677"/>
              <a:ext cx="3034936" cy="302985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8" name="Retângulo 4">
              <a:extLst>
                <a:ext uri="{FF2B5EF4-FFF2-40B4-BE49-F238E27FC236}">
                  <a16:creationId xmlns:a16="http://schemas.microsoft.com/office/drawing/2014/main" id="{F5DC2D31-1D7E-481D-8066-C346CF1481BD}"/>
                </a:ext>
              </a:extLst>
            </p:cNvPr>
            <p:cNvSpPr/>
            <p:nvPr/>
          </p:nvSpPr>
          <p:spPr>
            <a:xfrm rot="1796470">
              <a:off x="0" y="840598"/>
              <a:ext cx="1668545" cy="543208"/>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45" h="543208">
                  <a:moveTo>
                    <a:pt x="0" y="0"/>
                  </a:moveTo>
                  <a:lnTo>
                    <a:pt x="1368273" y="224"/>
                  </a:lnTo>
                  <a:lnTo>
                    <a:pt x="1668545" y="537553"/>
                  </a:lnTo>
                  <a:lnTo>
                    <a:pt x="309153" y="543208"/>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9" name="Retângulo 4">
              <a:extLst>
                <a:ext uri="{FF2B5EF4-FFF2-40B4-BE49-F238E27FC236}">
                  <a16:creationId xmlns:a16="http://schemas.microsoft.com/office/drawing/2014/main" id="{6DE90230-7765-416D-B5B9-4054C784F156}"/>
                </a:ext>
              </a:extLst>
            </p:cNvPr>
            <p:cNvSpPr/>
            <p:nvPr/>
          </p:nvSpPr>
          <p:spPr>
            <a:xfrm rot="1796470">
              <a:off x="274106" y="0"/>
              <a:ext cx="1960256" cy="980735"/>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469774"/>
                <a:gd name="connsiteY0" fmla="*/ 360142 h 542984"/>
                <a:gd name="connsiteX1" fmla="*/ 1169502 w 1469774"/>
                <a:gd name="connsiteY1" fmla="*/ 0 h 542984"/>
                <a:gd name="connsiteX2" fmla="*/ 1469774 w 1469774"/>
                <a:gd name="connsiteY2" fmla="*/ 537329 h 542984"/>
                <a:gd name="connsiteX3" fmla="*/ 110382 w 1469774"/>
                <a:gd name="connsiteY3" fmla="*/ 542984 h 542984"/>
                <a:gd name="connsiteX4" fmla="*/ 0 w 1469774"/>
                <a:gd name="connsiteY4" fmla="*/ 360142 h 542984"/>
                <a:gd name="connsiteX0" fmla="*/ 0 w 1427939"/>
                <a:gd name="connsiteY0" fmla="*/ 432775 h 542984"/>
                <a:gd name="connsiteX1" fmla="*/ 1127667 w 1427939"/>
                <a:gd name="connsiteY1" fmla="*/ 0 h 542984"/>
                <a:gd name="connsiteX2" fmla="*/ 1427939 w 1427939"/>
                <a:gd name="connsiteY2" fmla="*/ 537329 h 542984"/>
                <a:gd name="connsiteX3" fmla="*/ 68547 w 1427939"/>
                <a:gd name="connsiteY3" fmla="*/ 542984 h 542984"/>
                <a:gd name="connsiteX4" fmla="*/ 0 w 1427939"/>
                <a:gd name="connsiteY4" fmla="*/ 432775 h 542984"/>
                <a:gd name="connsiteX0" fmla="*/ 0 w 1427939"/>
                <a:gd name="connsiteY0" fmla="*/ 855256 h 965465"/>
                <a:gd name="connsiteX1" fmla="*/ 1403149 w 1427939"/>
                <a:gd name="connsiteY1" fmla="*/ 0 h 965465"/>
                <a:gd name="connsiteX2" fmla="*/ 1427939 w 1427939"/>
                <a:gd name="connsiteY2" fmla="*/ 959810 h 965465"/>
                <a:gd name="connsiteX3" fmla="*/ 68547 w 1427939"/>
                <a:gd name="connsiteY3" fmla="*/ 965465 h 965465"/>
                <a:gd name="connsiteX4" fmla="*/ 0 w 1427939"/>
                <a:gd name="connsiteY4" fmla="*/ 855256 h 965465"/>
                <a:gd name="connsiteX0" fmla="*/ 0 w 1941227"/>
                <a:gd name="connsiteY0" fmla="*/ 855256 h 980735"/>
                <a:gd name="connsiteX1" fmla="*/ 1403149 w 1941227"/>
                <a:gd name="connsiteY1" fmla="*/ 0 h 980735"/>
                <a:gd name="connsiteX2" fmla="*/ 1941227 w 1941227"/>
                <a:gd name="connsiteY2" fmla="*/ 980735 h 980735"/>
                <a:gd name="connsiteX3" fmla="*/ 68547 w 1941227"/>
                <a:gd name="connsiteY3" fmla="*/ 965465 h 980735"/>
                <a:gd name="connsiteX4" fmla="*/ 0 w 1941227"/>
                <a:gd name="connsiteY4" fmla="*/ 855256 h 980735"/>
                <a:gd name="connsiteX0" fmla="*/ 0 w 1941437"/>
                <a:gd name="connsiteY0" fmla="*/ 793822 h 980735"/>
                <a:gd name="connsiteX1" fmla="*/ 1403359 w 1941437"/>
                <a:gd name="connsiteY1" fmla="*/ 0 h 980735"/>
                <a:gd name="connsiteX2" fmla="*/ 1941437 w 1941437"/>
                <a:gd name="connsiteY2" fmla="*/ 980735 h 980735"/>
                <a:gd name="connsiteX3" fmla="*/ 68757 w 1941437"/>
                <a:gd name="connsiteY3" fmla="*/ 965465 h 980735"/>
                <a:gd name="connsiteX4" fmla="*/ 0 w 1941437"/>
                <a:gd name="connsiteY4" fmla="*/ 793822 h 980735"/>
                <a:gd name="connsiteX0" fmla="*/ 0 w 1964383"/>
                <a:gd name="connsiteY0" fmla="*/ 820779 h 980735"/>
                <a:gd name="connsiteX1" fmla="*/ 1426305 w 1964383"/>
                <a:gd name="connsiteY1" fmla="*/ 0 h 980735"/>
                <a:gd name="connsiteX2" fmla="*/ 1964383 w 1964383"/>
                <a:gd name="connsiteY2" fmla="*/ 980735 h 980735"/>
                <a:gd name="connsiteX3" fmla="*/ 91703 w 1964383"/>
                <a:gd name="connsiteY3" fmla="*/ 965465 h 980735"/>
                <a:gd name="connsiteX4" fmla="*/ 0 w 1964383"/>
                <a:gd name="connsiteY4" fmla="*/ 820779 h 980735"/>
                <a:gd name="connsiteX0" fmla="*/ 0 w 1960256"/>
                <a:gd name="connsiteY0" fmla="*/ 818402 h 980735"/>
                <a:gd name="connsiteX1" fmla="*/ 1422178 w 1960256"/>
                <a:gd name="connsiteY1" fmla="*/ 0 h 980735"/>
                <a:gd name="connsiteX2" fmla="*/ 1960256 w 1960256"/>
                <a:gd name="connsiteY2" fmla="*/ 980735 h 980735"/>
                <a:gd name="connsiteX3" fmla="*/ 87576 w 1960256"/>
                <a:gd name="connsiteY3" fmla="*/ 965465 h 980735"/>
                <a:gd name="connsiteX4" fmla="*/ 0 w 1960256"/>
                <a:gd name="connsiteY4" fmla="*/ 818402 h 980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0256" h="980735">
                  <a:moveTo>
                    <a:pt x="0" y="818402"/>
                  </a:moveTo>
                  <a:lnTo>
                    <a:pt x="1422178" y="0"/>
                  </a:lnTo>
                  <a:lnTo>
                    <a:pt x="1960256" y="980735"/>
                  </a:lnTo>
                  <a:lnTo>
                    <a:pt x="87576" y="965465"/>
                  </a:lnTo>
                  <a:lnTo>
                    <a:pt x="0" y="81840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0" name="Retângulo 4">
              <a:extLst>
                <a:ext uri="{FF2B5EF4-FFF2-40B4-BE49-F238E27FC236}">
                  <a16:creationId xmlns:a16="http://schemas.microsoft.com/office/drawing/2014/main" id="{A4C128C8-638A-4B21-90AD-724FDEA8E074}"/>
                </a:ext>
              </a:extLst>
            </p:cNvPr>
            <p:cNvSpPr/>
            <p:nvPr/>
          </p:nvSpPr>
          <p:spPr>
            <a:xfrm rot="19803530" flipV="1">
              <a:off x="2158584" y="861643"/>
              <a:ext cx="1283123" cy="338549"/>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123" h="338549">
                  <a:moveTo>
                    <a:pt x="0" y="1642"/>
                  </a:moveTo>
                  <a:lnTo>
                    <a:pt x="1085253" y="0"/>
                  </a:lnTo>
                  <a:lnTo>
                    <a:pt x="1283123" y="338549"/>
                  </a:lnTo>
                  <a:lnTo>
                    <a:pt x="194527" y="330576"/>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1" name="Retângulo 4">
              <a:extLst>
                <a:ext uri="{FF2B5EF4-FFF2-40B4-BE49-F238E27FC236}">
                  <a16:creationId xmlns:a16="http://schemas.microsoft.com/office/drawing/2014/main" id="{89EDA736-A65E-4F82-8D02-99D4E5A18363}"/>
                </a:ext>
              </a:extLst>
            </p:cNvPr>
            <p:cNvSpPr/>
            <p:nvPr/>
          </p:nvSpPr>
          <p:spPr>
            <a:xfrm rot="19803530" flipV="1">
              <a:off x="2069268" y="142013"/>
              <a:ext cx="1227038" cy="711451"/>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 name="connsiteX0" fmla="*/ 0 w 1283123"/>
                <a:gd name="connsiteY0" fmla="*/ 1642 h 719705"/>
                <a:gd name="connsiteX1" fmla="*/ 1085253 w 1283123"/>
                <a:gd name="connsiteY1" fmla="*/ 0 h 719705"/>
                <a:gd name="connsiteX2" fmla="*/ 1283123 w 1283123"/>
                <a:gd name="connsiteY2" fmla="*/ 338549 h 719705"/>
                <a:gd name="connsiteX3" fmla="*/ 412064 w 1283123"/>
                <a:gd name="connsiteY3" fmla="*/ 719705 h 719705"/>
                <a:gd name="connsiteX4" fmla="*/ 0 w 1283123"/>
                <a:gd name="connsiteY4" fmla="*/ 1642 h 719705"/>
                <a:gd name="connsiteX0" fmla="*/ 0 w 1219696"/>
                <a:gd name="connsiteY0" fmla="*/ 1642 h 719705"/>
                <a:gd name="connsiteX1" fmla="*/ 1085253 w 1219696"/>
                <a:gd name="connsiteY1" fmla="*/ 0 h 719705"/>
                <a:gd name="connsiteX2" fmla="*/ 1219696 w 1219696"/>
                <a:gd name="connsiteY2" fmla="*/ 239880 h 719705"/>
                <a:gd name="connsiteX3" fmla="*/ 412064 w 1219696"/>
                <a:gd name="connsiteY3" fmla="*/ 719705 h 719705"/>
                <a:gd name="connsiteX4" fmla="*/ 0 w 1219696"/>
                <a:gd name="connsiteY4" fmla="*/ 1642 h 719705"/>
                <a:gd name="connsiteX0" fmla="*/ 0 w 1217596"/>
                <a:gd name="connsiteY0" fmla="*/ 1642 h 719705"/>
                <a:gd name="connsiteX1" fmla="*/ 1085253 w 1217596"/>
                <a:gd name="connsiteY1" fmla="*/ 0 h 719705"/>
                <a:gd name="connsiteX2" fmla="*/ 1217596 w 1217596"/>
                <a:gd name="connsiteY2" fmla="*/ 247685 h 719705"/>
                <a:gd name="connsiteX3" fmla="*/ 412064 w 1217596"/>
                <a:gd name="connsiteY3" fmla="*/ 719705 h 719705"/>
                <a:gd name="connsiteX4" fmla="*/ 0 w 1217596"/>
                <a:gd name="connsiteY4" fmla="*/ 1642 h 719705"/>
                <a:gd name="connsiteX0" fmla="*/ 0 w 1227038"/>
                <a:gd name="connsiteY0" fmla="*/ 1642 h 719705"/>
                <a:gd name="connsiteX1" fmla="*/ 1085253 w 1227038"/>
                <a:gd name="connsiteY1" fmla="*/ 0 h 719705"/>
                <a:gd name="connsiteX2" fmla="*/ 1227038 w 1227038"/>
                <a:gd name="connsiteY2" fmla="*/ 244995 h 719705"/>
                <a:gd name="connsiteX3" fmla="*/ 412064 w 1227038"/>
                <a:gd name="connsiteY3" fmla="*/ 719705 h 719705"/>
                <a:gd name="connsiteX4" fmla="*/ 0 w 1227038"/>
                <a:gd name="connsiteY4" fmla="*/ 1642 h 719705"/>
                <a:gd name="connsiteX0" fmla="*/ 0 w 1227038"/>
                <a:gd name="connsiteY0" fmla="*/ 1642 h 711451"/>
                <a:gd name="connsiteX1" fmla="*/ 1085253 w 1227038"/>
                <a:gd name="connsiteY1" fmla="*/ 0 h 711451"/>
                <a:gd name="connsiteX2" fmla="*/ 1227038 w 1227038"/>
                <a:gd name="connsiteY2" fmla="*/ 244995 h 711451"/>
                <a:gd name="connsiteX3" fmla="*/ 407310 w 1227038"/>
                <a:gd name="connsiteY3" fmla="*/ 711451 h 711451"/>
                <a:gd name="connsiteX4" fmla="*/ 0 w 1227038"/>
                <a:gd name="connsiteY4" fmla="*/ 1642 h 711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038" h="711451">
                  <a:moveTo>
                    <a:pt x="0" y="1642"/>
                  </a:moveTo>
                  <a:lnTo>
                    <a:pt x="1085253" y="0"/>
                  </a:lnTo>
                  <a:lnTo>
                    <a:pt x="1227038" y="244995"/>
                  </a:lnTo>
                  <a:lnTo>
                    <a:pt x="407310" y="711451"/>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2" name="Retângulo 4">
              <a:extLst>
                <a:ext uri="{FF2B5EF4-FFF2-40B4-BE49-F238E27FC236}">
                  <a16:creationId xmlns:a16="http://schemas.microsoft.com/office/drawing/2014/main" id="{2995C64F-558C-4D8F-86DD-5EF58E2215B0}"/>
                </a:ext>
              </a:extLst>
            </p:cNvPr>
            <p:cNvSpPr/>
            <p:nvPr/>
          </p:nvSpPr>
          <p:spPr>
            <a:xfrm rot="1796470">
              <a:off x="1222299" y="1328273"/>
              <a:ext cx="851375" cy="625474"/>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48437"/>
                <a:gd name="connsiteY0" fmla="*/ 0 h 626114"/>
                <a:gd name="connsiteX1" fmla="*/ 497373 w 848437"/>
                <a:gd name="connsiteY1" fmla="*/ 5372 h 626114"/>
                <a:gd name="connsiteX2" fmla="*/ 848437 w 848437"/>
                <a:gd name="connsiteY2" fmla="*/ 626114 h 626114"/>
                <a:gd name="connsiteX3" fmla="*/ 349210 w 848437"/>
                <a:gd name="connsiteY3" fmla="*/ 625474 h 626114"/>
                <a:gd name="connsiteX4" fmla="*/ 0 w 848437"/>
                <a:gd name="connsiteY4" fmla="*/ 0 h 626114"/>
                <a:gd name="connsiteX0" fmla="*/ 0 w 851375"/>
                <a:gd name="connsiteY0" fmla="*/ 0 h 625474"/>
                <a:gd name="connsiteX1" fmla="*/ 497373 w 851375"/>
                <a:gd name="connsiteY1" fmla="*/ 5372 h 625474"/>
                <a:gd name="connsiteX2" fmla="*/ 851375 w 851375"/>
                <a:gd name="connsiteY2" fmla="*/ 621673 h 625474"/>
                <a:gd name="connsiteX3" fmla="*/ 349210 w 851375"/>
                <a:gd name="connsiteY3" fmla="*/ 625474 h 625474"/>
                <a:gd name="connsiteX4" fmla="*/ 0 w 851375"/>
                <a:gd name="connsiteY4" fmla="*/ 0 h 6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375" h="625474">
                  <a:moveTo>
                    <a:pt x="0" y="0"/>
                  </a:moveTo>
                  <a:lnTo>
                    <a:pt x="497373" y="5372"/>
                  </a:lnTo>
                  <a:lnTo>
                    <a:pt x="851375" y="621673"/>
                  </a:lnTo>
                  <a:lnTo>
                    <a:pt x="349210" y="625474"/>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3" name="Retângulo 4">
              <a:extLst>
                <a:ext uri="{FF2B5EF4-FFF2-40B4-BE49-F238E27FC236}">
                  <a16:creationId xmlns:a16="http://schemas.microsoft.com/office/drawing/2014/main" id="{66F7547B-7423-40F2-86F7-FFFC8B4898C3}"/>
                </a:ext>
              </a:extLst>
            </p:cNvPr>
            <p:cNvSpPr/>
            <p:nvPr/>
          </p:nvSpPr>
          <p:spPr>
            <a:xfrm rot="19803530" flipV="1">
              <a:off x="1655314" y="1298857"/>
              <a:ext cx="893965" cy="646312"/>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965" h="646312">
                  <a:moveTo>
                    <a:pt x="0" y="7950"/>
                  </a:moveTo>
                  <a:lnTo>
                    <a:pt x="506189" y="0"/>
                  </a:lnTo>
                  <a:lnTo>
                    <a:pt x="893965" y="646312"/>
                  </a:lnTo>
                  <a:lnTo>
                    <a:pt x="360402" y="624228"/>
                  </a:lnTo>
                  <a:lnTo>
                    <a:pt x="0" y="795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4" name="Retângulo 4">
              <a:extLst>
                <a:ext uri="{FF2B5EF4-FFF2-40B4-BE49-F238E27FC236}">
                  <a16:creationId xmlns:a16="http://schemas.microsoft.com/office/drawing/2014/main" id="{DFD5666B-B46E-425D-883E-0F91D90E4FCA}"/>
                </a:ext>
              </a:extLst>
            </p:cNvPr>
            <p:cNvSpPr/>
            <p:nvPr/>
          </p:nvSpPr>
          <p:spPr>
            <a:xfrm rot="19803530" flipV="1">
              <a:off x="1565054" y="267023"/>
              <a:ext cx="954265" cy="966437"/>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893965"/>
                <a:gd name="connsiteY0" fmla="*/ 7950 h 860022"/>
                <a:gd name="connsiteX1" fmla="*/ 506189 w 893965"/>
                <a:gd name="connsiteY1" fmla="*/ 0 h 860022"/>
                <a:gd name="connsiteX2" fmla="*/ 893965 w 893965"/>
                <a:gd name="connsiteY2" fmla="*/ 646312 h 860022"/>
                <a:gd name="connsiteX3" fmla="*/ 504459 w 893965"/>
                <a:gd name="connsiteY3" fmla="*/ 860022 h 860022"/>
                <a:gd name="connsiteX4" fmla="*/ 0 w 893965"/>
                <a:gd name="connsiteY4" fmla="*/ 7950 h 860022"/>
                <a:gd name="connsiteX0" fmla="*/ 0 w 885645"/>
                <a:gd name="connsiteY0" fmla="*/ 7950 h 860022"/>
                <a:gd name="connsiteX1" fmla="*/ 506189 w 885645"/>
                <a:gd name="connsiteY1" fmla="*/ 0 h 860022"/>
                <a:gd name="connsiteX2" fmla="*/ 885645 w 885645"/>
                <a:gd name="connsiteY2" fmla="*/ 631869 h 860022"/>
                <a:gd name="connsiteX3" fmla="*/ 504459 w 885645"/>
                <a:gd name="connsiteY3" fmla="*/ 860022 h 860022"/>
                <a:gd name="connsiteX4" fmla="*/ 0 w 885645"/>
                <a:gd name="connsiteY4" fmla="*/ 7950 h 860022"/>
                <a:gd name="connsiteX0" fmla="*/ 0 w 885645"/>
                <a:gd name="connsiteY0" fmla="*/ 85800 h 937872"/>
                <a:gd name="connsiteX1" fmla="*/ 469593 w 885645"/>
                <a:gd name="connsiteY1" fmla="*/ 0 h 937872"/>
                <a:gd name="connsiteX2" fmla="*/ 885645 w 885645"/>
                <a:gd name="connsiteY2" fmla="*/ 709719 h 937872"/>
                <a:gd name="connsiteX3" fmla="*/ 504459 w 885645"/>
                <a:gd name="connsiteY3" fmla="*/ 937872 h 937872"/>
                <a:gd name="connsiteX4" fmla="*/ 0 w 885645"/>
                <a:gd name="connsiteY4" fmla="*/ 85800 h 937872"/>
                <a:gd name="connsiteX0" fmla="*/ 0 w 954265"/>
                <a:gd name="connsiteY0" fmla="*/ 0 h 966437"/>
                <a:gd name="connsiteX1" fmla="*/ 538213 w 954265"/>
                <a:gd name="connsiteY1" fmla="*/ 28565 h 966437"/>
                <a:gd name="connsiteX2" fmla="*/ 954265 w 954265"/>
                <a:gd name="connsiteY2" fmla="*/ 738284 h 966437"/>
                <a:gd name="connsiteX3" fmla="*/ 573079 w 954265"/>
                <a:gd name="connsiteY3" fmla="*/ 966437 h 966437"/>
                <a:gd name="connsiteX4" fmla="*/ 0 w 954265"/>
                <a:gd name="connsiteY4" fmla="*/ 0 h 966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265" h="966437">
                  <a:moveTo>
                    <a:pt x="0" y="0"/>
                  </a:moveTo>
                  <a:lnTo>
                    <a:pt x="538213" y="28565"/>
                  </a:lnTo>
                  <a:lnTo>
                    <a:pt x="954265" y="738284"/>
                  </a:lnTo>
                  <a:lnTo>
                    <a:pt x="573079" y="966437"/>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5" name="Retângulo 4">
              <a:extLst>
                <a:ext uri="{FF2B5EF4-FFF2-40B4-BE49-F238E27FC236}">
                  <a16:creationId xmlns:a16="http://schemas.microsoft.com/office/drawing/2014/main" id="{CB4E0981-4FFD-49E2-8DC1-B8B8E2071B9D}"/>
                </a:ext>
              </a:extLst>
            </p:cNvPr>
            <p:cNvSpPr/>
            <p:nvPr/>
          </p:nvSpPr>
          <p:spPr>
            <a:xfrm rot="19803530" flipV="1">
              <a:off x="1576742" y="2037638"/>
              <a:ext cx="1136420" cy="127635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20" h="1276350">
                  <a:moveTo>
                    <a:pt x="0" y="217046"/>
                  </a:moveTo>
                  <a:lnTo>
                    <a:pt x="385754" y="0"/>
                  </a:lnTo>
                  <a:lnTo>
                    <a:pt x="1136420" y="127635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6" name="Retângulo 4">
              <a:extLst>
                <a:ext uri="{FF2B5EF4-FFF2-40B4-BE49-F238E27FC236}">
                  <a16:creationId xmlns:a16="http://schemas.microsoft.com/office/drawing/2014/main" id="{8D938C59-A0E0-4954-9DB1-9EAE806B581C}"/>
                </a:ext>
              </a:extLst>
            </p:cNvPr>
            <p:cNvSpPr/>
            <p:nvPr/>
          </p:nvSpPr>
          <p:spPr>
            <a:xfrm rot="1796470" flipH="1" flipV="1">
              <a:off x="1039375" y="2058046"/>
              <a:ext cx="1116280" cy="126047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 name="connsiteX0" fmla="*/ 0 w 1116908"/>
                <a:gd name="connsiteY0" fmla="*/ 217046 h 1271101"/>
                <a:gd name="connsiteX1" fmla="*/ 385754 w 1116908"/>
                <a:gd name="connsiteY1" fmla="*/ 0 h 1271101"/>
                <a:gd name="connsiteX2" fmla="*/ 1116908 w 1116908"/>
                <a:gd name="connsiteY2" fmla="*/ 1271101 h 1271101"/>
                <a:gd name="connsiteX3" fmla="*/ 602857 w 1116908"/>
                <a:gd name="connsiteY3" fmla="*/ 1254266 h 1271101"/>
                <a:gd name="connsiteX4" fmla="*/ 0 w 1116908"/>
                <a:gd name="connsiteY4" fmla="*/ 217046 h 1271101"/>
                <a:gd name="connsiteX0" fmla="*/ 0 w 1116280"/>
                <a:gd name="connsiteY0" fmla="*/ 217046 h 1260470"/>
                <a:gd name="connsiteX1" fmla="*/ 385754 w 1116280"/>
                <a:gd name="connsiteY1" fmla="*/ 0 h 1260470"/>
                <a:gd name="connsiteX2" fmla="*/ 1116280 w 1116280"/>
                <a:gd name="connsiteY2" fmla="*/ 1260470 h 1260470"/>
                <a:gd name="connsiteX3" fmla="*/ 602857 w 1116280"/>
                <a:gd name="connsiteY3" fmla="*/ 1254266 h 1260470"/>
                <a:gd name="connsiteX4" fmla="*/ 0 w 1116280"/>
                <a:gd name="connsiteY4" fmla="*/ 217046 h 1260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280" h="1260470">
                  <a:moveTo>
                    <a:pt x="0" y="217046"/>
                  </a:moveTo>
                  <a:lnTo>
                    <a:pt x="385754" y="0"/>
                  </a:lnTo>
                  <a:lnTo>
                    <a:pt x="1116280" y="126047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7" name="Elipse 36">
              <a:extLst>
                <a:ext uri="{FF2B5EF4-FFF2-40B4-BE49-F238E27FC236}">
                  <a16:creationId xmlns:a16="http://schemas.microsoft.com/office/drawing/2014/main" id="{A9E09DCE-CAF7-4547-B90B-AA0056E01BA9}"/>
                </a:ext>
              </a:extLst>
            </p:cNvPr>
            <p:cNvSpPr/>
            <p:nvPr/>
          </p:nvSpPr>
          <p:spPr>
            <a:xfrm>
              <a:off x="1815997" y="1670383"/>
              <a:ext cx="112263" cy="112263"/>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38" name="Imagem 37">
              <a:extLst>
                <a:ext uri="{FF2B5EF4-FFF2-40B4-BE49-F238E27FC236}">
                  <a16:creationId xmlns:a16="http://schemas.microsoft.com/office/drawing/2014/main" id="{6E2BD29B-E059-46B5-A872-630A1E6F2AC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Lst>
            </a:blip>
            <a:stretch>
              <a:fillRect/>
            </a:stretch>
          </p:blipFill>
          <p:spPr>
            <a:xfrm rot="14747781">
              <a:off x="2395958" y="2077577"/>
              <a:ext cx="360593" cy="285041"/>
            </a:xfrm>
            <a:prstGeom prst="rect">
              <a:avLst/>
            </a:prstGeom>
          </p:spPr>
        </p:pic>
        <p:cxnSp>
          <p:nvCxnSpPr>
            <p:cNvPr id="39" name="Conector reto 38">
              <a:extLst>
                <a:ext uri="{FF2B5EF4-FFF2-40B4-BE49-F238E27FC236}">
                  <a16:creationId xmlns:a16="http://schemas.microsoft.com/office/drawing/2014/main" id="{34AF625D-010B-4D71-9F95-D93F9313F360}"/>
                </a:ext>
              </a:extLst>
            </p:cNvPr>
            <p:cNvCxnSpPr>
              <a:cxnSpLocks/>
            </p:cNvCxnSpPr>
            <p:nvPr/>
          </p:nvCxnSpPr>
          <p:spPr>
            <a:xfrm>
              <a:off x="1856900" y="1713896"/>
              <a:ext cx="535674" cy="387680"/>
            </a:xfrm>
            <a:prstGeom prst="line">
              <a:avLst/>
            </a:prstGeom>
            <a:ln w="9525">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4" name="Rectangle 33">
            <a:extLst>
              <a:ext uri="{FF2B5EF4-FFF2-40B4-BE49-F238E27FC236}">
                <a16:creationId xmlns:a16="http://schemas.microsoft.com/office/drawing/2014/main" id="{007B2EFE-3A5C-4D61-90F5-6C854AA904FE}"/>
              </a:ext>
            </a:extLst>
          </p:cNvPr>
          <p:cNvSpPr>
            <a:spLocks noChangeArrowheads="1"/>
          </p:cNvSpPr>
          <p:nvPr/>
        </p:nvSpPr>
        <p:spPr bwMode="auto">
          <a:xfrm>
            <a:off x="879269" y="4647455"/>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40" name="Rectangle 37">
            <a:extLst>
              <a:ext uri="{FF2B5EF4-FFF2-40B4-BE49-F238E27FC236}">
                <a16:creationId xmlns:a16="http://schemas.microsoft.com/office/drawing/2014/main" id="{F3E59587-282D-4189-8F6E-F2906DDC0C96}"/>
              </a:ext>
            </a:extLst>
          </p:cNvPr>
          <p:cNvSpPr>
            <a:spLocks noChangeArrowheads="1"/>
          </p:cNvSpPr>
          <p:nvPr/>
        </p:nvSpPr>
        <p:spPr bwMode="auto">
          <a:xfrm>
            <a:off x="3893780" y="278110"/>
            <a:ext cx="874278"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1:</a:t>
            </a:r>
            <a:endParaRPr lang="pt-BR" altLang="pt-BR" sz="14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5642A757-A686-43A1-8DE0-BB347F987261}"/>
              </a:ext>
            </a:extLst>
          </p:cNvPr>
          <p:cNvSpPr>
            <a:spLocks noChangeArrowheads="1"/>
          </p:cNvSpPr>
          <p:nvPr/>
        </p:nvSpPr>
        <p:spPr bwMode="auto">
          <a:xfrm>
            <a:off x="3877126" y="787013"/>
            <a:ext cx="3154719"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a:t>
            </a:r>
            <a:r>
              <a:rPr lang="pt-BR" altLang="pt-BR" sz="1400" dirty="0">
                <a:latin typeface="Arial" panose="020B0604020202020204" pitchFamily="34" charset="0"/>
                <a:ea typeface="Times New Roman" panose="02020603050405020304" pitchFamily="18" charset="0"/>
                <a:cs typeface="Arial" panose="020B0604020202020204" pitchFamily="34" charset="0"/>
              </a:rPr>
              <a:t> - Posicione um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alinhando com o furo do “Canto – a”.</a:t>
            </a: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a:t>
            </a:r>
            <a:r>
              <a:rPr lang="pt-BR" altLang="pt-BR" sz="1400" dirty="0">
                <a:latin typeface="Arial" panose="020B0604020202020204" pitchFamily="34" charset="0"/>
                <a:ea typeface="Times New Roman" panose="02020603050405020304" pitchFamily="18" charset="0"/>
                <a:cs typeface="Arial" panose="020B0604020202020204" pitchFamily="34" charset="0"/>
              </a:rPr>
              <a:t> – Insira o parafuso sextavado                          atravessando as peças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e “Canto – a” (5) no sentido “fora para dentro”.</a:t>
            </a: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pic>
        <p:nvPicPr>
          <p:cNvPr id="59" name="Picture 5">
            <a:extLst>
              <a:ext uri="{FF2B5EF4-FFF2-40B4-BE49-F238E27FC236}">
                <a16:creationId xmlns:a16="http://schemas.microsoft.com/office/drawing/2014/main" id="{82070C67-0F2D-4D97-89C9-7FDA3F121A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779" y="4606057"/>
            <a:ext cx="3268804" cy="34924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0" name="Agrupar 59">
            <a:extLst>
              <a:ext uri="{FF2B5EF4-FFF2-40B4-BE49-F238E27FC236}">
                <a16:creationId xmlns:a16="http://schemas.microsoft.com/office/drawing/2014/main" id="{776F5A46-8666-4E19-9D6F-47B765847E00}"/>
              </a:ext>
            </a:extLst>
          </p:cNvPr>
          <p:cNvGrpSpPr/>
          <p:nvPr/>
        </p:nvGrpSpPr>
        <p:grpSpPr>
          <a:xfrm>
            <a:off x="333869" y="4383394"/>
            <a:ext cx="3543257" cy="3679341"/>
            <a:chOff x="-72735" y="10124"/>
            <a:chExt cx="1962776" cy="2566564"/>
          </a:xfrm>
        </p:grpSpPr>
        <p:sp>
          <p:nvSpPr>
            <p:cNvPr id="61" name="Caixa de Texto 41">
              <a:extLst>
                <a:ext uri="{FF2B5EF4-FFF2-40B4-BE49-F238E27FC236}">
                  <a16:creationId xmlns:a16="http://schemas.microsoft.com/office/drawing/2014/main" id="{5F5D1AFB-93EE-4757-A2DF-92997156014E}"/>
                </a:ext>
              </a:extLst>
            </p:cNvPr>
            <p:cNvSpPr txBox="1"/>
            <p:nvPr/>
          </p:nvSpPr>
          <p:spPr>
            <a:xfrm>
              <a:off x="-64320" y="10124"/>
              <a:ext cx="434975" cy="116840"/>
            </a:xfrm>
            <a:prstGeom prst="rect">
              <a:avLst/>
            </a:prstGeom>
            <a:solidFill>
              <a:schemeClr val="bg2">
                <a:lumMod val="90000"/>
              </a:schemeClr>
            </a:solid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b="1" dirty="0">
                  <a:latin typeface="Arial" panose="020B0604020202020204" pitchFamily="34" charset="0"/>
                  <a:ea typeface="Calibri" panose="020F0502020204030204" pitchFamily="34" charset="0"/>
                  <a:cs typeface="Times New Roman" panose="02020603050405020304" pitchFamily="18" charset="0"/>
                </a:rPr>
                <a:t>Passo 2</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pSp>
          <p:nvGrpSpPr>
            <p:cNvPr id="62" name="Agrupar 61">
              <a:extLst>
                <a:ext uri="{FF2B5EF4-FFF2-40B4-BE49-F238E27FC236}">
                  <a16:creationId xmlns:a16="http://schemas.microsoft.com/office/drawing/2014/main" id="{1278C069-764A-4BFF-A407-A81B6233048B}"/>
                </a:ext>
              </a:extLst>
            </p:cNvPr>
            <p:cNvGrpSpPr/>
            <p:nvPr/>
          </p:nvGrpSpPr>
          <p:grpSpPr>
            <a:xfrm>
              <a:off x="-72735" y="276017"/>
              <a:ext cx="1962776" cy="2300671"/>
              <a:chOff x="-72735" y="137028"/>
              <a:chExt cx="1962776" cy="2300671"/>
            </a:xfrm>
          </p:grpSpPr>
          <p:sp>
            <p:nvSpPr>
              <p:cNvPr id="63" name="Caixa de Texto 48">
                <a:extLst>
                  <a:ext uri="{FF2B5EF4-FFF2-40B4-BE49-F238E27FC236}">
                    <a16:creationId xmlns:a16="http://schemas.microsoft.com/office/drawing/2014/main" id="{FEFAEA15-DADB-45FD-BFAD-0AC832CFFB9F}"/>
                  </a:ext>
                </a:extLst>
              </p:cNvPr>
              <p:cNvSpPr txBox="1"/>
              <p:nvPr/>
            </p:nvSpPr>
            <p:spPr>
              <a:xfrm>
                <a:off x="1404340" y="137028"/>
                <a:ext cx="354228"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c</a:t>
                </a:r>
              </a:p>
            </p:txBody>
          </p:sp>
          <p:sp>
            <p:nvSpPr>
              <p:cNvPr id="64" name="Caixa de Texto 49">
                <a:extLst>
                  <a:ext uri="{FF2B5EF4-FFF2-40B4-BE49-F238E27FC236}">
                    <a16:creationId xmlns:a16="http://schemas.microsoft.com/office/drawing/2014/main" id="{E08813D2-C21E-4C7E-B4EA-F5997C9ED855}"/>
                  </a:ext>
                </a:extLst>
              </p:cNvPr>
              <p:cNvSpPr txBox="1"/>
              <p:nvPr/>
            </p:nvSpPr>
            <p:spPr>
              <a:xfrm>
                <a:off x="-46262" y="1587363"/>
                <a:ext cx="328270"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a</a:t>
                </a:r>
              </a:p>
            </p:txBody>
          </p:sp>
          <p:sp>
            <p:nvSpPr>
              <p:cNvPr id="65" name="Caixa de Texto 50">
                <a:extLst>
                  <a:ext uri="{FF2B5EF4-FFF2-40B4-BE49-F238E27FC236}">
                    <a16:creationId xmlns:a16="http://schemas.microsoft.com/office/drawing/2014/main" id="{EDEACC9E-BE24-4463-9B5C-A65E01E167B1}"/>
                  </a:ext>
                </a:extLst>
              </p:cNvPr>
              <p:cNvSpPr txBox="1"/>
              <p:nvPr/>
            </p:nvSpPr>
            <p:spPr>
              <a:xfrm>
                <a:off x="755688" y="1141171"/>
                <a:ext cx="333045"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dirty="0">
                    <a:latin typeface="Arial" panose="020B0604020202020204" pitchFamily="34" charset="0"/>
                    <a:ea typeface="Calibri" panose="020F0502020204030204" pitchFamily="34" charset="0"/>
                    <a:cs typeface="Times New Roman" panose="02020603050405020304" pitchFamily="18" charset="0"/>
                  </a:rPr>
                  <a:t>Perna - b</a:t>
                </a:r>
              </a:p>
            </p:txBody>
          </p:sp>
          <p:sp>
            <p:nvSpPr>
              <p:cNvPr id="66" name="Caixa de Texto 51">
                <a:extLst>
                  <a:ext uri="{FF2B5EF4-FFF2-40B4-BE49-F238E27FC236}">
                    <a16:creationId xmlns:a16="http://schemas.microsoft.com/office/drawing/2014/main" id="{D627CA04-4455-4233-812C-02DCC9574FD3}"/>
                  </a:ext>
                </a:extLst>
              </p:cNvPr>
              <p:cNvSpPr txBox="1"/>
              <p:nvPr/>
            </p:nvSpPr>
            <p:spPr>
              <a:xfrm>
                <a:off x="-72735" y="691252"/>
                <a:ext cx="317047"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d</a:t>
                </a:r>
              </a:p>
            </p:txBody>
          </p:sp>
          <p:cxnSp>
            <p:nvCxnSpPr>
              <p:cNvPr id="67" name="Conector de Seta Reta 66">
                <a:extLst>
                  <a:ext uri="{FF2B5EF4-FFF2-40B4-BE49-F238E27FC236}">
                    <a16:creationId xmlns:a16="http://schemas.microsoft.com/office/drawing/2014/main" id="{C219FEFD-ABFF-4A4E-B0BD-0247B6AADB69}"/>
                  </a:ext>
                </a:extLst>
              </p:cNvPr>
              <p:cNvCxnSpPr/>
              <p:nvPr/>
            </p:nvCxnSpPr>
            <p:spPr>
              <a:xfrm flipV="1">
                <a:off x="282008" y="1539085"/>
                <a:ext cx="242647" cy="104062"/>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Conector de Seta Reta 67">
                <a:extLst>
                  <a:ext uri="{FF2B5EF4-FFF2-40B4-BE49-F238E27FC236}">
                    <a16:creationId xmlns:a16="http://schemas.microsoft.com/office/drawing/2014/main" id="{C93E607A-39B2-49E4-87E5-275E9F3FF5EE}"/>
                  </a:ext>
                </a:extLst>
              </p:cNvPr>
              <p:cNvCxnSpPr/>
              <p:nvPr/>
            </p:nvCxnSpPr>
            <p:spPr>
              <a:xfrm>
                <a:off x="36550" y="795734"/>
                <a:ext cx="149962" cy="14264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ector de Seta Reta 68">
                <a:extLst>
                  <a:ext uri="{FF2B5EF4-FFF2-40B4-BE49-F238E27FC236}">
                    <a16:creationId xmlns:a16="http://schemas.microsoft.com/office/drawing/2014/main" id="{0B3FC4D3-E706-4AF2-B01B-E03274113E5A}"/>
                  </a:ext>
                </a:extLst>
              </p:cNvPr>
              <p:cNvCxnSpPr>
                <a:cxnSpLocks/>
              </p:cNvCxnSpPr>
              <p:nvPr/>
            </p:nvCxnSpPr>
            <p:spPr>
              <a:xfrm flipH="1">
                <a:off x="1249752" y="242038"/>
                <a:ext cx="301472" cy="573518"/>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5B5D9133-212E-4927-A16F-E4EF6040710B}"/>
                  </a:ext>
                </a:extLst>
              </p:cNvPr>
              <p:cNvCxnSpPr>
                <a:cxnSpLocks/>
              </p:cNvCxnSpPr>
              <p:nvPr/>
            </p:nvCxnSpPr>
            <p:spPr>
              <a:xfrm flipV="1">
                <a:off x="1088733" y="983199"/>
                <a:ext cx="373630" cy="2032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aixa de Texto 65">
                <a:extLst>
                  <a:ext uri="{FF2B5EF4-FFF2-40B4-BE49-F238E27FC236}">
                    <a16:creationId xmlns:a16="http://schemas.microsoft.com/office/drawing/2014/main" id="{3D41329E-FC77-4F32-BD2E-5A93FA0150AC}"/>
                  </a:ext>
                </a:extLst>
              </p:cNvPr>
              <p:cNvSpPr txBox="1"/>
              <p:nvPr/>
            </p:nvSpPr>
            <p:spPr>
              <a:xfrm>
                <a:off x="-33168" y="2333437"/>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a</a:t>
                </a:r>
              </a:p>
            </p:txBody>
          </p:sp>
          <p:cxnSp>
            <p:nvCxnSpPr>
              <p:cNvPr id="72" name="Conector de Seta Reta 71">
                <a:extLst>
                  <a:ext uri="{FF2B5EF4-FFF2-40B4-BE49-F238E27FC236}">
                    <a16:creationId xmlns:a16="http://schemas.microsoft.com/office/drawing/2014/main" id="{5E4633EB-B77F-4EA0-AB1C-13A7309723CA}"/>
                  </a:ext>
                </a:extLst>
              </p:cNvPr>
              <p:cNvCxnSpPr>
                <a:cxnSpLocks/>
              </p:cNvCxnSpPr>
              <p:nvPr/>
            </p:nvCxnSpPr>
            <p:spPr>
              <a:xfrm>
                <a:off x="285906" y="2379218"/>
                <a:ext cx="21211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3" name="Caixa de Texto 69">
                <a:extLst>
                  <a:ext uri="{FF2B5EF4-FFF2-40B4-BE49-F238E27FC236}">
                    <a16:creationId xmlns:a16="http://schemas.microsoft.com/office/drawing/2014/main" id="{8BD91469-4231-4005-A075-9B094F578869}"/>
                  </a:ext>
                </a:extLst>
              </p:cNvPr>
              <p:cNvSpPr txBox="1"/>
              <p:nvPr/>
            </p:nvSpPr>
            <p:spPr>
              <a:xfrm>
                <a:off x="-38859" y="2193528"/>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d</a:t>
                </a:r>
              </a:p>
            </p:txBody>
          </p:sp>
          <p:cxnSp>
            <p:nvCxnSpPr>
              <p:cNvPr id="74" name="Conector de Seta Reta 73">
                <a:extLst>
                  <a:ext uri="{FF2B5EF4-FFF2-40B4-BE49-F238E27FC236}">
                    <a16:creationId xmlns:a16="http://schemas.microsoft.com/office/drawing/2014/main" id="{BC95A921-021F-4F42-9424-F4003BA67364}"/>
                  </a:ext>
                </a:extLst>
              </p:cNvPr>
              <p:cNvCxnSpPr>
                <a:cxnSpLocks/>
              </p:cNvCxnSpPr>
              <p:nvPr/>
            </p:nvCxnSpPr>
            <p:spPr>
              <a:xfrm flipV="1">
                <a:off x="217627" y="2078434"/>
                <a:ext cx="11760" cy="11509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5" name="Caixa de Texto 71">
                <a:extLst>
                  <a:ext uri="{FF2B5EF4-FFF2-40B4-BE49-F238E27FC236}">
                    <a16:creationId xmlns:a16="http://schemas.microsoft.com/office/drawing/2014/main" id="{28F89416-FB9A-426C-9FBE-0885C955F4C0}"/>
                  </a:ext>
                </a:extLst>
              </p:cNvPr>
              <p:cNvSpPr txBox="1"/>
              <p:nvPr/>
            </p:nvSpPr>
            <p:spPr>
              <a:xfrm>
                <a:off x="1044550" y="2335464"/>
                <a:ext cx="329184"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b</a:t>
                </a:r>
              </a:p>
            </p:txBody>
          </p:sp>
          <p:cxnSp>
            <p:nvCxnSpPr>
              <p:cNvPr id="76" name="Conector de Seta Reta 75">
                <a:extLst>
                  <a:ext uri="{FF2B5EF4-FFF2-40B4-BE49-F238E27FC236}">
                    <a16:creationId xmlns:a16="http://schemas.microsoft.com/office/drawing/2014/main" id="{0827123E-9EA0-4134-B1EA-4079F4F5848F}"/>
                  </a:ext>
                </a:extLst>
              </p:cNvPr>
              <p:cNvCxnSpPr>
                <a:cxnSpLocks/>
                <a:stCxn id="77" idx="1"/>
              </p:cNvCxnSpPr>
              <p:nvPr/>
            </p:nvCxnSpPr>
            <p:spPr>
              <a:xfrm flipH="1">
                <a:off x="1249752" y="1817561"/>
                <a:ext cx="31135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Caixa de Texto 73">
                <a:extLst>
                  <a:ext uri="{FF2B5EF4-FFF2-40B4-BE49-F238E27FC236}">
                    <a16:creationId xmlns:a16="http://schemas.microsoft.com/office/drawing/2014/main" id="{4950A09C-3128-4EB5-B5F4-1FD65AD30618}"/>
                  </a:ext>
                </a:extLst>
              </p:cNvPr>
              <p:cNvSpPr txBox="1"/>
              <p:nvPr/>
            </p:nvSpPr>
            <p:spPr>
              <a:xfrm>
                <a:off x="1561111" y="1766443"/>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c</a:t>
                </a:r>
              </a:p>
            </p:txBody>
          </p:sp>
          <p:cxnSp>
            <p:nvCxnSpPr>
              <p:cNvPr id="78" name="Conector de Seta Reta 77">
                <a:extLst>
                  <a:ext uri="{FF2B5EF4-FFF2-40B4-BE49-F238E27FC236}">
                    <a16:creationId xmlns:a16="http://schemas.microsoft.com/office/drawing/2014/main" id="{4AE3C41A-F416-4BC2-AC8E-A6008C481B9D}"/>
                  </a:ext>
                </a:extLst>
              </p:cNvPr>
              <p:cNvCxnSpPr>
                <a:cxnSpLocks/>
              </p:cNvCxnSpPr>
              <p:nvPr/>
            </p:nvCxnSpPr>
            <p:spPr>
              <a:xfrm flipV="1">
                <a:off x="1373323" y="2289826"/>
                <a:ext cx="123003" cy="9675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79" name="Rectangle 21">
            <a:extLst>
              <a:ext uri="{FF2B5EF4-FFF2-40B4-BE49-F238E27FC236}">
                <a16:creationId xmlns:a16="http://schemas.microsoft.com/office/drawing/2014/main" id="{02037403-3024-4449-A594-5EEBA5C2EC50}"/>
              </a:ext>
            </a:extLst>
          </p:cNvPr>
          <p:cNvSpPr>
            <a:spLocks noChangeArrowheads="1"/>
          </p:cNvSpPr>
          <p:nvPr/>
        </p:nvSpPr>
        <p:spPr bwMode="auto">
          <a:xfrm>
            <a:off x="336584" y="4261206"/>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89" name="Rectangle 31">
            <a:extLst>
              <a:ext uri="{FF2B5EF4-FFF2-40B4-BE49-F238E27FC236}">
                <a16:creationId xmlns:a16="http://schemas.microsoft.com/office/drawing/2014/main" id="{6CD1CA84-7709-4E0D-925C-7D33D163E4D8}"/>
              </a:ext>
            </a:extLst>
          </p:cNvPr>
          <p:cNvSpPr>
            <a:spLocks noChangeArrowheads="1"/>
          </p:cNvSpPr>
          <p:nvPr/>
        </p:nvSpPr>
        <p:spPr bwMode="auto">
          <a:xfrm>
            <a:off x="3893779" y="4766782"/>
            <a:ext cx="3154720" cy="330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2:</a:t>
            </a:r>
          </a:p>
          <a:p>
            <a:pPr defTabSz="685800" eaLnBrk="0" fontAlgn="base" hangingPunct="0">
              <a:spcBef>
                <a:spcPct val="0"/>
              </a:spcBef>
              <a:spcAft>
                <a:spcPct val="0"/>
              </a:spcAft>
            </a:pPr>
            <a:endParaRPr lang="pt-BR" altLang="pt-BR" sz="1400" dirty="0"/>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Posicione o “Canto - a” do “Paneleiro (4)” alinhando com o furo do “Perna – a”.</a:t>
            </a:r>
            <a:endParaRPr lang="pt-BR" altLang="pt-BR" sz="1400" dirty="0"/>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Insira o parafuso sextavado atravessando as peças “Perna - a” e “Paneleiro” (4) no sentido “fora para dentro”.</a:t>
            </a:r>
            <a:endParaRPr lang="pt-BR" altLang="pt-BR" sz="1400" dirty="0"/>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endParaRPr lang="pt-BR" altLang="pt-BR" sz="1400" dirty="0"/>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sp>
        <p:nvSpPr>
          <p:cNvPr id="2" name="Espaço Reservado para Número de Slide 1">
            <a:extLst>
              <a:ext uri="{FF2B5EF4-FFF2-40B4-BE49-F238E27FC236}">
                <a16:creationId xmlns:a16="http://schemas.microsoft.com/office/drawing/2014/main" id="{E57668EA-A228-4921-9166-031C34DA20A8}"/>
              </a:ext>
            </a:extLst>
          </p:cNvPr>
          <p:cNvSpPr>
            <a:spLocks noGrp="1"/>
          </p:cNvSpPr>
          <p:nvPr>
            <p:ph type="sldNum" sz="quarter" idx="12"/>
          </p:nvPr>
        </p:nvSpPr>
        <p:spPr/>
        <p:txBody>
          <a:bodyPr/>
          <a:lstStyle/>
          <a:p>
            <a:fld id="{136BC063-5F49-4282-BA96-4716B49D2CCE}" type="slidenum">
              <a:rPr lang="pt-BR" smtClean="0"/>
              <a:t>9</a:t>
            </a:fld>
            <a:endParaRPr lang="pt-BR"/>
          </a:p>
        </p:txBody>
      </p:sp>
    </p:spTree>
    <p:extLst>
      <p:ext uri="{BB962C8B-B14F-4D97-AF65-F5344CB8AC3E}">
        <p14:creationId xmlns:p14="http://schemas.microsoft.com/office/powerpoint/2010/main" val="396497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25" name="Imagem 1026">
            <a:extLst>
              <a:ext uri="{FF2B5EF4-FFF2-40B4-BE49-F238E27FC236}">
                <a16:creationId xmlns:a16="http://schemas.microsoft.com/office/drawing/2014/main" id="{8E3264EA-F694-4F69-9525-B41B83CD7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16848"/>
            <a:ext cx="3088598" cy="28400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 name="Caixa de Texto 75">
            <a:extLst>
              <a:ext uri="{FF2B5EF4-FFF2-40B4-BE49-F238E27FC236}">
                <a16:creationId xmlns:a16="http://schemas.microsoft.com/office/drawing/2014/main" id="{97D7D878-0968-4F17-A771-C1983880AE92}"/>
              </a:ext>
            </a:extLst>
          </p:cNvPr>
          <p:cNvSpPr txBox="1">
            <a:spLocks noChangeArrowheads="1"/>
          </p:cNvSpPr>
          <p:nvPr/>
        </p:nvSpPr>
        <p:spPr bwMode="auto">
          <a:xfrm>
            <a:off x="228600" y="2647326"/>
            <a:ext cx="864000" cy="396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Montagem final</a:t>
            </a:r>
            <a:endParaRPr lang="pt-BR" altLang="pt-BR" sz="3600" dirty="0">
              <a:latin typeface="Arial" panose="020B0604020202020204" pitchFamily="34" charset="0"/>
            </a:endParaRPr>
          </a:p>
        </p:txBody>
      </p:sp>
      <p:sp>
        <p:nvSpPr>
          <p:cNvPr id="27" name="Rectangle 35">
            <a:extLst>
              <a:ext uri="{FF2B5EF4-FFF2-40B4-BE49-F238E27FC236}">
                <a16:creationId xmlns:a16="http://schemas.microsoft.com/office/drawing/2014/main" id="{1DE87F32-6306-4C05-AC32-5771AC6DC677}"/>
              </a:ext>
            </a:extLst>
          </p:cNvPr>
          <p:cNvSpPr>
            <a:spLocks noChangeArrowheads="1"/>
          </p:cNvSpPr>
          <p:nvPr/>
        </p:nvSpPr>
        <p:spPr bwMode="auto">
          <a:xfrm>
            <a:off x="4077891" y="216848"/>
            <a:ext cx="2880000" cy="2308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Times New Roman" panose="02020603050405020304" pitchFamily="18" charset="0"/>
              </a:rPr>
              <a:t> </a:t>
            </a:r>
            <a:endParaRPr lang="pt-BR" altLang="pt-BR" sz="1200" dirty="0"/>
          </a:p>
          <a:p>
            <a:pPr defTabSz="685800"/>
            <a:r>
              <a:rPr lang="pt-BR" altLang="pt-BR" sz="1200" b="1" dirty="0">
                <a:ea typeface="Times New Roman" panose="02020603050405020304" pitchFamily="18" charset="0"/>
                <a:cs typeface="Arial" panose="020B0604020202020204" pitchFamily="34" charset="0"/>
              </a:rPr>
              <a:t>Sugestões:</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O fogão deve ser posicionado em local bem arejado.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Evite instalar em locais com correntes de ar, pois isso pode vir a apagar as chamas, ou acarretar mau funcionamento.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Recomenda-se a utilização de um exaustor de ar.</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Respeite a altura de 1 a 1,20 m entre o fogão e o depurador de ar ou uma coifa.</a:t>
            </a:r>
            <a:endParaRPr lang="pt-BR" altLang="pt-BR" sz="1200" dirty="0"/>
          </a:p>
          <a:p>
            <a:pPr defTabSz="685800"/>
            <a:endParaRPr lang="pt-BR" altLang="pt-BR" sz="1200" dirty="0"/>
          </a:p>
        </p:txBody>
      </p:sp>
      <p:sp>
        <p:nvSpPr>
          <p:cNvPr id="28" name="Rectangle 37">
            <a:extLst>
              <a:ext uri="{FF2B5EF4-FFF2-40B4-BE49-F238E27FC236}">
                <a16:creationId xmlns:a16="http://schemas.microsoft.com/office/drawing/2014/main" id="{127C9B41-FD18-4028-83F2-365E6EDDB2C0}"/>
              </a:ext>
            </a:extLst>
          </p:cNvPr>
          <p:cNvSpPr>
            <a:spLocks noChangeArrowheads="1"/>
          </p:cNvSpPr>
          <p:nvPr/>
        </p:nvSpPr>
        <p:spPr bwMode="auto">
          <a:xfrm>
            <a:off x="237600" y="3056905"/>
            <a:ext cx="6840000" cy="671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200" b="1" dirty="0" bmk="">
                <a:solidFill>
                  <a:srgbClr val="000000"/>
                </a:solidFill>
                <a:ea typeface="Times New Roman" panose="02020603050405020304" pitchFamily="18" charset="0"/>
                <a:cs typeface="Times New Roman" panose="02020603050405020304" pitchFamily="18" charset="0"/>
              </a:rPr>
              <a:t>3.3 Orientações de manuseio do produto</a:t>
            </a:r>
          </a:p>
          <a:p>
            <a:pPr algn="just"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Certifique-se que o forno acendeu antes de fechar a porta;</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forno só se manterá aceso se forem seguidas as orientações;</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Ao manusear ou retirar alimentos do forno, utilize luvas térmicas de proteção;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Os orifícios no chão do forno não devem ser obstruídos, nem devem ser revestidos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paredes do forno não devem ser revestidas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isolamento térmico do fogão produz durante os primeiros minutos de funcionamento, fumaça e odores característicos.</a:t>
            </a:r>
            <a:r>
              <a:rPr lang="pt-BR" sz="1200" dirty="0">
                <a:cs typeface="Arial" panose="020B0604020202020204" pitchFamily="34" charset="0"/>
              </a:rPr>
              <a:t> O isolamento térmico do fogão produz durante os primeiros minutos de funcionamento, fumaça e odores característicos.</a:t>
            </a:r>
          </a:p>
          <a:p>
            <a:pPr algn="just" defTabSz="685800"/>
            <a:endParaRPr lang="pt-BR" sz="1200" dirty="0">
              <a:cs typeface="Arial" panose="020B0604020202020204" pitchFamily="34" charset="0"/>
            </a:endParaRPr>
          </a:p>
          <a:p>
            <a:pPr algn="just" defTabSz="685800"/>
            <a:r>
              <a:rPr lang="pt-BR" sz="1200" b="1" dirty="0">
                <a:cs typeface="Arial" panose="020B0604020202020204" pitchFamily="34" charset="0"/>
              </a:rPr>
              <a:t>3.4 Pré-instalação do gás</a:t>
            </a:r>
          </a:p>
          <a:p>
            <a:pPr algn="just" defTabSz="685800"/>
            <a:endParaRPr lang="pt-BR" sz="1200" b="1"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Os fogões industriais são fabricados para uso com GÁS GLP; </a:t>
            </a:r>
          </a:p>
          <a:p>
            <a:pPr marL="171450" indent="-171450" algn="just" defTabSz="685800">
              <a:buFont typeface="Arial" panose="020B0604020202020204" pitchFamily="34" charset="0"/>
              <a:buChar char="•"/>
            </a:pPr>
            <a:r>
              <a:rPr lang="pt-BR" sz="1200" dirty="0">
                <a:cs typeface="Arial" panose="020B0604020202020204" pitchFamily="34" charset="0"/>
              </a:rPr>
              <a:t>A entrada de gás está à direita (visto pela frente);</a:t>
            </a:r>
          </a:p>
          <a:p>
            <a:pPr marL="171450" indent="-171450" algn="just" defTabSz="685800">
              <a:buFont typeface="Arial" panose="020B0604020202020204" pitchFamily="34" charset="0"/>
              <a:buChar char="•"/>
            </a:pPr>
            <a:r>
              <a:rPr lang="pt-BR" sz="1200" dirty="0">
                <a:cs typeface="Arial" panose="020B0604020202020204" pitchFamily="34" charset="0"/>
              </a:rPr>
              <a:t>Pode-se utilizar no fogão de 2 bocas botijão de gás 13kg e para fogões de 4, 6 e 8 bocas                         cilindros de 45kg;</a:t>
            </a: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É necessária a utilização da válvula reguladora de pressão, verifique com seu distribuidor de gás a válvula mais adequada a ser utilizada; </a:t>
            </a:r>
          </a:p>
          <a:p>
            <a:pPr marL="171450" indent="-171450" algn="just" defTabSz="685800">
              <a:buFont typeface="Arial" panose="020B0604020202020204" pitchFamily="34" charset="0"/>
              <a:buChar char="•"/>
            </a:pPr>
            <a:r>
              <a:rPr lang="pt-BR" sz="1200" dirty="0">
                <a:cs typeface="Arial" panose="020B0604020202020204" pitchFamily="34" charset="0"/>
              </a:rPr>
              <a:t>A válvula deve ser regulada para manter uma pressão de 280 mm C.A. ou 2,75 kPa para fogões de baixa pressão;</a:t>
            </a: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Para alterar o tipo de gás a ser utilizado, consulte orientações da fábrica ou serviço autorizado. Certifique-se da possibilidade da conversão;</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Após trocar o botijão de gás, efetuada a verificação IMEDIATA com a UTILIZAÇÃO DE ÁGUA OU ESPUMA DE SABÃO NO ENCAIXE DA VÁLVULA;</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use chamas ou faíscas para localizar vazamento de gás, o que pode causar incêndios;</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Use sempre um regulador de pressão NOVO (exclusivo para fogão) que deve ter gravado as letras NBR 8473 (norma brasileira);</a:t>
            </a:r>
            <a:endParaRPr lang="pt-BR" sz="1200" dirty="0">
              <a:ea typeface="Times New Roman" panose="02020603050405020304" pitchFamily="18" charset="0"/>
              <a:cs typeface="Times New Roman" panose="02020603050405020304" pitchFamily="18" charset="0"/>
            </a:endParaRPr>
          </a:p>
        </p:txBody>
      </p:sp>
      <p:pic>
        <p:nvPicPr>
          <p:cNvPr id="7" name="Imagem 6" descr="Imagem relacionada">
            <a:extLst>
              <a:ext uri="{FF2B5EF4-FFF2-40B4-BE49-F238E27FC236}">
                <a16:creationId xmlns:a16="http://schemas.microsoft.com/office/drawing/2014/main" id="{9AFDEE56-A681-4BFB-A802-98EF1B25ACF9}"/>
              </a:ext>
            </a:extLst>
          </p:cNvPr>
          <p:cNvPicPr/>
          <p:nvPr/>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val="0"/>
              </a:ext>
            </a:extLst>
          </a:blip>
          <a:srcRect l="11163" t="7359" r="8130" b="5195"/>
          <a:stretch/>
        </p:blipFill>
        <p:spPr bwMode="auto">
          <a:xfrm>
            <a:off x="3317198" y="6250940"/>
            <a:ext cx="680804" cy="718820"/>
          </a:xfrm>
          <a:prstGeom prst="rect">
            <a:avLst/>
          </a:prstGeom>
          <a:noFill/>
          <a:ln>
            <a:noFill/>
          </a:ln>
          <a:extLst>
            <a:ext uri="{53640926-AAD7-44D8-BBD7-CCE9431645EC}">
              <a14:shadowObscured xmlns:a14="http://schemas.microsoft.com/office/drawing/2010/main"/>
            </a:ext>
          </a:extLst>
        </p:spPr>
      </p:pic>
      <p:pic>
        <p:nvPicPr>
          <p:cNvPr id="8" name="Imagem 7" descr="Resultado de imagem para vÃ¡lvula reguladora de pressÃ£o gÃ¡s">
            <a:extLst>
              <a:ext uri="{FF2B5EF4-FFF2-40B4-BE49-F238E27FC236}">
                <a16:creationId xmlns:a16="http://schemas.microsoft.com/office/drawing/2014/main" id="{4845CDBC-2796-4EBB-9F6B-B5E9A1F20F9A}"/>
              </a:ext>
            </a:extLst>
          </p:cNvPr>
          <p:cNvPicPr/>
          <p:nvPr/>
        </p:nvPicPr>
        <p:blipFill rotWithShape="1">
          <a:blip r:embed="rId5" cstate="print">
            <a:extLst>
              <a:ext uri="{BEBA8EAE-BF5A-486C-A8C5-ECC9F3942E4B}">
                <a14:imgProps xmlns:a14="http://schemas.microsoft.com/office/drawing/2010/main">
                  <a14:imgLayer r:embed="rId6">
                    <a14:imgEffect>
                      <a14:saturation sat="33000"/>
                    </a14:imgEffect>
                    <a14:imgEffect>
                      <a14:brightnessContrast contrast="20000"/>
                    </a14:imgEffect>
                  </a14:imgLayer>
                </a14:imgProps>
              </a:ext>
              <a:ext uri="{28A0092B-C50C-407E-A947-70E740481C1C}">
                <a14:useLocalDpi xmlns:a14="http://schemas.microsoft.com/office/drawing/2010/main" val="0"/>
              </a:ext>
            </a:extLst>
          </a:blip>
          <a:srcRect l="-34531" r="-34194"/>
          <a:stretch/>
        </p:blipFill>
        <p:spPr bwMode="auto">
          <a:xfrm rot="21440545">
            <a:off x="3279141" y="7530027"/>
            <a:ext cx="756918" cy="805752"/>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314BF219-6AC6-46B9-BB3D-FEF9EBADECA0}"/>
              </a:ext>
            </a:extLst>
          </p:cNvPr>
          <p:cNvSpPr>
            <a:spLocks noGrp="1"/>
          </p:cNvSpPr>
          <p:nvPr>
            <p:ph type="sldNum" sz="quarter" idx="12"/>
          </p:nvPr>
        </p:nvSpPr>
        <p:spPr/>
        <p:txBody>
          <a:bodyPr/>
          <a:lstStyle/>
          <a:p>
            <a:fld id="{136BC063-5F49-4282-BA96-4716B49D2CCE}" type="slidenum">
              <a:rPr lang="pt-BR" smtClean="0"/>
              <a:t>10</a:t>
            </a:fld>
            <a:endParaRPr lang="pt-BR"/>
          </a:p>
        </p:txBody>
      </p:sp>
    </p:spTree>
    <p:extLst>
      <p:ext uri="{BB962C8B-B14F-4D97-AF65-F5344CB8AC3E}">
        <p14:creationId xmlns:p14="http://schemas.microsoft.com/office/powerpoint/2010/main" val="253383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8DD222E-D830-4CA6-82E6-FEB0A02A726D}"/>
              </a:ext>
            </a:extLst>
          </p:cNvPr>
          <p:cNvSpPr/>
          <p:nvPr/>
        </p:nvSpPr>
        <p:spPr>
          <a:xfrm>
            <a:off x="258479" y="174424"/>
            <a:ext cx="6840000" cy="2122312"/>
          </a:xfrm>
          <a:prstGeom prst="rect">
            <a:avLst/>
          </a:prstGeom>
        </p:spPr>
        <p:txBody>
          <a:bodyPr>
            <a:spAutoFit/>
          </a:bodyPr>
          <a:lstStyle/>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Obrigatoriamente MANGUEIRA PLÁSTICA de PVC NOVA com TARJA AMARELA, de acordo com a norma NBR 8613, (SEM emendas), com comprimento entre 80 e 125cm ou utilize mangueira metálica flexível de acordo com a norma NBR 14.177; sem emendas; o comprimento deve ser de 80 a 125cm;</a:t>
            </a:r>
            <a:r>
              <a:rPr lang="pt-BR" sz="1200" dirty="0">
                <a:latin typeface="Arial" panose="020B0604020202020204" pitchFamily="34" charset="0"/>
                <a:ea typeface="Times New Roman" panose="02020603050405020304" pitchFamily="18" charset="0"/>
                <a:cs typeface="Times New Roman" panose="02020603050405020304" pitchFamily="18" charset="0"/>
              </a:rPr>
              <a:t> </a:t>
            </a: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Verifique o prazo de validade da mangueira (05 anos) e do regulador de pressão (05 anos);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lnSpc>
                <a:spcPct val="107000"/>
              </a:lnSpc>
              <a:spcAft>
                <a:spcPts val="450"/>
              </a:spcAf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CASO NÃO SE ENCONTRE DENTRO DESSAS INDICAÇÕES, TROCAR IMEDIATAMENTE.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4C983FF4-DE9E-4153-AB9E-B7BD522D3CDD}"/>
              </a:ext>
            </a:extLst>
          </p:cNvPr>
          <p:cNvSpPr/>
          <p:nvPr/>
        </p:nvSpPr>
        <p:spPr>
          <a:xfrm>
            <a:off x="258479" y="2424837"/>
            <a:ext cx="1863011" cy="276999"/>
          </a:xfrm>
          <a:prstGeom prst="rect">
            <a:avLst/>
          </a:prstGeom>
        </p:spPr>
        <p:txBody>
          <a:bodyPr wrap="none">
            <a:spAutoFit/>
          </a:bodyPr>
          <a:lstStyle/>
          <a:p>
            <a:r>
              <a:rPr lang="pt-BR" sz="1200" b="1" dirty="0">
                <a:latin typeface="Arial" panose="020B0604020202020204" pitchFamily="34" charset="0"/>
                <a:ea typeface="Calibri" panose="020F0502020204030204" pitchFamily="34" charset="0"/>
                <a:cs typeface="Times New Roman" panose="02020603050405020304" pitchFamily="18" charset="0"/>
              </a:rPr>
              <a:t>3.5 Instalação do forno</a:t>
            </a:r>
            <a:endParaRPr lang="pt-BR" sz="1200" b="1" dirty="0"/>
          </a:p>
        </p:txBody>
      </p:sp>
      <p:pic>
        <p:nvPicPr>
          <p:cNvPr id="8" name="Imagem 7">
            <a:extLst>
              <a:ext uri="{FF2B5EF4-FFF2-40B4-BE49-F238E27FC236}">
                <a16:creationId xmlns:a16="http://schemas.microsoft.com/office/drawing/2014/main" id="{9F748988-B57F-46E7-9C74-B126CCDF546A}"/>
              </a:ext>
            </a:extLst>
          </p:cNvPr>
          <p:cNvPicPr/>
          <p:nvPr/>
        </p:nvPicPr>
        <p:blipFill rotWithShape="1">
          <a:blip r:embed="rId2" cstate="print">
            <a:extLst>
              <a:ext uri="{28A0092B-C50C-407E-A947-70E740481C1C}">
                <a14:useLocalDpi xmlns:a14="http://schemas.microsoft.com/office/drawing/2010/main" val="0"/>
              </a:ext>
            </a:extLst>
          </a:blip>
          <a:srcRect l="31837" t="15824" r="24585" b="14140"/>
          <a:stretch/>
        </p:blipFill>
        <p:spPr bwMode="auto">
          <a:xfrm>
            <a:off x="258479" y="2696686"/>
            <a:ext cx="3496548" cy="2709926"/>
          </a:xfrm>
          <a:prstGeom prst="rect">
            <a:avLst/>
          </a:prstGeom>
          <a:ln>
            <a:noFill/>
          </a:ln>
          <a:extLst>
            <a:ext uri="{53640926-AAD7-44D8-BBD7-CCE9431645EC}">
              <a14:shadowObscured xmlns:a14="http://schemas.microsoft.com/office/drawing/2010/main"/>
            </a:ext>
          </a:extLst>
        </p:spPr>
      </p:pic>
      <p:pic>
        <p:nvPicPr>
          <p:cNvPr id="10" name="Imagem 9">
            <a:extLst>
              <a:ext uri="{FF2B5EF4-FFF2-40B4-BE49-F238E27FC236}">
                <a16:creationId xmlns:a16="http://schemas.microsoft.com/office/drawing/2014/main" id="{41EF42FF-4070-4391-9E3D-E06DA8992781}"/>
              </a:ext>
            </a:extLst>
          </p:cNvPr>
          <p:cNvPicPr/>
          <p:nvPr/>
        </p:nvPicPr>
        <p:blipFill rotWithShape="1">
          <a:blip r:embed="rId3" cstate="print">
            <a:extLst>
              <a:ext uri="{28A0092B-C50C-407E-A947-70E740481C1C}">
                <a14:useLocalDpi xmlns:a14="http://schemas.microsoft.com/office/drawing/2010/main" val="0"/>
              </a:ext>
            </a:extLst>
          </a:blip>
          <a:srcRect l="17804" t="22526" r="26890" b="12118"/>
          <a:stretch/>
        </p:blipFill>
        <p:spPr bwMode="auto">
          <a:xfrm>
            <a:off x="258479" y="6074156"/>
            <a:ext cx="3496548" cy="2513806"/>
          </a:xfrm>
          <a:prstGeom prst="rect">
            <a:avLst/>
          </a:prstGeom>
          <a:ln>
            <a:noFill/>
          </a:ln>
          <a:extLst>
            <a:ext uri="{53640926-AAD7-44D8-BBD7-CCE9431645EC}">
              <a14:shadowObscured xmlns:a14="http://schemas.microsoft.com/office/drawing/2010/main"/>
            </a:ext>
          </a:extLst>
        </p:spPr>
      </p:pic>
      <p:graphicFrame>
        <p:nvGraphicFramePr>
          <p:cNvPr id="11" name="Tabela 10">
            <a:extLst>
              <a:ext uri="{FF2B5EF4-FFF2-40B4-BE49-F238E27FC236}">
                <a16:creationId xmlns:a16="http://schemas.microsoft.com/office/drawing/2014/main" id="{DFAD097D-ECD2-429F-84B1-80157F8D1D46}"/>
              </a:ext>
            </a:extLst>
          </p:cNvPr>
          <p:cNvGraphicFramePr>
            <a:graphicFrameLocks noGrp="1"/>
          </p:cNvGraphicFramePr>
          <p:nvPr>
            <p:extLst>
              <p:ext uri="{D42A27DB-BD31-4B8C-83A1-F6EECF244321}">
                <p14:modId xmlns:p14="http://schemas.microsoft.com/office/powerpoint/2010/main" val="1488236332"/>
              </p:ext>
            </p:extLst>
          </p:nvPr>
        </p:nvGraphicFramePr>
        <p:xfrm>
          <a:off x="4057650" y="4295361"/>
          <a:ext cx="2895600" cy="2520000"/>
        </p:xfrm>
        <a:graphic>
          <a:graphicData uri="http://schemas.openxmlformats.org/drawingml/2006/table">
            <a:tbl>
              <a:tblPr firstRow="1" firstCol="1" bandRow="1">
                <a:tableStyleId>{9D7B26C5-4107-4FEC-AEDC-1716B250A1EF}</a:tableStyleId>
              </a:tblPr>
              <a:tblGrid>
                <a:gridCol w="324872">
                  <a:extLst>
                    <a:ext uri="{9D8B030D-6E8A-4147-A177-3AD203B41FA5}">
                      <a16:colId xmlns:a16="http://schemas.microsoft.com/office/drawing/2014/main" val="1433921477"/>
                    </a:ext>
                  </a:extLst>
                </a:gridCol>
                <a:gridCol w="2076357">
                  <a:extLst>
                    <a:ext uri="{9D8B030D-6E8A-4147-A177-3AD203B41FA5}">
                      <a16:colId xmlns:a16="http://schemas.microsoft.com/office/drawing/2014/main" val="2820432116"/>
                    </a:ext>
                  </a:extLst>
                </a:gridCol>
                <a:gridCol w="494371">
                  <a:extLst>
                    <a:ext uri="{9D8B030D-6E8A-4147-A177-3AD203B41FA5}">
                      <a16:colId xmlns:a16="http://schemas.microsoft.com/office/drawing/2014/main" val="3189390373"/>
                    </a:ext>
                  </a:extLst>
                </a:gridCol>
              </a:tblGrid>
              <a:tr h="420000">
                <a:tc>
                  <a:txBody>
                    <a:bodyPr/>
                    <a:lstStyle/>
                    <a:p>
                      <a:pPr algn="ctr" rtl="0" fontAlgn="ctr"/>
                      <a:r>
                        <a:rPr lang="pt-BR" sz="1200" u="none" strike="noStrike">
                          <a:effectLst/>
                        </a:rPr>
                        <a:t>Id.</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5930722"/>
                  </a:ext>
                </a:extLst>
              </a:tr>
              <a:tr h="420000">
                <a:tc>
                  <a:txBody>
                    <a:bodyPr/>
                    <a:lstStyle/>
                    <a:p>
                      <a:pPr algn="ctr" rtl="0" fontAlgn="ctr"/>
                      <a:r>
                        <a:rPr lang="pt-BR" sz="1200" u="none" strike="noStrike">
                          <a:effectLst/>
                        </a:rPr>
                        <a:t>1</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0091595"/>
                  </a:ext>
                </a:extLst>
              </a:tr>
              <a:tr h="420000">
                <a:tc>
                  <a:txBody>
                    <a:bodyPr/>
                    <a:lstStyle/>
                    <a:p>
                      <a:pPr algn="ctr" rtl="0" fontAlgn="ctr"/>
                      <a:r>
                        <a:rPr lang="pt-BR" sz="1200" u="none" strike="noStrike">
                          <a:effectLst/>
                        </a:rPr>
                        <a:t>2</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Cano de cobre</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29030604"/>
                  </a:ext>
                </a:extLst>
              </a:tr>
              <a:tr h="420000">
                <a:tc>
                  <a:txBody>
                    <a:bodyPr/>
                    <a:lstStyle/>
                    <a:p>
                      <a:pPr algn="ctr" rtl="0" fontAlgn="ctr"/>
                      <a:r>
                        <a:rPr lang="pt-BR" sz="1200" u="none" strike="noStrike">
                          <a:effectLst/>
                        </a:rPr>
                        <a:t>3</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Porca latão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84948724"/>
                  </a:ext>
                </a:extLst>
              </a:tr>
              <a:tr h="420000">
                <a:tc>
                  <a:txBody>
                    <a:bodyPr/>
                    <a:lstStyle/>
                    <a:p>
                      <a:pPr algn="ctr" rtl="0" fontAlgn="ctr"/>
                      <a:r>
                        <a:rPr lang="pt-BR" sz="1200" u="none" strike="noStrike">
                          <a:effectLst/>
                        </a:rPr>
                        <a:t>4</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Cantoneira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3581767"/>
                  </a:ext>
                </a:extLst>
              </a:tr>
              <a:tr h="420000">
                <a:tc>
                  <a:txBody>
                    <a:bodyPr/>
                    <a:lstStyle/>
                    <a:p>
                      <a:pPr algn="ctr" rtl="0" fontAlgn="ctr"/>
                      <a:r>
                        <a:rPr lang="pt-BR" sz="1200" u="none" strike="noStrike">
                          <a:effectLst/>
                        </a:rPr>
                        <a:t>5</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Joelho prolongador para 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79657270"/>
                  </a:ext>
                </a:extLst>
              </a:tr>
            </a:tbl>
          </a:graphicData>
        </a:graphic>
      </p:graphicFrame>
      <p:grpSp>
        <p:nvGrpSpPr>
          <p:cNvPr id="13" name="Agrupar 12">
            <a:extLst>
              <a:ext uri="{FF2B5EF4-FFF2-40B4-BE49-F238E27FC236}">
                <a16:creationId xmlns:a16="http://schemas.microsoft.com/office/drawing/2014/main" id="{F180BA7B-4E6B-45C4-BB26-DDD176A3591F}"/>
              </a:ext>
            </a:extLst>
          </p:cNvPr>
          <p:cNvGrpSpPr>
            <a:grpSpLocks noChangeAspect="1"/>
          </p:cNvGrpSpPr>
          <p:nvPr/>
        </p:nvGrpSpPr>
        <p:grpSpPr>
          <a:xfrm>
            <a:off x="713746" y="3026479"/>
            <a:ext cx="805682" cy="184683"/>
            <a:chOff x="12749" y="77333"/>
            <a:chExt cx="413071" cy="95249"/>
          </a:xfrm>
        </p:grpSpPr>
        <p:cxnSp>
          <p:nvCxnSpPr>
            <p:cNvPr id="14" name="Conector reto 13">
              <a:extLst>
                <a:ext uri="{FF2B5EF4-FFF2-40B4-BE49-F238E27FC236}">
                  <a16:creationId xmlns:a16="http://schemas.microsoft.com/office/drawing/2014/main" id="{750FAE84-B80E-41FE-B252-2D586FE5C1C2}"/>
                </a:ext>
              </a:extLst>
            </p:cNvPr>
            <p:cNvCxnSpPr>
              <a:endCxn id="15" idx="2"/>
            </p:cNvCxnSpPr>
            <p:nvPr/>
          </p:nvCxnSpPr>
          <p:spPr>
            <a:xfrm flipV="1">
              <a:off x="12749"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C8319E37-43B4-4D99-BFC7-FE5ACFFC6FF8}"/>
                </a:ext>
              </a:extLst>
            </p:cNvPr>
            <p:cNvSpPr/>
            <p:nvPr/>
          </p:nvSpPr>
          <p:spPr>
            <a:xfrm>
              <a:off x="330570"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2</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6" name="Agrupar 15">
            <a:extLst>
              <a:ext uri="{FF2B5EF4-FFF2-40B4-BE49-F238E27FC236}">
                <a16:creationId xmlns:a16="http://schemas.microsoft.com/office/drawing/2014/main" id="{94130520-1739-415E-952E-63EA5D5B04D1}"/>
              </a:ext>
            </a:extLst>
          </p:cNvPr>
          <p:cNvGrpSpPr>
            <a:grpSpLocks noChangeAspect="1"/>
          </p:cNvGrpSpPr>
          <p:nvPr/>
        </p:nvGrpSpPr>
        <p:grpSpPr>
          <a:xfrm rot="19463086">
            <a:off x="2461494" y="3125214"/>
            <a:ext cx="757158" cy="173560"/>
            <a:chOff x="19580" y="77333"/>
            <a:chExt cx="413071" cy="95249"/>
          </a:xfrm>
        </p:grpSpPr>
        <p:cxnSp>
          <p:nvCxnSpPr>
            <p:cNvPr id="17" name="Conector reto 16">
              <a:extLst>
                <a:ext uri="{FF2B5EF4-FFF2-40B4-BE49-F238E27FC236}">
                  <a16:creationId xmlns:a16="http://schemas.microsoft.com/office/drawing/2014/main" id="{EF15A130-CF69-4875-9A67-7A90FA794F47}"/>
                </a:ext>
              </a:extLst>
            </p:cNvPr>
            <p:cNvCxnSpPr>
              <a:endCxn id="18"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Elipse 17">
              <a:extLst>
                <a:ext uri="{FF2B5EF4-FFF2-40B4-BE49-F238E27FC236}">
                  <a16:creationId xmlns:a16="http://schemas.microsoft.com/office/drawing/2014/main" id="{6701477B-B60D-4DD1-AE2C-A0B2E1987C06}"/>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100" dirty="0">
                  <a:latin typeface="Arial" panose="020B0604020202020204" pitchFamily="34" charset="0"/>
                  <a:ea typeface="Calibri" panose="020F0502020204030204" pitchFamily="34" charset="0"/>
                  <a:cs typeface="Times New Roman" panose="02020603050405020304" pitchFamily="18" charset="0"/>
                </a:rPr>
                <a:t>3</a:t>
              </a:r>
              <a:r>
                <a:rPr lang="pt-BR" sz="100" dirty="0">
                  <a:latin typeface="Arial" panose="020B0604020202020204" pitchFamily="34" charset="0"/>
                  <a:ea typeface="Calibri" panose="020F0502020204030204" pitchFamily="34" charset="0"/>
                  <a:cs typeface="Times New Roman" panose="02020603050405020304" pitchFamily="18" charset="0"/>
                </a:rPr>
                <a:t> </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9" name="Agrupar 18">
            <a:extLst>
              <a:ext uri="{FF2B5EF4-FFF2-40B4-BE49-F238E27FC236}">
                <a16:creationId xmlns:a16="http://schemas.microsoft.com/office/drawing/2014/main" id="{EE755AC8-DD11-40A2-AA39-924512EBBC14}"/>
              </a:ext>
            </a:extLst>
          </p:cNvPr>
          <p:cNvGrpSpPr>
            <a:grpSpLocks noChangeAspect="1"/>
          </p:cNvGrpSpPr>
          <p:nvPr/>
        </p:nvGrpSpPr>
        <p:grpSpPr>
          <a:xfrm>
            <a:off x="3081599" y="4163326"/>
            <a:ext cx="893613" cy="204839"/>
            <a:chOff x="19580" y="77333"/>
            <a:chExt cx="413071" cy="95249"/>
          </a:xfrm>
        </p:grpSpPr>
        <p:cxnSp>
          <p:nvCxnSpPr>
            <p:cNvPr id="20" name="Conector reto 19">
              <a:extLst>
                <a:ext uri="{FF2B5EF4-FFF2-40B4-BE49-F238E27FC236}">
                  <a16:creationId xmlns:a16="http://schemas.microsoft.com/office/drawing/2014/main" id="{BEC77746-1384-4B7C-B7C8-42EADDCC7E87}"/>
                </a:ext>
              </a:extLst>
            </p:cNvPr>
            <p:cNvCxnSpPr>
              <a:endCxn id="21"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AE53A797-9D5A-472A-B279-373DCDEF4309}"/>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1</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2" name="Agrupar 21">
            <a:extLst>
              <a:ext uri="{FF2B5EF4-FFF2-40B4-BE49-F238E27FC236}">
                <a16:creationId xmlns:a16="http://schemas.microsoft.com/office/drawing/2014/main" id="{5A193048-ECB6-4574-9C2B-CA38250682AC}"/>
              </a:ext>
            </a:extLst>
          </p:cNvPr>
          <p:cNvGrpSpPr>
            <a:grpSpLocks noChangeAspect="1"/>
          </p:cNvGrpSpPr>
          <p:nvPr/>
        </p:nvGrpSpPr>
        <p:grpSpPr>
          <a:xfrm>
            <a:off x="3257551" y="4692810"/>
            <a:ext cx="707696" cy="162222"/>
            <a:chOff x="19580" y="77333"/>
            <a:chExt cx="413071" cy="95249"/>
          </a:xfrm>
        </p:grpSpPr>
        <p:cxnSp>
          <p:nvCxnSpPr>
            <p:cNvPr id="23" name="Conector reto 22">
              <a:extLst>
                <a:ext uri="{FF2B5EF4-FFF2-40B4-BE49-F238E27FC236}">
                  <a16:creationId xmlns:a16="http://schemas.microsoft.com/office/drawing/2014/main" id="{AC2DDE76-015E-4EE1-93BF-84338C1C25CF}"/>
                </a:ext>
              </a:extLst>
            </p:cNvPr>
            <p:cNvCxnSpPr>
              <a:endCxn id="24"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4CD898ED-51BD-402B-934D-5E522D86B5AC}"/>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4</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5" name="Agrupar 24">
            <a:extLst>
              <a:ext uri="{FF2B5EF4-FFF2-40B4-BE49-F238E27FC236}">
                <a16:creationId xmlns:a16="http://schemas.microsoft.com/office/drawing/2014/main" id="{FFBAEABC-D400-4DFC-9CD4-D883E44E9484}"/>
              </a:ext>
            </a:extLst>
          </p:cNvPr>
          <p:cNvGrpSpPr>
            <a:grpSpLocks noChangeAspect="1"/>
          </p:cNvGrpSpPr>
          <p:nvPr/>
        </p:nvGrpSpPr>
        <p:grpSpPr>
          <a:xfrm>
            <a:off x="2792601" y="7779500"/>
            <a:ext cx="1104838" cy="253257"/>
            <a:chOff x="19580" y="77333"/>
            <a:chExt cx="413071" cy="95249"/>
          </a:xfrm>
        </p:grpSpPr>
        <p:cxnSp>
          <p:nvCxnSpPr>
            <p:cNvPr id="26" name="Conector reto 25">
              <a:extLst>
                <a:ext uri="{FF2B5EF4-FFF2-40B4-BE49-F238E27FC236}">
                  <a16:creationId xmlns:a16="http://schemas.microsoft.com/office/drawing/2014/main" id="{41FB24DE-8800-4F3F-AC57-D82D8F63E8E6}"/>
                </a:ext>
              </a:extLst>
            </p:cNvPr>
            <p:cNvCxnSpPr>
              <a:endCxn id="27"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Elipse 26">
              <a:extLst>
                <a:ext uri="{FF2B5EF4-FFF2-40B4-BE49-F238E27FC236}">
                  <a16:creationId xmlns:a16="http://schemas.microsoft.com/office/drawing/2014/main" id="{5E172E7D-C769-4609-9593-87801CA1A83D}"/>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5</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pic>
        <p:nvPicPr>
          <p:cNvPr id="29" name="Imagem 28" descr="Resultado de imagem para MANGUEIRA PLÃSTICA gÃ¡s">
            <a:extLst>
              <a:ext uri="{FF2B5EF4-FFF2-40B4-BE49-F238E27FC236}">
                <a16:creationId xmlns:a16="http://schemas.microsoft.com/office/drawing/2014/main" id="{64F1C7BC-D90F-4289-8A65-951FD7D8D2CF}"/>
              </a:ext>
            </a:extLst>
          </p:cNvPr>
          <p:cNvPicPr/>
          <p:nvPr/>
        </p:nvPicPr>
        <p:blipFill rotWithShape="1">
          <a:blip r:embed="rId4" cstate="print">
            <a:extLst>
              <a:ext uri="{28A0092B-C50C-407E-A947-70E740481C1C}">
                <a14:useLocalDpi xmlns:a14="http://schemas.microsoft.com/office/drawing/2010/main" val="0"/>
              </a:ext>
            </a:extLst>
          </a:blip>
          <a:srcRect l="11702" r="11022"/>
          <a:stretch/>
        </p:blipFill>
        <p:spPr bwMode="auto">
          <a:xfrm>
            <a:off x="3100545" y="786141"/>
            <a:ext cx="1114111" cy="1066603"/>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2F7F10D6-F977-4E7C-A821-39464F07C936}"/>
              </a:ext>
            </a:extLst>
          </p:cNvPr>
          <p:cNvSpPr>
            <a:spLocks noGrp="1"/>
          </p:cNvSpPr>
          <p:nvPr>
            <p:ph type="sldNum" sz="quarter" idx="12"/>
          </p:nvPr>
        </p:nvSpPr>
        <p:spPr/>
        <p:txBody>
          <a:bodyPr/>
          <a:lstStyle/>
          <a:p>
            <a:fld id="{136BC063-5F49-4282-BA96-4716B49D2CCE}" type="slidenum">
              <a:rPr lang="pt-BR" smtClean="0"/>
              <a:t>11</a:t>
            </a:fld>
            <a:endParaRPr lang="pt-BR"/>
          </a:p>
        </p:txBody>
      </p:sp>
    </p:spTree>
    <p:extLst>
      <p:ext uri="{BB962C8B-B14F-4D97-AF65-F5344CB8AC3E}">
        <p14:creationId xmlns:p14="http://schemas.microsoft.com/office/powerpoint/2010/main" val="3241221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8CC7944B-33EA-483E-9D3A-6D55F56D8E24}"/>
              </a:ext>
            </a:extLst>
          </p:cNvPr>
          <p:cNvSpPr/>
          <p:nvPr/>
        </p:nvSpPr>
        <p:spPr>
          <a:xfrm>
            <a:off x="197048" y="301205"/>
            <a:ext cx="884858" cy="276999"/>
          </a:xfrm>
          <a:prstGeom prst="rect">
            <a:avLst/>
          </a:prstGeom>
        </p:spPr>
        <p:txBody>
          <a:bodyPr wrap="none">
            <a:spAutoFit/>
          </a:bodyPr>
          <a:lstStyle/>
          <a:p>
            <a:pPr marL="67628" algn="just"/>
            <a:r>
              <a:rPr lang="pt-BR" sz="1200" b="1" dirty="0">
                <a:latin typeface="Arial" panose="020B0604020202020204" pitchFamily="34" charset="0"/>
                <a:ea typeface="Times New Roman" panose="02020603050405020304" pitchFamily="18" charset="0"/>
                <a:cs typeface="Arial" panose="020B0604020202020204" pitchFamily="34" charset="0"/>
              </a:rPr>
              <a:t>Passo 1:</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250" name="Imagem 1038">
            <a:extLst>
              <a:ext uri="{FF2B5EF4-FFF2-40B4-BE49-F238E27FC236}">
                <a16:creationId xmlns:a16="http://schemas.microsoft.com/office/drawing/2014/main" id="{BA588447-C151-48BA-97CA-47C00AB76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675" t="14525" r="25014" b="11385"/>
          <a:stretch>
            <a:fillRect/>
          </a:stretch>
        </p:blipFill>
        <p:spPr bwMode="auto">
          <a:xfrm>
            <a:off x="217290" y="649484"/>
            <a:ext cx="3142058" cy="210178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de Seta Reta 6">
            <a:extLst>
              <a:ext uri="{FF2B5EF4-FFF2-40B4-BE49-F238E27FC236}">
                <a16:creationId xmlns:a16="http://schemas.microsoft.com/office/drawing/2014/main" id="{8F444304-0426-4042-9799-DE965B1355FB}"/>
              </a:ext>
            </a:extLst>
          </p:cNvPr>
          <p:cNvCxnSpPr>
            <a:cxnSpLocks/>
          </p:cNvCxnSpPr>
          <p:nvPr/>
        </p:nvCxnSpPr>
        <p:spPr>
          <a:xfrm>
            <a:off x="1148121" y="2228129"/>
            <a:ext cx="399819" cy="20122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112770A5-2C46-403F-A194-1D3FA807E81D}"/>
              </a:ext>
            </a:extLst>
          </p:cNvPr>
          <p:cNvCxnSpPr>
            <a:cxnSpLocks/>
          </p:cNvCxnSpPr>
          <p:nvPr/>
        </p:nvCxnSpPr>
        <p:spPr>
          <a:xfrm>
            <a:off x="2788230" y="1592261"/>
            <a:ext cx="66676" cy="367828"/>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001D20FB-EC4F-4314-8DB7-FE299A3C5913}"/>
              </a:ext>
            </a:extLst>
          </p:cNvPr>
          <p:cNvCxnSpPr>
            <a:cxnSpLocks/>
          </p:cNvCxnSpPr>
          <p:nvPr/>
        </p:nvCxnSpPr>
        <p:spPr>
          <a:xfrm>
            <a:off x="1803175" y="1897803"/>
            <a:ext cx="164180" cy="360806"/>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ADCFCC41-9035-4D66-AF57-40EBD6AD884C}"/>
              </a:ext>
            </a:extLst>
          </p:cNvPr>
          <p:cNvCxnSpPr>
            <a:cxnSpLocks/>
          </p:cNvCxnSpPr>
          <p:nvPr/>
        </p:nvCxnSpPr>
        <p:spPr>
          <a:xfrm>
            <a:off x="2324747" y="1700375"/>
            <a:ext cx="100490" cy="38326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671A6F2C-D0BB-45B6-AD9A-C37A002CDE74}"/>
              </a:ext>
            </a:extLst>
          </p:cNvPr>
          <p:cNvCxnSpPr>
            <a:cxnSpLocks/>
          </p:cNvCxnSpPr>
          <p:nvPr/>
        </p:nvCxnSpPr>
        <p:spPr>
          <a:xfrm flipH="1">
            <a:off x="3099094" y="1343025"/>
            <a:ext cx="28424" cy="556711"/>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10241" name="Imagem 139">
            <a:extLst>
              <a:ext uri="{FF2B5EF4-FFF2-40B4-BE49-F238E27FC236}">
                <a16:creationId xmlns:a16="http://schemas.microsoft.com/office/drawing/2014/main" id="{BFF4FEA2-A798-4B37-A8AD-D1053E4FD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168" y="2933628"/>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Imagem 142">
            <a:extLst>
              <a:ext uri="{FF2B5EF4-FFF2-40B4-BE49-F238E27FC236}">
                <a16:creationId xmlns:a16="http://schemas.microsoft.com/office/drawing/2014/main" id="{F263C6EC-DD45-47BB-816D-95CC1DD68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796" y="3018832"/>
            <a:ext cx="499121" cy="49912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Imagem 143">
            <a:extLst>
              <a:ext uri="{FF2B5EF4-FFF2-40B4-BE49-F238E27FC236}">
                <a16:creationId xmlns:a16="http://schemas.microsoft.com/office/drawing/2014/main" id="{1782D220-ABD6-4684-B24B-8A109EE411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633" y="2914927"/>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5" name="Imagem 144">
            <a:extLst>
              <a:ext uri="{FF2B5EF4-FFF2-40B4-BE49-F238E27FC236}">
                <a16:creationId xmlns:a16="http://schemas.microsoft.com/office/drawing/2014/main" id="{9C6206C9-DE11-4389-9038-B29006818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1532" y="2914927"/>
            <a:ext cx="1212737" cy="7888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1">
            <a:extLst>
              <a:ext uri="{FF2B5EF4-FFF2-40B4-BE49-F238E27FC236}">
                <a16:creationId xmlns:a16="http://schemas.microsoft.com/office/drawing/2014/main" id="{172CD4D5-92A1-49C6-B1DC-B12950E17D6F}"/>
              </a:ext>
            </a:extLst>
          </p:cNvPr>
          <p:cNvSpPr>
            <a:spLocks noChangeArrowheads="1"/>
          </p:cNvSpPr>
          <p:nvPr/>
        </p:nvSpPr>
        <p:spPr bwMode="auto">
          <a:xfrm>
            <a:off x="197048" y="301205"/>
            <a:ext cx="411791" cy="68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12" name="Rectangle 12">
            <a:extLst>
              <a:ext uri="{FF2B5EF4-FFF2-40B4-BE49-F238E27FC236}">
                <a16:creationId xmlns:a16="http://schemas.microsoft.com/office/drawing/2014/main" id="{A14432CF-046A-452C-BEC7-8F46FA963EE8}"/>
              </a:ext>
            </a:extLst>
          </p:cNvPr>
          <p:cNvSpPr>
            <a:spLocks noChangeArrowheads="1"/>
          </p:cNvSpPr>
          <p:nvPr/>
        </p:nvSpPr>
        <p:spPr bwMode="auto">
          <a:xfrm>
            <a:off x="4164449" y="279836"/>
            <a:ext cx="2933461"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Apoiar as cantoneiras no paneleiro do fogão e ajusta-las para que fique unidas às laterais do forno.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Fazer os furos nos locais indicados pelas setas. Para essa etapa é necessário uma furadeira e uma broca 9/64”.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 </a:t>
            </a:r>
            <a:r>
              <a:rPr lang="pt-BR" altLang="pt-BR" sz="1400" dirty="0">
                <a:latin typeface="Arial" panose="020B0604020202020204" pitchFamily="34" charset="0"/>
                <a:ea typeface="Times New Roman" panose="02020603050405020304" pitchFamily="18" charset="0"/>
                <a:cs typeface="Arial" panose="020B0604020202020204" pitchFamily="34" charset="0"/>
              </a:rPr>
              <a:t>– Para fixa-lo deixe todos os furos alinhados e aplique 3 rebites em cada lateral e 1 rebite na dobra da frente e 1 na parte de trás.</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16" name="Retângulo 15">
            <a:extLst>
              <a:ext uri="{FF2B5EF4-FFF2-40B4-BE49-F238E27FC236}">
                <a16:creationId xmlns:a16="http://schemas.microsoft.com/office/drawing/2014/main" id="{62EB62BA-430B-4997-AAD3-0703004BD3C9}"/>
              </a:ext>
            </a:extLst>
          </p:cNvPr>
          <p:cNvSpPr/>
          <p:nvPr/>
        </p:nvSpPr>
        <p:spPr>
          <a:xfrm>
            <a:off x="4164449" y="4606216"/>
            <a:ext cx="2934000" cy="1169551"/>
          </a:xfrm>
          <a:prstGeom prst="rect">
            <a:avLst/>
          </a:prstGeom>
        </p:spPr>
        <p:txBody>
          <a:bodyPr>
            <a:spAutoFit/>
          </a:bodyPr>
          <a:lstStyle/>
          <a:p>
            <a:pPr marL="67628" algn="just"/>
            <a:r>
              <a:rPr lang="pt-BR" sz="1400" b="1" dirty="0">
                <a:latin typeface="Arial" panose="020B0604020202020204" pitchFamily="34" charset="0"/>
                <a:ea typeface="Times New Roman" panose="02020603050405020304" pitchFamily="18" charset="0"/>
                <a:cs typeface="Arial" panose="020B0604020202020204" pitchFamily="34" charset="0"/>
              </a:rPr>
              <a:t>Passo 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r>
              <a:rPr lang="pt-BR" sz="1400" b="1" dirty="0">
                <a:latin typeface="Arial" panose="020B0604020202020204" pitchFamily="34" charset="0"/>
                <a:ea typeface="Calibri" panose="020F0502020204030204" pitchFamily="34" charset="0"/>
              </a:rPr>
              <a:t>1 </a:t>
            </a:r>
            <a:r>
              <a:rPr lang="pt-BR" sz="1400" dirty="0">
                <a:latin typeface="Arial" panose="020B0604020202020204" pitchFamily="34" charset="0"/>
                <a:ea typeface="Calibri" panose="020F0502020204030204" pitchFamily="34" charset="0"/>
              </a:rPr>
              <a:t>- Fixar uma extremidade do cano de cobre no joelho do queimador do forno e rosquear a porca latão junto ao joelho</a:t>
            </a:r>
            <a:endParaRPr lang="pt-BR" sz="1400" dirty="0"/>
          </a:p>
        </p:txBody>
      </p:sp>
      <p:pic>
        <p:nvPicPr>
          <p:cNvPr id="22" name="Imagem 21">
            <a:extLst>
              <a:ext uri="{FF2B5EF4-FFF2-40B4-BE49-F238E27FC236}">
                <a16:creationId xmlns:a16="http://schemas.microsoft.com/office/drawing/2014/main" id="{B6EF547C-B410-40EE-A798-CB5C3516B8B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0845" t="30722" r="34336" b="11542"/>
          <a:stretch/>
        </p:blipFill>
        <p:spPr bwMode="auto">
          <a:xfrm>
            <a:off x="108857" y="3830659"/>
            <a:ext cx="3162300" cy="2290742"/>
          </a:xfrm>
          <a:prstGeom prst="rect">
            <a:avLst/>
          </a:prstGeom>
          <a:ln>
            <a:noFill/>
          </a:ln>
          <a:extLst>
            <a:ext uri="{53640926-AAD7-44D8-BBD7-CCE9431645EC}">
              <a14:shadowObscured xmlns:a14="http://schemas.microsoft.com/office/drawing/2010/main"/>
            </a:ext>
          </a:extLst>
        </p:spPr>
      </p:pic>
      <p:pic>
        <p:nvPicPr>
          <p:cNvPr id="23" name="Imagem 22">
            <a:extLst>
              <a:ext uri="{FF2B5EF4-FFF2-40B4-BE49-F238E27FC236}">
                <a16:creationId xmlns:a16="http://schemas.microsoft.com/office/drawing/2014/main" id="{275237A0-3BD8-4B07-A5E3-03A019C7AA75}"/>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2465" t="16196" r="25210" b="14899"/>
          <a:stretch/>
        </p:blipFill>
        <p:spPr bwMode="auto">
          <a:xfrm>
            <a:off x="108856" y="7029142"/>
            <a:ext cx="3162299" cy="2896111"/>
          </a:xfrm>
          <a:prstGeom prst="rect">
            <a:avLst/>
          </a:prstGeom>
          <a:ln>
            <a:noFill/>
          </a:ln>
          <a:extLst>
            <a:ext uri="{53640926-AAD7-44D8-BBD7-CCE9431645EC}">
              <a14:shadowObscured xmlns:a14="http://schemas.microsoft.com/office/drawing/2010/main"/>
            </a:ext>
          </a:extLst>
        </p:spPr>
      </p:pic>
      <p:sp>
        <p:nvSpPr>
          <p:cNvPr id="17" name="Retângulo 16">
            <a:extLst>
              <a:ext uri="{FF2B5EF4-FFF2-40B4-BE49-F238E27FC236}">
                <a16:creationId xmlns:a16="http://schemas.microsoft.com/office/drawing/2014/main" id="{5F094F8D-CB4C-4348-88B0-3FE4A7BAEC91}"/>
              </a:ext>
            </a:extLst>
          </p:cNvPr>
          <p:cNvSpPr/>
          <p:nvPr/>
        </p:nvSpPr>
        <p:spPr>
          <a:xfrm>
            <a:off x="4164449" y="8154031"/>
            <a:ext cx="2934000" cy="646331"/>
          </a:xfrm>
          <a:prstGeom prst="rect">
            <a:avLst/>
          </a:prstGeom>
        </p:spPr>
        <p:txBody>
          <a:bodyPr>
            <a:spAutoFit/>
          </a:bodyPr>
          <a:lstStyle/>
          <a:p>
            <a:pPr marL="67628" algn="just"/>
            <a:r>
              <a:rPr lang="pt-BR" sz="1200" b="1" dirty="0">
                <a:latin typeface="Arial" panose="020B0604020202020204" pitchFamily="34" charset="0"/>
                <a:cs typeface="Arial" panose="020B0604020202020204" pitchFamily="34" charset="0"/>
              </a:rPr>
              <a:t>2</a:t>
            </a:r>
            <a:r>
              <a:rPr lang="pt-BR" sz="1200" dirty="0">
                <a:latin typeface="Arial" panose="020B0604020202020204" pitchFamily="34" charset="0"/>
                <a:cs typeface="Arial" panose="020B0604020202020204" pitchFamily="34" charset="0"/>
              </a:rPr>
              <a:t> – Modelar o cano de cobre para que o gás possa percorrer entre a torneira e o queimador, como mostra a imagem.</a:t>
            </a:r>
          </a:p>
        </p:txBody>
      </p:sp>
      <p:sp>
        <p:nvSpPr>
          <p:cNvPr id="26" name="Retângulo 25">
            <a:extLst>
              <a:ext uri="{FF2B5EF4-FFF2-40B4-BE49-F238E27FC236}">
                <a16:creationId xmlns:a16="http://schemas.microsoft.com/office/drawing/2014/main" id="{1AEA7F9B-5A96-4F5B-B214-17D9A8F3E1CF}"/>
              </a:ext>
            </a:extLst>
          </p:cNvPr>
          <p:cNvSpPr/>
          <p:nvPr/>
        </p:nvSpPr>
        <p:spPr>
          <a:xfrm>
            <a:off x="3657600" y="3715408"/>
            <a:ext cx="3567002" cy="215444"/>
          </a:xfrm>
          <a:prstGeom prst="rect">
            <a:avLst/>
          </a:prstGeom>
        </p:spPr>
        <p:txBody>
          <a:bodyPr wrap="none">
            <a:spAutoFit/>
          </a:bodyPr>
          <a:lstStyle/>
          <a:p>
            <a:r>
              <a:rPr lang="pt-BR" sz="800" b="1" dirty="0">
                <a:latin typeface="Arial" panose="020B0604020202020204" pitchFamily="34" charset="0"/>
                <a:ea typeface="Calibri" panose="020F0502020204030204" pitchFamily="34" charset="0"/>
                <a:cs typeface="Arial" panose="020B0604020202020204" pitchFamily="34" charset="0"/>
              </a:rPr>
              <a:t> </a:t>
            </a:r>
            <a:r>
              <a:rPr lang="pt-BR" sz="800" dirty="0">
                <a:latin typeface="Arial" panose="020B0604020202020204" pitchFamily="34" charset="0"/>
                <a:ea typeface="Calibri" panose="020F0502020204030204" pitchFamily="34" charset="0"/>
                <a:cs typeface="Arial" panose="020B0604020202020204" pitchFamily="34" charset="0"/>
              </a:rPr>
              <a:t>Furadeira                 Broca                      Rebite                        Rebitadeira </a:t>
            </a:r>
            <a:endParaRPr lang="pt-BR" dirty="0"/>
          </a:p>
        </p:txBody>
      </p:sp>
      <p:sp>
        <p:nvSpPr>
          <p:cNvPr id="27" name="Espaço Reservado para Número de Slide 26">
            <a:extLst>
              <a:ext uri="{FF2B5EF4-FFF2-40B4-BE49-F238E27FC236}">
                <a16:creationId xmlns:a16="http://schemas.microsoft.com/office/drawing/2014/main" id="{93E05A0D-1367-4DFE-8135-D37695D57FA1}"/>
              </a:ext>
            </a:extLst>
          </p:cNvPr>
          <p:cNvSpPr>
            <a:spLocks noGrp="1"/>
          </p:cNvSpPr>
          <p:nvPr>
            <p:ph type="sldNum" sz="quarter" idx="12"/>
          </p:nvPr>
        </p:nvSpPr>
        <p:spPr/>
        <p:txBody>
          <a:bodyPr/>
          <a:lstStyle/>
          <a:p>
            <a:fld id="{136BC063-5F49-4282-BA96-4716B49D2CCE}" type="slidenum">
              <a:rPr lang="pt-BR" smtClean="0"/>
              <a:t>12</a:t>
            </a:fld>
            <a:endParaRPr lang="pt-BR"/>
          </a:p>
        </p:txBody>
      </p:sp>
    </p:spTree>
    <p:extLst>
      <p:ext uri="{BB962C8B-B14F-4D97-AF65-F5344CB8AC3E}">
        <p14:creationId xmlns:p14="http://schemas.microsoft.com/office/powerpoint/2010/main" val="233070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AE6E92-1B31-46CD-B591-8F787A033E00}"/>
              </a:ext>
            </a:extLst>
          </p:cNvPr>
          <p:cNvSpPr/>
          <p:nvPr/>
        </p:nvSpPr>
        <p:spPr>
          <a:xfrm>
            <a:off x="90597" y="3842027"/>
            <a:ext cx="1733167"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3.6 Instalação do gás</a:t>
            </a:r>
          </a:p>
        </p:txBody>
      </p:sp>
      <p:pic>
        <p:nvPicPr>
          <p:cNvPr id="6" name="Imagem 5">
            <a:extLst>
              <a:ext uri="{FF2B5EF4-FFF2-40B4-BE49-F238E27FC236}">
                <a16:creationId xmlns:a16="http://schemas.microsoft.com/office/drawing/2014/main" id="{1F237202-4EBD-4386-A3B3-0523552A6673}"/>
              </a:ext>
            </a:extLst>
          </p:cNvPr>
          <p:cNvPicPr>
            <a:picLocks noChangeAspect="1"/>
          </p:cNvPicPr>
          <p:nvPr/>
        </p:nvPicPr>
        <p:blipFill rotWithShape="1">
          <a:blip r:embed="rId2" cstate="print">
            <a:clrChange>
              <a:clrFrom>
                <a:srgbClr val="F6F6F6"/>
              </a:clrFrom>
              <a:clrTo>
                <a:srgbClr val="F6F6F6">
                  <a:alpha val="0"/>
                </a:srgbClr>
              </a:clrTo>
            </a:clrChange>
            <a:extLst>
              <a:ext uri="{28A0092B-C50C-407E-A947-70E740481C1C}">
                <a14:useLocalDpi xmlns:a14="http://schemas.microsoft.com/office/drawing/2010/main" val="0"/>
              </a:ext>
            </a:extLst>
          </a:blip>
          <a:srcRect l="6105" t="8515"/>
          <a:stretch/>
        </p:blipFill>
        <p:spPr bwMode="auto">
          <a:xfrm flipH="1">
            <a:off x="4434667" y="7330197"/>
            <a:ext cx="746932" cy="740126"/>
          </a:xfrm>
          <a:prstGeom prst="rect">
            <a:avLst/>
          </a:prstGeom>
          <a:ln>
            <a:noFill/>
          </a:ln>
          <a:extLst>
            <a:ext uri="{53640926-AAD7-44D8-BBD7-CCE9431645EC}">
              <a14:shadowObscured xmlns:a14="http://schemas.microsoft.com/office/drawing/2010/main"/>
            </a:ext>
          </a:extLst>
        </p:spPr>
      </p:pic>
      <p:sp>
        <p:nvSpPr>
          <p:cNvPr id="7" name="Sinal de Multiplicação 6">
            <a:extLst>
              <a:ext uri="{FF2B5EF4-FFF2-40B4-BE49-F238E27FC236}">
                <a16:creationId xmlns:a16="http://schemas.microsoft.com/office/drawing/2014/main" id="{338281C8-A799-4162-A48A-2476702BDDEF}"/>
              </a:ext>
            </a:extLst>
          </p:cNvPr>
          <p:cNvSpPr/>
          <p:nvPr/>
        </p:nvSpPr>
        <p:spPr>
          <a:xfrm>
            <a:off x="4434667" y="7354751"/>
            <a:ext cx="609529" cy="611505"/>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11268" name="Imagem 30" descr="Imagem relacionada">
            <a:extLst>
              <a:ext uri="{FF2B5EF4-FFF2-40B4-BE49-F238E27FC236}">
                <a16:creationId xmlns:a16="http://schemas.microsoft.com/office/drawing/2014/main" id="{FAE6DB63-9D82-4E6F-B9F9-29B6F96F356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19" t="15317" r="2077" b="19551"/>
          <a:stretch/>
        </p:blipFill>
        <p:spPr bwMode="auto">
          <a:xfrm>
            <a:off x="3314700" y="4389267"/>
            <a:ext cx="685800" cy="45481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5D0A10D0-4701-444A-B94B-DC3905C44A3A}"/>
              </a:ext>
            </a:extLst>
          </p:cNvPr>
          <p:cNvSpPr>
            <a:spLocks noChangeArrowheads="1"/>
          </p:cNvSpPr>
          <p:nvPr/>
        </p:nvSpPr>
        <p:spPr bwMode="auto">
          <a:xfrm>
            <a:off x="352487" y="7181923"/>
            <a:ext cx="138564"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pt-BR" sz="1061"/>
          </a:p>
        </p:txBody>
      </p:sp>
      <p:sp>
        <p:nvSpPr>
          <p:cNvPr id="9" name="Rectangle 6">
            <a:extLst>
              <a:ext uri="{FF2B5EF4-FFF2-40B4-BE49-F238E27FC236}">
                <a16:creationId xmlns:a16="http://schemas.microsoft.com/office/drawing/2014/main" id="{47B727F0-A9BB-4E63-A7B9-194E2008BCAE}"/>
              </a:ext>
            </a:extLst>
          </p:cNvPr>
          <p:cNvSpPr>
            <a:spLocks noChangeArrowheads="1"/>
          </p:cNvSpPr>
          <p:nvPr/>
        </p:nvSpPr>
        <p:spPr bwMode="auto">
          <a:xfrm>
            <a:off x="231836" y="4145172"/>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1 - Coloque abraçadeira de metal na ponta da mangueira, encaixada no ponto de entrada de gás do fogão.</a:t>
            </a:r>
          </a:p>
          <a:p>
            <a:pPr defTabSz="685800"/>
            <a:r>
              <a:rPr lang="pt-BR" altLang="pt-BR" sz="1200" dirty="0"/>
              <a:t>		</a:t>
            </a:r>
          </a:p>
          <a:p>
            <a:pPr defTabSz="685800"/>
            <a:endParaRPr lang="pt-BR" altLang="pt-BR" sz="1200" dirty="0"/>
          </a:p>
          <a:p>
            <a:pPr defTabSz="685800"/>
            <a:r>
              <a:rPr lang="pt-BR" altLang="pt-BR" sz="1200" dirty="0">
                <a:ea typeface="Calibri" panose="020F0502020204030204" pitchFamily="34" charset="0"/>
                <a:cs typeface="Arial" panose="020B0604020202020204" pitchFamily="34" charset="0"/>
              </a:rPr>
              <a:t>2 - Coloque a mangueira no ponto de entrada de gás do fogão e aperte o parafuso da abraçadeira com uma chave de fenda para deixar o encaixe bem firme.</a:t>
            </a:r>
            <a:endParaRPr lang="pt-BR" altLang="pt-BR" sz="1200" dirty="0"/>
          </a:p>
          <a:p>
            <a:pPr defTabSz="685800"/>
            <a:r>
              <a:rPr lang="pt-BR" altLang="pt-BR" sz="1200" dirty="0">
                <a:ea typeface="Calibri" panose="020F0502020204030204" pitchFamily="34" charset="0"/>
                <a:cs typeface="Arial" panose="020B0604020202020204" pitchFamily="34" charset="0"/>
              </a:rPr>
              <a:t>3 - Coloque a outra abraçadeira na extremidade oposta da mangueira, encaixando-a no regulador de pressão de gás. Aperte bem o parafuso da braçadeira.</a:t>
            </a:r>
            <a:endParaRPr lang="pt-BR" altLang="pt-BR" sz="1200" dirty="0"/>
          </a:p>
          <a:p>
            <a:pPr defTabSz="685800"/>
            <a:r>
              <a:rPr lang="pt-BR" altLang="pt-BR" sz="1200" dirty="0">
                <a:ea typeface="Calibri" panose="020F0502020204030204" pitchFamily="34" charset="0"/>
                <a:cs typeface="Arial" panose="020B0604020202020204" pitchFamily="34" charset="0"/>
              </a:rPr>
              <a:t>4 - Certifique-se de que o registro do regulador esteja fechado antes de </a:t>
            </a:r>
            <a:r>
              <a:rPr lang="pt-BR" altLang="pt-BR" sz="1200" dirty="0" err="1">
                <a:ea typeface="Calibri" panose="020F0502020204030204" pitchFamily="34" charset="0"/>
                <a:cs typeface="Arial" panose="020B0604020202020204" pitchFamily="34" charset="0"/>
              </a:rPr>
              <a:t>rosqueá-lo</a:t>
            </a:r>
            <a:r>
              <a:rPr lang="pt-BR" altLang="pt-BR" sz="1200" dirty="0">
                <a:ea typeface="Calibri" panose="020F0502020204030204" pitchFamily="34" charset="0"/>
                <a:cs typeface="Arial" panose="020B0604020202020204" pitchFamily="34" charset="0"/>
              </a:rPr>
              <a:t> no botijão.</a:t>
            </a:r>
            <a:endParaRPr lang="pt-BR" altLang="pt-BR" sz="1200" dirty="0"/>
          </a:p>
          <a:p>
            <a:pPr defTabSz="685800"/>
            <a:r>
              <a:rPr lang="pt-BR" altLang="pt-BR" sz="1200" dirty="0">
                <a:ea typeface="Calibri" panose="020F0502020204030204" pitchFamily="34" charset="0"/>
                <a:cs typeface="Arial" panose="020B0604020202020204" pitchFamily="34" charset="0"/>
              </a:rPr>
              <a:t>5 - No ato da instalação e a cada troca do botijão de gás, verifique IMEDIATAMENTE se há vazamento na região do encaixe do regulador de pressão de gás. SUGERIMOS A UTILIZAÇÃO DE ESPUMADE SABÃO NO ENCAIXE DA VÁLVULA.</a:t>
            </a:r>
            <a:endParaRPr lang="pt-BR" altLang="pt-BR" sz="1200" dirty="0"/>
          </a:p>
          <a:p>
            <a:pPr defTabSz="685800"/>
            <a:r>
              <a:rPr lang="pt-BR" altLang="pt-BR" sz="1200" dirty="0" err="1">
                <a:solidFill>
                  <a:srgbClr val="FF0000"/>
                </a:solidFill>
                <a:ea typeface="Calibri" panose="020F0502020204030204" pitchFamily="34" charset="0"/>
                <a:cs typeface="Arial" panose="020B0604020202020204" pitchFamily="34" charset="0"/>
              </a:rPr>
              <a:t>Obs</a:t>
            </a:r>
            <a:r>
              <a:rPr lang="pt-BR" altLang="pt-BR" sz="1200" dirty="0">
                <a:solidFill>
                  <a:srgbClr val="FF0000"/>
                </a:solidFill>
                <a:ea typeface="Calibri" panose="020F0502020204030204" pitchFamily="34" charset="0"/>
                <a:cs typeface="Arial" panose="020B0604020202020204" pitchFamily="34" charset="0"/>
              </a:rPr>
              <a:t>: </a:t>
            </a:r>
            <a:r>
              <a:rPr lang="pt-BR" altLang="pt-BR" sz="1200" dirty="0">
                <a:ea typeface="Calibri" panose="020F0502020204030204" pitchFamily="34" charset="0"/>
                <a:cs typeface="Arial" panose="020B0604020202020204" pitchFamily="34" charset="0"/>
              </a:rPr>
              <a:t>Rosqueie com cuidado o regulador de pressão no botijão. O registro deve estar visível, com fácil acesso, sem quaisquer restrições, podendo ser fechado/desligado rapidamente, caso ocorra algum problema.</a:t>
            </a:r>
          </a:p>
          <a:p>
            <a:pPr defTabSz="685800"/>
            <a:endParaRPr lang="pt-BR" altLang="pt-BR" sz="1200" dirty="0"/>
          </a:p>
          <a:p>
            <a:pPr defTabSz="685800"/>
            <a:r>
              <a:rPr lang="pt-BR" altLang="pt-BR" sz="1200" b="1" dirty="0">
                <a:solidFill>
                  <a:srgbClr val="000000"/>
                </a:solidFill>
                <a:ea typeface="Times New Roman" panose="02020603050405020304" pitchFamily="18" charset="0"/>
                <a:cs typeface="Times New Roman" panose="02020603050405020304" pitchFamily="18" charset="0"/>
              </a:rPr>
              <a:t>3</a:t>
            </a:r>
            <a:r>
              <a:rPr lang="pt-BR" altLang="pt-BR" sz="1200" b="1" dirty="0" bmk="">
                <a:solidFill>
                  <a:srgbClr val="000000"/>
                </a:solidFill>
                <a:ea typeface="Times New Roman" panose="02020603050405020304" pitchFamily="18" charset="0"/>
                <a:cs typeface="Times New Roman" panose="02020603050405020304" pitchFamily="18" charset="0"/>
              </a:rPr>
              <a:t>.7 Vazamento de gás</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ea typeface="Calibri" panose="020F0502020204030204" pitchFamily="34" charset="0"/>
                <a:cs typeface="Arial" panose="020B0604020202020204" pitchFamily="34" charset="0"/>
              </a:rPr>
              <a:t>Ao sentir cheiro de gás tome as seguintes providencias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Feche o registro de gás;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acenda qualquer tipo de chama;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mexa em interruptores elétricos;</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Abra a janela e as portas, permitindo maior ventilação do ambiente;</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utilize o telefone, nem celular próximo ao local;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o vazamento seja no botijão retire-o e leve-o para um local aberto e bem ventilado</a:t>
            </a:r>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Saia do ambiente e faça a ligação de um local aberto e ventilado;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o distribuidor de gás;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Abastecimento por gás canalizado ou central (prédios) feche imediatamente os registros de abastecimento;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Entre em contato com a companhia de gás responsável;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a assistência técnica para verificar o problema;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Distância mínima OBRIGATÓRIA de 50 cm entre o fogão e o botijão;</a:t>
            </a:r>
            <a:endParaRPr lang="pt-BR" altLang="pt-BR" sz="1200" dirty="0"/>
          </a:p>
          <a:p>
            <a:pPr algn="just" defTabSz="685800">
              <a:buFontTx/>
              <a:buChar char="•"/>
            </a:pPr>
            <a:endParaRPr lang="pt-BR" altLang="pt-BR" sz="1200" dirty="0"/>
          </a:p>
        </p:txBody>
      </p:sp>
      <p:pic>
        <p:nvPicPr>
          <p:cNvPr id="11" name="Imagem 10">
            <a:extLst>
              <a:ext uri="{FF2B5EF4-FFF2-40B4-BE49-F238E27FC236}">
                <a16:creationId xmlns:a16="http://schemas.microsoft.com/office/drawing/2014/main" id="{78916458-8C31-4AA6-ADCC-05B2689610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4925" t="17128" r="35382" b="9520"/>
          <a:stretch/>
        </p:blipFill>
        <p:spPr bwMode="auto">
          <a:xfrm>
            <a:off x="243364" y="449750"/>
            <a:ext cx="3160800" cy="3285014"/>
          </a:xfrm>
          <a:prstGeom prst="rect">
            <a:avLst/>
          </a:prstGeom>
          <a:ln>
            <a:noFill/>
          </a:ln>
          <a:extLst>
            <a:ext uri="{53640926-AAD7-44D8-BBD7-CCE9431645EC}">
              <a14:shadowObscured xmlns:a14="http://schemas.microsoft.com/office/drawing/2010/main"/>
            </a:ext>
          </a:extLst>
        </p:spPr>
      </p:pic>
      <p:sp>
        <p:nvSpPr>
          <p:cNvPr id="12" name="Retângulo 11">
            <a:extLst>
              <a:ext uri="{FF2B5EF4-FFF2-40B4-BE49-F238E27FC236}">
                <a16:creationId xmlns:a16="http://schemas.microsoft.com/office/drawing/2014/main" id="{7C845884-3FEA-4D87-B2CB-B3A183263019}"/>
              </a:ext>
            </a:extLst>
          </p:cNvPr>
          <p:cNvSpPr/>
          <p:nvPr/>
        </p:nvSpPr>
        <p:spPr>
          <a:xfrm>
            <a:off x="4137836" y="1166712"/>
            <a:ext cx="2934000" cy="997645"/>
          </a:xfrm>
          <a:prstGeom prst="rect">
            <a:avLst/>
          </a:prstGeom>
        </p:spPr>
        <p:txBody>
          <a:bodyPr>
            <a:spAutoFit/>
          </a:bodyPr>
          <a:lstStyle/>
          <a:p>
            <a:pPr algn="just">
              <a:lnSpc>
                <a:spcPct val="107000"/>
              </a:lnSpc>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3</a:t>
            </a:r>
            <a:r>
              <a:rPr lang="pt-BR" sz="1400" dirty="0">
                <a:latin typeface="Arial" panose="020B0604020202020204" pitchFamily="34" charset="0"/>
                <a:ea typeface="Calibri" panose="020F0502020204030204" pitchFamily="34" charset="0"/>
                <a:cs typeface="Arial" panose="020B0604020202020204" pitchFamily="34" charset="0"/>
              </a:rPr>
              <a:t> – E por fim, fixar a outra extremidade do cano de cobre na torneira do fogão e apertar com a porca latão.</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pic>
        <p:nvPicPr>
          <p:cNvPr id="14" name="Imagem 13" descr="Resultado de imagem para lanterna desenho">
            <a:extLst>
              <a:ext uri="{FF2B5EF4-FFF2-40B4-BE49-F238E27FC236}">
                <a16:creationId xmlns:a16="http://schemas.microsoft.com/office/drawing/2014/main" id="{C4A35C0F-F442-4F91-8AB8-9F4E1443586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6718" y="9030677"/>
            <a:ext cx="1238218" cy="996851"/>
          </a:xfrm>
          <a:prstGeom prst="rect">
            <a:avLst/>
          </a:prstGeom>
          <a:noFill/>
          <a:ln>
            <a:noFill/>
          </a:ln>
        </p:spPr>
      </p:pic>
      <p:sp>
        <p:nvSpPr>
          <p:cNvPr id="15" name="Sinal de Multiplicação 14">
            <a:extLst>
              <a:ext uri="{FF2B5EF4-FFF2-40B4-BE49-F238E27FC236}">
                <a16:creationId xmlns:a16="http://schemas.microsoft.com/office/drawing/2014/main" id="{0680D615-A38F-4E80-B426-49EEEF039C13}"/>
              </a:ext>
            </a:extLst>
          </p:cNvPr>
          <p:cNvSpPr/>
          <p:nvPr/>
        </p:nvSpPr>
        <p:spPr>
          <a:xfrm>
            <a:off x="5376718" y="9044126"/>
            <a:ext cx="1111980" cy="983402"/>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 name="Espaço Reservado para Número de Slide 1">
            <a:extLst>
              <a:ext uri="{FF2B5EF4-FFF2-40B4-BE49-F238E27FC236}">
                <a16:creationId xmlns:a16="http://schemas.microsoft.com/office/drawing/2014/main" id="{A3B9A328-5726-4FD5-8BC5-AB8E4F70E0C6}"/>
              </a:ext>
            </a:extLst>
          </p:cNvPr>
          <p:cNvSpPr>
            <a:spLocks noGrp="1"/>
          </p:cNvSpPr>
          <p:nvPr>
            <p:ph type="sldNum" sz="quarter" idx="12"/>
          </p:nvPr>
        </p:nvSpPr>
        <p:spPr/>
        <p:txBody>
          <a:bodyPr/>
          <a:lstStyle/>
          <a:p>
            <a:fld id="{136BC063-5F49-4282-BA96-4716B49D2CCE}" type="slidenum">
              <a:rPr lang="pt-BR" smtClean="0"/>
              <a:t>13</a:t>
            </a:fld>
            <a:endParaRPr lang="pt-BR"/>
          </a:p>
        </p:txBody>
      </p:sp>
    </p:spTree>
    <p:extLst>
      <p:ext uri="{BB962C8B-B14F-4D97-AF65-F5344CB8AC3E}">
        <p14:creationId xmlns:p14="http://schemas.microsoft.com/office/powerpoint/2010/main" val="338082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2">
            <a:extLst>
              <a:ext uri="{FF2B5EF4-FFF2-40B4-BE49-F238E27FC236}">
                <a16:creationId xmlns:a16="http://schemas.microsoft.com/office/drawing/2014/main" id="{1FD0F9FA-607F-4BB4-97CA-1BA34731BC45}"/>
              </a:ext>
            </a:extLst>
          </p:cNvPr>
          <p:cNvSpPr>
            <a:spLocks noChangeArrowheads="1"/>
          </p:cNvSpPr>
          <p:nvPr/>
        </p:nvSpPr>
        <p:spPr bwMode="auto">
          <a:xfrm>
            <a:off x="237600" y="2818749"/>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Acendimento dos queimadores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0AA91A8-54B7-43C8-9218-2EA1A404198F}"/>
              </a:ext>
            </a:extLst>
          </p:cNvPr>
          <p:cNvSpPr>
            <a:spLocks noChangeArrowheads="1"/>
          </p:cNvSpPr>
          <p:nvPr/>
        </p:nvSpPr>
        <p:spPr bwMode="auto">
          <a:xfrm>
            <a:off x="237600" y="5496387"/>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grpSp>
        <p:nvGrpSpPr>
          <p:cNvPr id="9" name="Agrupar 8">
            <a:extLst>
              <a:ext uri="{FF2B5EF4-FFF2-40B4-BE49-F238E27FC236}">
                <a16:creationId xmlns:a16="http://schemas.microsoft.com/office/drawing/2014/main" id="{4DAC46E2-A726-430C-8441-08CCB9D03BCE}"/>
              </a:ext>
            </a:extLst>
          </p:cNvPr>
          <p:cNvGrpSpPr/>
          <p:nvPr/>
        </p:nvGrpSpPr>
        <p:grpSpPr>
          <a:xfrm>
            <a:off x="345961" y="0"/>
            <a:ext cx="1237002" cy="1218254"/>
            <a:chOff x="0" y="0"/>
            <a:chExt cx="850974" cy="861849"/>
          </a:xfrm>
        </p:grpSpPr>
        <p:pic>
          <p:nvPicPr>
            <p:cNvPr id="10" name="Imagem 9" descr="Imagem relacionada">
              <a:extLst>
                <a:ext uri="{FF2B5EF4-FFF2-40B4-BE49-F238E27FC236}">
                  <a16:creationId xmlns:a16="http://schemas.microsoft.com/office/drawing/2014/main" id="{7B8F274F-F8D5-462C-9E31-41061F8828AC}"/>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9113"/>
            <a:stretch/>
          </p:blipFill>
          <p:spPr bwMode="auto">
            <a:xfrm>
              <a:off x="50242" y="100484"/>
              <a:ext cx="691515" cy="761365"/>
            </a:xfrm>
            <a:prstGeom prst="rect">
              <a:avLst/>
            </a:prstGeom>
            <a:noFill/>
            <a:ln>
              <a:noFill/>
            </a:ln>
            <a:extLst>
              <a:ext uri="{53640926-AAD7-44D8-BBD7-CCE9431645EC}">
                <a14:shadowObscured xmlns:a14="http://schemas.microsoft.com/office/drawing/2010/main"/>
              </a:ext>
            </a:extLst>
          </p:spPr>
        </p:pic>
        <p:sp>
          <p:nvSpPr>
            <p:cNvPr id="11" name="Sinal de Multiplicação 10">
              <a:extLst>
                <a:ext uri="{FF2B5EF4-FFF2-40B4-BE49-F238E27FC236}">
                  <a16:creationId xmlns:a16="http://schemas.microsoft.com/office/drawing/2014/main" id="{EBA5A3D8-3267-4FC1-8F15-A460A8D56E1B}"/>
                </a:ext>
              </a:extLst>
            </p:cNvPr>
            <p:cNvSpPr/>
            <p:nvPr/>
          </p:nvSpPr>
          <p:spPr>
            <a:xfrm>
              <a:off x="0" y="0"/>
              <a:ext cx="850974" cy="850974"/>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grpSp>
      <p:sp>
        <p:nvSpPr>
          <p:cNvPr id="12" name="Rectangle 9">
            <a:extLst>
              <a:ext uri="{FF2B5EF4-FFF2-40B4-BE49-F238E27FC236}">
                <a16:creationId xmlns:a16="http://schemas.microsoft.com/office/drawing/2014/main" id="{25154FFC-D87C-4730-80C7-1E1994ED63B8}"/>
              </a:ext>
            </a:extLst>
          </p:cNvPr>
          <p:cNvSpPr>
            <a:spLocks noChangeArrowheads="1"/>
          </p:cNvSpPr>
          <p:nvPr/>
        </p:nvSpPr>
        <p:spPr bwMode="auto">
          <a:xfrm>
            <a:off x="3094944" y="1778515"/>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350">
              <a:latin typeface="Arial" panose="020B0604020202020204" pitchFamily="34" charset="0"/>
            </a:endParaRPr>
          </a:p>
        </p:txBody>
      </p:sp>
      <p:sp>
        <p:nvSpPr>
          <p:cNvPr id="14" name="Rectangle 11">
            <a:extLst>
              <a:ext uri="{FF2B5EF4-FFF2-40B4-BE49-F238E27FC236}">
                <a16:creationId xmlns:a16="http://schemas.microsoft.com/office/drawing/2014/main" id="{5ECAAAF3-697F-4FA3-ACA4-0DE32CA6AD11}"/>
              </a:ext>
            </a:extLst>
          </p:cNvPr>
          <p:cNvSpPr>
            <a:spLocks noChangeArrowheads="1"/>
          </p:cNvSpPr>
          <p:nvPr/>
        </p:nvSpPr>
        <p:spPr bwMode="auto">
          <a:xfrm>
            <a:off x="237600" y="128935"/>
            <a:ext cx="6840000"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Se o botijão ficar a mais de 120 cm do fogão (exemplo: na área de serviço), a instalação deverá ser feita conforme norma da ABNT, NBR 13932 Instalações internas para GLP; </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produz calor e umidade no local onde o fogão está instalado;</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má ventilação produz falta de oxigênio, que é prejudicial ao desempenho do fogão e de sua saúde;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intensiva e prolongada do fogão requer uma ventilação suplementar, por exemplo, a abertura de uma janela ou de uma ventilação mais eficaz que aumente o fluxo de ar;</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queira colocar o fogão sobre uma base, tenha cuidado para que o mesmo fique seguro e bem nivelado. A base deve possuir dimensões superiores às do fogão, para sua segurança;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ausência do regulador de pressão (exclusivo para fogão industrial) pode causar excesso de pressão e vazamento de gás, ocasionando danos de grande monta;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Utilize um copo d'água sobre o produto e verifique se realmente ele está nivelado</a:t>
            </a:r>
            <a:endParaRPr lang="pt-BR" altLang="pt-BR" sz="1200" dirty="0"/>
          </a:p>
          <a:p>
            <a:pPr marL="171450" indent="-171450" defTabSz="685800">
              <a:buFont typeface="Arial" panose="020B0604020202020204" pitchFamily="34" charset="0"/>
              <a:buChar char="•"/>
            </a:pPr>
            <a:endParaRPr lang="pt-BR" altLang="pt-BR" sz="1200" dirty="0"/>
          </a:p>
        </p:txBody>
      </p:sp>
      <p:sp>
        <p:nvSpPr>
          <p:cNvPr id="15" name="Rectangle 13">
            <a:extLst>
              <a:ext uri="{FF2B5EF4-FFF2-40B4-BE49-F238E27FC236}">
                <a16:creationId xmlns:a16="http://schemas.microsoft.com/office/drawing/2014/main" id="{1309729E-59BB-4FDE-9D74-D7599EABDFFF}"/>
              </a:ext>
            </a:extLst>
          </p:cNvPr>
          <p:cNvSpPr>
            <a:spLocks noChangeArrowheads="1"/>
          </p:cNvSpPr>
          <p:nvPr/>
        </p:nvSpPr>
        <p:spPr bwMode="auto">
          <a:xfrm>
            <a:off x="237600" y="3203748"/>
            <a:ext cx="6840000" cy="2123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b="1" dirty="0">
                <a:solidFill>
                  <a:srgbClr val="000000"/>
                </a:solidFill>
                <a:ea typeface="Times New Roman" panose="02020603050405020304" pitchFamily="18" charset="0"/>
                <a:cs typeface="Times New Roman" panose="02020603050405020304" pitchFamily="18" charset="0"/>
              </a:rPr>
              <a:t>4</a:t>
            </a:r>
            <a:r>
              <a:rPr lang="pt-BR" altLang="pt-BR" sz="1200" b="1" dirty="0" bmk="">
                <a:solidFill>
                  <a:srgbClr val="000000"/>
                </a:solidFill>
                <a:ea typeface="Times New Roman" panose="02020603050405020304" pitchFamily="18" charset="0"/>
                <a:cs typeface="Times New Roman" panose="02020603050405020304" pitchFamily="18" charset="0"/>
              </a:rPr>
              <a:t>.1 Acendimento manual dos queimadores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buFontTx/>
              <a:buChar char="•"/>
            </a:pPr>
            <a:r>
              <a:rPr lang="pt-BR" alt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este manual.</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Certifique-se que todos os queimadores estão corretamente instalados. O mau encaixe pode provocar danos ao queimador ou prejudicar seu desempenho.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Identifique o botão que corresponde ao queimador da mesa a ser utilizado antes de efetuar o acendimento.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Gire o botão do queimador escolhido no sentido anti-horário até a posição máxima, aproxime a chama de um fósforo ou isqueiro até o surgimento da chama no queimador. </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Com a chama acesa regule o botão do queimador à sua necessidade.</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Se a chama não acender repita a operação</a:t>
            </a:r>
            <a:endParaRPr lang="pt-BR" altLang="pt-BR" sz="1200" dirty="0"/>
          </a:p>
        </p:txBody>
      </p:sp>
      <p:sp>
        <p:nvSpPr>
          <p:cNvPr id="16" name="Rectangle 15">
            <a:extLst>
              <a:ext uri="{FF2B5EF4-FFF2-40B4-BE49-F238E27FC236}">
                <a16:creationId xmlns:a16="http://schemas.microsoft.com/office/drawing/2014/main" id="{3E07ADF3-A061-4AAE-9443-3F765628D722}"/>
              </a:ext>
            </a:extLst>
          </p:cNvPr>
          <p:cNvSpPr>
            <a:spLocks noChangeArrowheads="1"/>
          </p:cNvSpPr>
          <p:nvPr/>
        </p:nvSpPr>
        <p:spPr bwMode="auto">
          <a:xfrm>
            <a:off x="237600" y="5831602"/>
            <a:ext cx="6840000" cy="4316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distribuição de calor no forno do seu fogão é uniforme, siga as instruções básicas e obtenha economia de tempo no consumo de gás e melhor qualidade do assado.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Antes de ligar o forno, verifique se há utensílios em seu interior ou na estufa que possam ser danificados pelo calor.</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esse manual.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Assegure-se de que o fogão está sobre superfície plana e nivelada para o bom desempenho do fogão e melhores resultados no cozimento.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sobreponha nas grelhas do forno, qualquer material que impeça a circulação de calor, como por exemplo: papel alumínio ou similares.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 pré-aquecimento por 15 minutos na posição máxima, antes de colocar o alimento dentro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o uso da grelha do forno na regulagem central.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coloque nada diretamente sobre a base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encoste a forma no fundo ou nas laterais do mesmo.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uma folga de aproximadamente 5 cm entre a forma e as laterais do forno, para o calor circular homogeneamente.</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Caso ocorra o derramamento de qualquer líquido ou alimento dentro do forno, após desligar o forno, espere esfriar e limpe para evitar manchas, entupimento e atração de insetos.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Quando em funcionamento, evite abrir constantemente a porta do forno, para evitar a perda de calor. Acompanhe o assado através do visor panorâmico.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feche a porta do forno com movimento brusco, à chama do queimador do forno pode se apagar e pode vir danificar a mesma com o impacto devido a mesma ser de vidro.</a:t>
            </a:r>
          </a:p>
        </p:txBody>
      </p:sp>
      <p:sp>
        <p:nvSpPr>
          <p:cNvPr id="2" name="Espaço Reservado para Número de Slide 1">
            <a:extLst>
              <a:ext uri="{FF2B5EF4-FFF2-40B4-BE49-F238E27FC236}">
                <a16:creationId xmlns:a16="http://schemas.microsoft.com/office/drawing/2014/main" id="{E1D14520-483F-415D-9457-66BC423857F6}"/>
              </a:ext>
            </a:extLst>
          </p:cNvPr>
          <p:cNvSpPr>
            <a:spLocks noGrp="1"/>
          </p:cNvSpPr>
          <p:nvPr>
            <p:ph type="sldNum" sz="quarter" idx="12"/>
          </p:nvPr>
        </p:nvSpPr>
        <p:spPr>
          <a:xfrm>
            <a:off x="5166360" y="9756239"/>
            <a:ext cx="1645920" cy="553857"/>
          </a:xfrm>
        </p:spPr>
        <p:txBody>
          <a:bodyPr/>
          <a:lstStyle/>
          <a:p>
            <a:fld id="{136BC063-5F49-4282-BA96-4716B49D2CCE}" type="slidenum">
              <a:rPr lang="pt-BR" smtClean="0"/>
              <a:t>14</a:t>
            </a:fld>
            <a:endParaRPr lang="pt-BR" dirty="0"/>
          </a:p>
        </p:txBody>
      </p:sp>
    </p:spTree>
    <p:extLst>
      <p:ext uri="{BB962C8B-B14F-4D97-AF65-F5344CB8AC3E}">
        <p14:creationId xmlns:p14="http://schemas.microsoft.com/office/powerpoint/2010/main" val="282449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5D118619-8EF0-4E93-8A85-5135AEF216C3}"/>
              </a:ext>
            </a:extLst>
          </p:cNvPr>
          <p:cNvSpPr/>
          <p:nvPr/>
        </p:nvSpPr>
        <p:spPr>
          <a:xfrm>
            <a:off x="237600" y="318061"/>
            <a:ext cx="6840000" cy="3480440"/>
          </a:xfrm>
          <a:prstGeom prst="rect">
            <a:avLst/>
          </a:prstGeom>
        </p:spPr>
        <p:txBody>
          <a:bodyPr wrap="square">
            <a:spAutoFit/>
          </a:bodyPr>
          <a:lstStyle/>
          <a:p>
            <a:pPr algn="just"/>
            <a:r>
              <a:rPr lang="pt-BR" sz="1200" dirty="0">
                <a:latin typeface="Arial" panose="020B0604020202020204" pitchFamily="34" charset="0"/>
                <a:ea typeface="Calibri" panose="020F0502020204030204" pitchFamily="34" charset="0"/>
                <a:cs typeface="Arial" panose="020B0604020202020204" pitchFamily="34" charset="0"/>
              </a:rPr>
              <a:t> </a:t>
            </a: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5.1 Acendimento manual do forno</a:t>
            </a: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a porta do forno aberta, gire o manípulo do forno no sentido anti-horário até a posição máxima de saída do gás.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Direcione a chama acesa (de um isqueiro, por exemplo) até o orifício existente no chão do forno.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o forno devidamente ligado, regule o botão do queimador a sua necessidade.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Assegure-se que a chama está acesa, feche a porta cuidadosamente para evitar que o golpe de ar possa apagá-la.</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Se a chama se apagar, repita a operação.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1: Nunca acenda o forno se o chão do forno não estiver corretamente</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encaixado.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2: Não deixe de usar luvas térmicas ao manusear utensílios quentes.</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5.2 Instrução Importante</a:t>
            </a:r>
          </a:p>
          <a:p>
            <a:pPr algn="just"/>
            <a:r>
              <a:rPr 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não deixe que as chamas escapem pelas laterais das panelas. Reduza as chamas de modo que fiquem inteiramente cobertas pelas bases das panelas. Os diâmetros mínimos das panelas, recipientes em geral, que podem ser usados sobre as grades, deve ser de 220 mm no mínimo.</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Retângulo 2">
            <a:extLst>
              <a:ext uri="{FF2B5EF4-FFF2-40B4-BE49-F238E27FC236}">
                <a16:creationId xmlns:a16="http://schemas.microsoft.com/office/drawing/2014/main" id="{9FEE8250-7DB4-4F4E-9DFF-F3011C75913D}"/>
              </a:ext>
            </a:extLst>
          </p:cNvPr>
          <p:cNvSpPr/>
          <p:nvPr/>
        </p:nvSpPr>
        <p:spPr>
          <a:xfrm>
            <a:off x="130402" y="3964019"/>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6. Recomendações importantes</a:t>
            </a:r>
          </a:p>
        </p:txBody>
      </p:sp>
      <p:sp>
        <p:nvSpPr>
          <p:cNvPr id="6" name="Rectangle 7">
            <a:extLst>
              <a:ext uri="{FF2B5EF4-FFF2-40B4-BE49-F238E27FC236}">
                <a16:creationId xmlns:a16="http://schemas.microsoft.com/office/drawing/2014/main" id="{2E8A37EE-F48C-4497-BA3B-9961535B5F29}"/>
              </a:ext>
            </a:extLst>
          </p:cNvPr>
          <p:cNvSpPr>
            <a:spLocks noChangeArrowheads="1"/>
          </p:cNvSpPr>
          <p:nvPr/>
        </p:nvSpPr>
        <p:spPr bwMode="auto">
          <a:xfrm>
            <a:off x="344798" y="4160279"/>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Nunca utilize seu produto para aquecer ambientes.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deixe de fechar o registro de gás após a utilização do fogão.</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Após usar o fogão, nunca deixe a válvula de gás (regulador de pressão) aberta, especialmente à noite.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caso necessário, reduza as chamas de modo que fiquem inteiramente cobertas pelas bases das panelas.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deverá ser usado nenhum tipo de panela ou recipientes de bases convexas (curvas) sobre as grelhas (trempes).</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ATENÇÃO!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RISCO DE EXPLOSÃO! Se por algum motivo a chama do forno apagar ou não acender, retorne imediatamente o botão do forno para a posição desligado.</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Abra a porta do forno e espere pelo menos 1 minuto para que o gás liberado se espalhe.</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Só então tente acender novamente o forno de acordo com as instruções acima.</a:t>
            </a: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6</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.1 Bandeja coletora de resíduos</a:t>
            </a:r>
          </a:p>
          <a:p>
            <a:pPr defTabSz="685800" eaLnBrk="0" fontAlgn="base" hangingPunct="0">
              <a:spcBef>
                <a:spcPct val="0"/>
              </a:spcBef>
              <a:spcAft>
                <a:spcPct val="0"/>
              </a:spcAft>
            </a:pP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Os fogões industriais Só Aço possuem bandeja coletora de resíduo embaixo dos queimadores. Após a utilização do fogão sempre faça a limpeza da bandeja coletora de resíduos evitando deixar o acúmulo de resíduos na mesma.</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Na limpeza da bandeja utilize detergente neutro e esponja macia para a remoção dos resíduos.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solidFill>
                  <a:srgbClr val="FF0000"/>
                </a:solidFill>
                <a:latin typeface="Arial" panose="020B0604020202020204" pitchFamily="34" charset="0"/>
                <a:ea typeface="Calibri" panose="020F0502020204030204" pitchFamily="34" charset="0"/>
                <a:cs typeface="Arial" panose="020B0604020202020204" pitchFamily="34" charset="0"/>
              </a:rPr>
              <a:t>Obs.: </a:t>
            </a:r>
            <a:r>
              <a:rPr lang="pt-BR" altLang="pt-BR" sz="1200" dirty="0">
                <a:latin typeface="Arial" panose="020B0604020202020204" pitchFamily="34" charset="0"/>
                <a:ea typeface="Calibri" panose="020F0502020204030204" pitchFamily="34" charset="0"/>
                <a:cs typeface="Arial" panose="020B0604020202020204" pitchFamily="34" charset="0"/>
              </a:rPr>
              <a:t>Recomendamos não utilizar objetos pontiagudos como facas, espátulas e esponja de aço para a remoção de resíduos na bandeja coletora, podendo danificar a textura da mesma e gerar arranhões.</a:t>
            </a:r>
            <a:endParaRPr lang="pt-BR" altLang="pt-BR" sz="1200" dirty="0">
              <a:latin typeface="Arial" panose="020B0604020202020204" pitchFamily="34" charset="0"/>
              <a:cs typeface="Arial" panose="020B0604020202020204" pitchFamily="34" charset="0"/>
            </a:endParaRPr>
          </a:p>
        </p:txBody>
      </p:sp>
      <p:grpSp>
        <p:nvGrpSpPr>
          <p:cNvPr id="9" name="Agrupar 8">
            <a:extLst>
              <a:ext uri="{FF2B5EF4-FFF2-40B4-BE49-F238E27FC236}">
                <a16:creationId xmlns:a16="http://schemas.microsoft.com/office/drawing/2014/main" id="{2BD0A46E-0A65-4AF7-A7E9-80658477CEA4}"/>
              </a:ext>
            </a:extLst>
          </p:cNvPr>
          <p:cNvGrpSpPr>
            <a:grpSpLocks noChangeAspect="1"/>
          </p:cNvGrpSpPr>
          <p:nvPr/>
        </p:nvGrpSpPr>
        <p:grpSpPr>
          <a:xfrm>
            <a:off x="2809615" y="5439981"/>
            <a:ext cx="3426053" cy="2014367"/>
            <a:chOff x="0" y="89757"/>
            <a:chExt cx="1202055" cy="707168"/>
          </a:xfrm>
        </p:grpSpPr>
        <p:pic>
          <p:nvPicPr>
            <p:cNvPr id="10" name="Imagem 9">
              <a:extLst>
                <a:ext uri="{FF2B5EF4-FFF2-40B4-BE49-F238E27FC236}">
                  <a16:creationId xmlns:a16="http://schemas.microsoft.com/office/drawing/2014/main" id="{AF254A39-7D44-4E2D-B1B9-E3A8B2E139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91" t="5336" r="21321" b="52621"/>
            <a:stretch/>
          </p:blipFill>
          <p:spPr bwMode="auto">
            <a:xfrm>
              <a:off x="0" y="89757"/>
              <a:ext cx="1202055" cy="707168"/>
            </a:xfrm>
            <a:prstGeom prst="rect">
              <a:avLst/>
            </a:prstGeom>
            <a:noFill/>
            <a:ln>
              <a:noFill/>
            </a:ln>
            <a:extLst>
              <a:ext uri="{53640926-AAD7-44D8-BBD7-CCE9431645EC}">
                <a14:shadowObscured xmlns:a14="http://schemas.microsoft.com/office/drawing/2010/main"/>
              </a:ext>
            </a:extLst>
          </p:spPr>
        </p:pic>
        <p:pic>
          <p:nvPicPr>
            <p:cNvPr id="11" name="Imagem 10" descr="Resultado de imagem para chama de fogo png">
              <a:extLst>
                <a:ext uri="{FF2B5EF4-FFF2-40B4-BE49-F238E27FC236}">
                  <a16:creationId xmlns:a16="http://schemas.microsoft.com/office/drawing/2014/main" id="{4D49368F-62C2-45CD-A7A7-3337B0A9F5B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446228" y="314552"/>
              <a:ext cx="275888" cy="175565"/>
            </a:xfrm>
            <a:prstGeom prst="rect">
              <a:avLst/>
            </a:prstGeom>
            <a:noFill/>
            <a:ln>
              <a:noFill/>
            </a:ln>
          </p:spPr>
        </p:pic>
        <p:pic>
          <p:nvPicPr>
            <p:cNvPr id="12" name="Imagem 11" descr="Resultado de imagem para panela png">
              <a:extLst>
                <a:ext uri="{FF2B5EF4-FFF2-40B4-BE49-F238E27FC236}">
                  <a16:creationId xmlns:a16="http://schemas.microsoft.com/office/drawing/2014/main" id="{48762A95-487B-4E37-ABA0-963F0601CA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7705" y="223114"/>
              <a:ext cx="365760" cy="235585"/>
            </a:xfrm>
            <a:prstGeom prst="rect">
              <a:avLst/>
            </a:prstGeom>
            <a:noFill/>
            <a:ln>
              <a:noFill/>
            </a:ln>
          </p:spPr>
        </p:pic>
      </p:grpSp>
      <p:sp>
        <p:nvSpPr>
          <p:cNvPr id="13" name="Espaço Reservado para Número de Slide 12">
            <a:extLst>
              <a:ext uri="{FF2B5EF4-FFF2-40B4-BE49-F238E27FC236}">
                <a16:creationId xmlns:a16="http://schemas.microsoft.com/office/drawing/2014/main" id="{587A00F0-3588-48E3-8E34-3147EFCDB5EE}"/>
              </a:ext>
            </a:extLst>
          </p:cNvPr>
          <p:cNvSpPr>
            <a:spLocks noGrp="1"/>
          </p:cNvSpPr>
          <p:nvPr>
            <p:ph type="sldNum" sz="quarter" idx="12"/>
          </p:nvPr>
        </p:nvSpPr>
        <p:spPr>
          <a:xfrm>
            <a:off x="5242560" y="9851489"/>
            <a:ext cx="1645920" cy="553857"/>
          </a:xfrm>
        </p:spPr>
        <p:txBody>
          <a:bodyPr/>
          <a:lstStyle/>
          <a:p>
            <a:fld id="{136BC063-5F49-4282-BA96-4716B49D2CCE}" type="slidenum">
              <a:rPr lang="pt-BR" smtClean="0"/>
              <a:t>15</a:t>
            </a:fld>
            <a:endParaRPr lang="pt-BR"/>
          </a:p>
        </p:txBody>
      </p:sp>
    </p:spTree>
    <p:extLst>
      <p:ext uri="{BB962C8B-B14F-4D97-AF65-F5344CB8AC3E}">
        <p14:creationId xmlns:p14="http://schemas.microsoft.com/office/powerpoint/2010/main" val="328476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tângulo 2">
            <a:extLst>
              <a:ext uri="{FF2B5EF4-FFF2-40B4-BE49-F238E27FC236}">
                <a16:creationId xmlns:a16="http://schemas.microsoft.com/office/drawing/2014/main" id="{DFDD5AD1-5073-4740-B9CA-467884937513}"/>
              </a:ext>
            </a:extLst>
          </p:cNvPr>
          <p:cNvSpPr>
            <a:spLocks noChangeArrowheads="1"/>
          </p:cNvSpPr>
          <p:nvPr/>
        </p:nvSpPr>
        <p:spPr bwMode="auto">
          <a:xfrm>
            <a:off x="237600" y="5849104"/>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8</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Limpeza do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a16="http://schemas.microsoft.com/office/drawing/2014/main" id="{0FC49115-4AB0-4126-B7E3-4294B687DE78}"/>
              </a:ext>
            </a:extLst>
          </p:cNvPr>
          <p:cNvSpPr>
            <a:spLocks noChangeArrowheads="1"/>
          </p:cNvSpPr>
          <p:nvPr/>
        </p:nvSpPr>
        <p:spPr bwMode="auto">
          <a:xfrm>
            <a:off x="158726" y="6068208"/>
            <a:ext cx="6997749"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Antes de iniciar o processo de higienização de seu forno, verifique se: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grades e a parte interna não estão excessivamente quentes;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Verifique se o registro e os manípulos do fogão estejam fechados;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Aqueça o forno por um tempo médio de 02 a 05 minutos para amolecer os resíduos de gordura;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Retire a grade interna do forno;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Passe um pano úmido ou esponja embebida em água e detergente neutro;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Enxágue, pressionando com uma esponja embebida em água fria;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Após realizar a limpeza, ligue o forno, por 15 minutos na posição máxima para a secagem interna.</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solidFill>
                  <a:srgbClr val="000000"/>
                </a:solidFill>
                <a:ea typeface="Times New Roman" panose="02020603050405020304" pitchFamily="18" charset="0"/>
                <a:cs typeface="Times New Roman" panose="02020603050405020304" pitchFamily="18" charset="0"/>
              </a:rPr>
              <a:t>8</a:t>
            </a:r>
            <a:r>
              <a:rPr lang="pt-BR" altLang="pt-BR" sz="1200" b="1" dirty="0" bmk="">
                <a:solidFill>
                  <a:srgbClr val="000000"/>
                </a:solidFill>
                <a:ea typeface="Times New Roman" panose="02020603050405020304" pitchFamily="18" charset="0"/>
                <a:cs typeface="Times New Roman" panose="02020603050405020304" pitchFamily="18" charset="0"/>
              </a:rPr>
              <a:t>.1 Limpeza da porta do forno de vidro</a:t>
            </a:r>
          </a:p>
          <a:p>
            <a:pPr defTabSz="685800"/>
            <a:r>
              <a:rPr lang="pt-BR" altLang="pt-BR" sz="1200" dirty="0" bmk="">
                <a:ea typeface="Calibri" panose="020F0502020204030204" pitchFamily="34" charset="0"/>
                <a:cs typeface="Arial" panose="020B0604020202020204" pitchFamily="34" charset="0"/>
              </a:rPr>
              <a:t>Antes de iniciar o processo de higienização do vidro, verifique 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As partes acessíveis estão quentes;</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 o registro de gás e todos os manípulos estão desligados.</a:t>
            </a:r>
            <a:endParaRPr lang="pt-BR" altLang="pt-BR" sz="1200" dirty="0" bmk=""/>
          </a:p>
          <a:p>
            <a:pPr marL="171450" indent="-171450" defTabSz="685800">
              <a:buFont typeface="Arial" panose="020B0604020202020204" pitchFamily="34" charset="0"/>
              <a:buChar char="•"/>
            </a:pPr>
            <a:r>
              <a:rPr lang="pt-BR" altLang="pt-BR" sz="1200" dirty="0" bmk="">
                <a:ea typeface="Calibri" panose="020F0502020204030204" pitchFamily="34" charset="0"/>
                <a:cs typeface="Arial" panose="020B0604020202020204" pitchFamily="34" charset="0"/>
              </a:rPr>
              <a:t>Na limpeza use: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Esponja ou pano macio com sabão ou detergente neutro;</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Enxágue bem;</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Seque com um pano seco.</a:t>
            </a:r>
            <a:endParaRPr lang="pt-BR" altLang="pt-BR" sz="1200" dirty="0" bmk=""/>
          </a:p>
          <a:p>
            <a:pPr marL="171450" indent="-171450" defTabSz="685800">
              <a:buFont typeface="Arial" panose="020B0604020202020204" pitchFamily="34" charset="0"/>
              <a:buChar char="•"/>
            </a:pPr>
            <a:endParaRPr lang="pt-BR" altLang="pt-BR" sz="1200" b="1" dirty="0" bmk="">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bmk="">
                <a:solidFill>
                  <a:srgbClr val="000000"/>
                </a:solidFill>
                <a:ea typeface="Times New Roman" panose="02020603050405020304" pitchFamily="18" charset="0"/>
                <a:cs typeface="Times New Roman" panose="02020603050405020304" pitchFamily="18" charset="0"/>
              </a:rPr>
              <a:t>8.2 </a:t>
            </a:r>
            <a:r>
              <a:rPr lang="pt-BR" altLang="pt-BR" sz="1200" b="1" dirty="0" bmk="_Toc526492165">
                <a:solidFill>
                  <a:srgbClr val="000000"/>
                </a:solidFill>
                <a:ea typeface="Times New Roman" panose="02020603050405020304" pitchFamily="18" charset="0"/>
                <a:cs typeface="Arial" panose="020B0604020202020204" pitchFamily="34" charset="0"/>
              </a:rPr>
              <a:t>Recomendações importantes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dirty="0">
                <a:ea typeface="Calibri" panose="020F0502020204030204" pitchFamily="34" charset="0"/>
                <a:cs typeface="Arial" panose="020B0604020202020204" pitchFamily="34" charset="0"/>
              </a:rPr>
              <a:t>Nunca deixe cair água ou sabão no fundo do forno, evitando prejudicar o</a:t>
            </a:r>
            <a:endParaRPr lang="pt-BR" altLang="pt-BR" sz="1200" dirty="0"/>
          </a:p>
          <a:p>
            <a:pPr defTabSz="685800"/>
            <a:r>
              <a:rPr lang="pt-BR" altLang="pt-BR" sz="1200" dirty="0">
                <a:ea typeface="Calibri" panose="020F0502020204030204" pitchFamily="34" charset="0"/>
                <a:cs typeface="Arial" panose="020B0604020202020204" pitchFamily="34" charset="0"/>
              </a:rPr>
              <a:t>queimador.</a:t>
            </a:r>
            <a:endParaRPr lang="pt-BR" altLang="pt-BR" sz="1200" dirty="0"/>
          </a:p>
          <a:p>
            <a:pPr marL="171450" indent="-171450" defTabSz="685800">
              <a:buFont typeface="Arial" panose="020B0604020202020204" pitchFamily="34" charset="0"/>
              <a:buChar char="•"/>
            </a:pPr>
            <a:endParaRPr lang="pt-BR" altLang="pt-BR" sz="1200" dirty="0"/>
          </a:p>
        </p:txBody>
      </p:sp>
      <p:sp>
        <p:nvSpPr>
          <p:cNvPr id="16" name="Retângulo 2">
            <a:extLst>
              <a:ext uri="{FF2B5EF4-FFF2-40B4-BE49-F238E27FC236}">
                <a16:creationId xmlns:a16="http://schemas.microsoft.com/office/drawing/2014/main" id="{295C53A8-CA96-4307-A5C1-ACAE1A720E08}"/>
              </a:ext>
            </a:extLst>
          </p:cNvPr>
          <p:cNvSpPr>
            <a:spLocks noChangeArrowheads="1"/>
          </p:cNvSpPr>
          <p:nvPr/>
        </p:nvSpPr>
        <p:spPr bwMode="auto">
          <a:xfrm>
            <a:off x="351673" y="214701"/>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7</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Orientações de limpeza</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7" name="Retângulo 16">
            <a:extLst>
              <a:ext uri="{FF2B5EF4-FFF2-40B4-BE49-F238E27FC236}">
                <a16:creationId xmlns:a16="http://schemas.microsoft.com/office/drawing/2014/main" id="{CA6C546D-2504-4469-AC1A-4FF4315B2ECC}"/>
              </a:ext>
            </a:extLst>
          </p:cNvPr>
          <p:cNvSpPr/>
          <p:nvPr/>
        </p:nvSpPr>
        <p:spPr>
          <a:xfrm>
            <a:off x="237600" y="597822"/>
            <a:ext cx="6840000" cy="5262979"/>
          </a:xfrm>
          <a:prstGeom prst="rect">
            <a:avLst/>
          </a:prstGeom>
        </p:spPr>
        <p:txBody>
          <a:bodyPr>
            <a:spAutoFit/>
          </a:bodyPr>
          <a:lstStyle/>
          <a:p>
            <a:pPr defTabSz="685800"/>
            <a:r>
              <a:rPr lang="pt-BR" altLang="pt-BR" sz="1200" dirty="0">
                <a:latin typeface="Arial" panose="020B0604020202020204" pitchFamily="34" charset="0"/>
                <a:ea typeface="Calibri" panose="020F0502020204030204" pitchFamily="34" charset="0"/>
                <a:cs typeface="Arial" panose="020B0604020202020204" pitchFamily="34" charset="0"/>
              </a:rPr>
              <a:t>Primeiramente, antes de iniciar o processo de higienização de seu produto, verifique se:</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Os queimadores, as grelhas (trempes) e a mesa não estão quentes;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Se a válvula de gás e todos os botões estão desligados.</a:t>
            </a:r>
          </a:p>
          <a:p>
            <a:pPr marL="171450" indent="-171450" defTabSz="685800">
              <a:buFont typeface="Arial" panose="020B0604020202020204" pitchFamily="34" charset="0"/>
              <a:buChar char="•"/>
            </a:pPr>
            <a:endParaRPr lang="pt-BR" altLang="pt-BR" sz="1200" dirty="0">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latin typeface="Arial" panose="020B0604020202020204" pitchFamily="34" charset="0"/>
                <a:ea typeface="Times New Roman" panose="02020603050405020304" pitchFamily="18" charset="0"/>
                <a:cs typeface="Arial" panose="020B0604020202020204" pitchFamily="34" charset="0"/>
              </a:rPr>
              <a:t>7.1 Limpeza do seu fogão</a:t>
            </a: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 limpeza dos queimadores (das bases e dos espalhadores), deve ser feita periodicamente com água morna e sabão neutro. Antes de recolocar os espalha chamas nas bases dos queimadores, enxugue-os bem e verifique se todos ficaram limpos e secos.</a:t>
            </a:r>
            <a:endParaRPr lang="pt-BR" altLang="pt-BR" sz="1200" dirty="0">
              <a:latin typeface="Arial" panose="020B0604020202020204" pitchFamily="34" charset="0"/>
              <a:cs typeface="Arial" panose="020B0604020202020204" pitchFamily="34" charset="0"/>
            </a:endParaRPr>
          </a:p>
          <a:p>
            <a:pPr defTabSz="685800"/>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7</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.2 Cuidados na manutenção e limpeza do fogão</a:t>
            </a:r>
          </a:p>
          <a:p>
            <a:pPr defTabSz="685800"/>
            <a:r>
              <a:rPr lang="pt-BR" altLang="pt-BR" sz="1200" dirty="0" bmk="">
                <a:latin typeface="Arial" panose="020B0604020202020204" pitchFamily="34" charset="0"/>
                <a:ea typeface="Calibri" panose="020F0502020204030204" pitchFamily="34" charset="0"/>
                <a:cs typeface="Arial" panose="020B0604020202020204" pitchFamily="34" charset="0"/>
              </a:rPr>
              <a:t>Alguns agentes de limpeza não devem ser utilizados em hipótese alguma:</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Querosene, gasolina, solventes, ácidos, vinagres, produtos químicos ou abrasivos, pois podem causar manchas.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Não utilize pós-abrasivos e substâncias corrosivas que possam arranhar as partes citadas.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Ao efetuar a limpeza de seu fogão industrial cuide para não danificar os condutores do gás.</a:t>
            </a:r>
            <a:endParaRPr lang="pt-BR" altLang="pt-BR" sz="1200" dirty="0" bmk="">
              <a:latin typeface="Arial" panose="020B0604020202020204" pitchFamily="34" charset="0"/>
              <a:cs typeface="Arial" panose="020B0604020202020204" pitchFamily="34" charset="0"/>
            </a:endParaRPr>
          </a:p>
          <a:p>
            <a:pPr defTabSz="685800"/>
            <a:endPar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7.3 Outros cuidados</a:t>
            </a: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use palha de aço ou similares para limpeza de qualquer parte do fogão.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Nunca coloque os espalha chamas quentes na água fria, isso poderá provocar o seu empenamento. Para lavar, deixe-os esfriar.</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cair líquidos ou sólidos dentro do queimador para não desregular a chama ou causar entupimentos. Caso aconteça, desligue o queimador, espere esfriar e limpe-o.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Ao derramar qualquer líquido ou alimento sobre as bandejas coletoras de resíduos do fogão ou dentro do forno, limpe imediatamente após utilização do mesmo para evitar manchas e acúmulos de resíduos.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que as substâncias ácidas ou alcalinas, como: vinagre, café, leite, água salgada, suco de tomate etc., permaneçam por muito tempo em contato com as superfícies do fogão podendo gerar danos as mesmas.</a:t>
            </a:r>
            <a:endParaRPr lang="pt-BR" altLang="pt-BR" sz="12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3811E7A8-1715-457C-ADF5-5EF3843F3D1F}"/>
              </a:ext>
            </a:extLst>
          </p:cNvPr>
          <p:cNvSpPr>
            <a:spLocks noGrp="1"/>
          </p:cNvSpPr>
          <p:nvPr>
            <p:ph type="sldNum" sz="quarter" idx="12"/>
          </p:nvPr>
        </p:nvSpPr>
        <p:spPr/>
        <p:txBody>
          <a:bodyPr/>
          <a:lstStyle/>
          <a:p>
            <a:fld id="{136BC063-5F49-4282-BA96-4716B49D2CCE}" type="slidenum">
              <a:rPr lang="pt-BR" smtClean="0"/>
              <a:t>16</a:t>
            </a:fld>
            <a:endParaRPr lang="pt-BR"/>
          </a:p>
        </p:txBody>
      </p:sp>
    </p:spTree>
    <p:extLst>
      <p:ext uri="{BB962C8B-B14F-4D97-AF65-F5344CB8AC3E}">
        <p14:creationId xmlns:p14="http://schemas.microsoft.com/office/powerpoint/2010/main" val="915256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2">
            <a:extLst>
              <a:ext uri="{FF2B5EF4-FFF2-40B4-BE49-F238E27FC236}">
                <a16:creationId xmlns:a16="http://schemas.microsoft.com/office/drawing/2014/main" id="{E5840AE1-2ADF-44B3-A9BE-CBBF41B75D69}"/>
              </a:ext>
            </a:extLst>
          </p:cNvPr>
          <p:cNvSpPr>
            <a:spLocks noChangeArrowheads="1"/>
          </p:cNvSpPr>
          <p:nvPr/>
        </p:nvSpPr>
        <p:spPr bwMode="auto">
          <a:xfrm>
            <a:off x="237600" y="206878"/>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Análise e resolução de problemas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6B4A0A76-991A-4581-8D88-F49E53968910}"/>
              </a:ext>
            </a:extLst>
          </p:cNvPr>
          <p:cNvSpPr>
            <a:spLocks noChangeArrowheads="1"/>
          </p:cNvSpPr>
          <p:nvPr/>
        </p:nvSpPr>
        <p:spPr bwMode="auto">
          <a:xfrm>
            <a:off x="237600" y="584066"/>
            <a:ext cx="6840000" cy="12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2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.1 Problemas e soluções</a:t>
            </a:r>
            <a:endPar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Este equipamento foi projetado para necessitar o mínimo de manutenção. Entretanto, podem ocorrer algumas irregularidades no seu funcionamento devido ao desgaste natural causado pelo uso. Caso haja algum problema com o seu equipamento, verifique a tabela a seguir onde estão descritas algumas possíveis soluções recomendadas.</a:t>
            </a:r>
            <a:endParaRPr lang="pt-BR" altLang="pt-BR" sz="1200" dirty="0"/>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Além disso, a Só Aço coloca à disposição toda a sua rede de Assistentes Técnicos Autorizados.</a:t>
            </a:r>
            <a:endParaRPr lang="pt-BR" altLang="pt-BR" sz="1200" dirty="0">
              <a:latin typeface="Arial" panose="020B0604020202020204" pitchFamily="34" charset="0"/>
            </a:endParaRPr>
          </a:p>
        </p:txBody>
      </p:sp>
      <p:graphicFrame>
        <p:nvGraphicFramePr>
          <p:cNvPr id="7" name="Tabela 6">
            <a:extLst>
              <a:ext uri="{FF2B5EF4-FFF2-40B4-BE49-F238E27FC236}">
                <a16:creationId xmlns:a16="http://schemas.microsoft.com/office/drawing/2014/main" id="{11101431-895D-410B-97C6-8DB1AF0C5F6F}"/>
              </a:ext>
            </a:extLst>
          </p:cNvPr>
          <p:cNvGraphicFramePr>
            <a:graphicFrameLocks noGrp="1"/>
          </p:cNvGraphicFramePr>
          <p:nvPr>
            <p:extLst>
              <p:ext uri="{D42A27DB-BD31-4B8C-83A1-F6EECF244321}">
                <p14:modId xmlns:p14="http://schemas.microsoft.com/office/powerpoint/2010/main" val="2729803291"/>
              </p:ext>
            </p:extLst>
          </p:nvPr>
        </p:nvGraphicFramePr>
        <p:xfrm>
          <a:off x="271594" y="2041254"/>
          <a:ext cx="6806006" cy="6460119"/>
        </p:xfrm>
        <a:graphic>
          <a:graphicData uri="http://schemas.openxmlformats.org/drawingml/2006/table">
            <a:tbl>
              <a:tblPr firstRow="1" firstCol="1" bandRow="1">
                <a:tableStyleId>{9D7B26C5-4107-4FEC-AEDC-1716B250A1EF}</a:tableStyleId>
              </a:tblPr>
              <a:tblGrid>
                <a:gridCol w="3012904">
                  <a:extLst>
                    <a:ext uri="{9D8B030D-6E8A-4147-A177-3AD203B41FA5}">
                      <a16:colId xmlns:a16="http://schemas.microsoft.com/office/drawing/2014/main" val="3806777120"/>
                    </a:ext>
                  </a:extLst>
                </a:gridCol>
                <a:gridCol w="3793102">
                  <a:extLst>
                    <a:ext uri="{9D8B030D-6E8A-4147-A177-3AD203B41FA5}">
                      <a16:colId xmlns:a16="http://schemas.microsoft.com/office/drawing/2014/main" val="1995209959"/>
                    </a:ext>
                  </a:extLst>
                </a:gridCol>
              </a:tblGrid>
              <a:tr h="210707">
                <a:tc>
                  <a:txBody>
                    <a:bodyPr/>
                    <a:lstStyle/>
                    <a:p>
                      <a:pPr algn="ctr">
                        <a:spcAft>
                          <a:spcPts val="0"/>
                        </a:spcAft>
                      </a:pPr>
                      <a:r>
                        <a:rPr lang="pt-BR" sz="1200">
                          <a:effectLst/>
                        </a:rPr>
                        <a:t>PROBLEMAS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algn="ctr">
                        <a:spcAft>
                          <a:spcPts val="0"/>
                        </a:spcAft>
                      </a:pPr>
                      <a:r>
                        <a:rPr lang="pt-BR" sz="1200">
                          <a:effectLst/>
                        </a:rPr>
                        <a:t>SOLUÇÕES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57274726"/>
                  </a:ext>
                </a:extLst>
              </a:tr>
              <a:tr h="1041134">
                <a:tc>
                  <a:txBody>
                    <a:bodyPr/>
                    <a:lstStyle/>
                    <a:p>
                      <a:pPr algn="l">
                        <a:spcAft>
                          <a:spcPts val="0"/>
                        </a:spcAft>
                      </a:pPr>
                      <a:r>
                        <a:rPr lang="pt-BR" sz="1200" dirty="0">
                          <a:effectLst/>
                        </a:rPr>
                        <a:t>O queimador não acende.</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Verifique se o registro de gás está fechado.</a:t>
                      </a:r>
                    </a:p>
                    <a:p>
                      <a:pPr marL="171450" lvl="0" indent="-171450" algn="l">
                        <a:spcAft>
                          <a:spcPts val="0"/>
                        </a:spcAft>
                        <a:buFont typeface="Arial" panose="020B0604020202020204" pitchFamily="34" charset="0"/>
                        <a:buChar char="•"/>
                      </a:pPr>
                      <a:r>
                        <a:rPr lang="pt-BR" sz="1200" dirty="0">
                          <a:effectLst/>
                        </a:rPr>
                        <a:t>Verifique se o botijão está vazio.</a:t>
                      </a:r>
                    </a:p>
                    <a:p>
                      <a:pPr marL="171450" lvl="0" indent="-171450" algn="l">
                        <a:spcAft>
                          <a:spcPts val="0"/>
                        </a:spcAft>
                        <a:buFont typeface="Arial" panose="020B0604020202020204" pitchFamily="34" charset="0"/>
                        <a:buChar char="•"/>
                      </a:pPr>
                      <a:r>
                        <a:rPr lang="pt-BR" sz="1200" dirty="0">
                          <a:effectLst/>
                        </a:rPr>
                        <a:t>Verifique se o queimador está sujo ou molhado.</a:t>
                      </a:r>
                    </a:p>
                    <a:p>
                      <a:pPr marL="171450" lvl="0" indent="-171450" algn="l">
                        <a:spcAft>
                          <a:spcPts val="0"/>
                        </a:spcAft>
                        <a:buFont typeface="Arial" panose="020B0604020202020204" pitchFamily="34" charset="0"/>
                        <a:buChar char="•"/>
                      </a:pPr>
                      <a:r>
                        <a:rPr lang="pt-BR" sz="1200" dirty="0">
                          <a:effectLst/>
                        </a:rPr>
                        <a:t>Verifique se o injetor está entupido.</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3151167253"/>
                  </a:ext>
                </a:extLst>
              </a:tr>
              <a:tr h="853447">
                <a:tc>
                  <a:txBody>
                    <a:bodyPr/>
                    <a:lstStyle/>
                    <a:p>
                      <a:pPr algn="just">
                        <a:spcAft>
                          <a:spcPts val="0"/>
                        </a:spcAft>
                      </a:pPr>
                      <a:r>
                        <a:rPr lang="pt-BR" sz="1200" dirty="0">
                          <a:effectLst/>
                        </a:rPr>
                        <a:t>A chama está fugindo. O queimador engole a chama.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Posição incorreta do queimador, verifique.</a:t>
                      </a:r>
                    </a:p>
                    <a:p>
                      <a:pPr marL="171450" lvl="0" indent="-171450" algn="l">
                        <a:spcAft>
                          <a:spcPts val="0"/>
                        </a:spcAft>
                        <a:buFont typeface="Arial" panose="020B0604020202020204" pitchFamily="34" charset="0"/>
                        <a:buChar char="•"/>
                      </a:pPr>
                      <a:r>
                        <a:rPr lang="pt-BR" sz="1200" dirty="0">
                          <a:effectLst/>
                        </a:rPr>
                        <a:t>Posição incorreta do espalha chama, verifique.</a:t>
                      </a:r>
                    </a:p>
                    <a:p>
                      <a:pPr marL="0" lvl="0" indent="0" algn="l">
                        <a:spcAft>
                          <a:spcPts val="0"/>
                        </a:spcAft>
                        <a:buFont typeface="Arial" panose="020B0604020202020204" pitchFamily="34" charset="0"/>
                        <a:buNone/>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9846642"/>
                  </a:ext>
                </a:extLst>
              </a:tr>
              <a:tr h="2647958">
                <a:tc>
                  <a:txBody>
                    <a:bodyPr/>
                    <a:lstStyle/>
                    <a:p>
                      <a:pPr algn="l">
                        <a:spcAft>
                          <a:spcPts val="0"/>
                        </a:spcAft>
                      </a:pPr>
                      <a:r>
                        <a:rPr lang="pt-BR" sz="1200" dirty="0">
                          <a:effectLst/>
                        </a:rPr>
                        <a:t>A chama está amarela.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indent="-171450" algn="just">
                        <a:spcAft>
                          <a:spcPts val="600"/>
                        </a:spcAft>
                        <a:buFont typeface="Arial" panose="020B0604020202020204" pitchFamily="34" charset="0"/>
                        <a:buChar char="•"/>
                      </a:pPr>
                      <a:r>
                        <a:rPr lang="pt-BR" sz="1200" dirty="0">
                          <a:effectLst/>
                        </a:rPr>
                        <a:t>Passagem de oxigênio muito fechada, reajustar a posição da abraçadeira. </a:t>
                      </a: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474528440"/>
                  </a:ext>
                </a:extLst>
              </a:tr>
              <a:tr h="892401">
                <a:tc>
                  <a:txBody>
                    <a:bodyPr/>
                    <a:lstStyle/>
                    <a:p>
                      <a:pPr algn="l">
                        <a:spcAft>
                          <a:spcPts val="0"/>
                        </a:spcAft>
                      </a:pPr>
                      <a:r>
                        <a:rPr lang="pt-BR" sz="1200">
                          <a:effectLst/>
                        </a:rPr>
                        <a:t>Pressão de gás insuficiente</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Entrada de gás obstruída.</a:t>
                      </a:r>
                    </a:p>
                    <a:p>
                      <a:pPr marL="171450" lvl="0" indent="-171450" algn="l">
                        <a:spcAft>
                          <a:spcPts val="0"/>
                        </a:spcAft>
                        <a:buFont typeface="Arial" panose="020B0604020202020204" pitchFamily="34" charset="0"/>
                        <a:buChar char="•"/>
                      </a:pPr>
                      <a:r>
                        <a:rPr lang="pt-BR" sz="1200" dirty="0">
                          <a:effectLst/>
                        </a:rPr>
                        <a:t>Injetor obstruído, verificar passagem de gás do bico injetor. </a:t>
                      </a: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171450" lvl="0" indent="-171450" algn="l">
                        <a:spcAft>
                          <a:spcPts val="0"/>
                        </a:spcAft>
                        <a:buFont typeface="Arial" panose="020B0604020202020204" pitchFamily="34" charset="0"/>
                        <a:buChar char="•"/>
                      </a:pPr>
                      <a:r>
                        <a:rPr lang="pt-BR" sz="1200" dirty="0">
                          <a:effectLst/>
                        </a:rPr>
                        <a:t>Resíduos no interior do queimador, verificar parte interna do queimador.</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1153305637"/>
                  </a:ext>
                </a:extLst>
              </a:tr>
            </a:tbl>
          </a:graphicData>
        </a:graphic>
      </p:graphicFrame>
      <p:pic>
        <p:nvPicPr>
          <p:cNvPr id="14341" name="Imagem 35">
            <a:extLst>
              <a:ext uri="{FF2B5EF4-FFF2-40B4-BE49-F238E27FC236}">
                <a16:creationId xmlns:a16="http://schemas.microsoft.com/office/drawing/2014/main" id="{05F23828-A96E-499D-92E1-1BDB74D7A5F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4451" b="98352" l="9524" r="89744">
                        <a14:foregroundMark x1="46886" y1="60165" x2="41392" y2="81044"/>
                        <a14:foregroundMark x1="41392" y1="81044" x2="44322" y2="61264"/>
                        <a14:foregroundMark x1="44322" y1="61264" x2="38095" y2="81593"/>
                        <a14:foregroundMark x1="38095" y1="81593" x2="50916" y2="63462"/>
                        <a14:foregroundMark x1="50916" y1="63462" x2="46154" y2="82967"/>
                        <a14:foregroundMark x1="46154" y1="82967" x2="52747" y2="59615"/>
                        <a14:foregroundMark x1="52747" y1="59615" x2="45055" y2="81868"/>
                        <a14:foregroundMark x1="45055" y1="81868" x2="53480" y2="45330"/>
                        <a14:foregroundMark x1="42125" y1="48626" x2="42125" y2="48626"/>
                        <a14:foregroundMark x1="41026" y1="38187" x2="41026" y2="38187"/>
                        <a14:foregroundMark x1="40659" y1="40934" x2="39927" y2="43956"/>
                        <a14:foregroundMark x1="47253" y1="37088" x2="56044" y2="38187"/>
                        <a14:foregroundMark x1="56044" y1="37637" x2="53480" y2="56593"/>
                        <a14:foregroundMark x1="58242" y1="56044" x2="57143" y2="58242"/>
                        <a14:foregroundMark x1="59341" y1="49451" x2="57875" y2="51374"/>
                        <a14:foregroundMark x1="61538" y1="45879" x2="62637" y2="46154"/>
                        <a14:foregroundMark x1="60073" y1="38187" x2="59707" y2="39286"/>
                        <a14:foregroundMark x1="60806" y1="40659" x2="60440" y2="42582"/>
                        <a14:foregroundMark x1="61538" y1="39286" x2="61538" y2="39560"/>
                        <a14:foregroundMark x1="61538" y1="37363" x2="62271" y2="38462"/>
                        <a14:foregroundMark x1="36996" y1="44505" x2="36264" y2="48901"/>
                        <a14:foregroundMark x1="35897" y1="50000" x2="35897" y2="50000"/>
                        <a14:foregroundMark x1="35531" y1="51923" x2="35531" y2="51923"/>
                        <a14:foregroundMark x1="45055" y1="96429" x2="45055" y2="96429"/>
                        <a14:foregroundMark x1="47619" y1="98901" x2="47619" y2="98901"/>
                        <a14:foregroundMark x1="46520" y1="36264" x2="46520" y2="36264"/>
                        <a14:foregroundMark x1="54945" y1="36264" x2="54945" y2="36264"/>
                        <a14:foregroundMark x1="41392" y1="35714" x2="41392" y2="35714"/>
                        <a14:foregroundMark x1="50549" y1="31593" x2="50549" y2="31593"/>
                        <a14:foregroundMark x1="49817" y1="28297" x2="49817" y2="28297"/>
                        <a14:foregroundMark x1="51282" y1="26923" x2="50549" y2="35440"/>
                        <a14:foregroundMark x1="50183" y1="25275" x2="52015" y2="25275"/>
                        <a14:foregroundMark x1="48718" y1="24451" x2="49817" y2="24451"/>
                      </a14:backgroundRemoval>
                    </a14:imgEffect>
                  </a14:imgLayer>
                </a14:imgProps>
              </a:ext>
              <a:ext uri="{28A0092B-C50C-407E-A947-70E740481C1C}">
                <a14:useLocalDpi xmlns:a14="http://schemas.microsoft.com/office/drawing/2010/main" val="0"/>
              </a:ext>
            </a:extLst>
          </a:blip>
          <a:srcRect t="23721"/>
          <a:stretch>
            <a:fillRect/>
          </a:stretch>
        </p:blipFill>
        <p:spPr bwMode="auto">
          <a:xfrm>
            <a:off x="3916364" y="5051420"/>
            <a:ext cx="1849436" cy="188043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de Seta Reta 9">
            <a:extLst>
              <a:ext uri="{FF2B5EF4-FFF2-40B4-BE49-F238E27FC236}">
                <a16:creationId xmlns:a16="http://schemas.microsoft.com/office/drawing/2014/main" id="{82242675-26B5-4901-A42C-4CC0C605AE41}"/>
              </a:ext>
            </a:extLst>
          </p:cNvPr>
          <p:cNvCxnSpPr>
            <a:cxnSpLocks/>
          </p:cNvCxnSpPr>
          <p:nvPr/>
        </p:nvCxnSpPr>
        <p:spPr>
          <a:xfrm flipH="1">
            <a:off x="4841083" y="5125807"/>
            <a:ext cx="1073774" cy="3586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aixa de Texto 157">
            <a:extLst>
              <a:ext uri="{FF2B5EF4-FFF2-40B4-BE49-F238E27FC236}">
                <a16:creationId xmlns:a16="http://schemas.microsoft.com/office/drawing/2014/main" id="{A6ADA6BA-74CC-4CE0-8A40-A4484D68FCA9}"/>
              </a:ext>
            </a:extLst>
          </p:cNvPr>
          <p:cNvSpPr txBox="1"/>
          <p:nvPr/>
        </p:nvSpPr>
        <p:spPr>
          <a:xfrm>
            <a:off x="4643439" y="3018008"/>
            <a:ext cx="359569" cy="178594"/>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just">
              <a:spcAft>
                <a:spcPts val="450"/>
              </a:spcAft>
            </a:pPr>
            <a:r>
              <a:rPr lang="pt-BR" sz="300">
                <a:latin typeface="Arial" panose="020B0604020202020204" pitchFamily="34" charset="0"/>
                <a:ea typeface="Calibri" panose="020F0502020204030204" pitchFamily="34" charset="0"/>
                <a:cs typeface="Times New Roman" panose="02020603050405020304" pitchFamily="18" charset="0"/>
              </a:rPr>
              <a:t>Abraçadeira</a:t>
            </a:r>
            <a:endParaRPr lang="pt-BR" sz="525">
              <a:latin typeface="Arial" panose="020B0604020202020204" pitchFamily="34" charset="0"/>
              <a:ea typeface="Calibri" panose="020F0502020204030204" pitchFamily="34" charset="0"/>
              <a:cs typeface="Times New Roman" panose="02020603050405020304" pitchFamily="18" charset="0"/>
            </a:endParaRPr>
          </a:p>
        </p:txBody>
      </p:sp>
      <p:cxnSp>
        <p:nvCxnSpPr>
          <p:cNvPr id="13" name="Conector de Seta Reta 12">
            <a:extLst>
              <a:ext uri="{FF2B5EF4-FFF2-40B4-BE49-F238E27FC236}">
                <a16:creationId xmlns:a16="http://schemas.microsoft.com/office/drawing/2014/main" id="{7802A051-991F-473C-A6C3-21FFF942C0CD}"/>
              </a:ext>
            </a:extLst>
          </p:cNvPr>
          <p:cNvCxnSpPr>
            <a:cxnSpLocks/>
          </p:cNvCxnSpPr>
          <p:nvPr/>
        </p:nvCxnSpPr>
        <p:spPr>
          <a:xfrm flipH="1">
            <a:off x="5084922" y="5705475"/>
            <a:ext cx="792000"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FAD8DF5F-F58C-430F-BC38-FDAE72996FB7}"/>
              </a:ext>
            </a:extLst>
          </p:cNvPr>
          <p:cNvSpPr txBox="1"/>
          <p:nvPr/>
        </p:nvSpPr>
        <p:spPr>
          <a:xfrm>
            <a:off x="5904467" y="4966597"/>
            <a:ext cx="676434" cy="338554"/>
          </a:xfrm>
          <a:prstGeom prst="rect">
            <a:avLst/>
          </a:prstGeom>
          <a:noFill/>
          <a:ln>
            <a:solidFill>
              <a:schemeClr val="tx1"/>
            </a:solidFill>
          </a:ln>
        </p:spPr>
        <p:txBody>
          <a:bodyPr wrap="square" rtlCol="0">
            <a:spAutoFit/>
          </a:bodyPr>
          <a:lstStyle/>
          <a:p>
            <a:r>
              <a:rPr lang="pt-BR" sz="800" dirty="0"/>
              <a:t>Passagem de oxigênio</a:t>
            </a:r>
          </a:p>
        </p:txBody>
      </p:sp>
      <p:sp>
        <p:nvSpPr>
          <p:cNvPr id="16" name="CaixaDeTexto 15">
            <a:extLst>
              <a:ext uri="{FF2B5EF4-FFF2-40B4-BE49-F238E27FC236}">
                <a16:creationId xmlns:a16="http://schemas.microsoft.com/office/drawing/2014/main" id="{1321A010-EEEE-477E-BF81-8ADADA377582}"/>
              </a:ext>
            </a:extLst>
          </p:cNvPr>
          <p:cNvSpPr txBox="1"/>
          <p:nvPr/>
        </p:nvSpPr>
        <p:spPr>
          <a:xfrm>
            <a:off x="5876921" y="5605795"/>
            <a:ext cx="703979" cy="215444"/>
          </a:xfrm>
          <a:prstGeom prst="rect">
            <a:avLst/>
          </a:prstGeom>
          <a:noFill/>
          <a:ln>
            <a:solidFill>
              <a:schemeClr val="tx1"/>
            </a:solidFill>
          </a:ln>
        </p:spPr>
        <p:txBody>
          <a:bodyPr wrap="square" rtlCol="0">
            <a:spAutoFit/>
          </a:bodyPr>
          <a:lstStyle/>
          <a:p>
            <a:r>
              <a:rPr lang="pt-BR" sz="800" dirty="0"/>
              <a:t>Abraçadeira</a:t>
            </a:r>
          </a:p>
        </p:txBody>
      </p:sp>
      <p:pic>
        <p:nvPicPr>
          <p:cNvPr id="19" name="Imagem 18">
            <a:extLst>
              <a:ext uri="{FF2B5EF4-FFF2-40B4-BE49-F238E27FC236}">
                <a16:creationId xmlns:a16="http://schemas.microsoft.com/office/drawing/2014/main" id="{8924BBC0-E1B4-4ADB-B624-F5C88654C516}"/>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l="21822" t="47831" r="57938" b="34295"/>
          <a:stretch/>
        </p:blipFill>
        <p:spPr>
          <a:xfrm rot="5400000">
            <a:off x="4501764" y="7579922"/>
            <a:ext cx="726260" cy="481011"/>
          </a:xfrm>
          <a:prstGeom prst="rect">
            <a:avLst/>
          </a:prstGeom>
        </p:spPr>
      </p:pic>
      <p:cxnSp>
        <p:nvCxnSpPr>
          <p:cNvPr id="21" name="Conector de Seta Reta 20">
            <a:extLst>
              <a:ext uri="{FF2B5EF4-FFF2-40B4-BE49-F238E27FC236}">
                <a16:creationId xmlns:a16="http://schemas.microsoft.com/office/drawing/2014/main" id="{52CBB2EC-363E-4E21-B8EE-EB204AD20284}"/>
              </a:ext>
            </a:extLst>
          </p:cNvPr>
          <p:cNvCxnSpPr>
            <a:cxnSpLocks/>
          </p:cNvCxnSpPr>
          <p:nvPr/>
        </p:nvCxnSpPr>
        <p:spPr>
          <a:xfrm flipH="1">
            <a:off x="5059680" y="780669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496EE6AD-92DE-42BC-94AB-9275479FC8AA}"/>
              </a:ext>
            </a:extLst>
          </p:cNvPr>
          <p:cNvSpPr txBox="1"/>
          <p:nvPr/>
        </p:nvSpPr>
        <p:spPr>
          <a:xfrm>
            <a:off x="5858782" y="7686046"/>
            <a:ext cx="703979" cy="215444"/>
          </a:xfrm>
          <a:prstGeom prst="rect">
            <a:avLst/>
          </a:prstGeom>
          <a:noFill/>
          <a:ln>
            <a:solidFill>
              <a:schemeClr val="tx1"/>
            </a:solidFill>
          </a:ln>
        </p:spPr>
        <p:txBody>
          <a:bodyPr wrap="square" rtlCol="0">
            <a:spAutoFit/>
          </a:bodyPr>
          <a:lstStyle/>
          <a:p>
            <a:r>
              <a:rPr lang="pt-BR" sz="800" dirty="0"/>
              <a:t>Bico injetor</a:t>
            </a:r>
          </a:p>
        </p:txBody>
      </p:sp>
      <p:pic>
        <p:nvPicPr>
          <p:cNvPr id="23" name="Imagem 22">
            <a:extLst>
              <a:ext uri="{FF2B5EF4-FFF2-40B4-BE49-F238E27FC236}">
                <a16:creationId xmlns:a16="http://schemas.microsoft.com/office/drawing/2014/main" id="{E73593F3-73ED-42FD-A258-23A0D3DAD087}"/>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547" b="89280" l="28732" r="88471">
                        <a14:foregroundMark x1="55856" y1="85761" x2="55856" y2="85761"/>
                        <a14:foregroundMark x1="59193" y1="87905" x2="59193" y2="87905"/>
                        <a14:foregroundMark x1="59193" y1="87905" x2="52488" y2="88592"/>
                        <a14:foregroundMark x1="55856" y1="89280" x2="55856" y2="89280"/>
                        <a14:foregroundMark x1="31341" y1="58738" x2="31523" y2="35437"/>
                        <a14:foregroundMark x1="84254" y1="66019" x2="84314" y2="30542"/>
                        <a14:foregroundMark x1="84314" y1="30542" x2="84254" y2="30502"/>
                        <a14:foregroundMark x1="85831" y1="62945" x2="81796" y2="48139"/>
                        <a14:foregroundMark x1="88471" y1="59426" x2="86559" y2="35194"/>
                        <a14:foregroundMark x1="43871" y1="17314" x2="70752" y2="13228"/>
                        <a14:foregroundMark x1="70752" y1="13228" x2="74545" y2="15939"/>
                        <a14:foregroundMark x1="47391" y1="13107" x2="68022" y2="15210"/>
                        <a14:foregroundMark x1="51972" y1="9587" x2="62561" y2="11448"/>
                        <a14:foregroundMark x1="28732" y1="52023" x2="28732" y2="52023"/>
                        <a14:backgroundMark x1="51972" y1="61772" x2="51972" y2="61772"/>
                        <a14:backgroundMark x1="50394" y1="60356" x2="50394" y2="60356"/>
                        <a14:backgroundMark x1="51790" y1="62257" x2="48786" y2="51901"/>
                        <a14:backgroundMark x1="58859" y1="61772" x2="64836" y2="53803"/>
                        <a14:backgroundMark x1="63956" y1="59668" x2="62561" y2="52832"/>
                        <a14:backgroundMark x1="63805" y1="58940" x2="65898" y2="54733"/>
                        <a14:backgroundMark x1="52852" y1="63188" x2="57797" y2="61084"/>
                        <a14:backgroundMark x1="47907" y1="57079" x2="46845" y2="47654"/>
                        <a14:backgroundMark x1="47907" y1="40574" x2="47907" y2="40574"/>
                        <a14:backgroundMark x1="48453" y1="40008" x2="48574" y2="40008"/>
                        <a14:backgroundMark x1="46056" y1="54490" x2="46602" y2="53600"/>
                        <a14:backgroundMark x1="64047" y1="59426" x2="66292" y2="42678"/>
                        <a14:backgroundMark x1="66687" y1="55380" x2="66687" y2="55380"/>
                        <a14:backgroundMark x1="65231" y1="56958" x2="66444" y2="55542"/>
                        <a14:backgroundMark x1="67112" y1="50971" x2="66839" y2="43730"/>
                        <a14:backgroundMark x1="54794" y1="34223" x2="59041" y2="35073"/>
                        <a14:backgroundMark x1="61802" y1="40736" x2="64715" y2="43568"/>
                        <a14:backgroundMark x1="61408" y1="35599" x2="48695" y2="38956"/>
                      </a14:backgroundRemoval>
                    </a14:imgEffect>
                  </a14:imgLayer>
                </a14:imgProps>
              </a:ext>
              <a:ext uri="{28A0092B-C50C-407E-A947-70E740481C1C}">
                <a14:useLocalDpi xmlns:a14="http://schemas.microsoft.com/office/drawing/2010/main" val="0"/>
              </a:ext>
            </a:extLst>
          </a:blip>
          <a:srcRect l="26219" t="5821" r="8693" b="5997"/>
          <a:stretch/>
        </p:blipFill>
        <p:spPr>
          <a:xfrm rot="7105704">
            <a:off x="4470137" y="3623440"/>
            <a:ext cx="706171" cy="717553"/>
          </a:xfrm>
          <a:prstGeom prst="rect">
            <a:avLst/>
          </a:prstGeom>
        </p:spPr>
      </p:pic>
      <p:cxnSp>
        <p:nvCxnSpPr>
          <p:cNvPr id="25" name="Conector de Seta Reta 24">
            <a:extLst>
              <a:ext uri="{FF2B5EF4-FFF2-40B4-BE49-F238E27FC236}">
                <a16:creationId xmlns:a16="http://schemas.microsoft.com/office/drawing/2014/main" id="{2C2A12D8-AC23-4871-8BFE-1ACA5B489FCE}"/>
              </a:ext>
            </a:extLst>
          </p:cNvPr>
          <p:cNvCxnSpPr>
            <a:cxnSpLocks/>
          </p:cNvCxnSpPr>
          <p:nvPr/>
        </p:nvCxnSpPr>
        <p:spPr>
          <a:xfrm flipH="1">
            <a:off x="5133915" y="398128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5940C825-E494-44F4-B7E3-77B2C1A952E5}"/>
              </a:ext>
            </a:extLst>
          </p:cNvPr>
          <p:cNvSpPr txBox="1"/>
          <p:nvPr/>
        </p:nvSpPr>
        <p:spPr>
          <a:xfrm>
            <a:off x="5933017" y="3886036"/>
            <a:ext cx="836083" cy="215444"/>
          </a:xfrm>
          <a:prstGeom prst="rect">
            <a:avLst/>
          </a:prstGeom>
          <a:noFill/>
          <a:ln>
            <a:solidFill>
              <a:schemeClr val="tx1"/>
            </a:solidFill>
          </a:ln>
        </p:spPr>
        <p:txBody>
          <a:bodyPr wrap="square" rtlCol="0">
            <a:spAutoFit/>
          </a:bodyPr>
          <a:lstStyle/>
          <a:p>
            <a:r>
              <a:rPr lang="pt-BR" sz="800" dirty="0"/>
              <a:t>Espalha chama</a:t>
            </a:r>
          </a:p>
        </p:txBody>
      </p:sp>
      <p:sp>
        <p:nvSpPr>
          <p:cNvPr id="24" name="Espaço Reservado para Número de Slide 23">
            <a:extLst>
              <a:ext uri="{FF2B5EF4-FFF2-40B4-BE49-F238E27FC236}">
                <a16:creationId xmlns:a16="http://schemas.microsoft.com/office/drawing/2014/main" id="{DF07A069-ADD8-4F4C-A2F0-497E3D9A296A}"/>
              </a:ext>
            </a:extLst>
          </p:cNvPr>
          <p:cNvSpPr>
            <a:spLocks noGrp="1"/>
          </p:cNvSpPr>
          <p:nvPr>
            <p:ph type="sldNum" sz="quarter" idx="12"/>
          </p:nvPr>
        </p:nvSpPr>
        <p:spPr/>
        <p:txBody>
          <a:bodyPr/>
          <a:lstStyle/>
          <a:p>
            <a:fld id="{136BC063-5F49-4282-BA96-4716B49D2CCE}" type="slidenum">
              <a:rPr lang="pt-BR" smtClean="0"/>
              <a:t>17</a:t>
            </a:fld>
            <a:endParaRPr lang="pt-BR"/>
          </a:p>
        </p:txBody>
      </p:sp>
    </p:spTree>
    <p:extLst>
      <p:ext uri="{BB962C8B-B14F-4D97-AF65-F5344CB8AC3E}">
        <p14:creationId xmlns:p14="http://schemas.microsoft.com/office/powerpoint/2010/main" val="77682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9C4BF26-1A71-4F9B-BCBD-42B41CF2745D}"/>
              </a:ext>
            </a:extLst>
          </p:cNvPr>
          <p:cNvSpPr/>
          <p:nvPr/>
        </p:nvSpPr>
        <p:spPr>
          <a:xfrm>
            <a:off x="237600" y="221284"/>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200" b="1" u="sng"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TERMO DE GARANTIA</a:t>
            </a:r>
            <a:endParaRPr lang="pt-BR" sz="12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8B47B2D1-09A1-484B-99EC-74C6D691C8B7}"/>
              </a:ext>
            </a:extLst>
          </p:cNvPr>
          <p:cNvSpPr/>
          <p:nvPr/>
        </p:nvSpPr>
        <p:spPr>
          <a:xfrm>
            <a:off x="237600" y="480491"/>
            <a:ext cx="6840000" cy="9294852"/>
          </a:xfrm>
          <a:prstGeom prst="rect">
            <a:avLst/>
          </a:prstGeom>
        </p:spPr>
        <p:txBody>
          <a:bodyPr>
            <a:spAutoFit/>
          </a:bodyPr>
          <a:lstStyle/>
          <a:p>
            <a:pPr algn="just"/>
            <a:r>
              <a:rPr lang="pt-BR" sz="1300" dirty="0">
                <a:latin typeface="Arial" panose="020B0604020202020204" pitchFamily="34" charset="0"/>
                <a:ea typeface="Calibri" panose="020F0502020204030204" pitchFamily="34" charset="0"/>
                <a:cs typeface="Arial" panose="020B0604020202020204" pitchFamily="34" charset="0"/>
              </a:rPr>
              <a:t>Os produtos Só Aço são garantidos pela Só Aço, na forma estabelecida: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Para tanto, a marca concede a garantia legal de 3 (três) meses, a contar da data da emissão da nota fiscal de compra, sendo obrigatória a sua apresentação para os atendimentos previstos nesse termo de garantia.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Condições gerais de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Importante considerar que os vidros, lâmpadas, resistências, contatores, fusíveis, relés, </a:t>
            </a:r>
            <a:r>
              <a:rPr lang="pt-BR" sz="1300" dirty="0" err="1">
                <a:latin typeface="Arial" panose="020B0604020202020204" pitchFamily="34" charset="0"/>
                <a:ea typeface="Times New Roman" panose="02020603050405020304" pitchFamily="18" charset="0"/>
                <a:cs typeface="Arial" panose="020B0604020202020204" pitchFamily="34" charset="0"/>
              </a:rPr>
              <a:t>solenóides</a:t>
            </a:r>
            <a:r>
              <a:rPr lang="pt-BR" sz="1300" dirty="0">
                <a:latin typeface="Arial" panose="020B0604020202020204" pitchFamily="34" charset="0"/>
                <a:ea typeface="Times New Roman" panose="02020603050405020304" pitchFamily="18" charset="0"/>
                <a:cs typeface="Arial" panose="020B0604020202020204" pitchFamily="34" charset="0"/>
              </a:rPr>
              <a:t>, controladores digitais e termostatos, não são cobertos por esta garantia.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No caso de motores elétricos, por serem de fabricação de terceiros, quando defeituosos, deverão ser enviados para a Assistência Técnica autorizada dos mesmos.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Só Aço assegura ao proprietário deste produto, garantia contra qualquer defeito de peça de nossa fabricação desde que seja constatado, através de laudo de nosso Departamento Técnico, falha em condições normais de uso.</a:t>
            </a: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substituição de peças e a prestação de serviços deverão ser executados através da rede de Serviços Autorizados Só Aço, mediante apresentação da Nota Fiscal de compra.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135255" algn="just"/>
            <a:r>
              <a:rPr lang="pt-BR" sz="1300" dirty="0">
                <a:latin typeface="Arial" panose="020B0604020202020204" pitchFamily="34" charset="0"/>
                <a:ea typeface="Times New Roman" panose="02020603050405020304" pitchFamily="18" charset="0"/>
                <a:cs typeface="Arial" panose="020B0604020202020204" pitchFamily="34" charset="0"/>
              </a:rPr>
              <a:t>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135255" algn="just"/>
            <a:r>
              <a:rPr lang="pt-BR" sz="1300" dirty="0">
                <a:latin typeface="Arial" panose="020B0604020202020204" pitchFamily="34" charset="0"/>
                <a:ea typeface="Times New Roman" panose="02020603050405020304" pitchFamily="18" charset="0"/>
                <a:cs typeface="Arial" panose="020B0604020202020204" pitchFamily="34" charset="0"/>
              </a:rPr>
              <a:t>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Serviços de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A Só Aço Industrial obriga - se dentro do período de garantia, a prestar visita gratuita a aparelhos instalados dentro do perímetro urbano onde mantiver Serviços Autorizados Só Aço. 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Perda da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Esta garantia perderá sua validade antes da expiração do seu prazo, se for constatado qualquer dano provocado por incêndio, instalado em rede elétrica imprópria, no caso de apresentar sinais de violação, ajuste ou reparo por pessoa não credenciada pela Só Aço e outros:</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Ausência da NOTA FISCAL DE COMPRA;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UTILIZAÇÃO EM DESACORDO COM AS ESPECIFICAÇÕES CONSTANTES DO MANUAL DE INSTRUÇÕES;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Produto apresentar defeito causado pelo cliente ou terceiros, por acidente, transporte inadequado, em decorrência de mau uso, conservação (limpeza), montagens e instalações inadequadas de gás.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Produto consertado, ajustado ou alterado/modificado por pessoas não autorizadas pela Só Aço;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Utilização de peças não originais de fábrica;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Substituição ou alteração das condições originais do injetor de gás.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B47D6BA1-770A-4E8D-B4D5-EACD81823254}"/>
              </a:ext>
            </a:extLst>
          </p:cNvPr>
          <p:cNvSpPr>
            <a:spLocks noGrp="1"/>
          </p:cNvSpPr>
          <p:nvPr>
            <p:ph type="sldNum" sz="quarter" idx="12"/>
          </p:nvPr>
        </p:nvSpPr>
        <p:spPr/>
        <p:txBody>
          <a:bodyPr/>
          <a:lstStyle/>
          <a:p>
            <a:fld id="{136BC063-5F49-4282-BA96-4716B49D2CCE}" type="slidenum">
              <a:rPr lang="pt-BR" smtClean="0"/>
              <a:t>18</a:t>
            </a:fld>
            <a:endParaRPr lang="pt-BR"/>
          </a:p>
        </p:txBody>
      </p:sp>
    </p:spTree>
    <p:extLst>
      <p:ext uri="{BB962C8B-B14F-4D97-AF65-F5344CB8AC3E}">
        <p14:creationId xmlns:p14="http://schemas.microsoft.com/office/powerpoint/2010/main" val="154659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6E9E66CE-9D0B-4CC9-B942-AD80FEE519CF}"/>
              </a:ext>
            </a:extLst>
          </p:cNvPr>
          <p:cNvSpPr/>
          <p:nvPr/>
        </p:nvSpPr>
        <p:spPr>
          <a:xfrm>
            <a:off x="237600" y="3019304"/>
            <a:ext cx="6840000" cy="1260000"/>
          </a:xfrm>
          <a:prstGeom prst="rect">
            <a:avLst/>
          </a:prstGeom>
        </p:spPr>
        <p:txBody>
          <a:bodyPr>
            <a:spAutoFit/>
          </a:bodyPr>
          <a:lstStyle/>
          <a:p>
            <a:pPr algn="just">
              <a:lnSpc>
                <a:spcPct val="107000"/>
              </a:lnSpc>
            </a:pPr>
            <a:r>
              <a:rPr lang="pt-BR" sz="1200" dirty="0">
                <a:latin typeface="Arial" panose="020B0604020202020204" pitchFamily="34" charset="0"/>
                <a:ea typeface="Calibri" panose="020F0502020204030204" pitchFamily="34" charset="0"/>
                <a:cs typeface="Arial" panose="020B0604020202020204" pitchFamily="34" charset="0"/>
              </a:rPr>
              <a:t>A Só Aço Industrial LTDA, oferece aos adquirentes de seus produtos o serviço de atendimento ao consumidor através do fone: (86) 3219 1200/1300. Por meio do SAC é possível efetuar reclamações, oferecer sugestões, tirar dúvidas sobre todos os procedimentos necessários para a correta instalação e manuseio dos produtos Só Aço e também assuntos relacionados à garantia.</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600"/>
              </a:spcAft>
            </a:pPr>
            <a:r>
              <a:rPr lang="pt-BR" sz="1200" b="1" dirty="0">
                <a:latin typeface="Arial" panose="020B0604020202020204" pitchFamily="34" charset="0"/>
                <a:ea typeface="Calibri" panose="020F0502020204030204" pitchFamily="34" charset="0"/>
                <a:cs typeface="Arial" panose="020B0604020202020204" pitchFamily="34" charset="0"/>
              </a:rPr>
              <a:t>Nota: </a:t>
            </a:r>
            <a:r>
              <a:rPr lang="pt-BR" sz="1200" dirty="0">
                <a:latin typeface="Arial" panose="020B0604020202020204" pitchFamily="34" charset="0"/>
                <a:ea typeface="Calibri" panose="020F0502020204030204" pitchFamily="34" charset="0"/>
                <a:cs typeface="Arial" panose="020B0604020202020204" pitchFamily="34" charset="0"/>
              </a:rPr>
              <a:t>Os e-mails referentes ao SAC deverão ser enviados para o seguinte endereço: </a:t>
            </a:r>
            <a:r>
              <a:rPr lang="pt-BR" sz="1200" b="1" dirty="0">
                <a:latin typeface="Arial" panose="020B0604020202020204" pitchFamily="34" charset="0"/>
                <a:ea typeface="Calibri" panose="020F0502020204030204" pitchFamily="34" charset="0"/>
                <a:cs typeface="Arial" panose="020B0604020202020204" pitchFamily="34" charset="0"/>
              </a:rPr>
              <a:t>sac@soacoindustrial.com.br</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5" name="Tabela 4">
            <a:extLst>
              <a:ext uri="{FF2B5EF4-FFF2-40B4-BE49-F238E27FC236}">
                <a16:creationId xmlns:a16="http://schemas.microsoft.com/office/drawing/2014/main" id="{AB3DA1BA-39AB-460D-97A8-E21D98BD0BDF}"/>
              </a:ext>
            </a:extLst>
          </p:cNvPr>
          <p:cNvGraphicFramePr>
            <a:graphicFrameLocks noGrp="1"/>
          </p:cNvGraphicFramePr>
          <p:nvPr>
            <p:extLst>
              <p:ext uri="{D42A27DB-BD31-4B8C-83A1-F6EECF244321}">
                <p14:modId xmlns:p14="http://schemas.microsoft.com/office/powerpoint/2010/main" val="1707559344"/>
              </p:ext>
            </p:extLst>
          </p:nvPr>
        </p:nvGraphicFramePr>
        <p:xfrm>
          <a:off x="316174" y="4507497"/>
          <a:ext cx="6624100" cy="2454976"/>
        </p:xfrm>
        <a:graphic>
          <a:graphicData uri="http://schemas.openxmlformats.org/drawingml/2006/table">
            <a:tbl>
              <a:tblPr firstRow="1" bandRow="1">
                <a:tableStyleId>{5940675A-B579-460E-94D1-54222C63F5DA}</a:tableStyleId>
              </a:tblPr>
              <a:tblGrid>
                <a:gridCol w="1455200">
                  <a:extLst>
                    <a:ext uri="{9D8B030D-6E8A-4147-A177-3AD203B41FA5}">
                      <a16:colId xmlns:a16="http://schemas.microsoft.com/office/drawing/2014/main" val="1074788227"/>
                    </a:ext>
                  </a:extLst>
                </a:gridCol>
                <a:gridCol w="2584450">
                  <a:extLst>
                    <a:ext uri="{9D8B030D-6E8A-4147-A177-3AD203B41FA5}">
                      <a16:colId xmlns:a16="http://schemas.microsoft.com/office/drawing/2014/main" val="990952901"/>
                    </a:ext>
                  </a:extLst>
                </a:gridCol>
                <a:gridCol w="2584450">
                  <a:extLst>
                    <a:ext uri="{9D8B030D-6E8A-4147-A177-3AD203B41FA5}">
                      <a16:colId xmlns:a16="http://schemas.microsoft.com/office/drawing/2014/main" val="1446722187"/>
                    </a:ext>
                  </a:extLst>
                </a:gridCol>
              </a:tblGrid>
              <a:tr h="760696">
                <a:tc gridSpan="3">
                  <a:txBody>
                    <a:bodyPr/>
                    <a:lstStyle/>
                    <a:p>
                      <a:pPr algn="r">
                        <a:lnSpc>
                          <a:spcPct val="107000"/>
                        </a:lnSpc>
                        <a:spcAft>
                          <a:spcPts val="0"/>
                        </a:spcAft>
                      </a:pPr>
                      <a:r>
                        <a:rPr lang="pt-BR" sz="1200">
                          <a:effectLst/>
                          <a:latin typeface="Arial" panose="020B0604020202020204" pitchFamily="34" charset="0"/>
                          <a:cs typeface="Arial" panose="020B0604020202020204" pitchFamily="34" charset="0"/>
                        </a:rPr>
                        <a:t> </a:t>
                      </a:r>
                    </a:p>
                    <a:p>
                      <a:pPr algn="r">
                        <a:lnSpc>
                          <a:spcPct val="107000"/>
                        </a:lnSpc>
                        <a:spcAft>
                          <a:spcPts val="0"/>
                        </a:spcAft>
                      </a:pPr>
                      <a:br>
                        <a:rPr lang="pt-BR" sz="1200">
                          <a:effectLst/>
                          <a:latin typeface="Arial" panose="020B0604020202020204" pitchFamily="34" charset="0"/>
                          <a:cs typeface="Arial" panose="020B0604020202020204" pitchFamily="34" charset="0"/>
                        </a:rPr>
                      </a:br>
                      <a:r>
                        <a:rPr lang="pt-BR" sz="1200">
                          <a:effectLst/>
                          <a:latin typeface="Arial" panose="020B0604020202020204" pitchFamily="34" charset="0"/>
                          <a:cs typeface="Arial" panose="020B0604020202020204" pitchFamily="34" charset="0"/>
                        </a:rPr>
                        <a:t>Data de compra: ____/____/____</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54293" marR="54293" marT="24765" marB="24765"/>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409744986"/>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Nota Fiscal nº:</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07394895"/>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Revendedor:</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518219293"/>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Nome do Cliente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nchor="ctr"/>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837667927"/>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Endereço:</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1681447631"/>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Telefone: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just">
                        <a:lnSpc>
                          <a:spcPct val="107000"/>
                        </a:lnSpc>
                        <a:spcAft>
                          <a:spcPts val="0"/>
                        </a:spcAft>
                      </a:pPr>
                      <a:r>
                        <a:rPr lang="pt-BR" sz="1200" dirty="0">
                          <a:effectLst/>
                          <a:latin typeface="Arial" panose="020B0604020202020204" pitchFamily="34" charset="0"/>
                          <a:cs typeface="Arial" panose="020B0604020202020204" pitchFamily="34" charset="0"/>
                        </a:rPr>
                        <a:t> </a:t>
                      </a:r>
                      <a:endParaRPr lang="pt-BR" sz="1200" dirty="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727670944"/>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Cidade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a:txBody>
                    <a:bodyPr/>
                    <a:lstStyle/>
                    <a:p>
                      <a:pPr algn="just">
                        <a:lnSpc>
                          <a:spcPct val="107000"/>
                        </a:lnSpc>
                        <a:spcAft>
                          <a:spcPts val="0"/>
                        </a:spcAft>
                      </a:pPr>
                      <a:r>
                        <a:rPr lang="pt-BR" sz="1200" dirty="0">
                          <a:effectLst/>
                          <a:latin typeface="Arial" panose="020B0604020202020204" pitchFamily="34" charset="0"/>
                          <a:cs typeface="Arial" panose="020B0604020202020204" pitchFamily="34" charset="0"/>
                        </a:rPr>
                        <a:t> </a:t>
                      </a:r>
                      <a:endParaRPr lang="pt-BR" sz="1200" dirty="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a:txBody>
                    <a:bodyPr/>
                    <a:lstStyle/>
                    <a:p>
                      <a:pPr algn="just">
                        <a:lnSpc>
                          <a:spcPct val="107000"/>
                        </a:lnSpc>
                        <a:spcAft>
                          <a:spcPts val="0"/>
                        </a:spcAft>
                      </a:pPr>
                      <a:r>
                        <a:rPr lang="pt-BR" sz="1200" dirty="0">
                          <a:effectLst/>
                          <a:latin typeface="Arial" panose="020B0604020202020204" pitchFamily="34" charset="0"/>
                          <a:ea typeface="Calibri" panose="020F0502020204030204" pitchFamily="34" charset="0"/>
                          <a:cs typeface="Arial" panose="020B0604020202020204" pitchFamily="34" charset="0"/>
                        </a:rPr>
                        <a:t>Estado:</a:t>
                      </a:r>
                    </a:p>
                  </a:txBody>
                  <a:tcPr marL="49530" marR="49530" marT="24765" marB="24765"/>
                </a:tc>
                <a:extLst>
                  <a:ext uri="{0D108BD9-81ED-4DB2-BD59-A6C34878D82A}">
                    <a16:rowId xmlns:a16="http://schemas.microsoft.com/office/drawing/2014/main" val="582778316"/>
                  </a:ext>
                </a:extLst>
              </a:tr>
            </a:tbl>
          </a:graphicData>
        </a:graphic>
      </p:graphicFrame>
      <p:pic>
        <p:nvPicPr>
          <p:cNvPr id="15361" name="Imagem 118">
            <a:extLst>
              <a:ext uri="{FF2B5EF4-FFF2-40B4-BE49-F238E27FC236}">
                <a16:creationId xmlns:a16="http://schemas.microsoft.com/office/drawing/2014/main" id="{EADF06BF-8ECA-46A3-B577-B64CEB64D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93" y="4556231"/>
            <a:ext cx="1182439" cy="656909"/>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CCD84596-84F8-4501-82F6-19A7774B4E95}"/>
              </a:ext>
            </a:extLst>
          </p:cNvPr>
          <p:cNvSpPr/>
          <p:nvPr/>
        </p:nvSpPr>
        <p:spPr>
          <a:xfrm>
            <a:off x="237600" y="279249"/>
            <a:ext cx="6840000" cy="2183418"/>
          </a:xfrm>
          <a:prstGeom prst="rect">
            <a:avLst/>
          </a:prstGeom>
        </p:spPr>
        <p:txBody>
          <a:bodyPr>
            <a:spAutoFit/>
          </a:bodyPr>
          <a:lstStyle/>
          <a:p>
            <a:pPr algn="just"/>
            <a:r>
              <a:rPr lang="pt-BR" sz="1300" dirty="0">
                <a:latin typeface="Arial" panose="020B0604020202020204" pitchFamily="34" charset="0"/>
                <a:ea typeface="Calibri" panose="020F0502020204030204" pitchFamily="34" charset="0"/>
                <a:cs typeface="Arial" panose="020B0604020202020204" pitchFamily="34" charset="0"/>
              </a:rPr>
              <a:t> ATENÇÃO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Não autorizamos nenhuma pessoa ou entidade a assumir por nossa conta qualquer responsabilidade relativa a garantia dos produtos Só Aço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Para facilitar o atendimento no período da garantia, conserve a Nota Fiscal de compra junto com o manual de instruções do produto.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spcAft>
                <a:spcPts val="450"/>
              </a:spcAf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07000"/>
              </a:lnSpc>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Após o período de abrangência da garantia, todas as despesas em virtude de reparos ou qualquer outro tipo de suporte SERÃO AO ENCARGO EXCLUSIVO DO CONSUMIDOR SOLICITANTE.</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Espaço Reservado para Número de Slide 2">
            <a:extLst>
              <a:ext uri="{FF2B5EF4-FFF2-40B4-BE49-F238E27FC236}">
                <a16:creationId xmlns:a16="http://schemas.microsoft.com/office/drawing/2014/main" id="{119EFC89-B4F7-4A77-90CF-E33E2DD151DF}"/>
              </a:ext>
            </a:extLst>
          </p:cNvPr>
          <p:cNvSpPr>
            <a:spLocks noGrp="1"/>
          </p:cNvSpPr>
          <p:nvPr>
            <p:ph type="sldNum" sz="quarter" idx="12"/>
          </p:nvPr>
        </p:nvSpPr>
        <p:spPr/>
        <p:txBody>
          <a:bodyPr/>
          <a:lstStyle/>
          <a:p>
            <a:fld id="{136BC063-5F49-4282-BA96-4716B49D2CCE}" type="slidenum">
              <a:rPr lang="pt-BR" smtClean="0"/>
              <a:t>19</a:t>
            </a:fld>
            <a:endParaRPr lang="pt-BR"/>
          </a:p>
        </p:txBody>
      </p:sp>
    </p:spTree>
    <p:extLst>
      <p:ext uri="{BB962C8B-B14F-4D97-AF65-F5344CB8AC3E}">
        <p14:creationId xmlns:p14="http://schemas.microsoft.com/office/powerpoint/2010/main" val="2901637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E9882636-4A45-4DB8-A327-AF19CACDF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540046"/>
            <a:ext cx="878612" cy="581181"/>
          </a:xfrm>
          <a:prstGeom prst="rect">
            <a:avLst/>
          </a:prstGeom>
        </p:spPr>
      </p:pic>
      <p:pic>
        <p:nvPicPr>
          <p:cNvPr id="5" name="Imagem 4">
            <a:extLst>
              <a:ext uri="{FF2B5EF4-FFF2-40B4-BE49-F238E27FC236}">
                <a16:creationId xmlns:a16="http://schemas.microsoft.com/office/drawing/2014/main" id="{050D48B0-8DE3-468F-9776-4CAD6EE98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540046"/>
            <a:ext cx="852362" cy="581181"/>
          </a:xfrm>
          <a:prstGeom prst="rect">
            <a:avLst/>
          </a:prstGeom>
        </p:spPr>
      </p:pic>
      <p:pic>
        <p:nvPicPr>
          <p:cNvPr id="6" name="Imagem 5">
            <a:extLst>
              <a:ext uri="{FF2B5EF4-FFF2-40B4-BE49-F238E27FC236}">
                <a16:creationId xmlns:a16="http://schemas.microsoft.com/office/drawing/2014/main" id="{88FF8E3D-2729-4DA0-BCEB-C67BE5736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521094"/>
            <a:ext cx="852362" cy="581181"/>
          </a:xfrm>
          <a:prstGeom prst="rect">
            <a:avLst/>
          </a:prstGeom>
        </p:spPr>
      </p:pic>
      <p:pic>
        <p:nvPicPr>
          <p:cNvPr id="7" name="Imagem 6">
            <a:extLst>
              <a:ext uri="{FF2B5EF4-FFF2-40B4-BE49-F238E27FC236}">
                <a16:creationId xmlns:a16="http://schemas.microsoft.com/office/drawing/2014/main" id="{D8623D2C-83F3-4D0C-9803-58D21089D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530242"/>
            <a:ext cx="888660" cy="581139"/>
          </a:xfrm>
          <a:prstGeom prst="rect">
            <a:avLst/>
          </a:prstGeom>
        </p:spPr>
      </p:pic>
      <p:pic>
        <p:nvPicPr>
          <p:cNvPr id="10" name="Imagem 9">
            <a:extLst>
              <a:ext uri="{FF2B5EF4-FFF2-40B4-BE49-F238E27FC236}">
                <a16:creationId xmlns:a16="http://schemas.microsoft.com/office/drawing/2014/main" id="{A554FEAC-7408-46F4-8F47-1020B2E78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540046"/>
            <a:ext cx="889028" cy="581139"/>
          </a:xfrm>
          <a:prstGeom prst="rect">
            <a:avLst/>
          </a:prstGeom>
        </p:spPr>
      </p:pic>
      <p:pic>
        <p:nvPicPr>
          <p:cNvPr id="11" name="Imagem 10">
            <a:extLst>
              <a:ext uri="{FF2B5EF4-FFF2-40B4-BE49-F238E27FC236}">
                <a16:creationId xmlns:a16="http://schemas.microsoft.com/office/drawing/2014/main" id="{F51F4E0A-22A6-423A-B7EF-3F95AD305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540046"/>
            <a:ext cx="817170" cy="581139"/>
          </a:xfrm>
          <a:prstGeom prst="rect">
            <a:avLst/>
          </a:prstGeom>
        </p:spPr>
      </p:pic>
      <p:pic>
        <p:nvPicPr>
          <p:cNvPr id="17" name="Imagem 16">
            <a:extLst>
              <a:ext uri="{FF2B5EF4-FFF2-40B4-BE49-F238E27FC236}">
                <a16:creationId xmlns:a16="http://schemas.microsoft.com/office/drawing/2014/main" id="{D4A3F312-116F-4F80-8200-671FCF297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540046"/>
            <a:ext cx="817170" cy="581139"/>
          </a:xfrm>
          <a:prstGeom prst="rect">
            <a:avLst/>
          </a:prstGeom>
        </p:spPr>
      </p:pic>
      <p:cxnSp>
        <p:nvCxnSpPr>
          <p:cNvPr id="91" name="Conector reto 90">
            <a:extLst>
              <a:ext uri="{FF2B5EF4-FFF2-40B4-BE49-F238E27FC236}">
                <a16:creationId xmlns:a16="http://schemas.microsoft.com/office/drawing/2014/main" id="{7302AF5F-F398-4CFE-89D9-74A91C3A8806}"/>
              </a:ext>
            </a:extLst>
          </p:cNvPr>
          <p:cNvCxnSpPr>
            <a:cxnSpLocks/>
          </p:cNvCxnSpPr>
          <p:nvPr/>
        </p:nvCxnSpPr>
        <p:spPr>
          <a:xfrm>
            <a:off x="58057"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2" name="Conector reto 91">
            <a:extLst>
              <a:ext uri="{FF2B5EF4-FFF2-40B4-BE49-F238E27FC236}">
                <a16:creationId xmlns:a16="http://schemas.microsoft.com/office/drawing/2014/main" id="{69E84EDC-4197-4642-AC68-A4E27D32A559}"/>
              </a:ext>
            </a:extLst>
          </p:cNvPr>
          <p:cNvCxnSpPr>
            <a:cxnSpLocks/>
          </p:cNvCxnSpPr>
          <p:nvPr/>
        </p:nvCxnSpPr>
        <p:spPr>
          <a:xfrm>
            <a:off x="57600"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93" name="CaixaDeTexto 140">
            <a:extLst>
              <a:ext uri="{FF2B5EF4-FFF2-40B4-BE49-F238E27FC236}">
                <a16:creationId xmlns:a16="http://schemas.microsoft.com/office/drawing/2014/main" id="{66B5451B-E630-4163-B3DD-E63441871879}"/>
              </a:ext>
            </a:extLst>
          </p:cNvPr>
          <p:cNvSpPr txBox="1"/>
          <p:nvPr/>
        </p:nvSpPr>
        <p:spPr>
          <a:xfrm>
            <a:off x="2221286" y="88862"/>
            <a:ext cx="2727484" cy="338554"/>
          </a:xfrm>
          <a:prstGeom prst="rect">
            <a:avLst/>
          </a:prstGeom>
          <a:noFill/>
        </p:spPr>
        <p:txBody>
          <a:bodyPr wrap="square" rtlCol="0">
            <a:spAutoFit/>
          </a:bodyPr>
          <a:lstStyle/>
          <a:p>
            <a:pPr algn="ctr"/>
            <a:r>
              <a:rPr lang="pt-BR" sz="1600" dirty="0">
                <a:solidFill>
                  <a:srgbClr val="000000"/>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FOGÃO INDUSTRIAL</a:t>
            </a:r>
            <a:endParaRPr lang="pt-BR" sz="2000" dirty="0">
              <a:latin typeface="Times New Roman" panose="02020603050405020304" pitchFamily="18" charset="0"/>
              <a:ea typeface="Times New Roman" panose="02020603050405020304" pitchFamily="18" charset="0"/>
            </a:endParaRPr>
          </a:p>
        </p:txBody>
      </p:sp>
      <p:pic>
        <p:nvPicPr>
          <p:cNvPr id="94" name="Imagem 93">
            <a:extLst>
              <a:ext uri="{FF2B5EF4-FFF2-40B4-BE49-F238E27FC236}">
                <a16:creationId xmlns:a16="http://schemas.microsoft.com/office/drawing/2014/main" id="{3A926667-5716-41A7-A288-33EC199E7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535774"/>
            <a:ext cx="878612" cy="581181"/>
          </a:xfrm>
          <a:prstGeom prst="rect">
            <a:avLst/>
          </a:prstGeom>
        </p:spPr>
      </p:pic>
      <p:pic>
        <p:nvPicPr>
          <p:cNvPr id="95" name="Imagem 94">
            <a:extLst>
              <a:ext uri="{FF2B5EF4-FFF2-40B4-BE49-F238E27FC236}">
                <a16:creationId xmlns:a16="http://schemas.microsoft.com/office/drawing/2014/main" id="{B7D980D4-C445-4074-92A8-49D7F1E98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1230691"/>
            <a:ext cx="878612" cy="581181"/>
          </a:xfrm>
          <a:prstGeom prst="rect">
            <a:avLst/>
          </a:prstGeom>
        </p:spPr>
      </p:pic>
      <p:pic>
        <p:nvPicPr>
          <p:cNvPr id="96" name="Imagem 95">
            <a:extLst>
              <a:ext uri="{FF2B5EF4-FFF2-40B4-BE49-F238E27FC236}">
                <a16:creationId xmlns:a16="http://schemas.microsoft.com/office/drawing/2014/main" id="{6FAE849A-662E-42A1-84E6-63C489E090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1230691"/>
            <a:ext cx="852362" cy="581181"/>
          </a:xfrm>
          <a:prstGeom prst="rect">
            <a:avLst/>
          </a:prstGeom>
        </p:spPr>
      </p:pic>
      <p:pic>
        <p:nvPicPr>
          <p:cNvPr id="97" name="Imagem 96">
            <a:extLst>
              <a:ext uri="{FF2B5EF4-FFF2-40B4-BE49-F238E27FC236}">
                <a16:creationId xmlns:a16="http://schemas.microsoft.com/office/drawing/2014/main" id="{4448E824-24B9-4F3D-9E9A-8C764CC1E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1211739"/>
            <a:ext cx="852362" cy="581181"/>
          </a:xfrm>
          <a:prstGeom prst="rect">
            <a:avLst/>
          </a:prstGeom>
        </p:spPr>
      </p:pic>
      <p:pic>
        <p:nvPicPr>
          <p:cNvPr id="98" name="Imagem 97">
            <a:extLst>
              <a:ext uri="{FF2B5EF4-FFF2-40B4-BE49-F238E27FC236}">
                <a16:creationId xmlns:a16="http://schemas.microsoft.com/office/drawing/2014/main" id="{256246AA-A5F3-4E50-AB3A-226306DC3E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1220887"/>
            <a:ext cx="888660" cy="581139"/>
          </a:xfrm>
          <a:prstGeom prst="rect">
            <a:avLst/>
          </a:prstGeom>
        </p:spPr>
      </p:pic>
      <p:pic>
        <p:nvPicPr>
          <p:cNvPr id="99" name="Imagem 98">
            <a:extLst>
              <a:ext uri="{FF2B5EF4-FFF2-40B4-BE49-F238E27FC236}">
                <a16:creationId xmlns:a16="http://schemas.microsoft.com/office/drawing/2014/main" id="{E7A9B574-FC55-4175-8B52-3635839CD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1230691"/>
            <a:ext cx="889028" cy="581139"/>
          </a:xfrm>
          <a:prstGeom prst="rect">
            <a:avLst/>
          </a:prstGeom>
        </p:spPr>
      </p:pic>
      <p:pic>
        <p:nvPicPr>
          <p:cNvPr id="100" name="Imagem 99">
            <a:extLst>
              <a:ext uri="{FF2B5EF4-FFF2-40B4-BE49-F238E27FC236}">
                <a16:creationId xmlns:a16="http://schemas.microsoft.com/office/drawing/2014/main" id="{0C5BC553-5272-4DA3-87A6-3618EC3FA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1230691"/>
            <a:ext cx="817170" cy="581139"/>
          </a:xfrm>
          <a:prstGeom prst="rect">
            <a:avLst/>
          </a:prstGeom>
        </p:spPr>
      </p:pic>
      <p:pic>
        <p:nvPicPr>
          <p:cNvPr id="101" name="Imagem 100">
            <a:extLst>
              <a:ext uri="{FF2B5EF4-FFF2-40B4-BE49-F238E27FC236}">
                <a16:creationId xmlns:a16="http://schemas.microsoft.com/office/drawing/2014/main" id="{5E68572F-0FA2-4A94-BBC7-B95834B44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1230691"/>
            <a:ext cx="817170" cy="581139"/>
          </a:xfrm>
          <a:prstGeom prst="rect">
            <a:avLst/>
          </a:prstGeom>
        </p:spPr>
      </p:pic>
      <p:pic>
        <p:nvPicPr>
          <p:cNvPr id="102" name="Imagem 101">
            <a:extLst>
              <a:ext uri="{FF2B5EF4-FFF2-40B4-BE49-F238E27FC236}">
                <a16:creationId xmlns:a16="http://schemas.microsoft.com/office/drawing/2014/main" id="{46F4E1BC-D8DA-4CCD-B945-AE0FECC7D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1226419"/>
            <a:ext cx="878612" cy="581181"/>
          </a:xfrm>
          <a:prstGeom prst="rect">
            <a:avLst/>
          </a:prstGeom>
        </p:spPr>
      </p:pic>
      <p:pic>
        <p:nvPicPr>
          <p:cNvPr id="103" name="Imagem 102">
            <a:extLst>
              <a:ext uri="{FF2B5EF4-FFF2-40B4-BE49-F238E27FC236}">
                <a16:creationId xmlns:a16="http://schemas.microsoft.com/office/drawing/2014/main" id="{5A158E35-EC52-43E9-AD9A-DD85EB560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1925214"/>
            <a:ext cx="878612" cy="581181"/>
          </a:xfrm>
          <a:prstGeom prst="rect">
            <a:avLst/>
          </a:prstGeom>
        </p:spPr>
      </p:pic>
      <p:pic>
        <p:nvPicPr>
          <p:cNvPr id="104" name="Imagem 103">
            <a:extLst>
              <a:ext uri="{FF2B5EF4-FFF2-40B4-BE49-F238E27FC236}">
                <a16:creationId xmlns:a16="http://schemas.microsoft.com/office/drawing/2014/main" id="{2954AB7E-C8EB-4DA7-9A88-64F6861DA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1925214"/>
            <a:ext cx="852362" cy="581181"/>
          </a:xfrm>
          <a:prstGeom prst="rect">
            <a:avLst/>
          </a:prstGeom>
        </p:spPr>
      </p:pic>
      <p:pic>
        <p:nvPicPr>
          <p:cNvPr id="105" name="Imagem 104">
            <a:extLst>
              <a:ext uri="{FF2B5EF4-FFF2-40B4-BE49-F238E27FC236}">
                <a16:creationId xmlns:a16="http://schemas.microsoft.com/office/drawing/2014/main" id="{6889F285-4E5F-4B52-BEB4-0904BD0EFC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1906262"/>
            <a:ext cx="852362" cy="581181"/>
          </a:xfrm>
          <a:prstGeom prst="rect">
            <a:avLst/>
          </a:prstGeom>
        </p:spPr>
      </p:pic>
      <p:pic>
        <p:nvPicPr>
          <p:cNvPr id="106" name="Imagem 105">
            <a:extLst>
              <a:ext uri="{FF2B5EF4-FFF2-40B4-BE49-F238E27FC236}">
                <a16:creationId xmlns:a16="http://schemas.microsoft.com/office/drawing/2014/main" id="{54FAB9DC-FFAC-4D26-AC09-C98A492C7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1915410"/>
            <a:ext cx="888660" cy="581139"/>
          </a:xfrm>
          <a:prstGeom prst="rect">
            <a:avLst/>
          </a:prstGeom>
        </p:spPr>
      </p:pic>
      <p:pic>
        <p:nvPicPr>
          <p:cNvPr id="107" name="Imagem 106">
            <a:extLst>
              <a:ext uri="{FF2B5EF4-FFF2-40B4-BE49-F238E27FC236}">
                <a16:creationId xmlns:a16="http://schemas.microsoft.com/office/drawing/2014/main" id="{42988387-B14A-49B4-801D-3AFB8C655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1925214"/>
            <a:ext cx="889028" cy="581139"/>
          </a:xfrm>
          <a:prstGeom prst="rect">
            <a:avLst/>
          </a:prstGeom>
        </p:spPr>
      </p:pic>
      <p:pic>
        <p:nvPicPr>
          <p:cNvPr id="108" name="Imagem 107">
            <a:extLst>
              <a:ext uri="{FF2B5EF4-FFF2-40B4-BE49-F238E27FC236}">
                <a16:creationId xmlns:a16="http://schemas.microsoft.com/office/drawing/2014/main" id="{E5E221B2-346A-45AA-934E-6D8507DDD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1925214"/>
            <a:ext cx="817170" cy="581139"/>
          </a:xfrm>
          <a:prstGeom prst="rect">
            <a:avLst/>
          </a:prstGeom>
        </p:spPr>
      </p:pic>
      <p:pic>
        <p:nvPicPr>
          <p:cNvPr id="109" name="Imagem 108">
            <a:extLst>
              <a:ext uri="{FF2B5EF4-FFF2-40B4-BE49-F238E27FC236}">
                <a16:creationId xmlns:a16="http://schemas.microsoft.com/office/drawing/2014/main" id="{5649A628-EC2E-470C-8039-105F52F16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1925214"/>
            <a:ext cx="817170" cy="581139"/>
          </a:xfrm>
          <a:prstGeom prst="rect">
            <a:avLst/>
          </a:prstGeom>
        </p:spPr>
      </p:pic>
      <p:pic>
        <p:nvPicPr>
          <p:cNvPr id="110" name="Imagem 109">
            <a:extLst>
              <a:ext uri="{FF2B5EF4-FFF2-40B4-BE49-F238E27FC236}">
                <a16:creationId xmlns:a16="http://schemas.microsoft.com/office/drawing/2014/main" id="{AC35FF22-CA25-4DAC-9389-4FFA4643DA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1920942"/>
            <a:ext cx="878612" cy="581181"/>
          </a:xfrm>
          <a:prstGeom prst="rect">
            <a:avLst/>
          </a:prstGeom>
        </p:spPr>
      </p:pic>
      <p:pic>
        <p:nvPicPr>
          <p:cNvPr id="111" name="Imagem 110">
            <a:extLst>
              <a:ext uri="{FF2B5EF4-FFF2-40B4-BE49-F238E27FC236}">
                <a16:creationId xmlns:a16="http://schemas.microsoft.com/office/drawing/2014/main" id="{B46EAB88-D03D-401C-A77D-C22E97DF0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2696651"/>
            <a:ext cx="878612" cy="581181"/>
          </a:xfrm>
          <a:prstGeom prst="rect">
            <a:avLst/>
          </a:prstGeom>
        </p:spPr>
      </p:pic>
      <p:pic>
        <p:nvPicPr>
          <p:cNvPr id="112" name="Imagem 111">
            <a:extLst>
              <a:ext uri="{FF2B5EF4-FFF2-40B4-BE49-F238E27FC236}">
                <a16:creationId xmlns:a16="http://schemas.microsoft.com/office/drawing/2014/main" id="{03A2468E-2959-487D-8E34-EDA46C6D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2696651"/>
            <a:ext cx="852362" cy="581181"/>
          </a:xfrm>
          <a:prstGeom prst="rect">
            <a:avLst/>
          </a:prstGeom>
        </p:spPr>
      </p:pic>
      <p:pic>
        <p:nvPicPr>
          <p:cNvPr id="113" name="Imagem 112">
            <a:extLst>
              <a:ext uri="{FF2B5EF4-FFF2-40B4-BE49-F238E27FC236}">
                <a16:creationId xmlns:a16="http://schemas.microsoft.com/office/drawing/2014/main" id="{EDD481B8-A5C0-4D68-BD69-09A01E12BF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2677699"/>
            <a:ext cx="852362" cy="581181"/>
          </a:xfrm>
          <a:prstGeom prst="rect">
            <a:avLst/>
          </a:prstGeom>
        </p:spPr>
      </p:pic>
      <p:pic>
        <p:nvPicPr>
          <p:cNvPr id="114" name="Imagem 113">
            <a:extLst>
              <a:ext uri="{FF2B5EF4-FFF2-40B4-BE49-F238E27FC236}">
                <a16:creationId xmlns:a16="http://schemas.microsoft.com/office/drawing/2014/main" id="{AD4B533E-BA26-4CB7-8202-21E44D581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2686847"/>
            <a:ext cx="888660" cy="581139"/>
          </a:xfrm>
          <a:prstGeom prst="rect">
            <a:avLst/>
          </a:prstGeom>
        </p:spPr>
      </p:pic>
      <p:pic>
        <p:nvPicPr>
          <p:cNvPr id="115" name="Imagem 114">
            <a:extLst>
              <a:ext uri="{FF2B5EF4-FFF2-40B4-BE49-F238E27FC236}">
                <a16:creationId xmlns:a16="http://schemas.microsoft.com/office/drawing/2014/main" id="{C94DF46E-A1D3-4E19-9B07-5D5939E39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2696651"/>
            <a:ext cx="889028" cy="581139"/>
          </a:xfrm>
          <a:prstGeom prst="rect">
            <a:avLst/>
          </a:prstGeom>
        </p:spPr>
      </p:pic>
      <p:pic>
        <p:nvPicPr>
          <p:cNvPr id="116" name="Imagem 115">
            <a:extLst>
              <a:ext uri="{FF2B5EF4-FFF2-40B4-BE49-F238E27FC236}">
                <a16:creationId xmlns:a16="http://schemas.microsoft.com/office/drawing/2014/main" id="{91575A8B-2A41-4317-B57C-082A09A41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2696651"/>
            <a:ext cx="817170" cy="581139"/>
          </a:xfrm>
          <a:prstGeom prst="rect">
            <a:avLst/>
          </a:prstGeom>
        </p:spPr>
      </p:pic>
      <p:pic>
        <p:nvPicPr>
          <p:cNvPr id="117" name="Imagem 116">
            <a:extLst>
              <a:ext uri="{FF2B5EF4-FFF2-40B4-BE49-F238E27FC236}">
                <a16:creationId xmlns:a16="http://schemas.microsoft.com/office/drawing/2014/main" id="{3A5B9033-729B-45D9-812B-DAFCDB46E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2696651"/>
            <a:ext cx="817170" cy="581139"/>
          </a:xfrm>
          <a:prstGeom prst="rect">
            <a:avLst/>
          </a:prstGeom>
        </p:spPr>
      </p:pic>
      <p:pic>
        <p:nvPicPr>
          <p:cNvPr id="118" name="Imagem 117">
            <a:extLst>
              <a:ext uri="{FF2B5EF4-FFF2-40B4-BE49-F238E27FC236}">
                <a16:creationId xmlns:a16="http://schemas.microsoft.com/office/drawing/2014/main" id="{F96140EE-DDBC-4146-95EC-6409B2499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2692379"/>
            <a:ext cx="878612" cy="581181"/>
          </a:xfrm>
          <a:prstGeom prst="rect">
            <a:avLst/>
          </a:prstGeom>
        </p:spPr>
      </p:pic>
      <p:pic>
        <p:nvPicPr>
          <p:cNvPr id="119" name="Imagem 118">
            <a:extLst>
              <a:ext uri="{FF2B5EF4-FFF2-40B4-BE49-F238E27FC236}">
                <a16:creationId xmlns:a16="http://schemas.microsoft.com/office/drawing/2014/main" id="{A09D2990-4AE0-4E3A-9C59-F8D745670B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3391174"/>
            <a:ext cx="878612" cy="581181"/>
          </a:xfrm>
          <a:prstGeom prst="rect">
            <a:avLst/>
          </a:prstGeom>
        </p:spPr>
      </p:pic>
      <p:pic>
        <p:nvPicPr>
          <p:cNvPr id="120" name="Imagem 119">
            <a:extLst>
              <a:ext uri="{FF2B5EF4-FFF2-40B4-BE49-F238E27FC236}">
                <a16:creationId xmlns:a16="http://schemas.microsoft.com/office/drawing/2014/main" id="{BED8F80F-76D6-4E5D-987F-2984D6816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3391174"/>
            <a:ext cx="852362" cy="581181"/>
          </a:xfrm>
          <a:prstGeom prst="rect">
            <a:avLst/>
          </a:prstGeom>
        </p:spPr>
      </p:pic>
      <p:pic>
        <p:nvPicPr>
          <p:cNvPr id="121" name="Imagem 120">
            <a:extLst>
              <a:ext uri="{FF2B5EF4-FFF2-40B4-BE49-F238E27FC236}">
                <a16:creationId xmlns:a16="http://schemas.microsoft.com/office/drawing/2014/main" id="{B64C6C2C-5508-42BB-9805-99B3001E6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3372222"/>
            <a:ext cx="852362" cy="581181"/>
          </a:xfrm>
          <a:prstGeom prst="rect">
            <a:avLst/>
          </a:prstGeom>
        </p:spPr>
      </p:pic>
      <p:pic>
        <p:nvPicPr>
          <p:cNvPr id="122" name="Imagem 121">
            <a:extLst>
              <a:ext uri="{FF2B5EF4-FFF2-40B4-BE49-F238E27FC236}">
                <a16:creationId xmlns:a16="http://schemas.microsoft.com/office/drawing/2014/main" id="{1CC22F24-6F4E-449C-B3FD-23220517D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3381370"/>
            <a:ext cx="888660" cy="581139"/>
          </a:xfrm>
          <a:prstGeom prst="rect">
            <a:avLst/>
          </a:prstGeom>
        </p:spPr>
      </p:pic>
      <p:pic>
        <p:nvPicPr>
          <p:cNvPr id="123" name="Imagem 122">
            <a:extLst>
              <a:ext uri="{FF2B5EF4-FFF2-40B4-BE49-F238E27FC236}">
                <a16:creationId xmlns:a16="http://schemas.microsoft.com/office/drawing/2014/main" id="{B007128F-DAD9-4CC9-97C5-B260C4111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3391174"/>
            <a:ext cx="889028" cy="581139"/>
          </a:xfrm>
          <a:prstGeom prst="rect">
            <a:avLst/>
          </a:prstGeom>
        </p:spPr>
      </p:pic>
      <p:pic>
        <p:nvPicPr>
          <p:cNvPr id="124" name="Imagem 123">
            <a:extLst>
              <a:ext uri="{FF2B5EF4-FFF2-40B4-BE49-F238E27FC236}">
                <a16:creationId xmlns:a16="http://schemas.microsoft.com/office/drawing/2014/main" id="{22E38981-243D-49AC-A513-7F08C7F2B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3391174"/>
            <a:ext cx="817170" cy="581139"/>
          </a:xfrm>
          <a:prstGeom prst="rect">
            <a:avLst/>
          </a:prstGeom>
        </p:spPr>
      </p:pic>
      <p:pic>
        <p:nvPicPr>
          <p:cNvPr id="125" name="Imagem 124">
            <a:extLst>
              <a:ext uri="{FF2B5EF4-FFF2-40B4-BE49-F238E27FC236}">
                <a16:creationId xmlns:a16="http://schemas.microsoft.com/office/drawing/2014/main" id="{C249E3F2-090F-460E-B24F-0D89821DF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3391174"/>
            <a:ext cx="817170" cy="581139"/>
          </a:xfrm>
          <a:prstGeom prst="rect">
            <a:avLst/>
          </a:prstGeom>
        </p:spPr>
      </p:pic>
      <p:pic>
        <p:nvPicPr>
          <p:cNvPr id="126" name="Imagem 125">
            <a:extLst>
              <a:ext uri="{FF2B5EF4-FFF2-40B4-BE49-F238E27FC236}">
                <a16:creationId xmlns:a16="http://schemas.microsoft.com/office/drawing/2014/main" id="{115FF7B9-D43F-4971-956F-01B8A8EC7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3386902"/>
            <a:ext cx="878612" cy="581181"/>
          </a:xfrm>
          <a:prstGeom prst="rect">
            <a:avLst/>
          </a:prstGeom>
        </p:spPr>
      </p:pic>
      <p:pic>
        <p:nvPicPr>
          <p:cNvPr id="127" name="Imagem 126">
            <a:extLst>
              <a:ext uri="{FF2B5EF4-FFF2-40B4-BE49-F238E27FC236}">
                <a16:creationId xmlns:a16="http://schemas.microsoft.com/office/drawing/2014/main" id="{398F698F-655C-46AE-BC65-5AEBEE92C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4107195"/>
            <a:ext cx="878612" cy="581181"/>
          </a:xfrm>
          <a:prstGeom prst="rect">
            <a:avLst/>
          </a:prstGeom>
        </p:spPr>
      </p:pic>
      <p:pic>
        <p:nvPicPr>
          <p:cNvPr id="128" name="Imagem 127">
            <a:extLst>
              <a:ext uri="{FF2B5EF4-FFF2-40B4-BE49-F238E27FC236}">
                <a16:creationId xmlns:a16="http://schemas.microsoft.com/office/drawing/2014/main" id="{4DA378D1-1410-495E-8307-35952FCBC6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4107195"/>
            <a:ext cx="852362" cy="581181"/>
          </a:xfrm>
          <a:prstGeom prst="rect">
            <a:avLst/>
          </a:prstGeom>
        </p:spPr>
      </p:pic>
      <p:pic>
        <p:nvPicPr>
          <p:cNvPr id="129" name="Imagem 128">
            <a:extLst>
              <a:ext uri="{FF2B5EF4-FFF2-40B4-BE49-F238E27FC236}">
                <a16:creationId xmlns:a16="http://schemas.microsoft.com/office/drawing/2014/main" id="{01FE0ED6-1A39-4ECF-A52A-9786259E9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4088243"/>
            <a:ext cx="852362" cy="581181"/>
          </a:xfrm>
          <a:prstGeom prst="rect">
            <a:avLst/>
          </a:prstGeom>
        </p:spPr>
      </p:pic>
      <p:pic>
        <p:nvPicPr>
          <p:cNvPr id="130" name="Imagem 129">
            <a:extLst>
              <a:ext uri="{FF2B5EF4-FFF2-40B4-BE49-F238E27FC236}">
                <a16:creationId xmlns:a16="http://schemas.microsoft.com/office/drawing/2014/main" id="{02033B5C-470A-49D5-9C65-03AA6FDA4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4097391"/>
            <a:ext cx="888660" cy="581139"/>
          </a:xfrm>
          <a:prstGeom prst="rect">
            <a:avLst/>
          </a:prstGeom>
        </p:spPr>
      </p:pic>
      <p:pic>
        <p:nvPicPr>
          <p:cNvPr id="131" name="Imagem 130">
            <a:extLst>
              <a:ext uri="{FF2B5EF4-FFF2-40B4-BE49-F238E27FC236}">
                <a16:creationId xmlns:a16="http://schemas.microsoft.com/office/drawing/2014/main" id="{92F3490B-AC89-4956-87F0-33B58635C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4107195"/>
            <a:ext cx="889028" cy="581139"/>
          </a:xfrm>
          <a:prstGeom prst="rect">
            <a:avLst/>
          </a:prstGeom>
        </p:spPr>
      </p:pic>
      <p:pic>
        <p:nvPicPr>
          <p:cNvPr id="132" name="Imagem 131">
            <a:extLst>
              <a:ext uri="{FF2B5EF4-FFF2-40B4-BE49-F238E27FC236}">
                <a16:creationId xmlns:a16="http://schemas.microsoft.com/office/drawing/2014/main" id="{37E4984A-82BC-465B-B77D-EAF195609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4107195"/>
            <a:ext cx="817170" cy="581139"/>
          </a:xfrm>
          <a:prstGeom prst="rect">
            <a:avLst/>
          </a:prstGeom>
        </p:spPr>
      </p:pic>
      <p:pic>
        <p:nvPicPr>
          <p:cNvPr id="133" name="Imagem 132">
            <a:extLst>
              <a:ext uri="{FF2B5EF4-FFF2-40B4-BE49-F238E27FC236}">
                <a16:creationId xmlns:a16="http://schemas.microsoft.com/office/drawing/2014/main" id="{CB2CDBDA-72C7-49E2-BF91-5F7995E33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4107195"/>
            <a:ext cx="817170" cy="581139"/>
          </a:xfrm>
          <a:prstGeom prst="rect">
            <a:avLst/>
          </a:prstGeom>
        </p:spPr>
      </p:pic>
      <p:pic>
        <p:nvPicPr>
          <p:cNvPr id="134" name="Imagem 133">
            <a:extLst>
              <a:ext uri="{FF2B5EF4-FFF2-40B4-BE49-F238E27FC236}">
                <a16:creationId xmlns:a16="http://schemas.microsoft.com/office/drawing/2014/main" id="{7A5DE3C8-708E-48C1-9DCC-0A4C829C8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4102923"/>
            <a:ext cx="878612" cy="581181"/>
          </a:xfrm>
          <a:prstGeom prst="rect">
            <a:avLst/>
          </a:prstGeom>
        </p:spPr>
      </p:pic>
      <p:pic>
        <p:nvPicPr>
          <p:cNvPr id="135" name="Imagem 134">
            <a:extLst>
              <a:ext uri="{FF2B5EF4-FFF2-40B4-BE49-F238E27FC236}">
                <a16:creationId xmlns:a16="http://schemas.microsoft.com/office/drawing/2014/main" id="{17394EBF-3709-4F7D-8DCF-6C000ACE8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4801718"/>
            <a:ext cx="878612" cy="581181"/>
          </a:xfrm>
          <a:prstGeom prst="rect">
            <a:avLst/>
          </a:prstGeom>
        </p:spPr>
      </p:pic>
      <p:pic>
        <p:nvPicPr>
          <p:cNvPr id="136" name="Imagem 135">
            <a:extLst>
              <a:ext uri="{FF2B5EF4-FFF2-40B4-BE49-F238E27FC236}">
                <a16:creationId xmlns:a16="http://schemas.microsoft.com/office/drawing/2014/main" id="{25D5F35E-B9C5-42CE-BE77-B32EF7AFB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4801718"/>
            <a:ext cx="852362" cy="581181"/>
          </a:xfrm>
          <a:prstGeom prst="rect">
            <a:avLst/>
          </a:prstGeom>
        </p:spPr>
      </p:pic>
      <p:pic>
        <p:nvPicPr>
          <p:cNvPr id="137" name="Imagem 136">
            <a:extLst>
              <a:ext uri="{FF2B5EF4-FFF2-40B4-BE49-F238E27FC236}">
                <a16:creationId xmlns:a16="http://schemas.microsoft.com/office/drawing/2014/main" id="{01C787A4-A061-45A2-B251-7A7AF91E6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4782766"/>
            <a:ext cx="852362" cy="581181"/>
          </a:xfrm>
          <a:prstGeom prst="rect">
            <a:avLst/>
          </a:prstGeom>
        </p:spPr>
      </p:pic>
      <p:pic>
        <p:nvPicPr>
          <p:cNvPr id="138" name="Imagem 137">
            <a:extLst>
              <a:ext uri="{FF2B5EF4-FFF2-40B4-BE49-F238E27FC236}">
                <a16:creationId xmlns:a16="http://schemas.microsoft.com/office/drawing/2014/main" id="{48198AFA-F913-4D91-9348-6DB8ECE48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4791914"/>
            <a:ext cx="888660" cy="581139"/>
          </a:xfrm>
          <a:prstGeom prst="rect">
            <a:avLst/>
          </a:prstGeom>
        </p:spPr>
      </p:pic>
      <p:pic>
        <p:nvPicPr>
          <p:cNvPr id="139" name="Imagem 138">
            <a:extLst>
              <a:ext uri="{FF2B5EF4-FFF2-40B4-BE49-F238E27FC236}">
                <a16:creationId xmlns:a16="http://schemas.microsoft.com/office/drawing/2014/main" id="{FD9CE1BB-FF46-4660-801F-3BCC848B4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4801718"/>
            <a:ext cx="889028" cy="581139"/>
          </a:xfrm>
          <a:prstGeom prst="rect">
            <a:avLst/>
          </a:prstGeom>
        </p:spPr>
      </p:pic>
      <p:pic>
        <p:nvPicPr>
          <p:cNvPr id="140" name="Imagem 139">
            <a:extLst>
              <a:ext uri="{FF2B5EF4-FFF2-40B4-BE49-F238E27FC236}">
                <a16:creationId xmlns:a16="http://schemas.microsoft.com/office/drawing/2014/main" id="{0D67636B-2767-4166-B775-A12D7426C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4801718"/>
            <a:ext cx="817170" cy="581139"/>
          </a:xfrm>
          <a:prstGeom prst="rect">
            <a:avLst/>
          </a:prstGeom>
        </p:spPr>
      </p:pic>
      <p:pic>
        <p:nvPicPr>
          <p:cNvPr id="141" name="Imagem 140">
            <a:extLst>
              <a:ext uri="{FF2B5EF4-FFF2-40B4-BE49-F238E27FC236}">
                <a16:creationId xmlns:a16="http://schemas.microsoft.com/office/drawing/2014/main" id="{57475BCD-A115-46A6-868B-EC3638173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4801718"/>
            <a:ext cx="817170" cy="581139"/>
          </a:xfrm>
          <a:prstGeom prst="rect">
            <a:avLst/>
          </a:prstGeom>
        </p:spPr>
      </p:pic>
      <p:pic>
        <p:nvPicPr>
          <p:cNvPr id="142" name="Imagem 141">
            <a:extLst>
              <a:ext uri="{FF2B5EF4-FFF2-40B4-BE49-F238E27FC236}">
                <a16:creationId xmlns:a16="http://schemas.microsoft.com/office/drawing/2014/main" id="{6DFF8CCA-F89D-401A-B3F8-13C6E7941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4797446"/>
            <a:ext cx="878612" cy="581181"/>
          </a:xfrm>
          <a:prstGeom prst="rect">
            <a:avLst/>
          </a:prstGeom>
        </p:spPr>
      </p:pic>
      <p:pic>
        <p:nvPicPr>
          <p:cNvPr id="143" name="Imagem 142">
            <a:extLst>
              <a:ext uri="{FF2B5EF4-FFF2-40B4-BE49-F238E27FC236}">
                <a16:creationId xmlns:a16="http://schemas.microsoft.com/office/drawing/2014/main" id="{C55EFA25-6783-4B15-B345-1D26527D7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5573155"/>
            <a:ext cx="878612" cy="581181"/>
          </a:xfrm>
          <a:prstGeom prst="rect">
            <a:avLst/>
          </a:prstGeom>
        </p:spPr>
      </p:pic>
      <p:pic>
        <p:nvPicPr>
          <p:cNvPr id="144" name="Imagem 143">
            <a:extLst>
              <a:ext uri="{FF2B5EF4-FFF2-40B4-BE49-F238E27FC236}">
                <a16:creationId xmlns:a16="http://schemas.microsoft.com/office/drawing/2014/main" id="{D960401F-D993-4341-9FF9-197C64170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5573155"/>
            <a:ext cx="852362" cy="581181"/>
          </a:xfrm>
          <a:prstGeom prst="rect">
            <a:avLst/>
          </a:prstGeom>
        </p:spPr>
      </p:pic>
      <p:pic>
        <p:nvPicPr>
          <p:cNvPr id="145" name="Imagem 144">
            <a:extLst>
              <a:ext uri="{FF2B5EF4-FFF2-40B4-BE49-F238E27FC236}">
                <a16:creationId xmlns:a16="http://schemas.microsoft.com/office/drawing/2014/main" id="{2327CBF3-9C91-492F-8338-7E187CDB5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5554203"/>
            <a:ext cx="852362" cy="581181"/>
          </a:xfrm>
          <a:prstGeom prst="rect">
            <a:avLst/>
          </a:prstGeom>
        </p:spPr>
      </p:pic>
      <p:pic>
        <p:nvPicPr>
          <p:cNvPr id="146" name="Imagem 145">
            <a:extLst>
              <a:ext uri="{FF2B5EF4-FFF2-40B4-BE49-F238E27FC236}">
                <a16:creationId xmlns:a16="http://schemas.microsoft.com/office/drawing/2014/main" id="{B7B43C62-949D-4943-A901-E2BBE0331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5563351"/>
            <a:ext cx="888660" cy="581139"/>
          </a:xfrm>
          <a:prstGeom prst="rect">
            <a:avLst/>
          </a:prstGeom>
        </p:spPr>
      </p:pic>
      <p:pic>
        <p:nvPicPr>
          <p:cNvPr id="147" name="Imagem 146">
            <a:extLst>
              <a:ext uri="{FF2B5EF4-FFF2-40B4-BE49-F238E27FC236}">
                <a16:creationId xmlns:a16="http://schemas.microsoft.com/office/drawing/2014/main" id="{EB219430-3893-4736-B754-30A562249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5573155"/>
            <a:ext cx="889028" cy="581139"/>
          </a:xfrm>
          <a:prstGeom prst="rect">
            <a:avLst/>
          </a:prstGeom>
        </p:spPr>
      </p:pic>
      <p:pic>
        <p:nvPicPr>
          <p:cNvPr id="148" name="Imagem 147">
            <a:extLst>
              <a:ext uri="{FF2B5EF4-FFF2-40B4-BE49-F238E27FC236}">
                <a16:creationId xmlns:a16="http://schemas.microsoft.com/office/drawing/2014/main" id="{6A2EE6A9-3BF3-4F77-BB0E-D1DD52DEB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5573155"/>
            <a:ext cx="817170" cy="581139"/>
          </a:xfrm>
          <a:prstGeom prst="rect">
            <a:avLst/>
          </a:prstGeom>
        </p:spPr>
      </p:pic>
      <p:pic>
        <p:nvPicPr>
          <p:cNvPr id="149" name="Imagem 148">
            <a:extLst>
              <a:ext uri="{FF2B5EF4-FFF2-40B4-BE49-F238E27FC236}">
                <a16:creationId xmlns:a16="http://schemas.microsoft.com/office/drawing/2014/main" id="{C674A482-108D-4670-8E00-4D0C31003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5573155"/>
            <a:ext cx="817170" cy="581139"/>
          </a:xfrm>
          <a:prstGeom prst="rect">
            <a:avLst/>
          </a:prstGeom>
        </p:spPr>
      </p:pic>
      <p:pic>
        <p:nvPicPr>
          <p:cNvPr id="150" name="Imagem 149">
            <a:extLst>
              <a:ext uri="{FF2B5EF4-FFF2-40B4-BE49-F238E27FC236}">
                <a16:creationId xmlns:a16="http://schemas.microsoft.com/office/drawing/2014/main" id="{3384190B-5792-42BF-8BAC-0A8C79DD6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5568883"/>
            <a:ext cx="878612" cy="581181"/>
          </a:xfrm>
          <a:prstGeom prst="rect">
            <a:avLst/>
          </a:prstGeom>
        </p:spPr>
      </p:pic>
      <p:pic>
        <p:nvPicPr>
          <p:cNvPr id="151" name="Imagem 150">
            <a:extLst>
              <a:ext uri="{FF2B5EF4-FFF2-40B4-BE49-F238E27FC236}">
                <a16:creationId xmlns:a16="http://schemas.microsoft.com/office/drawing/2014/main" id="{2E180630-B259-4259-A065-B2356D13B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6267678"/>
            <a:ext cx="878612" cy="581181"/>
          </a:xfrm>
          <a:prstGeom prst="rect">
            <a:avLst/>
          </a:prstGeom>
        </p:spPr>
      </p:pic>
      <p:pic>
        <p:nvPicPr>
          <p:cNvPr id="152" name="Imagem 151">
            <a:extLst>
              <a:ext uri="{FF2B5EF4-FFF2-40B4-BE49-F238E27FC236}">
                <a16:creationId xmlns:a16="http://schemas.microsoft.com/office/drawing/2014/main" id="{B3C5096B-BFCA-41FB-B683-A1C11C37B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6267678"/>
            <a:ext cx="852362" cy="581181"/>
          </a:xfrm>
          <a:prstGeom prst="rect">
            <a:avLst/>
          </a:prstGeom>
        </p:spPr>
      </p:pic>
      <p:pic>
        <p:nvPicPr>
          <p:cNvPr id="153" name="Imagem 152">
            <a:extLst>
              <a:ext uri="{FF2B5EF4-FFF2-40B4-BE49-F238E27FC236}">
                <a16:creationId xmlns:a16="http://schemas.microsoft.com/office/drawing/2014/main" id="{228E7139-A669-48E3-B4C3-C48C04546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6248726"/>
            <a:ext cx="852362" cy="581181"/>
          </a:xfrm>
          <a:prstGeom prst="rect">
            <a:avLst/>
          </a:prstGeom>
        </p:spPr>
      </p:pic>
      <p:pic>
        <p:nvPicPr>
          <p:cNvPr id="154" name="Imagem 153">
            <a:extLst>
              <a:ext uri="{FF2B5EF4-FFF2-40B4-BE49-F238E27FC236}">
                <a16:creationId xmlns:a16="http://schemas.microsoft.com/office/drawing/2014/main" id="{8E902B91-8F24-460D-A17D-189B9B18F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6257874"/>
            <a:ext cx="888660" cy="581139"/>
          </a:xfrm>
          <a:prstGeom prst="rect">
            <a:avLst/>
          </a:prstGeom>
        </p:spPr>
      </p:pic>
      <p:pic>
        <p:nvPicPr>
          <p:cNvPr id="155" name="Imagem 154">
            <a:extLst>
              <a:ext uri="{FF2B5EF4-FFF2-40B4-BE49-F238E27FC236}">
                <a16:creationId xmlns:a16="http://schemas.microsoft.com/office/drawing/2014/main" id="{8F24B544-7D84-4AB4-BE0F-8AB7C650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6267678"/>
            <a:ext cx="889028" cy="581139"/>
          </a:xfrm>
          <a:prstGeom prst="rect">
            <a:avLst/>
          </a:prstGeom>
        </p:spPr>
      </p:pic>
      <p:pic>
        <p:nvPicPr>
          <p:cNvPr id="156" name="Imagem 155">
            <a:extLst>
              <a:ext uri="{FF2B5EF4-FFF2-40B4-BE49-F238E27FC236}">
                <a16:creationId xmlns:a16="http://schemas.microsoft.com/office/drawing/2014/main" id="{992B93F3-D1A5-4E25-95D3-EDA101715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6267678"/>
            <a:ext cx="817170" cy="581139"/>
          </a:xfrm>
          <a:prstGeom prst="rect">
            <a:avLst/>
          </a:prstGeom>
        </p:spPr>
      </p:pic>
      <p:pic>
        <p:nvPicPr>
          <p:cNvPr id="157" name="Imagem 156">
            <a:extLst>
              <a:ext uri="{FF2B5EF4-FFF2-40B4-BE49-F238E27FC236}">
                <a16:creationId xmlns:a16="http://schemas.microsoft.com/office/drawing/2014/main" id="{2EF64B4A-0BC3-4CD7-919E-DFC9083A8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6267678"/>
            <a:ext cx="817170" cy="581139"/>
          </a:xfrm>
          <a:prstGeom prst="rect">
            <a:avLst/>
          </a:prstGeom>
        </p:spPr>
      </p:pic>
      <p:pic>
        <p:nvPicPr>
          <p:cNvPr id="158" name="Imagem 157">
            <a:extLst>
              <a:ext uri="{FF2B5EF4-FFF2-40B4-BE49-F238E27FC236}">
                <a16:creationId xmlns:a16="http://schemas.microsoft.com/office/drawing/2014/main" id="{B6F18EFD-4A6C-4484-A0CB-B3784E5B7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6263406"/>
            <a:ext cx="878612" cy="581181"/>
          </a:xfrm>
          <a:prstGeom prst="rect">
            <a:avLst/>
          </a:prstGeom>
        </p:spPr>
      </p:pic>
      <p:pic>
        <p:nvPicPr>
          <p:cNvPr id="159" name="Imagem 158">
            <a:extLst>
              <a:ext uri="{FF2B5EF4-FFF2-40B4-BE49-F238E27FC236}">
                <a16:creationId xmlns:a16="http://schemas.microsoft.com/office/drawing/2014/main" id="{8D30565A-A41F-4A8C-9466-FE65DBA07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67" y="6973865"/>
            <a:ext cx="878612" cy="581181"/>
          </a:xfrm>
          <a:prstGeom prst="rect">
            <a:avLst/>
          </a:prstGeom>
        </p:spPr>
      </p:pic>
      <p:pic>
        <p:nvPicPr>
          <p:cNvPr id="160" name="Imagem 159">
            <a:extLst>
              <a:ext uri="{FF2B5EF4-FFF2-40B4-BE49-F238E27FC236}">
                <a16:creationId xmlns:a16="http://schemas.microsoft.com/office/drawing/2014/main" id="{86F51662-6D27-41EF-8EE2-E4A8699EE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6206" y="6973865"/>
            <a:ext cx="852362" cy="581181"/>
          </a:xfrm>
          <a:prstGeom prst="rect">
            <a:avLst/>
          </a:prstGeom>
        </p:spPr>
      </p:pic>
      <p:pic>
        <p:nvPicPr>
          <p:cNvPr id="161" name="Imagem 160">
            <a:extLst>
              <a:ext uri="{FF2B5EF4-FFF2-40B4-BE49-F238E27FC236}">
                <a16:creationId xmlns:a16="http://schemas.microsoft.com/office/drawing/2014/main" id="{BFF49A1D-BCF9-49D2-B9ED-1821E37B8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779" y="6954913"/>
            <a:ext cx="852362" cy="581181"/>
          </a:xfrm>
          <a:prstGeom prst="rect">
            <a:avLst/>
          </a:prstGeom>
        </p:spPr>
      </p:pic>
      <p:pic>
        <p:nvPicPr>
          <p:cNvPr id="162" name="Imagem 161">
            <a:extLst>
              <a:ext uri="{FF2B5EF4-FFF2-40B4-BE49-F238E27FC236}">
                <a16:creationId xmlns:a16="http://schemas.microsoft.com/office/drawing/2014/main" id="{D35DA5A2-174B-4D3D-9E34-1696A098C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570" y="6964061"/>
            <a:ext cx="888660" cy="581139"/>
          </a:xfrm>
          <a:prstGeom prst="rect">
            <a:avLst/>
          </a:prstGeom>
        </p:spPr>
      </p:pic>
      <p:pic>
        <p:nvPicPr>
          <p:cNvPr id="163" name="Imagem 162">
            <a:extLst>
              <a:ext uri="{FF2B5EF4-FFF2-40B4-BE49-F238E27FC236}">
                <a16:creationId xmlns:a16="http://schemas.microsoft.com/office/drawing/2014/main" id="{154D27DF-D4AB-453E-AB2B-76A92D9D6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726" y="6973865"/>
            <a:ext cx="889028" cy="581139"/>
          </a:xfrm>
          <a:prstGeom prst="rect">
            <a:avLst/>
          </a:prstGeom>
        </p:spPr>
      </p:pic>
      <p:pic>
        <p:nvPicPr>
          <p:cNvPr id="164" name="Imagem 163">
            <a:extLst>
              <a:ext uri="{FF2B5EF4-FFF2-40B4-BE49-F238E27FC236}">
                <a16:creationId xmlns:a16="http://schemas.microsoft.com/office/drawing/2014/main" id="{173A49C2-7AA3-44F6-88CF-E9D7F5433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250" y="6973865"/>
            <a:ext cx="817170" cy="581139"/>
          </a:xfrm>
          <a:prstGeom prst="rect">
            <a:avLst/>
          </a:prstGeom>
        </p:spPr>
      </p:pic>
      <p:pic>
        <p:nvPicPr>
          <p:cNvPr id="165" name="Imagem 164">
            <a:extLst>
              <a:ext uri="{FF2B5EF4-FFF2-40B4-BE49-F238E27FC236}">
                <a16:creationId xmlns:a16="http://schemas.microsoft.com/office/drawing/2014/main" id="{C7B9C10D-77B6-4676-86B1-7CAC7A479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0916" y="6973865"/>
            <a:ext cx="817170" cy="581139"/>
          </a:xfrm>
          <a:prstGeom prst="rect">
            <a:avLst/>
          </a:prstGeom>
        </p:spPr>
      </p:pic>
      <p:pic>
        <p:nvPicPr>
          <p:cNvPr id="166" name="Imagem 165">
            <a:extLst>
              <a:ext uri="{FF2B5EF4-FFF2-40B4-BE49-F238E27FC236}">
                <a16:creationId xmlns:a16="http://schemas.microsoft.com/office/drawing/2014/main" id="{AB2ADC65-967D-4F99-A884-CF8AB6AE7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4" y="6969593"/>
            <a:ext cx="878612" cy="581181"/>
          </a:xfrm>
          <a:prstGeom prst="rect">
            <a:avLst/>
          </a:prstGeom>
        </p:spPr>
      </p:pic>
      <p:pic>
        <p:nvPicPr>
          <p:cNvPr id="167" name="Imagem 166">
            <a:extLst>
              <a:ext uri="{FF2B5EF4-FFF2-40B4-BE49-F238E27FC236}">
                <a16:creationId xmlns:a16="http://schemas.microsoft.com/office/drawing/2014/main" id="{7517DA11-0085-4169-B7D6-CC290CDF5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263" y="7668388"/>
            <a:ext cx="878612" cy="581181"/>
          </a:xfrm>
          <a:prstGeom prst="rect">
            <a:avLst/>
          </a:prstGeom>
        </p:spPr>
      </p:pic>
      <p:pic>
        <p:nvPicPr>
          <p:cNvPr id="168" name="Imagem 167">
            <a:extLst>
              <a:ext uri="{FF2B5EF4-FFF2-40B4-BE49-F238E27FC236}">
                <a16:creationId xmlns:a16="http://schemas.microsoft.com/office/drawing/2014/main" id="{53312C02-DFCC-45C7-8947-B84FCA021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102" y="7668388"/>
            <a:ext cx="852362" cy="581181"/>
          </a:xfrm>
          <a:prstGeom prst="rect">
            <a:avLst/>
          </a:prstGeom>
        </p:spPr>
      </p:pic>
      <p:pic>
        <p:nvPicPr>
          <p:cNvPr id="169" name="Imagem 168">
            <a:extLst>
              <a:ext uri="{FF2B5EF4-FFF2-40B4-BE49-F238E27FC236}">
                <a16:creationId xmlns:a16="http://schemas.microsoft.com/office/drawing/2014/main" id="{3E0870FC-646C-4FE5-9587-DF4ED77EC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75" y="7649436"/>
            <a:ext cx="852362" cy="581181"/>
          </a:xfrm>
          <a:prstGeom prst="rect">
            <a:avLst/>
          </a:prstGeom>
        </p:spPr>
      </p:pic>
      <p:pic>
        <p:nvPicPr>
          <p:cNvPr id="170" name="Imagem 169">
            <a:extLst>
              <a:ext uri="{FF2B5EF4-FFF2-40B4-BE49-F238E27FC236}">
                <a16:creationId xmlns:a16="http://schemas.microsoft.com/office/drawing/2014/main" id="{77A5C986-03CF-411B-9C85-728BC6124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466" y="7658584"/>
            <a:ext cx="888660" cy="581139"/>
          </a:xfrm>
          <a:prstGeom prst="rect">
            <a:avLst/>
          </a:prstGeom>
        </p:spPr>
      </p:pic>
      <p:pic>
        <p:nvPicPr>
          <p:cNvPr id="171" name="Imagem 170">
            <a:extLst>
              <a:ext uri="{FF2B5EF4-FFF2-40B4-BE49-F238E27FC236}">
                <a16:creationId xmlns:a16="http://schemas.microsoft.com/office/drawing/2014/main" id="{41C0687A-9776-4FF1-A7BF-96A0036C9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622" y="7668388"/>
            <a:ext cx="889028" cy="581139"/>
          </a:xfrm>
          <a:prstGeom prst="rect">
            <a:avLst/>
          </a:prstGeom>
        </p:spPr>
      </p:pic>
      <p:pic>
        <p:nvPicPr>
          <p:cNvPr id="172" name="Imagem 171">
            <a:extLst>
              <a:ext uri="{FF2B5EF4-FFF2-40B4-BE49-F238E27FC236}">
                <a16:creationId xmlns:a16="http://schemas.microsoft.com/office/drawing/2014/main" id="{9856E074-11EB-4BFC-8CB3-DF67355F5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146" y="7668388"/>
            <a:ext cx="817170" cy="581139"/>
          </a:xfrm>
          <a:prstGeom prst="rect">
            <a:avLst/>
          </a:prstGeom>
        </p:spPr>
      </p:pic>
      <p:pic>
        <p:nvPicPr>
          <p:cNvPr id="173" name="Imagem 172">
            <a:extLst>
              <a:ext uri="{FF2B5EF4-FFF2-40B4-BE49-F238E27FC236}">
                <a16:creationId xmlns:a16="http://schemas.microsoft.com/office/drawing/2014/main" id="{4899CD2C-AC9C-4B3D-84D8-96D94E85A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9812" y="7668388"/>
            <a:ext cx="817170" cy="581139"/>
          </a:xfrm>
          <a:prstGeom prst="rect">
            <a:avLst/>
          </a:prstGeom>
        </p:spPr>
      </p:pic>
      <p:pic>
        <p:nvPicPr>
          <p:cNvPr id="174" name="Imagem 173">
            <a:extLst>
              <a:ext uri="{FF2B5EF4-FFF2-40B4-BE49-F238E27FC236}">
                <a16:creationId xmlns:a16="http://schemas.microsoft.com/office/drawing/2014/main" id="{59631BA4-C0AD-4BF4-8C12-DA7BA6052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0" y="7664116"/>
            <a:ext cx="878612" cy="581181"/>
          </a:xfrm>
          <a:prstGeom prst="rect">
            <a:avLst/>
          </a:prstGeom>
        </p:spPr>
      </p:pic>
      <p:pic>
        <p:nvPicPr>
          <p:cNvPr id="175" name="Imagem 174">
            <a:extLst>
              <a:ext uri="{FF2B5EF4-FFF2-40B4-BE49-F238E27FC236}">
                <a16:creationId xmlns:a16="http://schemas.microsoft.com/office/drawing/2014/main" id="{B58F6B91-B67B-47DE-B9A4-CB65522BE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67" y="8439825"/>
            <a:ext cx="878612" cy="581181"/>
          </a:xfrm>
          <a:prstGeom prst="rect">
            <a:avLst/>
          </a:prstGeom>
        </p:spPr>
      </p:pic>
      <p:pic>
        <p:nvPicPr>
          <p:cNvPr id="176" name="Imagem 175">
            <a:extLst>
              <a:ext uri="{FF2B5EF4-FFF2-40B4-BE49-F238E27FC236}">
                <a16:creationId xmlns:a16="http://schemas.microsoft.com/office/drawing/2014/main" id="{F087B6E8-F2C9-43B6-9751-5C1E257E0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6206" y="8439825"/>
            <a:ext cx="852362" cy="581181"/>
          </a:xfrm>
          <a:prstGeom prst="rect">
            <a:avLst/>
          </a:prstGeom>
        </p:spPr>
      </p:pic>
      <p:pic>
        <p:nvPicPr>
          <p:cNvPr id="177" name="Imagem 176">
            <a:extLst>
              <a:ext uri="{FF2B5EF4-FFF2-40B4-BE49-F238E27FC236}">
                <a16:creationId xmlns:a16="http://schemas.microsoft.com/office/drawing/2014/main" id="{5DE4AAC2-0438-45C6-A1F7-0C162C9A5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779" y="8420873"/>
            <a:ext cx="852362" cy="581181"/>
          </a:xfrm>
          <a:prstGeom prst="rect">
            <a:avLst/>
          </a:prstGeom>
        </p:spPr>
      </p:pic>
      <p:pic>
        <p:nvPicPr>
          <p:cNvPr id="178" name="Imagem 177">
            <a:extLst>
              <a:ext uri="{FF2B5EF4-FFF2-40B4-BE49-F238E27FC236}">
                <a16:creationId xmlns:a16="http://schemas.microsoft.com/office/drawing/2014/main" id="{8EDC4239-D617-466D-AEE2-3A89EA2BA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570" y="8430021"/>
            <a:ext cx="888660" cy="581139"/>
          </a:xfrm>
          <a:prstGeom prst="rect">
            <a:avLst/>
          </a:prstGeom>
        </p:spPr>
      </p:pic>
      <p:pic>
        <p:nvPicPr>
          <p:cNvPr id="179" name="Imagem 178">
            <a:extLst>
              <a:ext uri="{FF2B5EF4-FFF2-40B4-BE49-F238E27FC236}">
                <a16:creationId xmlns:a16="http://schemas.microsoft.com/office/drawing/2014/main" id="{1CF9FCD7-FCC7-4BDC-BF15-E2B19AB17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726" y="8439825"/>
            <a:ext cx="889028" cy="581139"/>
          </a:xfrm>
          <a:prstGeom prst="rect">
            <a:avLst/>
          </a:prstGeom>
        </p:spPr>
      </p:pic>
      <p:pic>
        <p:nvPicPr>
          <p:cNvPr id="180" name="Imagem 179">
            <a:extLst>
              <a:ext uri="{FF2B5EF4-FFF2-40B4-BE49-F238E27FC236}">
                <a16:creationId xmlns:a16="http://schemas.microsoft.com/office/drawing/2014/main" id="{15CAEFDF-F6FC-41EC-B9D1-70615595D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250" y="8439825"/>
            <a:ext cx="817170" cy="581139"/>
          </a:xfrm>
          <a:prstGeom prst="rect">
            <a:avLst/>
          </a:prstGeom>
        </p:spPr>
      </p:pic>
      <p:pic>
        <p:nvPicPr>
          <p:cNvPr id="181" name="Imagem 180">
            <a:extLst>
              <a:ext uri="{FF2B5EF4-FFF2-40B4-BE49-F238E27FC236}">
                <a16:creationId xmlns:a16="http://schemas.microsoft.com/office/drawing/2014/main" id="{93896C19-17B5-4D82-B813-DA0DF77CD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0916" y="8439825"/>
            <a:ext cx="817170" cy="581139"/>
          </a:xfrm>
          <a:prstGeom prst="rect">
            <a:avLst/>
          </a:prstGeom>
        </p:spPr>
      </p:pic>
      <p:pic>
        <p:nvPicPr>
          <p:cNvPr id="182" name="Imagem 181">
            <a:extLst>
              <a:ext uri="{FF2B5EF4-FFF2-40B4-BE49-F238E27FC236}">
                <a16:creationId xmlns:a16="http://schemas.microsoft.com/office/drawing/2014/main" id="{8CDA5834-6050-4E64-BD11-0F2D4EB1E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4" y="8435553"/>
            <a:ext cx="878612" cy="581181"/>
          </a:xfrm>
          <a:prstGeom prst="rect">
            <a:avLst/>
          </a:prstGeom>
        </p:spPr>
      </p:pic>
      <p:pic>
        <p:nvPicPr>
          <p:cNvPr id="183" name="Imagem 182">
            <a:extLst>
              <a:ext uri="{FF2B5EF4-FFF2-40B4-BE49-F238E27FC236}">
                <a16:creationId xmlns:a16="http://schemas.microsoft.com/office/drawing/2014/main" id="{CEBFD2F8-4554-4AF7-A61B-91357A8FBE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263" y="9134348"/>
            <a:ext cx="878612" cy="581181"/>
          </a:xfrm>
          <a:prstGeom prst="rect">
            <a:avLst/>
          </a:prstGeom>
        </p:spPr>
      </p:pic>
      <p:pic>
        <p:nvPicPr>
          <p:cNvPr id="184" name="Imagem 183">
            <a:extLst>
              <a:ext uri="{FF2B5EF4-FFF2-40B4-BE49-F238E27FC236}">
                <a16:creationId xmlns:a16="http://schemas.microsoft.com/office/drawing/2014/main" id="{C2FEA785-51AA-4961-8DD3-A49B6D870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102" y="9134348"/>
            <a:ext cx="852362" cy="581181"/>
          </a:xfrm>
          <a:prstGeom prst="rect">
            <a:avLst/>
          </a:prstGeom>
        </p:spPr>
      </p:pic>
      <p:pic>
        <p:nvPicPr>
          <p:cNvPr id="185" name="Imagem 184">
            <a:extLst>
              <a:ext uri="{FF2B5EF4-FFF2-40B4-BE49-F238E27FC236}">
                <a16:creationId xmlns:a16="http://schemas.microsoft.com/office/drawing/2014/main" id="{4CF2CEA8-8344-4589-90A0-D5D6258C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75" y="9115396"/>
            <a:ext cx="852362" cy="581181"/>
          </a:xfrm>
          <a:prstGeom prst="rect">
            <a:avLst/>
          </a:prstGeom>
        </p:spPr>
      </p:pic>
      <p:pic>
        <p:nvPicPr>
          <p:cNvPr id="186" name="Imagem 185">
            <a:extLst>
              <a:ext uri="{FF2B5EF4-FFF2-40B4-BE49-F238E27FC236}">
                <a16:creationId xmlns:a16="http://schemas.microsoft.com/office/drawing/2014/main" id="{D563DFF5-16BC-45E5-808C-DE80123BD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466" y="9124544"/>
            <a:ext cx="888660" cy="581139"/>
          </a:xfrm>
          <a:prstGeom prst="rect">
            <a:avLst/>
          </a:prstGeom>
        </p:spPr>
      </p:pic>
      <p:pic>
        <p:nvPicPr>
          <p:cNvPr id="187" name="Imagem 186">
            <a:extLst>
              <a:ext uri="{FF2B5EF4-FFF2-40B4-BE49-F238E27FC236}">
                <a16:creationId xmlns:a16="http://schemas.microsoft.com/office/drawing/2014/main" id="{37938FDC-E8E7-4DE6-81A4-754B79475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622" y="9134348"/>
            <a:ext cx="889028" cy="581139"/>
          </a:xfrm>
          <a:prstGeom prst="rect">
            <a:avLst/>
          </a:prstGeom>
        </p:spPr>
      </p:pic>
      <p:pic>
        <p:nvPicPr>
          <p:cNvPr id="188" name="Imagem 187">
            <a:extLst>
              <a:ext uri="{FF2B5EF4-FFF2-40B4-BE49-F238E27FC236}">
                <a16:creationId xmlns:a16="http://schemas.microsoft.com/office/drawing/2014/main" id="{27C9114A-A425-48C2-95B5-70E866848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146" y="9134348"/>
            <a:ext cx="817170" cy="581139"/>
          </a:xfrm>
          <a:prstGeom prst="rect">
            <a:avLst/>
          </a:prstGeom>
        </p:spPr>
      </p:pic>
      <p:pic>
        <p:nvPicPr>
          <p:cNvPr id="189" name="Imagem 188">
            <a:extLst>
              <a:ext uri="{FF2B5EF4-FFF2-40B4-BE49-F238E27FC236}">
                <a16:creationId xmlns:a16="http://schemas.microsoft.com/office/drawing/2014/main" id="{AF7B4BF4-FC5D-45EC-80BB-B2FF80742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9812" y="9134348"/>
            <a:ext cx="817170" cy="581139"/>
          </a:xfrm>
          <a:prstGeom prst="rect">
            <a:avLst/>
          </a:prstGeom>
        </p:spPr>
      </p:pic>
      <p:pic>
        <p:nvPicPr>
          <p:cNvPr id="190" name="Imagem 189">
            <a:extLst>
              <a:ext uri="{FF2B5EF4-FFF2-40B4-BE49-F238E27FC236}">
                <a16:creationId xmlns:a16="http://schemas.microsoft.com/office/drawing/2014/main" id="{BE9B4F8B-3ED0-46F6-97AB-CF1B0B78D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0" y="9130076"/>
            <a:ext cx="878612" cy="581181"/>
          </a:xfrm>
          <a:prstGeom prst="rect">
            <a:avLst/>
          </a:prstGeom>
        </p:spPr>
      </p:pic>
      <p:pic>
        <p:nvPicPr>
          <p:cNvPr id="199" name="Imagem 198">
            <a:extLst>
              <a:ext uri="{FF2B5EF4-FFF2-40B4-BE49-F238E27FC236}">
                <a16:creationId xmlns:a16="http://schemas.microsoft.com/office/drawing/2014/main" id="{0FA58BC5-D2C7-4F21-8045-532DD91C2E42}"/>
              </a:ext>
            </a:extLst>
          </p:cNvPr>
          <p:cNvPicPr/>
          <p:nvPr/>
        </p:nvPicPr>
        <p:blipFill>
          <a:blip r:embed="rId2">
            <a:extLst>
              <a:ext uri="{28A0092B-C50C-407E-A947-70E740481C1C}">
                <a14:useLocalDpi xmlns:a14="http://schemas.microsoft.com/office/drawing/2010/main" val="0"/>
              </a:ext>
            </a:extLst>
          </a:blip>
          <a:stretch>
            <a:fillRect/>
          </a:stretch>
        </p:blipFill>
        <p:spPr>
          <a:xfrm>
            <a:off x="686123" y="9920024"/>
            <a:ext cx="593151" cy="322819"/>
          </a:xfrm>
          <a:prstGeom prst="rect">
            <a:avLst/>
          </a:prstGeom>
        </p:spPr>
      </p:pic>
      <p:pic>
        <p:nvPicPr>
          <p:cNvPr id="200" name="Imagem 199">
            <a:extLst>
              <a:ext uri="{FF2B5EF4-FFF2-40B4-BE49-F238E27FC236}">
                <a16:creationId xmlns:a16="http://schemas.microsoft.com/office/drawing/2014/main" id="{9B9A5137-78F0-4BD9-9EBB-A6A2A27C4A69}"/>
              </a:ext>
            </a:extLst>
          </p:cNvPr>
          <p:cNvPicPr/>
          <p:nvPr/>
        </p:nvPicPr>
        <p:blipFill>
          <a:blip r:embed="rId2">
            <a:extLst>
              <a:ext uri="{28A0092B-C50C-407E-A947-70E740481C1C}">
                <a14:useLocalDpi xmlns:a14="http://schemas.microsoft.com/office/drawing/2010/main" val="0"/>
              </a:ext>
            </a:extLst>
          </a:blip>
          <a:stretch>
            <a:fillRect/>
          </a:stretch>
        </p:blipFill>
        <p:spPr>
          <a:xfrm>
            <a:off x="5404033" y="9923454"/>
            <a:ext cx="593151" cy="322819"/>
          </a:xfrm>
          <a:prstGeom prst="rect">
            <a:avLst/>
          </a:prstGeom>
        </p:spPr>
      </p:pic>
      <p:pic>
        <p:nvPicPr>
          <p:cNvPr id="201" name="Imagem 200">
            <a:extLst>
              <a:ext uri="{FF2B5EF4-FFF2-40B4-BE49-F238E27FC236}">
                <a16:creationId xmlns:a16="http://schemas.microsoft.com/office/drawing/2014/main" id="{FD3BE622-CEEF-44A8-B520-84CBB42A6CC9}"/>
              </a:ext>
            </a:extLst>
          </p:cNvPr>
          <p:cNvPicPr/>
          <p:nvPr/>
        </p:nvPicPr>
        <p:blipFill>
          <a:blip r:embed="rId2">
            <a:extLst>
              <a:ext uri="{28A0092B-C50C-407E-A947-70E740481C1C}">
                <a14:useLocalDpi xmlns:a14="http://schemas.microsoft.com/office/drawing/2010/main" val="0"/>
              </a:ext>
            </a:extLst>
          </a:blip>
          <a:stretch>
            <a:fillRect/>
          </a:stretch>
        </p:blipFill>
        <p:spPr>
          <a:xfrm>
            <a:off x="1268752" y="9925151"/>
            <a:ext cx="593151" cy="322819"/>
          </a:xfrm>
          <a:prstGeom prst="rect">
            <a:avLst/>
          </a:prstGeom>
        </p:spPr>
      </p:pic>
      <p:pic>
        <p:nvPicPr>
          <p:cNvPr id="202" name="Imagem 201">
            <a:extLst>
              <a:ext uri="{FF2B5EF4-FFF2-40B4-BE49-F238E27FC236}">
                <a16:creationId xmlns:a16="http://schemas.microsoft.com/office/drawing/2014/main" id="{A9A15D64-DC89-4912-A9AC-8A629E81BA1B}"/>
              </a:ext>
            </a:extLst>
          </p:cNvPr>
          <p:cNvPicPr/>
          <p:nvPr/>
        </p:nvPicPr>
        <p:blipFill>
          <a:blip r:embed="rId2">
            <a:extLst>
              <a:ext uri="{28A0092B-C50C-407E-A947-70E740481C1C}">
                <a14:useLocalDpi xmlns:a14="http://schemas.microsoft.com/office/drawing/2010/main" val="0"/>
              </a:ext>
            </a:extLst>
          </a:blip>
          <a:stretch>
            <a:fillRect/>
          </a:stretch>
        </p:blipFill>
        <p:spPr>
          <a:xfrm>
            <a:off x="1861903" y="9924491"/>
            <a:ext cx="593151" cy="322818"/>
          </a:xfrm>
          <a:prstGeom prst="rect">
            <a:avLst/>
          </a:prstGeom>
        </p:spPr>
      </p:pic>
      <p:pic>
        <p:nvPicPr>
          <p:cNvPr id="203" name="Imagem 202">
            <a:extLst>
              <a:ext uri="{FF2B5EF4-FFF2-40B4-BE49-F238E27FC236}">
                <a16:creationId xmlns:a16="http://schemas.microsoft.com/office/drawing/2014/main" id="{FD6B2610-BDEA-44A6-9408-4D025B60C53C}"/>
              </a:ext>
            </a:extLst>
          </p:cNvPr>
          <p:cNvPicPr/>
          <p:nvPr/>
        </p:nvPicPr>
        <p:blipFill>
          <a:blip r:embed="rId2">
            <a:extLst>
              <a:ext uri="{28A0092B-C50C-407E-A947-70E740481C1C}">
                <a14:useLocalDpi xmlns:a14="http://schemas.microsoft.com/office/drawing/2010/main" val="0"/>
              </a:ext>
            </a:extLst>
          </a:blip>
          <a:stretch>
            <a:fillRect/>
          </a:stretch>
        </p:blipFill>
        <p:spPr>
          <a:xfrm>
            <a:off x="2455053" y="9926220"/>
            <a:ext cx="593151" cy="322819"/>
          </a:xfrm>
          <a:prstGeom prst="rect">
            <a:avLst/>
          </a:prstGeom>
        </p:spPr>
      </p:pic>
      <p:pic>
        <p:nvPicPr>
          <p:cNvPr id="204" name="Imagem 203">
            <a:extLst>
              <a:ext uri="{FF2B5EF4-FFF2-40B4-BE49-F238E27FC236}">
                <a16:creationId xmlns:a16="http://schemas.microsoft.com/office/drawing/2014/main" id="{D29AA813-E7BA-4696-95D1-FEBD57D27CB0}"/>
              </a:ext>
            </a:extLst>
          </p:cNvPr>
          <p:cNvPicPr/>
          <p:nvPr/>
        </p:nvPicPr>
        <p:blipFill>
          <a:blip r:embed="rId2">
            <a:extLst>
              <a:ext uri="{28A0092B-C50C-407E-A947-70E740481C1C}">
                <a14:useLocalDpi xmlns:a14="http://schemas.microsoft.com/office/drawing/2010/main" val="0"/>
              </a:ext>
            </a:extLst>
          </a:blip>
          <a:stretch>
            <a:fillRect/>
          </a:stretch>
        </p:blipFill>
        <p:spPr>
          <a:xfrm>
            <a:off x="3048204" y="9926220"/>
            <a:ext cx="593151" cy="322819"/>
          </a:xfrm>
          <a:prstGeom prst="rect">
            <a:avLst/>
          </a:prstGeom>
        </p:spPr>
      </p:pic>
      <p:pic>
        <p:nvPicPr>
          <p:cNvPr id="205" name="Imagem 204">
            <a:extLst>
              <a:ext uri="{FF2B5EF4-FFF2-40B4-BE49-F238E27FC236}">
                <a16:creationId xmlns:a16="http://schemas.microsoft.com/office/drawing/2014/main" id="{F5185D72-E230-4A28-A3C4-65A91C8ABF2F}"/>
              </a:ext>
            </a:extLst>
          </p:cNvPr>
          <p:cNvPicPr/>
          <p:nvPr/>
        </p:nvPicPr>
        <p:blipFill>
          <a:blip r:embed="rId2">
            <a:extLst>
              <a:ext uri="{28A0092B-C50C-407E-A947-70E740481C1C}">
                <a14:useLocalDpi xmlns:a14="http://schemas.microsoft.com/office/drawing/2010/main" val="0"/>
              </a:ext>
            </a:extLst>
          </a:blip>
          <a:stretch>
            <a:fillRect/>
          </a:stretch>
        </p:blipFill>
        <p:spPr>
          <a:xfrm>
            <a:off x="3641354" y="9925843"/>
            <a:ext cx="593151" cy="322819"/>
          </a:xfrm>
          <a:prstGeom prst="rect">
            <a:avLst/>
          </a:prstGeom>
        </p:spPr>
      </p:pic>
      <p:pic>
        <p:nvPicPr>
          <p:cNvPr id="206" name="Imagem 205">
            <a:extLst>
              <a:ext uri="{FF2B5EF4-FFF2-40B4-BE49-F238E27FC236}">
                <a16:creationId xmlns:a16="http://schemas.microsoft.com/office/drawing/2014/main" id="{A9221635-C6C0-4064-934A-F0FBC90D0464}"/>
              </a:ext>
            </a:extLst>
          </p:cNvPr>
          <p:cNvPicPr/>
          <p:nvPr/>
        </p:nvPicPr>
        <p:blipFill>
          <a:blip r:embed="rId2">
            <a:extLst>
              <a:ext uri="{28A0092B-C50C-407E-A947-70E740481C1C}">
                <a14:useLocalDpi xmlns:a14="http://schemas.microsoft.com/office/drawing/2010/main" val="0"/>
              </a:ext>
            </a:extLst>
          </a:blip>
          <a:stretch>
            <a:fillRect/>
          </a:stretch>
        </p:blipFill>
        <p:spPr>
          <a:xfrm>
            <a:off x="4234505" y="9935498"/>
            <a:ext cx="593151" cy="322819"/>
          </a:xfrm>
          <a:prstGeom prst="rect">
            <a:avLst/>
          </a:prstGeom>
        </p:spPr>
      </p:pic>
      <p:pic>
        <p:nvPicPr>
          <p:cNvPr id="207" name="Imagem 206">
            <a:extLst>
              <a:ext uri="{FF2B5EF4-FFF2-40B4-BE49-F238E27FC236}">
                <a16:creationId xmlns:a16="http://schemas.microsoft.com/office/drawing/2014/main" id="{94C45E9E-253C-42C8-A72A-CC8C43C8B6F7}"/>
              </a:ext>
            </a:extLst>
          </p:cNvPr>
          <p:cNvPicPr/>
          <p:nvPr/>
        </p:nvPicPr>
        <p:blipFill>
          <a:blip r:embed="rId2">
            <a:extLst>
              <a:ext uri="{28A0092B-C50C-407E-A947-70E740481C1C}">
                <a14:useLocalDpi xmlns:a14="http://schemas.microsoft.com/office/drawing/2010/main" val="0"/>
              </a:ext>
            </a:extLst>
          </a:blip>
          <a:stretch>
            <a:fillRect/>
          </a:stretch>
        </p:blipFill>
        <p:spPr>
          <a:xfrm>
            <a:off x="4827656" y="9935081"/>
            <a:ext cx="593151" cy="322819"/>
          </a:xfrm>
          <a:prstGeom prst="rect">
            <a:avLst/>
          </a:prstGeom>
        </p:spPr>
      </p:pic>
      <p:cxnSp>
        <p:nvCxnSpPr>
          <p:cNvPr id="208" name="Conector reto 207">
            <a:extLst>
              <a:ext uri="{FF2B5EF4-FFF2-40B4-BE49-F238E27FC236}">
                <a16:creationId xmlns:a16="http://schemas.microsoft.com/office/drawing/2014/main" id="{547612D9-D039-49AD-B74B-B84CDCFAA021}"/>
              </a:ext>
            </a:extLst>
          </p:cNvPr>
          <p:cNvCxnSpPr>
            <a:cxnSpLocks/>
          </p:cNvCxnSpPr>
          <p:nvPr/>
        </p:nvCxnSpPr>
        <p:spPr>
          <a:xfrm>
            <a:off x="67840" y="9865663"/>
            <a:ext cx="7128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9" name="Conector reto 208">
            <a:extLst>
              <a:ext uri="{FF2B5EF4-FFF2-40B4-BE49-F238E27FC236}">
                <a16:creationId xmlns:a16="http://schemas.microsoft.com/office/drawing/2014/main" id="{43CB7604-D8E3-4F79-AFD4-C6C8A7EF574F}"/>
              </a:ext>
            </a:extLst>
          </p:cNvPr>
          <p:cNvCxnSpPr>
            <a:cxnSpLocks/>
          </p:cNvCxnSpPr>
          <p:nvPr/>
        </p:nvCxnSpPr>
        <p:spPr>
          <a:xfrm>
            <a:off x="67840" y="10234345"/>
            <a:ext cx="7128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10" name="Imagem 209">
            <a:extLst>
              <a:ext uri="{FF2B5EF4-FFF2-40B4-BE49-F238E27FC236}">
                <a16:creationId xmlns:a16="http://schemas.microsoft.com/office/drawing/2014/main" id="{48D788FF-9743-419E-B88B-161C6D14ACBA}"/>
              </a:ext>
            </a:extLst>
          </p:cNvPr>
          <p:cNvPicPr/>
          <p:nvPr/>
        </p:nvPicPr>
        <p:blipFill>
          <a:blip r:embed="rId2">
            <a:extLst>
              <a:ext uri="{28A0092B-C50C-407E-A947-70E740481C1C}">
                <a14:useLocalDpi xmlns:a14="http://schemas.microsoft.com/office/drawing/2010/main" val="0"/>
              </a:ext>
            </a:extLst>
          </a:blip>
          <a:stretch>
            <a:fillRect/>
          </a:stretch>
        </p:blipFill>
        <p:spPr>
          <a:xfrm>
            <a:off x="68496" y="9878415"/>
            <a:ext cx="593151" cy="322819"/>
          </a:xfrm>
          <a:prstGeom prst="rect">
            <a:avLst/>
          </a:prstGeom>
        </p:spPr>
      </p:pic>
      <p:pic>
        <p:nvPicPr>
          <p:cNvPr id="211" name="Imagem 210">
            <a:extLst>
              <a:ext uri="{FF2B5EF4-FFF2-40B4-BE49-F238E27FC236}">
                <a16:creationId xmlns:a16="http://schemas.microsoft.com/office/drawing/2014/main" id="{312A9E6C-5057-4C55-9A1F-A73302B6478D}"/>
              </a:ext>
            </a:extLst>
          </p:cNvPr>
          <p:cNvPicPr/>
          <p:nvPr/>
        </p:nvPicPr>
        <p:blipFill>
          <a:blip r:embed="rId2">
            <a:extLst>
              <a:ext uri="{28A0092B-C50C-407E-A947-70E740481C1C}">
                <a14:useLocalDpi xmlns:a14="http://schemas.microsoft.com/office/drawing/2010/main" val="0"/>
              </a:ext>
            </a:extLst>
          </a:blip>
          <a:stretch>
            <a:fillRect/>
          </a:stretch>
        </p:blipFill>
        <p:spPr>
          <a:xfrm>
            <a:off x="6041866" y="9903816"/>
            <a:ext cx="593151" cy="322819"/>
          </a:xfrm>
          <a:prstGeom prst="rect">
            <a:avLst/>
          </a:prstGeom>
        </p:spPr>
      </p:pic>
      <p:pic>
        <p:nvPicPr>
          <p:cNvPr id="212" name="Imagem 211">
            <a:extLst>
              <a:ext uri="{FF2B5EF4-FFF2-40B4-BE49-F238E27FC236}">
                <a16:creationId xmlns:a16="http://schemas.microsoft.com/office/drawing/2014/main" id="{AB18BD30-279E-43E5-AEEC-177B0CEAB3B3}"/>
              </a:ext>
            </a:extLst>
          </p:cNvPr>
          <p:cNvPicPr/>
          <p:nvPr/>
        </p:nvPicPr>
        <p:blipFill>
          <a:blip r:embed="rId2">
            <a:extLst>
              <a:ext uri="{28A0092B-C50C-407E-A947-70E740481C1C}">
                <a14:useLocalDpi xmlns:a14="http://schemas.microsoft.com/office/drawing/2010/main" val="0"/>
              </a:ext>
            </a:extLst>
          </a:blip>
          <a:stretch>
            <a:fillRect/>
          </a:stretch>
        </p:blipFill>
        <p:spPr>
          <a:xfrm>
            <a:off x="6612205" y="9909211"/>
            <a:ext cx="593151" cy="322819"/>
          </a:xfrm>
          <a:prstGeom prst="rect">
            <a:avLst/>
          </a:prstGeom>
        </p:spPr>
      </p:pic>
      <p:sp>
        <p:nvSpPr>
          <p:cNvPr id="213" name="CaixaDeTexto 212">
            <a:extLst>
              <a:ext uri="{FF2B5EF4-FFF2-40B4-BE49-F238E27FC236}">
                <a16:creationId xmlns:a16="http://schemas.microsoft.com/office/drawing/2014/main" id="{281F2D98-C2AA-47BC-87A5-2CA758C39A20}"/>
              </a:ext>
            </a:extLst>
          </p:cNvPr>
          <p:cNvSpPr txBox="1"/>
          <p:nvPr/>
        </p:nvSpPr>
        <p:spPr>
          <a:xfrm>
            <a:off x="777600" y="6987148"/>
            <a:ext cx="5760000" cy="2031325"/>
          </a:xfrm>
          <a:prstGeom prst="rect">
            <a:avLst/>
          </a:prstGeom>
          <a:solidFill>
            <a:schemeClr val="bg1"/>
          </a:solidFill>
          <a:ln>
            <a:solidFill>
              <a:srgbClr val="002060"/>
            </a:solidFill>
          </a:ln>
        </p:spPr>
        <p:txBody>
          <a:bodyPr wrap="square" rtlCol="0">
            <a:spAutoFit/>
          </a:bodyPr>
          <a:lstStyle/>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Só Aço Industrial Ltda</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Av. Coletora Secundária, nº 9519 Bairro Pedra Miúda</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Telefones: (86) 3219 1200/1300</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Teresina – Piauí</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Site: </a:t>
            </a:r>
            <a:r>
              <a:rPr lang="pt-BR" dirty="0">
                <a:ln>
                  <a:solidFill>
                    <a:srgbClr val="002060"/>
                  </a:solidFill>
                </a:ln>
                <a:solidFill>
                  <a:srgbClr val="002060"/>
                </a:solidFill>
                <a:latin typeface="Arial" panose="020B0604020202020204" pitchFamily="34" charset="0"/>
                <a:cs typeface="Arial" panose="020B0604020202020204" pitchFamily="34" charset="0"/>
                <a:hlinkClick r:id="rId3"/>
              </a:rPr>
              <a:t>www.soacoindustrial.com.br</a:t>
            </a:r>
            <a:endParaRPr lang="pt-BR" dirty="0">
              <a:ln>
                <a:solidFill>
                  <a:srgbClr val="002060"/>
                </a:solidFill>
              </a:ln>
              <a:solidFill>
                <a:srgbClr val="002060"/>
              </a:solidFill>
              <a:latin typeface="Arial" panose="020B0604020202020204" pitchFamily="34" charset="0"/>
              <a:cs typeface="Arial" panose="020B0604020202020204" pitchFamily="34" charset="0"/>
            </a:endParaRP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Ouvidoria/SAC: </a:t>
            </a:r>
            <a:r>
              <a:rPr lang="pt-BR" dirty="0">
                <a:ln>
                  <a:solidFill>
                    <a:srgbClr val="002060"/>
                  </a:solidFill>
                </a:ln>
                <a:solidFill>
                  <a:srgbClr val="002060"/>
                </a:solidFill>
                <a:latin typeface="Arial" panose="020B0604020202020204" pitchFamily="34" charset="0"/>
                <a:cs typeface="Arial" panose="020B0604020202020204" pitchFamily="34" charset="0"/>
                <a:hlinkClick r:id="rId4"/>
              </a:rPr>
              <a:t>sac@soacoindustrial.com.br</a:t>
            </a:r>
            <a:endParaRPr lang="pt-BR" dirty="0">
              <a:ln>
                <a:solidFill>
                  <a:srgbClr val="002060"/>
                </a:solidFill>
              </a:ln>
              <a:solidFill>
                <a:srgbClr val="002060"/>
              </a:solidFill>
              <a:latin typeface="Arial" panose="020B0604020202020204" pitchFamily="34" charset="0"/>
              <a:cs typeface="Arial" panose="020B0604020202020204" pitchFamily="34" charset="0"/>
            </a:endParaRP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MP-SA-0005.Rev.03 </a:t>
            </a:r>
          </a:p>
        </p:txBody>
      </p:sp>
    </p:spTree>
    <p:extLst>
      <p:ext uri="{BB962C8B-B14F-4D97-AF65-F5344CB8AC3E}">
        <p14:creationId xmlns:p14="http://schemas.microsoft.com/office/powerpoint/2010/main" val="408919699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588</TotalTime>
  <Words>5642</Words>
  <Application>Microsoft Office PowerPoint</Application>
  <PresentationFormat>Personalizar</PresentationFormat>
  <Paragraphs>664</Paragraphs>
  <Slides>20</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20</vt:i4>
      </vt:variant>
    </vt:vector>
  </HeadingPairs>
  <TitlesOfParts>
    <vt:vector size="28" baseType="lpstr">
      <vt:lpstr>Arial</vt:lpstr>
      <vt:lpstr>Arial Black</vt:lpstr>
      <vt:lpstr>Calibri</vt:lpstr>
      <vt:lpstr>Calibri Light</vt:lpstr>
      <vt:lpstr>Symbol</vt:lpstr>
      <vt:lpstr>Times New Roman</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Produção</dc:creator>
  <cp:lastModifiedBy>Produção</cp:lastModifiedBy>
  <cp:revision>43</cp:revision>
  <dcterms:created xsi:type="dcterms:W3CDTF">2020-06-17T16:03:17Z</dcterms:created>
  <dcterms:modified xsi:type="dcterms:W3CDTF">2020-06-24T20:02:14Z</dcterms:modified>
</cp:coreProperties>
</file>