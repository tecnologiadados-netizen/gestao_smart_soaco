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63" r:id="rId2"/>
    <p:sldId id="305" r:id="rId3"/>
    <p:sldId id="256" r:id="rId4"/>
    <p:sldId id="257" r:id="rId5"/>
    <p:sldId id="258" r:id="rId6"/>
    <p:sldId id="296" r:id="rId7"/>
    <p:sldId id="288" r:id="rId8"/>
    <p:sldId id="297" r:id="rId9"/>
    <p:sldId id="301" r:id="rId10"/>
    <p:sldId id="298" r:id="rId11"/>
    <p:sldId id="303" r:id="rId12"/>
    <p:sldId id="299" r:id="rId13"/>
    <p:sldId id="304" r:id="rId14"/>
    <p:sldId id="302" r:id="rId15"/>
    <p:sldId id="306" r:id="rId16"/>
    <p:sldId id="281" r:id="rId17"/>
  </p:sldIdLst>
  <p:sldSz cx="5364163" cy="7561263"/>
  <p:notesSz cx="6858000" cy="9945688"/>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2">
          <p15:clr>
            <a:srgbClr val="A4A3A4"/>
          </p15:clr>
        </p15:guide>
        <p15:guide id="2" pos="169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Estilo Mé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Estilo Mé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50" autoAdjust="0"/>
    <p:restoredTop sz="94660"/>
  </p:normalViewPr>
  <p:slideViewPr>
    <p:cSldViewPr>
      <p:cViewPr varScale="1">
        <p:scale>
          <a:sx n="101" d="100"/>
          <a:sy n="101" d="100"/>
        </p:scale>
        <p:origin x="3420" y="102"/>
      </p:cViewPr>
      <p:guideLst>
        <p:guide orient="horz" pos="2382"/>
        <p:guide pos="1690"/>
      </p:guideLst>
    </p:cSldViewPr>
  </p:slideViewPr>
  <p:outlineViewPr>
    <p:cViewPr>
      <p:scale>
        <a:sx n="33" d="100"/>
        <a:sy n="33" d="100"/>
      </p:scale>
      <p:origin x="0" y="-30"/>
    </p:cViewPr>
  </p:outlineViewPr>
  <p:notesTextViewPr>
    <p:cViewPr>
      <p:scale>
        <a:sx n="1" d="1"/>
        <a:sy n="1" d="1"/>
      </p:scale>
      <p:origin x="0" y="0"/>
    </p:cViewPr>
  </p:notesTextViewPr>
  <p:sorterViewPr>
    <p:cViewPr>
      <p:scale>
        <a:sx n="200" d="100"/>
        <a:sy n="200" d="100"/>
      </p:scale>
      <p:origin x="0" y="-10326"/>
    </p:cViewPr>
  </p:sorterViewPr>
  <p:notesViewPr>
    <p:cSldViewPr>
      <p:cViewPr varScale="1">
        <p:scale>
          <a:sx n="48" d="100"/>
          <a:sy n="48" d="100"/>
        </p:scale>
        <p:origin x="2928"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15FE29EC-A449-459A-9060-4B54D8E8FC50}"/>
              </a:ext>
            </a:extLst>
          </p:cNvPr>
          <p:cNvSpPr>
            <a:spLocks noGrp="1"/>
          </p:cNvSpPr>
          <p:nvPr>
            <p:ph type="hdr" sz="quarter"/>
          </p:nvPr>
        </p:nvSpPr>
        <p:spPr>
          <a:xfrm>
            <a:off x="1" y="1"/>
            <a:ext cx="2971800" cy="499011"/>
          </a:xfrm>
          <a:prstGeom prst="rect">
            <a:avLst/>
          </a:prstGeom>
        </p:spPr>
        <p:txBody>
          <a:bodyPr vert="horz" lIns="96017" tIns="48008" rIns="96017" bIns="48008" rtlCol="0"/>
          <a:lstStyle>
            <a:lvl1pPr algn="l">
              <a:defRPr sz="1300"/>
            </a:lvl1pPr>
          </a:lstStyle>
          <a:p>
            <a:endParaRPr lang="pt-BR"/>
          </a:p>
        </p:txBody>
      </p:sp>
      <p:sp>
        <p:nvSpPr>
          <p:cNvPr id="3" name="Espaço Reservado para Data 2">
            <a:extLst>
              <a:ext uri="{FF2B5EF4-FFF2-40B4-BE49-F238E27FC236}">
                <a16:creationId xmlns:a16="http://schemas.microsoft.com/office/drawing/2014/main" id="{3ED8170D-9D8C-4581-A0F7-7847596EF29F}"/>
              </a:ext>
            </a:extLst>
          </p:cNvPr>
          <p:cNvSpPr>
            <a:spLocks noGrp="1"/>
          </p:cNvSpPr>
          <p:nvPr>
            <p:ph type="dt" sz="quarter" idx="1"/>
          </p:nvPr>
        </p:nvSpPr>
        <p:spPr>
          <a:xfrm>
            <a:off x="3884613" y="1"/>
            <a:ext cx="2971800" cy="499011"/>
          </a:xfrm>
          <a:prstGeom prst="rect">
            <a:avLst/>
          </a:prstGeom>
        </p:spPr>
        <p:txBody>
          <a:bodyPr vert="horz" lIns="96017" tIns="48008" rIns="96017" bIns="48008" rtlCol="0"/>
          <a:lstStyle>
            <a:lvl1pPr algn="r">
              <a:defRPr sz="1300"/>
            </a:lvl1pPr>
          </a:lstStyle>
          <a:p>
            <a:fld id="{47E021E5-30EC-43B9-B06C-1C1AB5557424}" type="datetimeFigureOut">
              <a:rPr lang="pt-BR" smtClean="0"/>
              <a:t>16/12/2021</a:t>
            </a:fld>
            <a:endParaRPr lang="pt-BR"/>
          </a:p>
        </p:txBody>
      </p:sp>
      <p:sp>
        <p:nvSpPr>
          <p:cNvPr id="4" name="Espaço Reservado para Rodapé 3">
            <a:extLst>
              <a:ext uri="{FF2B5EF4-FFF2-40B4-BE49-F238E27FC236}">
                <a16:creationId xmlns:a16="http://schemas.microsoft.com/office/drawing/2014/main" id="{7FBFC128-3C06-4746-A700-C981C43F75A7}"/>
              </a:ext>
            </a:extLst>
          </p:cNvPr>
          <p:cNvSpPr>
            <a:spLocks noGrp="1"/>
          </p:cNvSpPr>
          <p:nvPr>
            <p:ph type="ftr" sz="quarter" idx="2"/>
          </p:nvPr>
        </p:nvSpPr>
        <p:spPr>
          <a:xfrm>
            <a:off x="1" y="9446679"/>
            <a:ext cx="2971800" cy="499010"/>
          </a:xfrm>
          <a:prstGeom prst="rect">
            <a:avLst/>
          </a:prstGeom>
        </p:spPr>
        <p:txBody>
          <a:bodyPr vert="horz" lIns="96017" tIns="48008" rIns="96017" bIns="48008" rtlCol="0" anchor="b"/>
          <a:lstStyle>
            <a:lvl1pPr algn="l">
              <a:defRPr sz="1300"/>
            </a:lvl1pPr>
          </a:lstStyle>
          <a:p>
            <a:endParaRPr lang="pt-BR"/>
          </a:p>
        </p:txBody>
      </p:sp>
      <p:sp>
        <p:nvSpPr>
          <p:cNvPr id="5" name="Espaço Reservado para Número de Slide 4">
            <a:extLst>
              <a:ext uri="{FF2B5EF4-FFF2-40B4-BE49-F238E27FC236}">
                <a16:creationId xmlns:a16="http://schemas.microsoft.com/office/drawing/2014/main" id="{318AA8DE-656B-4F1E-81F9-6EC9B0724169}"/>
              </a:ext>
            </a:extLst>
          </p:cNvPr>
          <p:cNvSpPr>
            <a:spLocks noGrp="1"/>
          </p:cNvSpPr>
          <p:nvPr>
            <p:ph type="sldNum" sz="quarter" idx="3"/>
          </p:nvPr>
        </p:nvSpPr>
        <p:spPr>
          <a:xfrm>
            <a:off x="3884613" y="9446679"/>
            <a:ext cx="2971800" cy="499010"/>
          </a:xfrm>
          <a:prstGeom prst="rect">
            <a:avLst/>
          </a:prstGeom>
        </p:spPr>
        <p:txBody>
          <a:bodyPr vert="horz" lIns="96017" tIns="48008" rIns="96017" bIns="48008" rtlCol="0" anchor="b"/>
          <a:lstStyle>
            <a:lvl1pPr algn="r">
              <a:defRPr sz="1300"/>
            </a:lvl1pPr>
          </a:lstStyle>
          <a:p>
            <a:fld id="{0765AAC2-2D4D-42F3-94F7-30B6B8673DF9}" type="slidenum">
              <a:rPr lang="pt-BR" smtClean="0"/>
              <a:t>‹nº›</a:t>
            </a:fld>
            <a:endParaRPr lang="pt-BR"/>
          </a:p>
        </p:txBody>
      </p:sp>
    </p:spTree>
    <p:extLst>
      <p:ext uri="{BB962C8B-B14F-4D97-AF65-F5344CB8AC3E}">
        <p14:creationId xmlns:p14="http://schemas.microsoft.com/office/powerpoint/2010/main" val="5942473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1" y="1"/>
            <a:ext cx="2971800" cy="499011"/>
          </a:xfrm>
          <a:prstGeom prst="rect">
            <a:avLst/>
          </a:prstGeom>
        </p:spPr>
        <p:txBody>
          <a:bodyPr vert="horz" lIns="96017" tIns="48008" rIns="96017" bIns="48008" rtlCol="0"/>
          <a:lstStyle>
            <a:lvl1pPr algn="l">
              <a:defRPr sz="1300"/>
            </a:lvl1pPr>
          </a:lstStyle>
          <a:p>
            <a:endParaRPr lang="pt-BR"/>
          </a:p>
        </p:txBody>
      </p:sp>
      <p:sp>
        <p:nvSpPr>
          <p:cNvPr id="3" name="Espaço Reservado para Data 2"/>
          <p:cNvSpPr>
            <a:spLocks noGrp="1"/>
          </p:cNvSpPr>
          <p:nvPr>
            <p:ph type="dt" idx="1"/>
          </p:nvPr>
        </p:nvSpPr>
        <p:spPr>
          <a:xfrm>
            <a:off x="3884613" y="1"/>
            <a:ext cx="2971800" cy="499011"/>
          </a:xfrm>
          <a:prstGeom prst="rect">
            <a:avLst/>
          </a:prstGeom>
        </p:spPr>
        <p:txBody>
          <a:bodyPr vert="horz" lIns="96017" tIns="48008" rIns="96017" bIns="48008" rtlCol="0"/>
          <a:lstStyle>
            <a:lvl1pPr algn="r">
              <a:defRPr sz="1300"/>
            </a:lvl1pPr>
          </a:lstStyle>
          <a:p>
            <a:fld id="{1A06E57C-08D1-4570-AE96-6A5B42D6AF6F}" type="datetimeFigureOut">
              <a:rPr lang="pt-BR" smtClean="0"/>
              <a:t>16/12/2021</a:t>
            </a:fld>
            <a:endParaRPr lang="pt-BR"/>
          </a:p>
        </p:txBody>
      </p:sp>
      <p:sp>
        <p:nvSpPr>
          <p:cNvPr id="4" name="Espaço Reservado para Imagem de Slide 3"/>
          <p:cNvSpPr>
            <a:spLocks noGrp="1" noRot="1" noChangeAspect="1"/>
          </p:cNvSpPr>
          <p:nvPr>
            <p:ph type="sldImg" idx="2"/>
          </p:nvPr>
        </p:nvSpPr>
        <p:spPr>
          <a:xfrm>
            <a:off x="2238375" y="1243013"/>
            <a:ext cx="2381250" cy="3355975"/>
          </a:xfrm>
          <a:prstGeom prst="rect">
            <a:avLst/>
          </a:prstGeom>
          <a:noFill/>
          <a:ln w="12700">
            <a:solidFill>
              <a:prstClr val="black"/>
            </a:solidFill>
          </a:ln>
        </p:spPr>
        <p:txBody>
          <a:bodyPr vert="horz" lIns="96017" tIns="48008" rIns="96017" bIns="48008" rtlCol="0" anchor="ctr"/>
          <a:lstStyle/>
          <a:p>
            <a:endParaRPr lang="pt-BR"/>
          </a:p>
        </p:txBody>
      </p:sp>
      <p:sp>
        <p:nvSpPr>
          <p:cNvPr id="5" name="Espaço Reservado para Anotações 4"/>
          <p:cNvSpPr>
            <a:spLocks noGrp="1"/>
          </p:cNvSpPr>
          <p:nvPr>
            <p:ph type="body" sz="quarter" idx="3"/>
          </p:nvPr>
        </p:nvSpPr>
        <p:spPr>
          <a:xfrm>
            <a:off x="685800" y="4786362"/>
            <a:ext cx="5486400" cy="3916115"/>
          </a:xfrm>
          <a:prstGeom prst="rect">
            <a:avLst/>
          </a:prstGeom>
        </p:spPr>
        <p:txBody>
          <a:bodyPr vert="horz" lIns="96017" tIns="48008" rIns="96017" bIns="48008"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1" y="9446679"/>
            <a:ext cx="2971800" cy="499010"/>
          </a:xfrm>
          <a:prstGeom prst="rect">
            <a:avLst/>
          </a:prstGeom>
        </p:spPr>
        <p:txBody>
          <a:bodyPr vert="horz" lIns="96017" tIns="48008" rIns="96017" bIns="48008" rtlCol="0" anchor="b"/>
          <a:lstStyle>
            <a:lvl1pPr algn="l">
              <a:defRPr sz="1300"/>
            </a:lvl1pPr>
          </a:lstStyle>
          <a:p>
            <a:endParaRPr lang="pt-BR"/>
          </a:p>
        </p:txBody>
      </p:sp>
      <p:sp>
        <p:nvSpPr>
          <p:cNvPr id="7" name="Espaço Reservado para Número de Slide 6"/>
          <p:cNvSpPr>
            <a:spLocks noGrp="1"/>
          </p:cNvSpPr>
          <p:nvPr>
            <p:ph type="sldNum" sz="quarter" idx="5"/>
          </p:nvPr>
        </p:nvSpPr>
        <p:spPr>
          <a:xfrm>
            <a:off x="3884613" y="9446679"/>
            <a:ext cx="2971800" cy="499010"/>
          </a:xfrm>
          <a:prstGeom prst="rect">
            <a:avLst/>
          </a:prstGeom>
        </p:spPr>
        <p:txBody>
          <a:bodyPr vert="horz" lIns="96017" tIns="48008" rIns="96017" bIns="48008" rtlCol="0" anchor="b"/>
          <a:lstStyle>
            <a:lvl1pPr algn="r">
              <a:defRPr sz="1300"/>
            </a:lvl1pPr>
          </a:lstStyle>
          <a:p>
            <a:fld id="{EF140256-97A5-4D1E-A1B2-2DA962A9F564}" type="slidenum">
              <a:rPr lang="pt-BR" smtClean="0"/>
              <a:t>‹nº›</a:t>
            </a:fld>
            <a:endParaRPr lang="pt-BR"/>
          </a:p>
        </p:txBody>
      </p:sp>
    </p:spTree>
    <p:extLst>
      <p:ext uri="{BB962C8B-B14F-4D97-AF65-F5344CB8AC3E}">
        <p14:creationId xmlns:p14="http://schemas.microsoft.com/office/powerpoint/2010/main" val="2372487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1993900" y="815975"/>
            <a:ext cx="2898775" cy="4087813"/>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pPr defTabSz="1095260">
              <a:defRPr/>
            </a:pPr>
            <a:fld id="{DAD5CC9F-21B8-43E0-9ED1-B2EDFE01E557}" type="slidenum">
              <a:rPr lang="pt-BR">
                <a:solidFill>
                  <a:prstClr val="black"/>
                </a:solidFill>
                <a:latin typeface="Calibri"/>
              </a:rPr>
              <a:pPr defTabSz="1095260">
                <a:defRPr/>
              </a:pPr>
              <a:t>16</a:t>
            </a:fld>
            <a:endParaRPr lang="pt-BR">
              <a:solidFill>
                <a:prstClr val="black"/>
              </a:solidFill>
              <a:latin typeface="Calibri"/>
            </a:endParaRPr>
          </a:p>
        </p:txBody>
      </p:sp>
    </p:spTree>
    <p:extLst>
      <p:ext uri="{BB962C8B-B14F-4D97-AF65-F5344CB8AC3E}">
        <p14:creationId xmlns:p14="http://schemas.microsoft.com/office/powerpoint/2010/main" val="3171675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402312" y="2348893"/>
            <a:ext cx="4559539" cy="1620771"/>
          </a:xfrm>
        </p:spPr>
        <p:txBody>
          <a:bodyPr/>
          <a:lstStyle/>
          <a:p>
            <a:r>
              <a:rPr lang="pt-BR"/>
              <a:t>Clique para editar o título mestre</a:t>
            </a:r>
          </a:p>
        </p:txBody>
      </p:sp>
      <p:sp>
        <p:nvSpPr>
          <p:cNvPr id="3" name="Subtítulo 2"/>
          <p:cNvSpPr>
            <a:spLocks noGrp="1"/>
          </p:cNvSpPr>
          <p:nvPr>
            <p:ph type="subTitle" idx="1"/>
          </p:nvPr>
        </p:nvSpPr>
        <p:spPr>
          <a:xfrm>
            <a:off x="804625" y="4284716"/>
            <a:ext cx="3754914" cy="193232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658B1440-2FAC-4D08-BF0E-B78FB96B65A9}" type="datetimeFigureOut">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250190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658B1440-2FAC-4D08-BF0E-B78FB96B65A9}" type="datetimeFigureOut">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4194087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423732" y="4858812"/>
            <a:ext cx="4559539" cy="1501751"/>
          </a:xfrm>
        </p:spPr>
        <p:txBody>
          <a:bodyPr anchor="t"/>
          <a:lstStyle>
            <a:lvl1pPr algn="l">
              <a:defRPr sz="4000" b="1" cap="all"/>
            </a:lvl1pPr>
          </a:lstStyle>
          <a:p>
            <a:r>
              <a:rPr lang="pt-BR"/>
              <a:t>Clique para editar o título mestre</a:t>
            </a:r>
          </a:p>
        </p:txBody>
      </p:sp>
      <p:sp>
        <p:nvSpPr>
          <p:cNvPr id="3" name="Espaço Reservado para Texto 2"/>
          <p:cNvSpPr>
            <a:spLocks noGrp="1"/>
          </p:cNvSpPr>
          <p:nvPr>
            <p:ph type="body" idx="1"/>
          </p:nvPr>
        </p:nvSpPr>
        <p:spPr>
          <a:xfrm>
            <a:off x="423732" y="3204786"/>
            <a:ext cx="4559539" cy="165402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658B1440-2FAC-4D08-BF0E-B78FB96B65A9}" type="datetimeFigureOut">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747319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268208" y="1764295"/>
            <a:ext cx="2369172" cy="49900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2726783" y="1764295"/>
            <a:ext cx="2369172" cy="49900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658B1440-2FAC-4D08-BF0E-B78FB96B65A9}" type="datetimeFigureOut">
              <a:rPr lang="pt-BR" smtClean="0"/>
              <a:t>16/12/2021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77033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268208" y="1692533"/>
            <a:ext cx="2370104" cy="70536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268208" y="2397901"/>
            <a:ext cx="2370104" cy="435647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2724920" y="1692533"/>
            <a:ext cx="2371035" cy="70536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2724920" y="2397901"/>
            <a:ext cx="2371035" cy="435647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658B1440-2FAC-4D08-BF0E-B78FB96B65A9}" type="datetimeFigureOut">
              <a:rPr lang="pt-BR" smtClean="0"/>
              <a:t>16/12/2021</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40547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658B1440-2FAC-4D08-BF0E-B78FB96B65A9}" type="datetimeFigureOut">
              <a:rPr lang="pt-BR" smtClean="0"/>
              <a:t>16/12/2021</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534050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58B1440-2FAC-4D08-BF0E-B78FB96B65A9}" type="datetimeFigureOut">
              <a:rPr lang="pt-BR" smtClean="0"/>
              <a:t>16/12/2021</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207221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268208" y="301050"/>
            <a:ext cx="1764773" cy="1281214"/>
          </a:xfrm>
        </p:spPr>
        <p:txBody>
          <a:bodyPr anchor="b"/>
          <a:lstStyle>
            <a:lvl1pPr algn="l">
              <a:defRPr sz="2000" b="1"/>
            </a:lvl1pPr>
          </a:lstStyle>
          <a:p>
            <a:r>
              <a:rPr lang="pt-BR"/>
              <a:t>Clique para editar o título mestre</a:t>
            </a:r>
          </a:p>
        </p:txBody>
      </p:sp>
      <p:sp>
        <p:nvSpPr>
          <p:cNvPr id="3" name="Espaço Reservado para Conteúdo 2"/>
          <p:cNvSpPr>
            <a:spLocks noGrp="1"/>
          </p:cNvSpPr>
          <p:nvPr>
            <p:ph idx="1"/>
          </p:nvPr>
        </p:nvSpPr>
        <p:spPr>
          <a:xfrm>
            <a:off x="2097239" y="301051"/>
            <a:ext cx="2998716" cy="645332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268208" y="1582265"/>
            <a:ext cx="1764773" cy="517211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658B1440-2FAC-4D08-BF0E-B78FB96B65A9}" type="datetimeFigureOut">
              <a:rPr lang="pt-BR" smtClean="0"/>
              <a:t>16/12/2021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76338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051413" y="5292884"/>
            <a:ext cx="3218498" cy="624855"/>
          </a:xfrm>
        </p:spPr>
        <p:txBody>
          <a:bodyPr anchor="b"/>
          <a:lstStyle>
            <a:lvl1pPr algn="l">
              <a:defRPr sz="2000" b="1"/>
            </a:lvl1pPr>
          </a:lstStyle>
          <a:p>
            <a:r>
              <a:rPr lang="pt-BR"/>
              <a:t>Clique para editar o título mestre</a:t>
            </a:r>
          </a:p>
        </p:txBody>
      </p:sp>
      <p:sp>
        <p:nvSpPr>
          <p:cNvPr id="3" name="Espaço Reservado para Imagem 2"/>
          <p:cNvSpPr>
            <a:spLocks noGrp="1"/>
          </p:cNvSpPr>
          <p:nvPr>
            <p:ph type="pic" idx="1"/>
          </p:nvPr>
        </p:nvSpPr>
        <p:spPr>
          <a:xfrm>
            <a:off x="1051413" y="675613"/>
            <a:ext cx="3218498" cy="453675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051413" y="5917739"/>
            <a:ext cx="3218498" cy="88739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658B1440-2FAC-4D08-BF0E-B78FB96B65A9}" type="datetimeFigureOut">
              <a:rPr lang="pt-BR" smtClean="0"/>
              <a:t>16/12/2021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62866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658B1440-2FAC-4D08-BF0E-B78FB96B65A9}" type="datetimeFigureOut">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37972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3889018" y="302802"/>
            <a:ext cx="1206937" cy="645157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268208" y="302802"/>
            <a:ext cx="3531407" cy="645157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658B1440-2FAC-4D08-BF0E-B78FB96B65A9}" type="datetimeFigureOut">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894740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268208" y="302801"/>
            <a:ext cx="4827747" cy="1260211"/>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268208" y="1764295"/>
            <a:ext cx="4827747" cy="4990084"/>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268208" y="7008171"/>
            <a:ext cx="1251638" cy="402567"/>
          </a:xfrm>
          <a:prstGeom prst="rect">
            <a:avLst/>
          </a:prstGeom>
        </p:spPr>
        <p:txBody>
          <a:bodyPr vert="horz" lIns="91440" tIns="45720" rIns="91440" bIns="45720" rtlCol="0" anchor="ctr"/>
          <a:lstStyle>
            <a:lvl1pPr algn="l">
              <a:defRPr sz="1200">
                <a:solidFill>
                  <a:schemeClr val="tx1">
                    <a:tint val="75000"/>
                  </a:schemeClr>
                </a:solidFill>
              </a:defRPr>
            </a:lvl1pPr>
          </a:lstStyle>
          <a:p>
            <a:fld id="{658B1440-2FAC-4D08-BF0E-B78FB96B65A9}" type="datetimeFigureOut">
              <a:rPr lang="pt-BR" smtClean="0"/>
              <a:t>16/12/2021</a:t>
            </a:fld>
            <a:endParaRPr lang="pt-BR"/>
          </a:p>
        </p:txBody>
      </p:sp>
      <p:sp>
        <p:nvSpPr>
          <p:cNvPr id="5" name="Espaço Reservado para Rodapé 4"/>
          <p:cNvSpPr>
            <a:spLocks noGrp="1"/>
          </p:cNvSpPr>
          <p:nvPr>
            <p:ph type="ftr" sz="quarter" idx="3"/>
          </p:nvPr>
        </p:nvSpPr>
        <p:spPr>
          <a:xfrm>
            <a:off x="1832756" y="7008171"/>
            <a:ext cx="1698652" cy="40256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3844317" y="7008171"/>
            <a:ext cx="1251638" cy="402567"/>
          </a:xfrm>
          <a:prstGeom prst="rect">
            <a:avLst/>
          </a:prstGeom>
        </p:spPr>
        <p:txBody>
          <a:bodyPr vert="horz" lIns="91440" tIns="45720" rIns="91440" bIns="45720" rtlCol="0" anchor="ctr"/>
          <a:lstStyle>
            <a:lvl1pPr algn="r">
              <a:defRPr sz="1200">
                <a:solidFill>
                  <a:schemeClr val="tx1">
                    <a:tint val="75000"/>
                  </a:schemeClr>
                </a:solidFill>
              </a:defRPr>
            </a:lvl1pPr>
          </a:lstStyle>
          <a:p>
            <a:fld id="{5583268C-60FE-4333-B092-1A38FFBDC3D2}" type="slidenum">
              <a:rPr lang="pt-BR" smtClean="0"/>
              <a:t>‹nº›</a:t>
            </a:fld>
            <a:endParaRPr lang="pt-BR"/>
          </a:p>
        </p:txBody>
      </p:sp>
    </p:spTree>
    <p:extLst>
      <p:ext uri="{BB962C8B-B14F-4D97-AF65-F5344CB8AC3E}">
        <p14:creationId xmlns:p14="http://schemas.microsoft.com/office/powerpoint/2010/main" val="2449934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microsoft.com/office/2007/relationships/hdphoto" Target="../media/hdphoto3.wdp"/><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 Id="rId6" Type="http://schemas.microsoft.com/office/2007/relationships/hdphoto" Target="../media/hdphoto4.wdp"/><Relationship Id="rId5" Type="http://schemas.openxmlformats.org/officeDocument/2006/relationships/image" Target="../media/image7.png"/><Relationship Id="rId10" Type="http://schemas.microsoft.com/office/2007/relationships/hdphoto" Target="../media/hdphoto5.wdp"/><Relationship Id="rId4" Type="http://schemas.openxmlformats.org/officeDocument/2006/relationships/image" Target="../media/image6.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4.wdp"/><Relationship Id="rId7" Type="http://schemas.microsoft.com/office/2007/relationships/hdphoto" Target="../media/hdphoto7.wdp"/><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2.png"/><Relationship Id="rId5" Type="http://schemas.microsoft.com/office/2007/relationships/hdphoto" Target="../media/hdphoto6.wdp"/><Relationship Id="rId4" Type="http://schemas.openxmlformats.org/officeDocument/2006/relationships/image" Target="../media/image11.png"/><Relationship Id="rId9" Type="http://schemas.microsoft.com/office/2007/relationships/hdphoto" Target="../media/hdphoto8.wdp"/></Relationships>
</file>

<file path=ppt/slides/_rels/slide8.xml.rels><?xml version="1.0" encoding="UTF-8" standalone="yes"?>
<Relationships xmlns="http://schemas.openxmlformats.org/package/2006/relationships"><Relationship Id="rId3" Type="http://schemas.microsoft.com/office/2007/relationships/hdphoto" Target="../media/hdphoto9.wdp"/><Relationship Id="rId7" Type="http://schemas.microsoft.com/office/2007/relationships/hdphoto" Target="../media/hdphoto8.wdp"/><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3.png"/><Relationship Id="rId5" Type="http://schemas.microsoft.com/office/2007/relationships/hdphoto" Target="../media/hdphoto1.wdp"/><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sac@soacoindustrial.com.br" TargetMode="External"/><Relationship Id="rId5" Type="http://schemas.openxmlformats.org/officeDocument/2006/relationships/hyperlink" Target="http://www.soacoindustrial.com.br/" TargetMode="External"/><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aixaDeTexto 21">
            <a:extLst>
              <a:ext uri="{FF2B5EF4-FFF2-40B4-BE49-F238E27FC236}">
                <a16:creationId xmlns:a16="http://schemas.microsoft.com/office/drawing/2014/main" id="{8ABC8E75-CF25-4C71-A645-636D81179D6B}"/>
              </a:ext>
            </a:extLst>
          </p:cNvPr>
          <p:cNvSpPr txBox="1"/>
          <p:nvPr/>
        </p:nvSpPr>
        <p:spPr>
          <a:xfrm>
            <a:off x="162081" y="180231"/>
            <a:ext cx="5040000" cy="338554"/>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1600" b="1" noProof="0" dirty="0">
                <a:solidFill>
                  <a:prstClr val="black"/>
                </a:solidFill>
                <a:latin typeface="Monda" pitchFamily="2" charset="0"/>
              </a:rPr>
              <a:t>FORNO PRP </a:t>
            </a:r>
            <a:endParaRPr kumimoji="0" lang="pt-BR" sz="1600" b="1" i="0" u="none" strike="noStrike" kern="1200" cap="none" spc="0" normalizeH="0" baseline="0" noProof="0" dirty="0">
              <a:ln>
                <a:noFill/>
              </a:ln>
              <a:solidFill>
                <a:prstClr val="black"/>
              </a:solidFill>
              <a:effectLst/>
              <a:uLnTx/>
              <a:uFillTx/>
              <a:latin typeface="Monda" pitchFamily="2" charset="0"/>
            </a:endParaRPr>
          </a:p>
        </p:txBody>
      </p:sp>
      <p:cxnSp>
        <p:nvCxnSpPr>
          <p:cNvPr id="24" name="Conector reto 23">
            <a:extLst>
              <a:ext uri="{FF2B5EF4-FFF2-40B4-BE49-F238E27FC236}">
                <a16:creationId xmlns:a16="http://schemas.microsoft.com/office/drawing/2014/main" id="{BBE67A95-AE29-4944-AA64-BDB665B83E47}"/>
              </a:ext>
            </a:extLst>
          </p:cNvPr>
          <p:cNvCxnSpPr/>
          <p:nvPr/>
        </p:nvCxnSpPr>
        <p:spPr>
          <a:xfrm>
            <a:off x="36081" y="149444"/>
            <a:ext cx="5292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5" name="Conector reto 24">
            <a:extLst>
              <a:ext uri="{FF2B5EF4-FFF2-40B4-BE49-F238E27FC236}">
                <a16:creationId xmlns:a16="http://schemas.microsoft.com/office/drawing/2014/main" id="{A8BA4762-4289-4BD1-A4C9-7AA34A5E7F82}"/>
              </a:ext>
            </a:extLst>
          </p:cNvPr>
          <p:cNvCxnSpPr/>
          <p:nvPr/>
        </p:nvCxnSpPr>
        <p:spPr>
          <a:xfrm>
            <a:off x="36081" y="479750"/>
            <a:ext cx="5292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3DA44E89-8ADC-405B-BC43-7805133F2208}"/>
              </a:ext>
            </a:extLst>
          </p:cNvPr>
          <p:cNvSpPr txBox="1"/>
          <p:nvPr/>
        </p:nvSpPr>
        <p:spPr>
          <a:xfrm>
            <a:off x="2710644" y="6077336"/>
            <a:ext cx="2635893" cy="1015663"/>
          </a:xfrm>
          <a:prstGeom prst="rect">
            <a:avLst/>
          </a:prstGeom>
          <a:noFill/>
        </p:spPr>
        <p:txBody>
          <a:bodyPr wrap="square" rtlCol="0">
            <a:spAutoFit/>
          </a:bodyPr>
          <a:lstStyle/>
          <a:p>
            <a:pPr marL="0" marR="0" lvl="0" indent="0" algn="just" defTabSz="1043056" rtl="0" eaLnBrk="1" fontAlgn="auto" latinLnBrk="0" hangingPunct="1">
              <a:lnSpc>
                <a:spcPct val="100000"/>
              </a:lnSpc>
              <a:spcBef>
                <a:spcPts val="0"/>
              </a:spcBef>
              <a:spcAft>
                <a:spcPts val="0"/>
              </a:spcAft>
              <a:buClrTx/>
              <a:buSzTx/>
              <a:buFontTx/>
              <a:buNone/>
              <a:tabLst/>
              <a:defRPr/>
            </a:pPr>
            <a:r>
              <a:rPr kumimoji="0" lang="pt-BR" sz="1200" b="0" i="1" u="none" strike="noStrike" kern="1200" cap="none" spc="0" normalizeH="0" baseline="0" noProof="0" dirty="0">
                <a:ln>
                  <a:noFill/>
                </a:ln>
                <a:solidFill>
                  <a:prstClr val="black"/>
                </a:solidFill>
                <a:effectLst/>
                <a:uLnTx/>
                <a:uFillTx/>
                <a:latin typeface="Monda" pitchFamily="2" charset="0"/>
                <a:cs typeface="Arial" panose="020B0604020202020204" pitchFamily="34" charset="0"/>
              </a:rPr>
              <a:t>Parabéns pela sua nova aquisição! Para obter o máximo desempenho e garantir o perfeito funcionamento do seu produto, leia atentamente este manual. </a:t>
            </a:r>
          </a:p>
        </p:txBody>
      </p:sp>
      <p:cxnSp>
        <p:nvCxnSpPr>
          <p:cNvPr id="40" name="Conector reto 39">
            <a:extLst>
              <a:ext uri="{FF2B5EF4-FFF2-40B4-BE49-F238E27FC236}">
                <a16:creationId xmlns:a16="http://schemas.microsoft.com/office/drawing/2014/main" id="{D1A94368-DA36-4C81-BE02-0EE994E17007}"/>
              </a:ext>
            </a:extLst>
          </p:cNvPr>
          <p:cNvCxnSpPr>
            <a:cxnSpLocks/>
          </p:cNvCxnSpPr>
          <p:nvPr/>
        </p:nvCxnSpPr>
        <p:spPr>
          <a:xfrm>
            <a:off x="36081" y="7453039"/>
            <a:ext cx="5292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aixaDeTexto 1">
            <a:extLst>
              <a:ext uri="{FF2B5EF4-FFF2-40B4-BE49-F238E27FC236}">
                <a16:creationId xmlns:a16="http://schemas.microsoft.com/office/drawing/2014/main" id="{D0E3C98F-EA6E-4E1C-BAAB-833806061BDB}"/>
              </a:ext>
            </a:extLst>
          </p:cNvPr>
          <p:cNvSpPr txBox="1"/>
          <p:nvPr/>
        </p:nvSpPr>
        <p:spPr>
          <a:xfrm>
            <a:off x="494905" y="2389603"/>
            <a:ext cx="300082" cy="2254710"/>
          </a:xfrm>
          <a:prstGeom prst="rect">
            <a:avLst/>
          </a:prstGeom>
          <a:noFill/>
        </p:spPr>
        <p:txBody>
          <a:bodyPr vert="vert270" wrap="square" rtlCol="0">
            <a:spAutoFit/>
          </a:bodyPr>
          <a:lstStyle/>
          <a:p>
            <a:r>
              <a:rPr lang="pt-BR" sz="750" dirty="0"/>
              <a:t>Confira outros modelos disponíveis</a:t>
            </a:r>
          </a:p>
        </p:txBody>
      </p:sp>
      <p:pic>
        <p:nvPicPr>
          <p:cNvPr id="1028" name="Picture 4">
            <a:extLst>
              <a:ext uri="{FF2B5EF4-FFF2-40B4-BE49-F238E27FC236}">
                <a16:creationId xmlns:a16="http://schemas.microsoft.com/office/drawing/2014/main" id="{3CCC9659-D6F1-4A01-8F9C-1E30926094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0213" y="2265110"/>
            <a:ext cx="2592288" cy="3132379"/>
          </a:xfrm>
          <a:prstGeom prst="rect">
            <a:avLst/>
          </a:prstGeom>
          <a:noFill/>
          <a:extLst>
            <a:ext uri="{909E8E84-426E-40DD-AFC4-6F175D3DCCD1}">
              <a14:hiddenFill xmlns:a14="http://schemas.microsoft.com/office/drawing/2010/main">
                <a:solidFill>
                  <a:srgbClr val="FFFFFF"/>
                </a:solidFill>
              </a14:hiddenFill>
            </a:ext>
          </a:extLst>
        </p:spPr>
      </p:pic>
      <p:pic>
        <p:nvPicPr>
          <p:cNvPr id="23" name="Imagem 22">
            <a:extLst>
              <a:ext uri="{FF2B5EF4-FFF2-40B4-BE49-F238E27FC236}">
                <a16:creationId xmlns:a16="http://schemas.microsoft.com/office/drawing/2014/main" id="{1EC080C8-AC7A-45B2-A726-3ACAF6B171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221" y="7157456"/>
            <a:ext cx="887451" cy="265943"/>
          </a:xfrm>
          <a:prstGeom prst="rect">
            <a:avLst/>
          </a:prstGeom>
        </p:spPr>
      </p:pic>
      <p:pic>
        <p:nvPicPr>
          <p:cNvPr id="26" name="Imagem 25">
            <a:extLst>
              <a:ext uri="{FF2B5EF4-FFF2-40B4-BE49-F238E27FC236}">
                <a16:creationId xmlns:a16="http://schemas.microsoft.com/office/drawing/2014/main" id="{3BB32EC4-2D3D-4289-A612-0A7A5473DB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3174" y="7157456"/>
            <a:ext cx="887451" cy="265943"/>
          </a:xfrm>
          <a:prstGeom prst="rect">
            <a:avLst/>
          </a:prstGeom>
        </p:spPr>
      </p:pic>
      <p:pic>
        <p:nvPicPr>
          <p:cNvPr id="27" name="Imagem 26">
            <a:extLst>
              <a:ext uri="{FF2B5EF4-FFF2-40B4-BE49-F238E27FC236}">
                <a16:creationId xmlns:a16="http://schemas.microsoft.com/office/drawing/2014/main" id="{6EB27F91-AF5D-43D7-B711-B2A42BD866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65127" y="7159751"/>
            <a:ext cx="887451" cy="265943"/>
          </a:xfrm>
          <a:prstGeom prst="rect">
            <a:avLst/>
          </a:prstGeom>
        </p:spPr>
      </p:pic>
      <p:pic>
        <p:nvPicPr>
          <p:cNvPr id="36" name="Imagem 35">
            <a:extLst>
              <a:ext uri="{FF2B5EF4-FFF2-40B4-BE49-F238E27FC236}">
                <a16:creationId xmlns:a16="http://schemas.microsoft.com/office/drawing/2014/main" id="{EE7933FD-8139-4441-BCD1-3B5511BDDB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97080" y="7159751"/>
            <a:ext cx="887451" cy="265943"/>
          </a:xfrm>
          <a:prstGeom prst="rect">
            <a:avLst/>
          </a:prstGeom>
        </p:spPr>
      </p:pic>
      <p:pic>
        <p:nvPicPr>
          <p:cNvPr id="37" name="Imagem 36">
            <a:extLst>
              <a:ext uri="{FF2B5EF4-FFF2-40B4-BE49-F238E27FC236}">
                <a16:creationId xmlns:a16="http://schemas.microsoft.com/office/drawing/2014/main" id="{785A5432-97B6-4BBA-93DA-694671EE82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29034" y="7175198"/>
            <a:ext cx="887451" cy="265943"/>
          </a:xfrm>
          <a:prstGeom prst="rect">
            <a:avLst/>
          </a:prstGeom>
        </p:spPr>
      </p:pic>
      <p:cxnSp>
        <p:nvCxnSpPr>
          <p:cNvPr id="41" name="Conector reto 40">
            <a:extLst>
              <a:ext uri="{FF2B5EF4-FFF2-40B4-BE49-F238E27FC236}">
                <a16:creationId xmlns:a16="http://schemas.microsoft.com/office/drawing/2014/main" id="{CF200B9F-808E-4B05-99F6-90658F4C1F0A}"/>
              </a:ext>
            </a:extLst>
          </p:cNvPr>
          <p:cNvCxnSpPr/>
          <p:nvPr/>
        </p:nvCxnSpPr>
        <p:spPr>
          <a:xfrm>
            <a:off x="13769" y="7086520"/>
            <a:ext cx="5292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42" name="CaixaDeTexto 41">
            <a:extLst>
              <a:ext uri="{FF2B5EF4-FFF2-40B4-BE49-F238E27FC236}">
                <a16:creationId xmlns:a16="http://schemas.microsoft.com/office/drawing/2014/main" id="{AAAEEFC9-5499-479A-9209-3C5D75D0F907}"/>
              </a:ext>
            </a:extLst>
          </p:cNvPr>
          <p:cNvSpPr txBox="1"/>
          <p:nvPr/>
        </p:nvSpPr>
        <p:spPr>
          <a:xfrm>
            <a:off x="1075065" y="1006284"/>
            <a:ext cx="3214031" cy="1323439"/>
          </a:xfrm>
          <a:prstGeom prst="rect">
            <a:avLst/>
          </a:prstGeom>
          <a:noFill/>
        </p:spPr>
        <p:txBody>
          <a:bodyPr wrap="square" rtlCol="0">
            <a:spAutoFit/>
          </a:bodyPr>
          <a:lstStyle/>
          <a:p>
            <a:pPr algn="ctr"/>
            <a:r>
              <a:rPr lang="pt-BR" sz="400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Manual </a:t>
            </a:r>
          </a:p>
          <a:p>
            <a:pPr algn="ctr"/>
            <a:r>
              <a:rPr lang="pt-BR" sz="400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do usuário</a:t>
            </a:r>
          </a:p>
        </p:txBody>
      </p:sp>
      <p:sp>
        <p:nvSpPr>
          <p:cNvPr id="17" name="CaixaDeTexto 16">
            <a:extLst>
              <a:ext uri="{FF2B5EF4-FFF2-40B4-BE49-F238E27FC236}">
                <a16:creationId xmlns:a16="http://schemas.microsoft.com/office/drawing/2014/main" id="{1A8A43AF-0681-42BB-8474-0488C297C759}"/>
              </a:ext>
            </a:extLst>
          </p:cNvPr>
          <p:cNvSpPr txBox="1"/>
          <p:nvPr/>
        </p:nvSpPr>
        <p:spPr>
          <a:xfrm>
            <a:off x="2826098" y="4338899"/>
            <a:ext cx="2592287" cy="1061829"/>
          </a:xfrm>
          <a:prstGeom prst="rect">
            <a:avLst/>
          </a:prstGeom>
          <a:noFill/>
        </p:spPr>
        <p:txBody>
          <a:bodyPr wrap="square" rtlCol="0">
            <a:spAutoFit/>
          </a:bodyPr>
          <a:lstStyle/>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Monda" pitchFamily="2" charset="0"/>
                <a:cs typeface="Arial" panose="020B0604020202020204" pitchFamily="34" charset="0"/>
              </a:rPr>
              <a:t>Instruções</a:t>
            </a:r>
          </a:p>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Monda" pitchFamily="2" charset="0"/>
                <a:cs typeface="Arial" panose="020B0604020202020204" pitchFamily="34" charset="0"/>
              </a:rPr>
              <a:t>Especificações</a:t>
            </a:r>
          </a:p>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Monda" pitchFamily="2" charset="0"/>
                <a:cs typeface="Arial" panose="020B0604020202020204" pitchFamily="34" charset="0"/>
              </a:rPr>
              <a:t>Garantia</a:t>
            </a:r>
          </a:p>
        </p:txBody>
      </p:sp>
    </p:spTree>
    <p:extLst>
      <p:ext uri="{BB962C8B-B14F-4D97-AF65-F5344CB8AC3E}">
        <p14:creationId xmlns:p14="http://schemas.microsoft.com/office/powerpoint/2010/main" val="41770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5028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830B509D-C0C4-4160-83FA-DA2F0DBDECAD}"/>
              </a:ext>
            </a:extLst>
          </p:cNvPr>
          <p:cNvSpPr txBox="1"/>
          <p:nvPr/>
        </p:nvSpPr>
        <p:spPr>
          <a:xfrm>
            <a:off x="161801" y="108223"/>
            <a:ext cx="5040560" cy="1200329"/>
          </a:xfrm>
          <a:prstGeom prst="rect">
            <a:avLst/>
          </a:prstGeom>
          <a:noFill/>
        </p:spPr>
        <p:txBody>
          <a:bodyPr wrap="square" rtlCol="0">
            <a:spAutoFit/>
          </a:bodyPr>
          <a:lstStyle/>
          <a:p>
            <a:pPr algn="just"/>
            <a:r>
              <a:rPr lang="pt-BR" sz="900" dirty="0">
                <a:latin typeface="Arial" panose="020B0604020202020204" pitchFamily="34" charset="0"/>
                <a:cs typeface="Arial" panose="020B0604020202020204" pitchFamily="34" charset="0"/>
              </a:rPr>
              <a:t>Caro Cliente,</a:t>
            </a:r>
          </a:p>
          <a:p>
            <a:pPr algn="just"/>
            <a:r>
              <a:rPr lang="pt-BR" sz="900" dirty="0">
                <a:latin typeface="Arial" panose="020B0604020202020204" pitchFamily="34" charset="0"/>
                <a:cs typeface="Arial" panose="020B0604020202020204" pitchFamily="34" charset="0"/>
              </a:rPr>
              <a:t>Parabéns por sua escolha</a:t>
            </a:r>
          </a:p>
          <a:p>
            <a:pPr algn="just"/>
            <a:endParaRPr lang="pt-BR" sz="900" dirty="0">
              <a:latin typeface="Arial" panose="020B0604020202020204" pitchFamily="34" charset="0"/>
              <a:cs typeface="Arial" panose="020B0604020202020204" pitchFamily="34" charset="0"/>
            </a:endParaRPr>
          </a:p>
          <a:p>
            <a:pPr algn="just"/>
            <a:r>
              <a:rPr lang="pt-BR" sz="900" dirty="0">
                <a:latin typeface="Arial" panose="020B0604020202020204" pitchFamily="34" charset="0"/>
                <a:cs typeface="Arial" panose="020B0604020202020204" pitchFamily="34" charset="0"/>
              </a:rPr>
              <a:t>O produto que você comprou leva a marca de um dos maiores fabricantes de equipamentos para lanchonetes, bares, restaurantes, industrias, etc., e é a melhor garantia que você tem de estar adquirindo um produto moderno e que vai satisfazer plenamente as suas necessidades. Os produtos SÒ AÇO são fabricados utilizando se dos melhores materiais existentes no mercado e conta com a tecnologia mais avançada no ramo de refrigeração comercial do pais. </a:t>
            </a:r>
            <a:endParaRPr lang="pt-BR" sz="900" dirty="0"/>
          </a:p>
        </p:txBody>
      </p:sp>
      <p:sp>
        <p:nvSpPr>
          <p:cNvPr id="8" name="CaixaDeTexto 7">
            <a:extLst>
              <a:ext uri="{FF2B5EF4-FFF2-40B4-BE49-F238E27FC236}">
                <a16:creationId xmlns:a16="http://schemas.microsoft.com/office/drawing/2014/main" id="{68D55697-2B46-4B29-B96B-8BE932CFF598}"/>
              </a:ext>
            </a:extLst>
          </p:cNvPr>
          <p:cNvSpPr txBox="1"/>
          <p:nvPr/>
        </p:nvSpPr>
        <p:spPr>
          <a:xfrm>
            <a:off x="161801" y="1332359"/>
            <a:ext cx="5040560" cy="523220"/>
          </a:xfrm>
          <a:prstGeom prst="rect">
            <a:avLst/>
          </a:prstGeom>
          <a:noFill/>
        </p:spPr>
        <p:txBody>
          <a:bodyPr wrap="square" rtlCol="0">
            <a:spAutoFit/>
          </a:bodyPr>
          <a:lstStyle/>
          <a:p>
            <a:pPr algn="just"/>
            <a:r>
              <a:rPr lang="pt-BR" sz="1000" b="1" dirty="0"/>
              <a:t>NOTA: </a:t>
            </a:r>
            <a:r>
              <a:rPr lang="pt-BR" sz="900" i="1" dirty="0"/>
              <a:t>Guarde a </a:t>
            </a:r>
            <a:r>
              <a:rPr lang="pt-BR" sz="900" i="1" u="sng" dirty="0"/>
              <a:t>nota fiscal </a:t>
            </a:r>
            <a:r>
              <a:rPr lang="pt-BR" sz="900" i="1" dirty="0"/>
              <a:t>de compra; ela será necessária caso precise utilizar os serviços da Assistência Técnica Só Aço no período de garantia. Também não remova a etiqueta de identificação do produto. Nela constam informações imprescindíveis em caso de necessidade de reparos. </a:t>
            </a:r>
          </a:p>
        </p:txBody>
      </p:sp>
      <p:sp>
        <p:nvSpPr>
          <p:cNvPr id="2" name="CaixaDeTexto 1"/>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01</a:t>
            </a:r>
          </a:p>
        </p:txBody>
      </p:sp>
      <p:sp>
        <p:nvSpPr>
          <p:cNvPr id="11" name="Retângulo 10">
            <a:extLst>
              <a:ext uri="{FF2B5EF4-FFF2-40B4-BE49-F238E27FC236}">
                <a16:creationId xmlns:a16="http://schemas.microsoft.com/office/drawing/2014/main" id="{2D0FA2F1-E6DB-421C-B346-CF0C721A4D52}"/>
              </a:ext>
            </a:extLst>
          </p:cNvPr>
          <p:cNvSpPr/>
          <p:nvPr/>
        </p:nvSpPr>
        <p:spPr>
          <a:xfrm>
            <a:off x="144089" y="1908423"/>
            <a:ext cx="513028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Índice</a:t>
            </a:r>
          </a:p>
        </p:txBody>
      </p:sp>
      <p:graphicFrame>
        <p:nvGraphicFramePr>
          <p:cNvPr id="5" name="Tabela 4">
            <a:extLst>
              <a:ext uri="{FF2B5EF4-FFF2-40B4-BE49-F238E27FC236}">
                <a16:creationId xmlns:a16="http://schemas.microsoft.com/office/drawing/2014/main" id="{9D94ED1A-CDF2-4EA0-B0DB-EC290050C285}"/>
              </a:ext>
            </a:extLst>
          </p:cNvPr>
          <p:cNvGraphicFramePr>
            <a:graphicFrameLocks noGrp="1"/>
          </p:cNvGraphicFramePr>
          <p:nvPr>
            <p:extLst>
              <p:ext uri="{D42A27DB-BD31-4B8C-83A1-F6EECF244321}">
                <p14:modId xmlns:p14="http://schemas.microsoft.com/office/powerpoint/2010/main" val="1019997332"/>
              </p:ext>
            </p:extLst>
          </p:nvPr>
        </p:nvGraphicFramePr>
        <p:xfrm>
          <a:off x="193650" y="2196455"/>
          <a:ext cx="5008711" cy="3253154"/>
        </p:xfrm>
        <a:graphic>
          <a:graphicData uri="http://schemas.openxmlformats.org/drawingml/2006/table">
            <a:tbl>
              <a:tblPr firstRow="1" bandRow="1">
                <a:tableStyleId>{2D5ABB26-0587-4C30-8999-92F81FD0307C}</a:tableStyleId>
              </a:tblPr>
              <a:tblGrid>
                <a:gridCol w="4761670">
                  <a:extLst>
                    <a:ext uri="{9D8B030D-6E8A-4147-A177-3AD203B41FA5}">
                      <a16:colId xmlns:a16="http://schemas.microsoft.com/office/drawing/2014/main" val="1697301374"/>
                    </a:ext>
                  </a:extLst>
                </a:gridCol>
                <a:gridCol w="247041">
                  <a:extLst>
                    <a:ext uri="{9D8B030D-6E8A-4147-A177-3AD203B41FA5}">
                      <a16:colId xmlns:a16="http://schemas.microsoft.com/office/drawing/2014/main" val="2443384093"/>
                    </a:ext>
                  </a:extLst>
                </a:gridCol>
              </a:tblGrid>
              <a:tr h="180000">
                <a:tc>
                  <a:txBody>
                    <a:bodyPr/>
                    <a:lstStyle/>
                    <a:p>
                      <a:pPr>
                        <a:lnSpc>
                          <a:spcPct val="100000"/>
                        </a:lnSpc>
                        <a:spcAft>
                          <a:spcPts val="0"/>
                        </a:spcAft>
                      </a:pPr>
                      <a:r>
                        <a:rPr lang="pt-BR" sz="800" dirty="0">
                          <a:effectLst/>
                        </a:rPr>
                        <a:t>1. INTRODUÇÃO..............................................................................................................................................................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02</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607705150"/>
                  </a:ext>
                </a:extLst>
              </a:tr>
              <a:tr h="180000">
                <a:tc>
                  <a:txBody>
                    <a:bodyPr/>
                    <a:lstStyle/>
                    <a:p>
                      <a:pPr>
                        <a:lnSpc>
                          <a:spcPct val="100000"/>
                        </a:lnSpc>
                        <a:spcAft>
                          <a:spcPts val="0"/>
                        </a:spcAft>
                      </a:pPr>
                      <a:r>
                        <a:rPr lang="pt-BR" sz="800" dirty="0">
                          <a:effectLst/>
                        </a:rPr>
                        <a:t>1.1.Segurança.................................................................................................................................................................</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02</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470459698"/>
                  </a:ext>
                </a:extLst>
              </a:tr>
              <a:tr h="180000">
                <a:tc>
                  <a:txBody>
                    <a:bodyPr/>
                    <a:lstStyle/>
                    <a:p>
                      <a:pPr>
                        <a:lnSpc>
                          <a:spcPct val="100000"/>
                        </a:lnSpc>
                        <a:spcAft>
                          <a:spcPts val="0"/>
                        </a:spcAft>
                      </a:pPr>
                      <a:r>
                        <a:rPr lang="pt-BR" sz="800" dirty="0">
                          <a:effectLst/>
                        </a:rPr>
                        <a:t>1.2.Dimensões/componentes........................................................................................................................................</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03</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795885520"/>
                  </a:ext>
                </a:extLst>
              </a:tr>
              <a:tr h="180000">
                <a:tc>
                  <a:txBody>
                    <a:bodyPr/>
                    <a:lstStyle/>
                    <a:p>
                      <a:pPr>
                        <a:lnSpc>
                          <a:spcPct val="100000"/>
                        </a:lnSpc>
                        <a:spcAft>
                          <a:spcPts val="0"/>
                        </a:spcAft>
                      </a:pPr>
                      <a:r>
                        <a:rPr lang="pt-BR" sz="800" dirty="0">
                          <a:effectLst/>
                        </a:rPr>
                        <a:t>2.INSTRUÇÕES PARA MONTAGEM.................................................................................................................................</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05</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954066343"/>
                  </a:ext>
                </a:extLst>
              </a:tr>
              <a:tr h="180000">
                <a:tc>
                  <a:txBody>
                    <a:bodyPr/>
                    <a:lstStyle/>
                    <a:p>
                      <a:pPr>
                        <a:lnSpc>
                          <a:spcPct val="100000"/>
                        </a:lnSpc>
                        <a:spcAft>
                          <a:spcPts val="0"/>
                        </a:spcAft>
                      </a:pPr>
                      <a:r>
                        <a:rPr lang="pt-BR" sz="800" dirty="0">
                          <a:effectLst/>
                        </a:rPr>
                        <a:t>2.1.Instalação..................................................................................................................................................................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a:effectLst/>
                        </a:rPr>
                        <a:t>05</a:t>
                      </a:r>
                      <a:endParaRPr lang="pt-BR"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300738735"/>
                  </a:ext>
                </a:extLst>
              </a:tr>
              <a:tr h="180000">
                <a:tc>
                  <a:txBody>
                    <a:bodyPr/>
                    <a:lstStyle/>
                    <a:p>
                      <a:pPr>
                        <a:lnSpc>
                          <a:spcPct val="100000"/>
                        </a:lnSpc>
                        <a:spcAft>
                          <a:spcPts val="0"/>
                        </a:spcAft>
                      </a:pPr>
                      <a:r>
                        <a:rPr lang="pt-BR" sz="800" dirty="0">
                          <a:effectLst/>
                        </a:rPr>
                        <a:t>3.PRÉ-OPERAÇÃO............................................................................................................................................................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07</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429447783"/>
                  </a:ext>
                </a:extLst>
              </a:tr>
              <a:tr h="18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800" dirty="0">
                          <a:effectLst/>
                        </a:rPr>
                        <a:t>3.1.Instalando o equipamento.......................................................................................................................................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latin typeface="Calibri" panose="020F0502020204030204" pitchFamily="34" charset="0"/>
                          <a:ea typeface="Calibri" panose="020F0502020204030204" pitchFamily="34" charset="0"/>
                          <a:cs typeface="Times New Roman" panose="02020603050405020304" pitchFamily="18" charset="0"/>
                        </a:rPr>
                        <a:t>07</a:t>
                      </a:r>
                    </a:p>
                  </a:txBody>
                  <a:tcPr marL="0" marR="0" marT="0" marB="0"/>
                </a:tc>
                <a:extLst>
                  <a:ext uri="{0D108BD9-81ED-4DB2-BD59-A6C34878D82A}">
                    <a16:rowId xmlns:a16="http://schemas.microsoft.com/office/drawing/2014/main" val="1553900451"/>
                  </a:ext>
                </a:extLst>
              </a:tr>
              <a:tr h="180000">
                <a:tc>
                  <a:txBody>
                    <a:bodyPr/>
                    <a:lstStyle/>
                    <a:p>
                      <a:pPr>
                        <a:lnSpc>
                          <a:spcPct val="100000"/>
                        </a:lnSpc>
                        <a:spcAft>
                          <a:spcPts val="0"/>
                        </a:spcAft>
                      </a:pPr>
                      <a:r>
                        <a:rPr lang="pt-BR" sz="800" dirty="0">
                          <a:effectLst/>
                        </a:rPr>
                        <a:t>3.2 Instalação de gás GLP...............................................................................................................................................</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07</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39973084"/>
                  </a:ext>
                </a:extLst>
              </a:tr>
              <a:tr h="180000">
                <a:tc>
                  <a:txBody>
                    <a:bodyPr/>
                    <a:lstStyle/>
                    <a:p>
                      <a:pPr>
                        <a:lnSpc>
                          <a:spcPct val="100000"/>
                        </a:lnSpc>
                        <a:spcAft>
                          <a:spcPts val="0"/>
                        </a:spcAft>
                      </a:pPr>
                      <a:r>
                        <a:rPr lang="pt-BR" sz="800" dirty="0">
                          <a:effectLst/>
                        </a:rPr>
                        <a:t>3.3 Limpeza e manutenção............................................................................................................................................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07</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503598005"/>
                  </a:ext>
                </a:extLst>
              </a:tr>
              <a:tr h="180000">
                <a:tc>
                  <a:txBody>
                    <a:bodyPr/>
                    <a:lstStyle/>
                    <a:p>
                      <a:pPr>
                        <a:lnSpc>
                          <a:spcPct val="100000"/>
                        </a:lnSpc>
                        <a:spcAft>
                          <a:spcPts val="0"/>
                        </a:spcAft>
                      </a:pPr>
                      <a:r>
                        <a:rPr lang="pt-BR" sz="800" dirty="0">
                          <a:effectLst/>
                        </a:rPr>
                        <a:t>3.4 Instrução para montagem do termômetro..............................................................................................................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08</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48156493"/>
                  </a:ext>
                </a:extLst>
              </a:tr>
              <a:tr h="180000">
                <a:tc>
                  <a:txBody>
                    <a:bodyPr/>
                    <a:lstStyle/>
                    <a:p>
                      <a:pPr>
                        <a:lnSpc>
                          <a:spcPct val="100000"/>
                        </a:lnSpc>
                        <a:spcAft>
                          <a:spcPts val="0"/>
                        </a:spcAft>
                      </a:pPr>
                      <a:r>
                        <a:rPr lang="pt-BR" sz="800" dirty="0">
                          <a:effectLst/>
                        </a:rPr>
                        <a:t>3.5 Forno gás GLP..........................................................................................................................................................</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08</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237740072"/>
                  </a:ext>
                </a:extLst>
              </a:tr>
              <a:tr h="180000">
                <a:tc>
                  <a:txBody>
                    <a:bodyPr/>
                    <a:lstStyle/>
                    <a:p>
                      <a:pPr>
                        <a:lnSpc>
                          <a:spcPct val="100000"/>
                        </a:lnSpc>
                        <a:spcAft>
                          <a:spcPts val="0"/>
                        </a:spcAft>
                      </a:pPr>
                      <a:r>
                        <a:rPr lang="pt-BR" sz="800" dirty="0">
                          <a:effectLst/>
                        </a:rPr>
                        <a:t>3.6 Forno gás GLP com </a:t>
                      </a:r>
                      <a:r>
                        <a:rPr lang="pt-BR" sz="800" dirty="0" err="1">
                          <a:effectLst/>
                        </a:rPr>
                        <a:t>gratinador</a:t>
                      </a:r>
                      <a:r>
                        <a:rPr lang="pt-BR" sz="800" dirty="0">
                          <a:effectLst/>
                        </a:rPr>
                        <a:t>................................................................................................................................</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a:effectLst/>
                        </a:rPr>
                        <a:t>08</a:t>
                      </a:r>
                      <a:endParaRPr lang="pt-BR"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345192478"/>
                  </a:ext>
                </a:extLst>
              </a:tr>
              <a:tr h="180000">
                <a:tc>
                  <a:txBody>
                    <a:bodyPr/>
                    <a:lstStyle/>
                    <a:p>
                      <a:pPr>
                        <a:lnSpc>
                          <a:spcPct val="100000"/>
                        </a:lnSpc>
                        <a:spcAft>
                          <a:spcPts val="0"/>
                        </a:spcAft>
                      </a:pPr>
                      <a:r>
                        <a:rPr lang="pt-BR" sz="800" dirty="0">
                          <a:effectLst/>
                        </a:rPr>
                        <a:t>4.OPERAÇÃO...................................................................................................................................................................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09</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16814359"/>
                  </a:ext>
                </a:extLst>
              </a:tr>
              <a:tr h="180000">
                <a:tc>
                  <a:txBody>
                    <a:bodyPr/>
                    <a:lstStyle/>
                    <a:p>
                      <a:pPr>
                        <a:lnSpc>
                          <a:spcPct val="100000"/>
                        </a:lnSpc>
                        <a:spcAft>
                          <a:spcPts val="0"/>
                        </a:spcAft>
                      </a:pPr>
                      <a:r>
                        <a:rPr lang="pt-BR" sz="800" dirty="0">
                          <a:effectLst/>
                        </a:rPr>
                        <a:t>4.1.Orientações de uso...................................................................................................................................................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09</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517831848"/>
                  </a:ext>
                </a:extLst>
              </a:tr>
              <a:tr h="180000">
                <a:tc>
                  <a:txBody>
                    <a:bodyPr/>
                    <a:lstStyle/>
                    <a:p>
                      <a:pPr>
                        <a:lnSpc>
                          <a:spcPct val="100000"/>
                        </a:lnSpc>
                        <a:spcAft>
                          <a:spcPts val="0"/>
                        </a:spcAft>
                      </a:pPr>
                      <a:r>
                        <a:rPr lang="pt-BR" sz="800" dirty="0">
                          <a:effectLst/>
                        </a:rPr>
                        <a:t>4.2.Orientações de uso – Forno com </a:t>
                      </a:r>
                      <a:r>
                        <a:rPr lang="pt-BR" sz="800" dirty="0" err="1">
                          <a:effectLst/>
                        </a:rPr>
                        <a:t>gratinador</a:t>
                      </a:r>
                      <a:r>
                        <a:rPr lang="pt-BR" sz="800" dirty="0">
                          <a:effectLst/>
                        </a:rPr>
                        <a:t>............................................................................................................</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latin typeface="Calibri" panose="020F0502020204030204" pitchFamily="34" charset="0"/>
                          <a:ea typeface="Calibri" panose="020F0502020204030204" pitchFamily="34" charset="0"/>
                          <a:cs typeface="Times New Roman" panose="02020603050405020304" pitchFamily="18" charset="0"/>
                        </a:rPr>
                        <a:t>10</a:t>
                      </a:r>
                    </a:p>
                  </a:txBody>
                  <a:tcPr marL="0" marR="0" marT="0" marB="0"/>
                </a:tc>
                <a:extLst>
                  <a:ext uri="{0D108BD9-81ED-4DB2-BD59-A6C34878D82A}">
                    <a16:rowId xmlns:a16="http://schemas.microsoft.com/office/drawing/2014/main" val="2136414046"/>
                  </a:ext>
                </a:extLst>
              </a:tr>
              <a:tr h="180000">
                <a:tc>
                  <a:txBody>
                    <a:bodyPr/>
                    <a:lstStyle/>
                    <a:p>
                      <a:pPr>
                        <a:lnSpc>
                          <a:spcPct val="100000"/>
                        </a:lnSpc>
                        <a:spcAft>
                          <a:spcPts val="0"/>
                        </a:spcAft>
                      </a:pPr>
                      <a:r>
                        <a:rPr lang="pt-BR" sz="800" dirty="0">
                          <a:effectLst/>
                        </a:rPr>
                        <a:t>5. ANÁLISE E RESOLUÇÕES DE PROBLEMAS...................................................................................................................</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latin typeface="Calibri" panose="020F0502020204030204" pitchFamily="34" charset="0"/>
                          <a:ea typeface="Calibri" panose="020F0502020204030204" pitchFamily="34" charset="0"/>
                          <a:cs typeface="Times New Roman" panose="02020603050405020304" pitchFamily="18" charset="0"/>
                        </a:rPr>
                        <a:t>11</a:t>
                      </a:r>
                    </a:p>
                  </a:txBody>
                  <a:tcPr marL="0" marR="0" marT="0" marB="0"/>
                </a:tc>
                <a:extLst>
                  <a:ext uri="{0D108BD9-81ED-4DB2-BD59-A6C34878D82A}">
                    <a16:rowId xmlns:a16="http://schemas.microsoft.com/office/drawing/2014/main" val="1926894886"/>
                  </a:ext>
                </a:extLst>
              </a:tr>
              <a:tr h="180000">
                <a:tc>
                  <a:txBody>
                    <a:bodyPr/>
                    <a:lstStyle/>
                    <a:p>
                      <a:pPr>
                        <a:lnSpc>
                          <a:spcPct val="100000"/>
                        </a:lnSpc>
                        <a:spcAft>
                          <a:spcPts val="0"/>
                        </a:spcAft>
                      </a:pPr>
                      <a:r>
                        <a:rPr lang="pt-BR" sz="800" dirty="0">
                          <a:effectLst/>
                        </a:rPr>
                        <a:t>6. TERMO DE GARANTIA.................................................................................................................................................</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12</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908243385"/>
                  </a:ext>
                </a:extLst>
              </a:tr>
            </a:tbl>
          </a:graphicData>
        </a:graphic>
      </p:graphicFrame>
    </p:spTree>
    <p:extLst>
      <p:ext uri="{BB962C8B-B14F-4D97-AF65-F5344CB8AC3E}">
        <p14:creationId xmlns:p14="http://schemas.microsoft.com/office/powerpoint/2010/main" val="3505505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ixaDeTexto 10"/>
          <p:cNvSpPr txBox="1"/>
          <p:nvPr/>
        </p:nvSpPr>
        <p:spPr>
          <a:xfrm>
            <a:off x="167689" y="424993"/>
            <a:ext cx="5001042" cy="4939814"/>
          </a:xfrm>
          <a:prstGeom prst="rect">
            <a:avLst/>
          </a:prstGeom>
          <a:noFill/>
        </p:spPr>
        <p:txBody>
          <a:bodyPr wrap="square" rtlCol="0">
            <a:spAutoFit/>
          </a:bodyPr>
          <a:lstStyle/>
          <a:p>
            <a:pPr algn="just"/>
            <a:r>
              <a:rPr lang="pt-BR" sz="1050" b="1" dirty="0"/>
              <a:t>1.1 SEGURANÇA</a:t>
            </a:r>
          </a:p>
          <a:p>
            <a:pPr algn="just"/>
            <a:r>
              <a:rPr lang="pt-BR" sz="1050" b="1" dirty="0"/>
              <a:t>1.1.1</a:t>
            </a:r>
            <a:r>
              <a:rPr lang="pt-BR" sz="1050" dirty="0"/>
              <a:t> Leia todas as instruções contidas neste manual.</a:t>
            </a:r>
          </a:p>
          <a:p>
            <a:pPr algn="just"/>
            <a:r>
              <a:rPr lang="pt-BR" sz="1050" b="1" dirty="0"/>
              <a:t>1.1.2 </a:t>
            </a:r>
            <a:r>
              <a:rPr lang="pt-BR" sz="1050" dirty="0"/>
              <a:t>Todos os produtos, sejam fornos ou fogões a gás, industriais/profissional, de baixa pressão da Só Aço Industrial são fabricados para funcionarem com válvulas reguladora de pressão para gás GLP e conforme as normas de segurança da ABNT.</a:t>
            </a:r>
          </a:p>
          <a:p>
            <a:pPr algn="just"/>
            <a:r>
              <a:rPr lang="pt-BR" sz="1050" b="1" dirty="0"/>
              <a:t>1.1.3 </a:t>
            </a:r>
            <a:r>
              <a:rPr lang="pt-BR" sz="1050" dirty="0"/>
              <a:t>A instalação deve ser feita de acordo com as instruções do fabricante e por pessoas qualificadas e autorizadas;</a:t>
            </a:r>
          </a:p>
          <a:p>
            <a:pPr algn="just"/>
            <a:r>
              <a:rPr lang="pt-BR" sz="1050" b="1" dirty="0"/>
              <a:t>1.1.4</a:t>
            </a:r>
            <a:r>
              <a:rPr lang="pt-BR" sz="1050" dirty="0"/>
              <a:t> Para eventuais reparos, dirija-se exclusivamente a um centro de assistência técnica autorizado pelo fabricante e solicite peças de reposição originais;</a:t>
            </a:r>
          </a:p>
          <a:p>
            <a:pPr algn="just"/>
            <a:r>
              <a:rPr lang="pt-BR" sz="1050" b="1" dirty="0"/>
              <a:t>1.1.5</a:t>
            </a:r>
            <a:r>
              <a:rPr lang="pt-BR" sz="1050" dirty="0"/>
              <a:t> O não cumprimento dos avisos contidos neste manual pode comprometer a segurança do operador;</a:t>
            </a:r>
          </a:p>
          <a:p>
            <a:pPr algn="just"/>
            <a:r>
              <a:rPr lang="pt-BR" sz="1050" b="1" dirty="0"/>
              <a:t>1.1.6 </a:t>
            </a:r>
            <a:r>
              <a:rPr lang="pt-BR" sz="1050" dirty="0"/>
              <a:t>Entre em contato com o distribuidor de sua confiança para conseguir o endereço da autorizada mais próxima de você.</a:t>
            </a:r>
          </a:p>
          <a:p>
            <a:pPr algn="just"/>
            <a:r>
              <a:rPr lang="pt-BR" sz="1050" b="1" dirty="0"/>
              <a:t>1.1.7 </a:t>
            </a:r>
            <a:r>
              <a:rPr lang="pt-BR" sz="1050" dirty="0"/>
              <a:t>Conservar em local adequado este manual para qualquer consulta.</a:t>
            </a:r>
          </a:p>
          <a:p>
            <a:pPr algn="just"/>
            <a:r>
              <a:rPr lang="pt-BR" sz="1050" b="1" dirty="0"/>
              <a:t>1.1.8</a:t>
            </a:r>
            <a:r>
              <a:rPr lang="pt-BR" sz="1050" dirty="0"/>
              <a:t> O fabricante reserva-se o direito de modificar em qualquer momento e sem aviso prévio o conteúdo deste manual.</a:t>
            </a:r>
          </a:p>
          <a:p>
            <a:pPr algn="just"/>
            <a:r>
              <a:rPr lang="pt-BR" sz="1050" b="1" dirty="0"/>
              <a:t>1.1.9</a:t>
            </a:r>
            <a:r>
              <a:rPr lang="pt-BR" sz="1050" dirty="0"/>
              <a:t> A Só Aço se reserva do direito de alterar as características dos seus produtos sem aviso prévio.</a:t>
            </a:r>
          </a:p>
          <a:p>
            <a:pPr algn="just"/>
            <a:r>
              <a:rPr lang="pt-BR" sz="1050" b="1" dirty="0"/>
              <a:t>1.1.10</a:t>
            </a:r>
            <a:r>
              <a:rPr lang="pt-BR" sz="1050" dirty="0"/>
              <a:t> Este equipamento não se destina a utilização por pessoas (inclusive crianças) com capacidades físicas, sensoriais ou mentais reduzidas, ou por pessoas com falta de experiência e conhecimento, a menos que tenha recebido instruções referentes à utilização do equipamento ou estejam sob a supervisão de uma pessoa responsável pela sua segurança.</a:t>
            </a:r>
          </a:p>
          <a:p>
            <a:pPr algn="just"/>
            <a:r>
              <a:rPr lang="pt-BR" sz="1050" b="1" dirty="0"/>
              <a:t>1.1.11</a:t>
            </a:r>
            <a:r>
              <a:rPr lang="pt-BR" sz="1050" dirty="0"/>
              <a:t> Recomenda-se que as crianças sejam vigiadas para assegurar que elas não estejam brincando com o equipamento.</a:t>
            </a:r>
          </a:p>
          <a:p>
            <a:pPr algn="just"/>
            <a:r>
              <a:rPr lang="pt-BR" sz="1050" b="1" dirty="0"/>
              <a:t>1.1.12</a:t>
            </a:r>
            <a:r>
              <a:rPr lang="pt-BR" sz="1050" dirty="0"/>
              <a:t> Não guarde substâncias explosivas, tais como aerossol com um propelente inflamável neste aparelho </a:t>
            </a:r>
          </a:p>
          <a:p>
            <a:pPr algn="just"/>
            <a:r>
              <a:rPr lang="pt-BR" sz="1050" b="1" dirty="0"/>
              <a:t>1.1.13 </a:t>
            </a:r>
            <a:r>
              <a:rPr lang="pt-BR" sz="1050" dirty="0"/>
              <a:t>Higienizar diariamente o produto após o uso utilizando detergente neutro, não utilize materiais abrasivos e jamais utilize jato d’água para a higienização do produto.</a:t>
            </a:r>
          </a:p>
          <a:p>
            <a:pPr algn="just"/>
            <a:endParaRPr lang="pt-BR" sz="1050" dirty="0"/>
          </a:p>
        </p:txBody>
      </p:sp>
      <p:sp>
        <p:nvSpPr>
          <p:cNvPr id="26" name="Retângulo 25">
            <a:extLst>
              <a:ext uri="{FF2B5EF4-FFF2-40B4-BE49-F238E27FC236}">
                <a16:creationId xmlns:a16="http://schemas.microsoft.com/office/drawing/2014/main" id="{82323E52-BACF-48AD-B8FA-8F60F81D68A0}"/>
              </a:ext>
            </a:extLst>
          </p:cNvPr>
          <p:cNvSpPr/>
          <p:nvPr/>
        </p:nvSpPr>
        <p:spPr>
          <a:xfrm>
            <a:off x="181560" y="217089"/>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  INTRODUÇÃO</a:t>
            </a:r>
          </a:p>
        </p:txBody>
      </p:sp>
      <p:sp>
        <p:nvSpPr>
          <p:cNvPr id="8" name="CaixaDeTexto 7"/>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02</a:t>
            </a:r>
          </a:p>
        </p:txBody>
      </p:sp>
    </p:spTree>
    <p:extLst>
      <p:ext uri="{BB962C8B-B14F-4D97-AF65-F5344CB8AC3E}">
        <p14:creationId xmlns:p14="http://schemas.microsoft.com/office/powerpoint/2010/main" val="2943905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ixaDeTexto 9">
            <a:extLst>
              <a:ext uri="{FF2B5EF4-FFF2-40B4-BE49-F238E27FC236}">
                <a16:creationId xmlns:a16="http://schemas.microsoft.com/office/drawing/2014/main" id="{997F9E67-7CEF-43C2-BE62-225F396CADA4}"/>
              </a:ext>
            </a:extLst>
          </p:cNvPr>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03</a:t>
            </a:r>
          </a:p>
        </p:txBody>
      </p:sp>
      <p:sp>
        <p:nvSpPr>
          <p:cNvPr id="5" name="Retângulo 4">
            <a:extLst>
              <a:ext uri="{FF2B5EF4-FFF2-40B4-BE49-F238E27FC236}">
                <a16:creationId xmlns:a16="http://schemas.microsoft.com/office/drawing/2014/main" id="{31C546B9-CA64-4178-A0AB-F7B116EA7540}"/>
              </a:ext>
            </a:extLst>
          </p:cNvPr>
          <p:cNvSpPr/>
          <p:nvPr/>
        </p:nvSpPr>
        <p:spPr>
          <a:xfrm>
            <a:off x="305817" y="252239"/>
            <a:ext cx="1919115" cy="246221"/>
          </a:xfrm>
          <a:prstGeom prst="rect">
            <a:avLst/>
          </a:prstGeom>
        </p:spPr>
        <p:txBody>
          <a:bodyPr wrap="none">
            <a:spAutoFit/>
          </a:bodyPr>
          <a:lstStyle/>
          <a:p>
            <a:pPr lvl="0" algn="just"/>
            <a:r>
              <a:rPr lang="pt-BR" sz="1000" b="1" dirty="0">
                <a:solidFill>
                  <a:prstClr val="black"/>
                </a:solidFill>
              </a:rPr>
              <a:t>1.2 DIMENSÕES/COMPONENTES</a:t>
            </a:r>
          </a:p>
        </p:txBody>
      </p:sp>
      <p:pic>
        <p:nvPicPr>
          <p:cNvPr id="1026" name="Picture 2" descr="IMG-20191128-WA0006 c¾pia"/>
          <p:cNvPicPr>
            <a:picLocks noChangeAspect="1" noChangeArrowheads="1"/>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896078" y="3978043"/>
            <a:ext cx="2306283" cy="318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ela 5"/>
          <p:cNvGraphicFramePr>
            <a:graphicFrameLocks noGrp="1"/>
          </p:cNvGraphicFramePr>
          <p:nvPr>
            <p:extLst>
              <p:ext uri="{D42A27DB-BD31-4B8C-83A1-F6EECF244321}">
                <p14:modId xmlns:p14="http://schemas.microsoft.com/office/powerpoint/2010/main" val="3555535008"/>
              </p:ext>
            </p:extLst>
          </p:nvPr>
        </p:nvGraphicFramePr>
        <p:xfrm>
          <a:off x="398921" y="468263"/>
          <a:ext cx="4710335" cy="2945130"/>
        </p:xfrm>
        <a:graphic>
          <a:graphicData uri="http://schemas.openxmlformats.org/drawingml/2006/table">
            <a:tbl>
              <a:tblPr firstRow="1" bandRow="1">
                <a:tableStyleId>{9D7B26C5-4107-4FEC-AEDC-1716B250A1EF}</a:tableStyleId>
              </a:tblPr>
              <a:tblGrid>
                <a:gridCol w="987016">
                  <a:extLst>
                    <a:ext uri="{9D8B030D-6E8A-4147-A177-3AD203B41FA5}">
                      <a16:colId xmlns:a16="http://schemas.microsoft.com/office/drawing/2014/main" val="758592272"/>
                    </a:ext>
                  </a:extLst>
                </a:gridCol>
                <a:gridCol w="360040">
                  <a:extLst>
                    <a:ext uri="{9D8B030D-6E8A-4147-A177-3AD203B41FA5}">
                      <a16:colId xmlns:a16="http://schemas.microsoft.com/office/drawing/2014/main" val="20000"/>
                    </a:ext>
                  </a:extLst>
                </a:gridCol>
                <a:gridCol w="360040">
                  <a:extLst>
                    <a:ext uri="{9D8B030D-6E8A-4147-A177-3AD203B41FA5}">
                      <a16:colId xmlns:a16="http://schemas.microsoft.com/office/drawing/2014/main" val="20002"/>
                    </a:ext>
                  </a:extLst>
                </a:gridCol>
                <a:gridCol w="288032">
                  <a:extLst>
                    <a:ext uri="{9D8B030D-6E8A-4147-A177-3AD203B41FA5}">
                      <a16:colId xmlns:a16="http://schemas.microsoft.com/office/drawing/2014/main" val="20003"/>
                    </a:ext>
                  </a:extLst>
                </a:gridCol>
                <a:gridCol w="432048">
                  <a:extLst>
                    <a:ext uri="{9D8B030D-6E8A-4147-A177-3AD203B41FA5}">
                      <a16:colId xmlns:a16="http://schemas.microsoft.com/office/drawing/2014/main" val="20004"/>
                    </a:ext>
                  </a:extLst>
                </a:gridCol>
                <a:gridCol w="360040">
                  <a:extLst>
                    <a:ext uri="{9D8B030D-6E8A-4147-A177-3AD203B41FA5}">
                      <a16:colId xmlns:a16="http://schemas.microsoft.com/office/drawing/2014/main" val="20005"/>
                    </a:ext>
                  </a:extLst>
                </a:gridCol>
                <a:gridCol w="288032">
                  <a:extLst>
                    <a:ext uri="{9D8B030D-6E8A-4147-A177-3AD203B41FA5}">
                      <a16:colId xmlns:a16="http://schemas.microsoft.com/office/drawing/2014/main" val="20006"/>
                    </a:ext>
                  </a:extLst>
                </a:gridCol>
                <a:gridCol w="720080">
                  <a:extLst>
                    <a:ext uri="{9D8B030D-6E8A-4147-A177-3AD203B41FA5}">
                      <a16:colId xmlns:a16="http://schemas.microsoft.com/office/drawing/2014/main" val="20007"/>
                    </a:ext>
                  </a:extLst>
                </a:gridCol>
                <a:gridCol w="915007">
                  <a:extLst>
                    <a:ext uri="{9D8B030D-6E8A-4147-A177-3AD203B41FA5}">
                      <a16:colId xmlns:a16="http://schemas.microsoft.com/office/drawing/2014/main" val="674205717"/>
                    </a:ext>
                  </a:extLst>
                </a:gridCol>
              </a:tblGrid>
              <a:tr h="176662">
                <a:tc>
                  <a:txBody>
                    <a:bodyPr/>
                    <a:lstStyle/>
                    <a:p>
                      <a:pPr algn="ctr"/>
                      <a:endParaRPr lang="pt-BR" sz="850" dirty="0">
                        <a:latin typeface="Arial" pitchFamily="34" charset="0"/>
                        <a:cs typeface="Arial" pitchFamily="34" charset="0"/>
                      </a:endParaRPr>
                    </a:p>
                  </a:txBody>
                  <a:tcPr/>
                </a:tc>
                <a:tc gridSpan="3">
                  <a:txBody>
                    <a:bodyPr/>
                    <a:lstStyle/>
                    <a:p>
                      <a:pPr algn="ctr"/>
                      <a:r>
                        <a:rPr lang="pt-BR" sz="850" dirty="0">
                          <a:latin typeface="Arial" pitchFamily="34" charset="0"/>
                          <a:cs typeface="Arial" pitchFamily="34" charset="0"/>
                        </a:rPr>
                        <a:t>MEDIDAS</a:t>
                      </a:r>
                      <a:r>
                        <a:rPr lang="pt-BR" sz="850" baseline="0" dirty="0">
                          <a:latin typeface="Arial" pitchFamily="34" charset="0"/>
                          <a:cs typeface="Arial" pitchFamily="34" charset="0"/>
                        </a:rPr>
                        <a:t> INTERNAS (MM)</a:t>
                      </a:r>
                      <a:endParaRPr lang="pt-BR" sz="850" dirty="0">
                        <a:latin typeface="Arial" pitchFamily="34" charset="0"/>
                        <a:cs typeface="Arial" pitchFamily="34" charset="0"/>
                      </a:endParaRPr>
                    </a:p>
                  </a:txBody>
                  <a:tcPr anchor="ctr"/>
                </a:tc>
                <a:tc hMerge="1">
                  <a:txBody>
                    <a:bodyPr/>
                    <a:lstStyle/>
                    <a:p>
                      <a:pPr algn="ctr"/>
                      <a:endParaRPr lang="pt-BR" sz="850" dirty="0">
                        <a:latin typeface="Arial" pitchFamily="34" charset="0"/>
                        <a:cs typeface="Arial" pitchFamily="34" charset="0"/>
                      </a:endParaRPr>
                    </a:p>
                  </a:txBody>
                  <a:tcPr/>
                </a:tc>
                <a:tc hMerge="1">
                  <a:txBody>
                    <a:bodyPr/>
                    <a:lstStyle/>
                    <a:p>
                      <a:pPr algn="ctr"/>
                      <a:endParaRPr lang="pt-BR" sz="850" dirty="0">
                        <a:latin typeface="Arial" pitchFamily="34" charset="0"/>
                        <a:cs typeface="Arial" pitchFamily="34" charset="0"/>
                      </a:endParaRPr>
                    </a:p>
                  </a:txBody>
                  <a:tcPr/>
                </a:tc>
                <a:tc gridSpan="3">
                  <a:txBody>
                    <a:bodyPr/>
                    <a:lstStyle/>
                    <a:p>
                      <a:pPr algn="ctr"/>
                      <a:r>
                        <a:rPr lang="pt-BR" sz="850" dirty="0">
                          <a:latin typeface="Arial" pitchFamily="34" charset="0"/>
                          <a:cs typeface="Arial" pitchFamily="34" charset="0"/>
                        </a:rPr>
                        <a:t>MEDIDAS</a:t>
                      </a:r>
                      <a:r>
                        <a:rPr lang="pt-BR" sz="850" baseline="0" dirty="0">
                          <a:latin typeface="Arial" pitchFamily="34" charset="0"/>
                          <a:cs typeface="Arial" pitchFamily="34" charset="0"/>
                        </a:rPr>
                        <a:t> EXTERNAS (MM)</a:t>
                      </a:r>
                      <a:endParaRPr lang="pt-BR" sz="850" dirty="0">
                        <a:latin typeface="Arial" pitchFamily="34" charset="0"/>
                        <a:cs typeface="Arial" pitchFamily="34" charset="0"/>
                      </a:endParaRPr>
                    </a:p>
                  </a:txBody>
                  <a:tcPr anchor="ctr"/>
                </a:tc>
                <a:tc hMerge="1">
                  <a:txBody>
                    <a:bodyPr/>
                    <a:lstStyle/>
                    <a:p>
                      <a:pPr algn="ctr"/>
                      <a:endParaRPr lang="pt-BR" sz="850" dirty="0">
                        <a:latin typeface="Arial" pitchFamily="34" charset="0"/>
                        <a:cs typeface="Arial" pitchFamily="34" charset="0"/>
                      </a:endParaRPr>
                    </a:p>
                  </a:txBody>
                  <a:tcPr/>
                </a:tc>
                <a:tc hMerge="1">
                  <a:txBody>
                    <a:bodyPr/>
                    <a:lstStyle/>
                    <a:p>
                      <a:pPr algn="ctr"/>
                      <a:endParaRPr lang="pt-BR" sz="850" dirty="0">
                        <a:latin typeface="Arial" pitchFamily="34" charset="0"/>
                        <a:cs typeface="Arial" pitchFamily="34" charset="0"/>
                      </a:endParaRPr>
                    </a:p>
                  </a:txBody>
                  <a:tcPr/>
                </a:tc>
                <a:tc>
                  <a:txBody>
                    <a:bodyPr/>
                    <a:lstStyle/>
                    <a:p>
                      <a:pPr algn="ctr"/>
                      <a:r>
                        <a:rPr lang="pt-BR" sz="850" dirty="0">
                          <a:latin typeface="Arial" pitchFamily="34" charset="0"/>
                          <a:cs typeface="Arial" pitchFamily="34" charset="0"/>
                        </a:rPr>
                        <a:t>Consumo de gás botijão 13Kg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850" dirty="0">
                          <a:latin typeface="Arial" pitchFamily="34" charset="0"/>
                          <a:cs typeface="Arial" pitchFamily="34" charset="0"/>
                        </a:rPr>
                        <a:t>Consumo de gás botijão 13Kg - </a:t>
                      </a:r>
                      <a:r>
                        <a:rPr lang="pt-BR" sz="850" dirty="0" err="1">
                          <a:latin typeface="Arial" pitchFamily="34" charset="0"/>
                          <a:cs typeface="Arial" pitchFamily="34" charset="0"/>
                        </a:rPr>
                        <a:t>Gratinadores</a:t>
                      </a:r>
                      <a:endParaRPr lang="pt-BR" sz="850" dirty="0">
                        <a:latin typeface="Arial" pitchFamily="34" charset="0"/>
                        <a:cs typeface="Arial" pitchFamily="34" charset="0"/>
                      </a:endParaRPr>
                    </a:p>
                  </a:txBody>
                  <a:tcPr anchor="ctr"/>
                </a:tc>
                <a:extLst>
                  <a:ext uri="{0D108BD9-81ED-4DB2-BD59-A6C34878D82A}">
                    <a16:rowId xmlns:a16="http://schemas.microsoft.com/office/drawing/2014/main" val="10007"/>
                  </a:ext>
                </a:extLst>
              </a:tr>
              <a:tr h="176662">
                <a:tc>
                  <a:txBody>
                    <a:bodyPr/>
                    <a:lstStyle/>
                    <a:p>
                      <a:pPr algn="ctr"/>
                      <a:r>
                        <a:rPr lang="pt-BR" sz="900" b="1" dirty="0">
                          <a:latin typeface="+mn-lt"/>
                          <a:cs typeface="+mn-cs"/>
                        </a:rPr>
                        <a:t>PRODUTO</a:t>
                      </a:r>
                      <a:r>
                        <a:rPr lang="pt-BR" sz="900" b="1" baseline="0" dirty="0">
                          <a:latin typeface="+mn-lt"/>
                          <a:cs typeface="+mn-cs"/>
                        </a:rPr>
                        <a:t> </a:t>
                      </a:r>
                      <a:endParaRPr lang="pt-BR" sz="900" b="1" dirty="0">
                        <a:latin typeface="Arial" pitchFamily="34" charset="0"/>
                        <a:cs typeface="Arial" pitchFamily="34" charset="0"/>
                      </a:endParaRPr>
                    </a:p>
                  </a:txBody>
                  <a:tcPr anchor="ctr"/>
                </a:tc>
                <a:tc>
                  <a:txBody>
                    <a:bodyPr/>
                    <a:lstStyle/>
                    <a:p>
                      <a:pPr algn="ctr"/>
                      <a:r>
                        <a:rPr lang="pt-BR" sz="900" b="1" dirty="0"/>
                        <a:t>A</a:t>
                      </a:r>
                      <a:endParaRPr lang="pt-BR" sz="900" b="1" dirty="0">
                        <a:latin typeface="Arial" pitchFamily="34" charset="0"/>
                        <a:cs typeface="Arial" pitchFamily="34" charset="0"/>
                      </a:endParaRPr>
                    </a:p>
                  </a:txBody>
                  <a:tcPr anchor="ctr"/>
                </a:tc>
                <a:tc>
                  <a:txBody>
                    <a:bodyPr/>
                    <a:lstStyle/>
                    <a:p>
                      <a:pPr algn="ctr"/>
                      <a:r>
                        <a:rPr lang="pt-BR" sz="900" b="1" dirty="0">
                          <a:latin typeface="Arial" pitchFamily="34" charset="0"/>
                          <a:cs typeface="Arial" pitchFamily="34" charset="0"/>
                        </a:rPr>
                        <a:t>L</a:t>
                      </a:r>
                    </a:p>
                  </a:txBody>
                  <a:tcPr anchor="ctr"/>
                </a:tc>
                <a:tc>
                  <a:txBody>
                    <a:bodyPr/>
                    <a:lstStyle/>
                    <a:p>
                      <a:pPr algn="ctr"/>
                      <a:r>
                        <a:rPr lang="pt-BR" sz="900" b="1" dirty="0">
                          <a:latin typeface="Arial" pitchFamily="34" charset="0"/>
                          <a:cs typeface="Arial" pitchFamily="34" charset="0"/>
                        </a:rPr>
                        <a:t>P</a:t>
                      </a:r>
                    </a:p>
                  </a:txBody>
                  <a:tcPr anchor="ctr"/>
                </a:tc>
                <a:tc>
                  <a:txBody>
                    <a:bodyPr/>
                    <a:lstStyle/>
                    <a:p>
                      <a:pPr algn="ctr"/>
                      <a:r>
                        <a:rPr lang="pt-BR" sz="900" b="1" dirty="0"/>
                        <a:t>A</a:t>
                      </a:r>
                      <a:endParaRPr lang="pt-BR" sz="900" b="1" dirty="0">
                        <a:latin typeface="Arial" pitchFamily="34" charset="0"/>
                        <a:cs typeface="Arial" pitchFamily="34" charset="0"/>
                      </a:endParaRPr>
                    </a:p>
                  </a:txBody>
                  <a:tcPr anchor="ctr"/>
                </a:tc>
                <a:tc>
                  <a:txBody>
                    <a:bodyPr/>
                    <a:lstStyle/>
                    <a:p>
                      <a:pPr algn="ctr"/>
                      <a:r>
                        <a:rPr lang="pt-BR" sz="900" b="1" dirty="0">
                          <a:latin typeface="Arial" pitchFamily="34" charset="0"/>
                          <a:cs typeface="Arial" pitchFamily="34" charset="0"/>
                        </a:rPr>
                        <a:t>L</a:t>
                      </a:r>
                    </a:p>
                  </a:txBody>
                  <a:tcPr anchor="ctr"/>
                </a:tc>
                <a:tc>
                  <a:txBody>
                    <a:bodyPr/>
                    <a:lstStyle/>
                    <a:p>
                      <a:pPr algn="ctr"/>
                      <a:r>
                        <a:rPr lang="pt-BR" sz="900" b="1" dirty="0">
                          <a:latin typeface="Arial" pitchFamily="34" charset="0"/>
                          <a:cs typeface="Arial" pitchFamily="34" charset="0"/>
                        </a:rPr>
                        <a:t>P</a:t>
                      </a:r>
                    </a:p>
                  </a:txBody>
                  <a:tcPr anchor="ctr"/>
                </a:tc>
                <a:tc>
                  <a:txBody>
                    <a:bodyPr/>
                    <a:lstStyle/>
                    <a:p>
                      <a:pPr algn="ctr"/>
                      <a:r>
                        <a:rPr lang="pt-BR" sz="900" b="1" dirty="0">
                          <a:latin typeface="Arial" pitchFamily="34" charset="0"/>
                          <a:cs typeface="Arial" pitchFamily="34" charset="0"/>
                        </a:rPr>
                        <a:t>Kg/h </a:t>
                      </a:r>
                    </a:p>
                  </a:txBody>
                  <a:tcPr anchor="ctr"/>
                </a:tc>
                <a:tc>
                  <a:txBody>
                    <a:bodyPr/>
                    <a:lstStyle/>
                    <a:p>
                      <a:pPr algn="ctr"/>
                      <a:r>
                        <a:rPr lang="pt-BR" sz="900" b="1" dirty="0">
                          <a:latin typeface="Arial" pitchFamily="34" charset="0"/>
                          <a:cs typeface="Arial" pitchFamily="34" charset="0"/>
                        </a:rPr>
                        <a:t>Kg/h</a:t>
                      </a:r>
                    </a:p>
                  </a:txBody>
                  <a:tcPr anchor="ctr"/>
                </a:tc>
                <a:extLst>
                  <a:ext uri="{0D108BD9-81ED-4DB2-BD59-A6C34878D82A}">
                    <a16:rowId xmlns:a16="http://schemas.microsoft.com/office/drawing/2014/main" val="10000"/>
                  </a:ext>
                </a:extLst>
              </a:tr>
              <a:tr h="180000">
                <a:tc>
                  <a:txBody>
                    <a:bodyPr/>
                    <a:lstStyle/>
                    <a:p>
                      <a:r>
                        <a:rPr lang="pt-BR" sz="800" b="0" dirty="0">
                          <a:solidFill>
                            <a:srgbClr val="3A250C"/>
                          </a:solidFill>
                          <a:effectLst/>
                          <a:latin typeface="Arial"/>
                        </a:rPr>
                        <a:t>Forno PRP 770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735</a:t>
                      </a:r>
                    </a:p>
                  </a:txBody>
                  <a:tcPr marL="38100" marR="38100" marT="47625" marB="9525"/>
                </a:tc>
                <a:tc>
                  <a:txBody>
                    <a:bodyPr/>
                    <a:lstStyle/>
                    <a:p>
                      <a:r>
                        <a:rPr lang="pt-BR" sz="800" b="0" dirty="0">
                          <a:solidFill>
                            <a:srgbClr val="3A250C"/>
                          </a:solidFill>
                          <a:effectLst/>
                          <a:latin typeface="Arial"/>
                        </a:rPr>
                        <a:t>775</a:t>
                      </a:r>
                    </a:p>
                  </a:txBody>
                  <a:tcPr marL="38100" marR="38100" marT="47625" marB="9525"/>
                </a:tc>
                <a:tc>
                  <a:txBody>
                    <a:bodyPr/>
                    <a:lstStyle/>
                    <a:p>
                      <a:pPr algn="ctr"/>
                      <a:r>
                        <a:rPr lang="pt-BR" sz="800" b="0" dirty="0">
                          <a:solidFill>
                            <a:srgbClr val="3A250C"/>
                          </a:solidFill>
                          <a:effectLst/>
                          <a:latin typeface="Arial"/>
                        </a:rPr>
                        <a:t>1235</a:t>
                      </a:r>
                    </a:p>
                  </a:txBody>
                  <a:tcPr marL="38100" marR="38100" marT="47625" marB="9525"/>
                </a:tc>
                <a:tc>
                  <a:txBody>
                    <a:bodyPr/>
                    <a:lstStyle/>
                    <a:p>
                      <a:r>
                        <a:rPr lang="pt-BR" sz="800" b="0" dirty="0">
                          <a:solidFill>
                            <a:srgbClr val="3A250C"/>
                          </a:solidFill>
                          <a:effectLst/>
                          <a:latin typeface="Arial"/>
                        </a:rPr>
                        <a:t>830</a:t>
                      </a:r>
                    </a:p>
                  </a:txBody>
                  <a:tcPr marL="38100" marR="38100" marT="47625" marB="9525"/>
                </a:tc>
                <a:tc>
                  <a:txBody>
                    <a:bodyPr/>
                    <a:lstStyle/>
                    <a:p>
                      <a:r>
                        <a:rPr lang="pt-BR" sz="800" b="0" dirty="0">
                          <a:solidFill>
                            <a:srgbClr val="3A250C"/>
                          </a:solidFill>
                          <a:effectLst/>
                          <a:latin typeface="Arial"/>
                        </a:rPr>
                        <a:t>800</a:t>
                      </a:r>
                    </a:p>
                  </a:txBody>
                  <a:tcPr marL="38100" marR="38100" marT="47625" marB="9525"/>
                </a:tc>
                <a:tc>
                  <a:txBody>
                    <a:bodyPr/>
                    <a:lstStyle/>
                    <a:p>
                      <a:pPr algn="ctr"/>
                      <a:r>
                        <a:rPr lang="pt-BR" sz="800" b="0" dirty="0">
                          <a:solidFill>
                            <a:srgbClr val="3A250C"/>
                          </a:solidFill>
                          <a:effectLst/>
                          <a:latin typeface="Arial"/>
                        </a:rPr>
                        <a:t>0,660</a:t>
                      </a:r>
                    </a:p>
                  </a:txBody>
                  <a:tcPr marL="38100" marR="38100" marT="47625" marB="9525"/>
                </a:tc>
                <a:tc>
                  <a:txBody>
                    <a:bodyPr/>
                    <a:lstStyle/>
                    <a:p>
                      <a:pPr algn="ctr"/>
                      <a:r>
                        <a:rPr lang="pt-BR" sz="800" b="1" dirty="0">
                          <a:solidFill>
                            <a:srgbClr val="3A250C"/>
                          </a:solidFill>
                          <a:effectLst/>
                          <a:latin typeface="Arial"/>
                        </a:rPr>
                        <a:t>0,300</a:t>
                      </a:r>
                    </a:p>
                  </a:txBody>
                  <a:tcPr marL="38100" marR="38100" marT="47625" marB="9525"/>
                </a:tc>
                <a:extLst>
                  <a:ext uri="{0D108BD9-81ED-4DB2-BD59-A6C34878D82A}">
                    <a16:rowId xmlns:a16="http://schemas.microsoft.com/office/drawing/2014/main" val="10001"/>
                  </a:ext>
                </a:extLst>
              </a:tr>
              <a:tr h="18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800" b="0" dirty="0">
                          <a:solidFill>
                            <a:srgbClr val="3A250C"/>
                          </a:solidFill>
                          <a:effectLst/>
                          <a:latin typeface="Arial"/>
                        </a:rPr>
                        <a:t>Forno PRP 900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925</a:t>
                      </a:r>
                    </a:p>
                  </a:txBody>
                  <a:tcPr marL="38100" marR="38100" marT="47625" marB="9525"/>
                </a:tc>
                <a:tc>
                  <a:txBody>
                    <a:bodyPr/>
                    <a:lstStyle/>
                    <a:p>
                      <a:r>
                        <a:rPr lang="pt-BR" sz="800" b="0" dirty="0">
                          <a:solidFill>
                            <a:srgbClr val="3A250C"/>
                          </a:solidFill>
                          <a:effectLst/>
                          <a:latin typeface="Arial"/>
                        </a:rPr>
                        <a:t>895</a:t>
                      </a:r>
                    </a:p>
                  </a:txBody>
                  <a:tcPr marL="38100" marR="38100" marT="47625" marB="9525"/>
                </a:tc>
                <a:tc>
                  <a:txBody>
                    <a:bodyPr/>
                    <a:lstStyle/>
                    <a:p>
                      <a:r>
                        <a:rPr lang="pt-BR" sz="800" b="0" dirty="0">
                          <a:solidFill>
                            <a:srgbClr val="3A250C"/>
                          </a:solidFill>
                          <a:effectLst/>
                          <a:latin typeface="Arial"/>
                        </a:rPr>
                        <a:t>1235</a:t>
                      </a:r>
                    </a:p>
                  </a:txBody>
                  <a:tcPr marL="38100" marR="38100" marT="47625" marB="9525"/>
                </a:tc>
                <a:tc>
                  <a:txBody>
                    <a:bodyPr/>
                    <a:lstStyle/>
                    <a:p>
                      <a:r>
                        <a:rPr lang="pt-BR" sz="800" b="0" dirty="0">
                          <a:solidFill>
                            <a:srgbClr val="3A250C"/>
                          </a:solidFill>
                          <a:effectLst/>
                          <a:latin typeface="Arial"/>
                        </a:rPr>
                        <a:t>1030</a:t>
                      </a:r>
                    </a:p>
                  </a:txBody>
                  <a:tcPr marL="38100" marR="38100" marT="47625" marB="9525"/>
                </a:tc>
                <a:tc>
                  <a:txBody>
                    <a:bodyPr/>
                    <a:lstStyle/>
                    <a:p>
                      <a:r>
                        <a:rPr lang="pt-BR" sz="800" b="0" dirty="0">
                          <a:solidFill>
                            <a:srgbClr val="3A250C"/>
                          </a:solidFill>
                          <a:effectLst/>
                          <a:latin typeface="Arial"/>
                        </a:rPr>
                        <a:t>930</a:t>
                      </a:r>
                    </a:p>
                  </a:txBody>
                  <a:tcPr marL="38100" marR="38100" marT="47625" marB="9525"/>
                </a:tc>
                <a:tc>
                  <a:txBody>
                    <a:bodyPr/>
                    <a:lstStyle/>
                    <a:p>
                      <a:pPr algn="ctr"/>
                      <a:r>
                        <a:rPr lang="pt-BR" sz="800" b="0" dirty="0">
                          <a:solidFill>
                            <a:srgbClr val="3A250C"/>
                          </a:solidFill>
                          <a:effectLst/>
                          <a:latin typeface="Arial"/>
                        </a:rPr>
                        <a:t>1,110</a:t>
                      </a:r>
                    </a:p>
                  </a:txBody>
                  <a:tcPr marL="38100" marR="38100" marT="47625" marB="9525"/>
                </a:tc>
                <a:tc>
                  <a:txBody>
                    <a:bodyPr/>
                    <a:lstStyle/>
                    <a:p>
                      <a:pPr algn="ctr"/>
                      <a:r>
                        <a:rPr lang="pt-BR" sz="800" b="1" dirty="0">
                          <a:solidFill>
                            <a:srgbClr val="3A250C"/>
                          </a:solidFill>
                          <a:effectLst/>
                          <a:latin typeface="Arial"/>
                        </a:rPr>
                        <a:t>0,300</a:t>
                      </a:r>
                    </a:p>
                  </a:txBody>
                  <a:tcPr marL="38100" marR="38100" marT="47625" marB="9525"/>
                </a:tc>
                <a:extLst>
                  <a:ext uri="{0D108BD9-81ED-4DB2-BD59-A6C34878D82A}">
                    <a16:rowId xmlns:a16="http://schemas.microsoft.com/office/drawing/2014/main" val="10002"/>
                  </a:ext>
                </a:extLst>
              </a:tr>
              <a:tr h="18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800" b="0" dirty="0">
                          <a:solidFill>
                            <a:srgbClr val="3A250C"/>
                          </a:solidFill>
                          <a:effectLst/>
                          <a:latin typeface="Arial"/>
                        </a:rPr>
                        <a:t>Forno PRP 1300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1200</a:t>
                      </a:r>
                    </a:p>
                  </a:txBody>
                  <a:tcPr marL="38100" marR="38100" marT="47625" marB="9525"/>
                </a:tc>
                <a:tc>
                  <a:txBody>
                    <a:bodyPr/>
                    <a:lstStyle/>
                    <a:p>
                      <a:r>
                        <a:rPr lang="pt-BR" sz="800" b="0" dirty="0">
                          <a:solidFill>
                            <a:srgbClr val="3A250C"/>
                          </a:solidFill>
                          <a:effectLst/>
                          <a:latin typeface="Arial"/>
                        </a:rPr>
                        <a:t>800</a:t>
                      </a:r>
                    </a:p>
                  </a:txBody>
                  <a:tcPr marL="38100" marR="38100" marT="47625" marB="9525"/>
                </a:tc>
                <a:tc>
                  <a:txBody>
                    <a:bodyPr/>
                    <a:lstStyle/>
                    <a:p>
                      <a:r>
                        <a:rPr lang="pt-BR" sz="800" b="0" dirty="0">
                          <a:solidFill>
                            <a:srgbClr val="3A250C"/>
                          </a:solidFill>
                          <a:effectLst/>
                          <a:latin typeface="Arial"/>
                        </a:rPr>
                        <a:t>1235</a:t>
                      </a:r>
                    </a:p>
                  </a:txBody>
                  <a:tcPr marL="38100" marR="38100" marT="47625" marB="9525"/>
                </a:tc>
                <a:tc>
                  <a:txBody>
                    <a:bodyPr/>
                    <a:lstStyle/>
                    <a:p>
                      <a:r>
                        <a:rPr lang="pt-BR" sz="800" b="0" dirty="0">
                          <a:solidFill>
                            <a:srgbClr val="3A250C"/>
                          </a:solidFill>
                          <a:effectLst/>
                          <a:latin typeface="Arial"/>
                        </a:rPr>
                        <a:t>1300</a:t>
                      </a:r>
                    </a:p>
                  </a:txBody>
                  <a:tcPr marL="38100" marR="38100" marT="47625" marB="9525"/>
                </a:tc>
                <a:tc>
                  <a:txBody>
                    <a:bodyPr/>
                    <a:lstStyle/>
                    <a:p>
                      <a:r>
                        <a:rPr lang="pt-BR" sz="800" b="0" dirty="0">
                          <a:solidFill>
                            <a:srgbClr val="3A250C"/>
                          </a:solidFill>
                          <a:effectLst/>
                          <a:latin typeface="Arial"/>
                        </a:rPr>
                        <a:t>830</a:t>
                      </a:r>
                    </a:p>
                  </a:txBody>
                  <a:tcPr marL="38100" marR="38100" marT="47625" marB="9525"/>
                </a:tc>
                <a:tc>
                  <a:txBody>
                    <a:bodyPr/>
                    <a:lstStyle/>
                    <a:p>
                      <a:pPr algn="ctr"/>
                      <a:r>
                        <a:rPr lang="pt-BR" sz="800" b="0" dirty="0">
                          <a:solidFill>
                            <a:srgbClr val="3A250C"/>
                          </a:solidFill>
                          <a:effectLst/>
                          <a:latin typeface="Arial"/>
                        </a:rPr>
                        <a:t>1,410 </a:t>
                      </a:r>
                    </a:p>
                  </a:txBody>
                  <a:tcPr marL="38100" marR="38100" marT="47625" marB="9525"/>
                </a:tc>
                <a:tc>
                  <a:txBody>
                    <a:bodyPr/>
                    <a:lstStyle/>
                    <a:p>
                      <a:pPr algn="ctr"/>
                      <a:r>
                        <a:rPr lang="pt-BR" sz="800" b="1" dirty="0">
                          <a:solidFill>
                            <a:srgbClr val="3A250C"/>
                          </a:solidFill>
                          <a:effectLst/>
                          <a:latin typeface="Arial"/>
                        </a:rPr>
                        <a:t>0,300</a:t>
                      </a:r>
                    </a:p>
                  </a:txBody>
                  <a:tcPr marL="38100" marR="38100" marT="47625" marB="9525"/>
                </a:tc>
                <a:extLst>
                  <a:ext uri="{0D108BD9-81ED-4DB2-BD59-A6C34878D82A}">
                    <a16:rowId xmlns:a16="http://schemas.microsoft.com/office/drawing/2014/main" val="10003"/>
                  </a:ext>
                </a:extLst>
              </a:tr>
              <a:tr h="180000">
                <a:tc>
                  <a:txBody>
                    <a:bodyPr/>
                    <a:lstStyle/>
                    <a:p>
                      <a:r>
                        <a:rPr lang="pt-BR" sz="800" b="0" dirty="0">
                          <a:solidFill>
                            <a:srgbClr val="3A250C"/>
                          </a:solidFill>
                          <a:effectLst/>
                          <a:latin typeface="Arial"/>
                        </a:rPr>
                        <a:t>Forno PRP 770 duplo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735</a:t>
                      </a:r>
                    </a:p>
                  </a:txBody>
                  <a:tcPr marL="38100" marR="38100" marT="47625" marB="9525"/>
                </a:tc>
                <a:tc>
                  <a:txBody>
                    <a:bodyPr/>
                    <a:lstStyle/>
                    <a:p>
                      <a:r>
                        <a:rPr lang="pt-BR" sz="800" b="0" dirty="0">
                          <a:solidFill>
                            <a:srgbClr val="3A250C"/>
                          </a:solidFill>
                          <a:effectLst/>
                          <a:latin typeface="Arial"/>
                        </a:rPr>
                        <a:t>775</a:t>
                      </a:r>
                    </a:p>
                  </a:txBody>
                  <a:tcPr marL="38100" marR="38100" marT="47625" marB="9525"/>
                </a:tc>
                <a:tc>
                  <a:txBody>
                    <a:bodyPr/>
                    <a:lstStyle/>
                    <a:p>
                      <a:r>
                        <a:rPr lang="pt-BR" sz="800" b="0" dirty="0">
                          <a:solidFill>
                            <a:srgbClr val="3A250C"/>
                          </a:solidFill>
                          <a:effectLst/>
                          <a:latin typeface="Arial"/>
                        </a:rPr>
                        <a:t>1835</a:t>
                      </a:r>
                    </a:p>
                  </a:txBody>
                  <a:tcPr marL="38100" marR="38100" marT="47625" marB="9525"/>
                </a:tc>
                <a:tc>
                  <a:txBody>
                    <a:bodyPr/>
                    <a:lstStyle/>
                    <a:p>
                      <a:r>
                        <a:rPr lang="pt-BR" sz="800" b="0" dirty="0">
                          <a:solidFill>
                            <a:srgbClr val="3A250C"/>
                          </a:solidFill>
                          <a:effectLst/>
                          <a:latin typeface="Arial"/>
                        </a:rPr>
                        <a:t>830</a:t>
                      </a:r>
                    </a:p>
                  </a:txBody>
                  <a:tcPr marL="38100" marR="38100" marT="47625" marB="9525"/>
                </a:tc>
                <a:tc>
                  <a:txBody>
                    <a:bodyPr/>
                    <a:lstStyle/>
                    <a:p>
                      <a:r>
                        <a:rPr lang="pt-BR" sz="800" b="0" dirty="0">
                          <a:solidFill>
                            <a:srgbClr val="3A250C"/>
                          </a:solidFill>
                          <a:effectLst/>
                          <a:latin typeface="Arial"/>
                        </a:rPr>
                        <a:t>800</a:t>
                      </a:r>
                    </a:p>
                  </a:txBody>
                  <a:tcPr marL="38100" marR="38100" marT="47625" marB="9525"/>
                </a:tc>
                <a:tc>
                  <a:txBody>
                    <a:bodyPr/>
                    <a:lstStyle/>
                    <a:p>
                      <a:pPr algn="ctr"/>
                      <a:r>
                        <a:rPr lang="pt-BR" sz="800" b="0" dirty="0">
                          <a:solidFill>
                            <a:srgbClr val="3A250C"/>
                          </a:solidFill>
                          <a:effectLst/>
                          <a:latin typeface="Arial"/>
                        </a:rPr>
                        <a:t>1,320</a:t>
                      </a:r>
                    </a:p>
                  </a:txBody>
                  <a:tcPr marL="38100" marR="38100" marT="47625" marB="9525"/>
                </a:tc>
                <a:tc>
                  <a:txBody>
                    <a:bodyPr/>
                    <a:lstStyle/>
                    <a:p>
                      <a:pPr algn="ctr"/>
                      <a:r>
                        <a:rPr lang="pt-BR" sz="800" b="1" dirty="0">
                          <a:solidFill>
                            <a:srgbClr val="3A250C"/>
                          </a:solidFill>
                          <a:effectLst/>
                          <a:latin typeface="Arial"/>
                        </a:rPr>
                        <a:t>-</a:t>
                      </a:r>
                    </a:p>
                  </a:txBody>
                  <a:tcPr marL="38100" marR="38100" marT="47625" marB="9525"/>
                </a:tc>
                <a:extLst>
                  <a:ext uri="{0D108BD9-81ED-4DB2-BD59-A6C34878D82A}">
                    <a16:rowId xmlns:a16="http://schemas.microsoft.com/office/drawing/2014/main" val="10004"/>
                  </a:ext>
                </a:extLst>
              </a:tr>
              <a:tr h="18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800" b="0" dirty="0">
                          <a:solidFill>
                            <a:srgbClr val="3A250C"/>
                          </a:solidFill>
                          <a:effectLst/>
                          <a:latin typeface="Arial"/>
                        </a:rPr>
                        <a:t>Forno PRP 900 duplo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925</a:t>
                      </a:r>
                    </a:p>
                  </a:txBody>
                  <a:tcPr marL="38100" marR="38100" marT="47625" marB="9525"/>
                </a:tc>
                <a:tc>
                  <a:txBody>
                    <a:bodyPr/>
                    <a:lstStyle/>
                    <a:p>
                      <a:r>
                        <a:rPr lang="pt-BR" sz="800" b="0" dirty="0">
                          <a:solidFill>
                            <a:srgbClr val="3A250C"/>
                          </a:solidFill>
                          <a:effectLst/>
                          <a:latin typeface="Arial"/>
                        </a:rPr>
                        <a:t>898</a:t>
                      </a:r>
                    </a:p>
                  </a:txBody>
                  <a:tcPr marL="38100" marR="38100" marT="47625" marB="9525"/>
                </a:tc>
                <a:tc>
                  <a:txBody>
                    <a:bodyPr/>
                    <a:lstStyle/>
                    <a:p>
                      <a:r>
                        <a:rPr lang="pt-BR" sz="800" b="0" dirty="0">
                          <a:solidFill>
                            <a:srgbClr val="3A250C"/>
                          </a:solidFill>
                          <a:effectLst/>
                          <a:latin typeface="Arial"/>
                        </a:rPr>
                        <a:t>1835</a:t>
                      </a:r>
                    </a:p>
                  </a:txBody>
                  <a:tcPr marL="38100" marR="38100" marT="47625" marB="9525"/>
                </a:tc>
                <a:tc>
                  <a:txBody>
                    <a:bodyPr/>
                    <a:lstStyle/>
                    <a:p>
                      <a:r>
                        <a:rPr lang="pt-BR" sz="800" b="0" dirty="0">
                          <a:solidFill>
                            <a:srgbClr val="3A250C"/>
                          </a:solidFill>
                          <a:effectLst/>
                          <a:latin typeface="Arial"/>
                        </a:rPr>
                        <a:t>1030</a:t>
                      </a:r>
                    </a:p>
                  </a:txBody>
                  <a:tcPr marL="38100" marR="38100" marT="47625" marB="9525"/>
                </a:tc>
                <a:tc>
                  <a:txBody>
                    <a:bodyPr/>
                    <a:lstStyle/>
                    <a:p>
                      <a:r>
                        <a:rPr lang="pt-BR" sz="800" b="0" dirty="0">
                          <a:solidFill>
                            <a:srgbClr val="3A250C"/>
                          </a:solidFill>
                          <a:effectLst/>
                          <a:latin typeface="Arial"/>
                        </a:rPr>
                        <a:t>930</a:t>
                      </a:r>
                    </a:p>
                  </a:txBody>
                  <a:tcPr marL="38100" marR="38100" marT="47625" marB="9525"/>
                </a:tc>
                <a:tc>
                  <a:txBody>
                    <a:bodyPr/>
                    <a:lstStyle/>
                    <a:p>
                      <a:pPr algn="ctr"/>
                      <a:r>
                        <a:rPr lang="pt-BR" sz="800" b="0" dirty="0">
                          <a:solidFill>
                            <a:srgbClr val="3A250C"/>
                          </a:solidFill>
                          <a:effectLst/>
                          <a:latin typeface="Arial"/>
                        </a:rPr>
                        <a:t>2,220</a:t>
                      </a:r>
                    </a:p>
                  </a:txBody>
                  <a:tcPr marL="38100" marR="38100" marT="47625" marB="9525"/>
                </a:tc>
                <a:tc>
                  <a:txBody>
                    <a:bodyPr/>
                    <a:lstStyle/>
                    <a:p>
                      <a:pPr algn="ctr"/>
                      <a:r>
                        <a:rPr lang="pt-BR" sz="800" b="1" dirty="0">
                          <a:solidFill>
                            <a:srgbClr val="3A250C"/>
                          </a:solidFill>
                          <a:effectLst/>
                          <a:latin typeface="Arial"/>
                        </a:rPr>
                        <a:t>-</a:t>
                      </a:r>
                    </a:p>
                  </a:txBody>
                  <a:tcPr marL="38100" marR="38100" marT="47625" marB="9525"/>
                </a:tc>
                <a:extLst>
                  <a:ext uri="{0D108BD9-81ED-4DB2-BD59-A6C34878D82A}">
                    <a16:rowId xmlns:a16="http://schemas.microsoft.com/office/drawing/2014/main" val="10005"/>
                  </a:ext>
                </a:extLst>
              </a:tr>
              <a:tr h="18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800" b="0" dirty="0">
                          <a:solidFill>
                            <a:srgbClr val="3A250C"/>
                          </a:solidFill>
                          <a:effectLst/>
                          <a:latin typeface="Arial"/>
                        </a:rPr>
                        <a:t>Forno PRP 1300 duplo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1200</a:t>
                      </a:r>
                    </a:p>
                  </a:txBody>
                  <a:tcPr marL="38100" marR="38100" marT="47625" marB="9525"/>
                </a:tc>
                <a:tc>
                  <a:txBody>
                    <a:bodyPr/>
                    <a:lstStyle/>
                    <a:p>
                      <a:r>
                        <a:rPr lang="pt-BR" sz="800" b="0" dirty="0">
                          <a:solidFill>
                            <a:srgbClr val="3A250C"/>
                          </a:solidFill>
                          <a:effectLst/>
                          <a:latin typeface="Arial"/>
                        </a:rPr>
                        <a:t>800</a:t>
                      </a:r>
                    </a:p>
                  </a:txBody>
                  <a:tcPr marL="38100" marR="38100" marT="47625" marB="9525"/>
                </a:tc>
                <a:tc>
                  <a:txBody>
                    <a:bodyPr/>
                    <a:lstStyle/>
                    <a:p>
                      <a:r>
                        <a:rPr lang="pt-BR" sz="800" b="0" dirty="0">
                          <a:solidFill>
                            <a:srgbClr val="3A250C"/>
                          </a:solidFill>
                          <a:effectLst/>
                          <a:latin typeface="Arial"/>
                        </a:rPr>
                        <a:t>1835</a:t>
                      </a:r>
                    </a:p>
                  </a:txBody>
                  <a:tcPr marL="38100" marR="38100" marT="47625" marB="9525"/>
                </a:tc>
                <a:tc>
                  <a:txBody>
                    <a:bodyPr/>
                    <a:lstStyle/>
                    <a:p>
                      <a:r>
                        <a:rPr lang="pt-BR" sz="800" b="0" dirty="0">
                          <a:solidFill>
                            <a:srgbClr val="3A250C"/>
                          </a:solidFill>
                          <a:effectLst/>
                          <a:latin typeface="Arial"/>
                        </a:rPr>
                        <a:t>1300</a:t>
                      </a:r>
                    </a:p>
                  </a:txBody>
                  <a:tcPr marL="38100" marR="38100" marT="47625" marB="9525"/>
                </a:tc>
                <a:tc>
                  <a:txBody>
                    <a:bodyPr/>
                    <a:lstStyle/>
                    <a:p>
                      <a:r>
                        <a:rPr lang="pt-BR" sz="800" b="0" dirty="0">
                          <a:solidFill>
                            <a:srgbClr val="3A250C"/>
                          </a:solidFill>
                          <a:effectLst/>
                          <a:latin typeface="Arial"/>
                        </a:rPr>
                        <a:t>830</a:t>
                      </a:r>
                    </a:p>
                  </a:txBody>
                  <a:tcPr marL="38100" marR="38100" marT="47625" marB="9525"/>
                </a:tc>
                <a:tc>
                  <a:txBody>
                    <a:bodyPr/>
                    <a:lstStyle/>
                    <a:p>
                      <a:pPr algn="ctr"/>
                      <a:r>
                        <a:rPr lang="pt-BR" sz="800" b="0" dirty="0">
                          <a:solidFill>
                            <a:srgbClr val="3A250C"/>
                          </a:solidFill>
                          <a:effectLst/>
                          <a:latin typeface="Arial"/>
                        </a:rPr>
                        <a:t>2,820</a:t>
                      </a:r>
                    </a:p>
                  </a:txBody>
                  <a:tcPr marL="38100" marR="38100" marT="47625" marB="9525"/>
                </a:tc>
                <a:tc>
                  <a:txBody>
                    <a:bodyPr/>
                    <a:lstStyle/>
                    <a:p>
                      <a:pPr algn="ctr"/>
                      <a:r>
                        <a:rPr lang="pt-BR" sz="800" b="1" dirty="0">
                          <a:solidFill>
                            <a:srgbClr val="3A250C"/>
                          </a:solidFill>
                          <a:effectLst/>
                          <a:latin typeface="Arial"/>
                        </a:rPr>
                        <a:t>-</a:t>
                      </a:r>
                    </a:p>
                  </a:txBody>
                  <a:tcPr marL="38100" marR="38100" marT="47625" marB="9525"/>
                </a:tc>
                <a:extLst>
                  <a:ext uri="{0D108BD9-81ED-4DB2-BD59-A6C34878D82A}">
                    <a16:rowId xmlns:a16="http://schemas.microsoft.com/office/drawing/2014/main" val="10006"/>
                  </a:ext>
                </a:extLst>
              </a:tr>
              <a:tr h="18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800" b="0" dirty="0">
                          <a:solidFill>
                            <a:srgbClr val="3A250C"/>
                          </a:solidFill>
                          <a:effectLst/>
                          <a:latin typeface="Arial"/>
                        </a:rPr>
                        <a:t>Forno PRP 1300 SLIM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1250</a:t>
                      </a:r>
                    </a:p>
                  </a:txBody>
                  <a:tcPr marL="38100" marR="38100" marT="47625" marB="9525"/>
                </a:tc>
                <a:tc>
                  <a:txBody>
                    <a:bodyPr/>
                    <a:lstStyle/>
                    <a:p>
                      <a:r>
                        <a:rPr lang="pt-BR" sz="800" b="0" dirty="0">
                          <a:solidFill>
                            <a:srgbClr val="3A250C"/>
                          </a:solidFill>
                          <a:effectLst/>
                          <a:latin typeface="Arial"/>
                        </a:rPr>
                        <a:t>700</a:t>
                      </a:r>
                    </a:p>
                  </a:txBody>
                  <a:tcPr marL="38100" marR="38100" marT="47625" marB="9525"/>
                </a:tc>
                <a:tc>
                  <a:txBody>
                    <a:bodyPr/>
                    <a:lstStyle/>
                    <a:p>
                      <a:r>
                        <a:rPr lang="pt-BR" sz="800" b="0" dirty="0">
                          <a:solidFill>
                            <a:srgbClr val="3A250C"/>
                          </a:solidFill>
                          <a:effectLst/>
                          <a:latin typeface="Arial"/>
                        </a:rPr>
                        <a:t>1235</a:t>
                      </a:r>
                    </a:p>
                  </a:txBody>
                  <a:tcPr marL="38100" marR="38100" marT="47625" marB="9525"/>
                </a:tc>
                <a:tc>
                  <a:txBody>
                    <a:bodyPr/>
                    <a:lstStyle/>
                    <a:p>
                      <a:r>
                        <a:rPr lang="pt-BR" sz="800" b="0" dirty="0">
                          <a:solidFill>
                            <a:srgbClr val="3A250C"/>
                          </a:solidFill>
                          <a:effectLst/>
                          <a:latin typeface="Arial"/>
                        </a:rPr>
                        <a:t>1350</a:t>
                      </a:r>
                    </a:p>
                  </a:txBody>
                  <a:tcPr marL="38100" marR="38100" marT="47625" marB="9525"/>
                </a:tc>
                <a:tc>
                  <a:txBody>
                    <a:bodyPr/>
                    <a:lstStyle/>
                    <a:p>
                      <a:r>
                        <a:rPr lang="pt-BR" sz="800" b="0" dirty="0">
                          <a:solidFill>
                            <a:srgbClr val="3A250C"/>
                          </a:solidFill>
                          <a:effectLst/>
                          <a:latin typeface="Arial"/>
                        </a:rPr>
                        <a:t>730</a:t>
                      </a:r>
                    </a:p>
                  </a:txBody>
                  <a:tcPr marL="38100" marR="38100" marT="47625" marB="9525"/>
                </a:tc>
                <a:tc>
                  <a:txBody>
                    <a:bodyPr/>
                    <a:lstStyle/>
                    <a:p>
                      <a:pPr algn="ctr"/>
                      <a:r>
                        <a:rPr lang="pt-BR" sz="800" b="0" dirty="0">
                          <a:solidFill>
                            <a:srgbClr val="3A250C"/>
                          </a:solidFill>
                          <a:effectLst/>
                          <a:latin typeface="Arial"/>
                        </a:rPr>
                        <a:t>1,080</a:t>
                      </a:r>
                    </a:p>
                  </a:txBody>
                  <a:tcPr marL="38100" marR="38100" marT="47625" marB="9525"/>
                </a:tc>
                <a:tc>
                  <a:txBody>
                    <a:bodyPr/>
                    <a:lstStyle/>
                    <a:p>
                      <a:pPr algn="ctr"/>
                      <a:r>
                        <a:rPr lang="pt-BR" sz="800" b="1" dirty="0">
                          <a:solidFill>
                            <a:srgbClr val="3A250C"/>
                          </a:solidFill>
                          <a:effectLst/>
                          <a:latin typeface="Arial"/>
                        </a:rPr>
                        <a:t>-</a:t>
                      </a:r>
                    </a:p>
                  </a:txBody>
                  <a:tcPr marL="38100" marR="38100" marT="47625" marB="9525"/>
                </a:tc>
                <a:extLst>
                  <a:ext uri="{0D108BD9-81ED-4DB2-BD59-A6C34878D82A}">
                    <a16:rowId xmlns:a16="http://schemas.microsoft.com/office/drawing/2014/main" val="1251211688"/>
                  </a:ext>
                </a:extLst>
              </a:tr>
            </a:tbl>
          </a:graphicData>
        </a:graphic>
      </p:graphicFrame>
      <p:cxnSp>
        <p:nvCxnSpPr>
          <p:cNvPr id="4" name="Conector de seta reta 3"/>
          <p:cNvCxnSpPr>
            <a:cxnSpLocks/>
          </p:cNvCxnSpPr>
          <p:nvPr/>
        </p:nvCxnSpPr>
        <p:spPr>
          <a:xfrm>
            <a:off x="2827088" y="4212679"/>
            <a:ext cx="3452" cy="281773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Conector de seta reta 7"/>
          <p:cNvCxnSpPr>
            <a:cxnSpLocks/>
          </p:cNvCxnSpPr>
          <p:nvPr/>
        </p:nvCxnSpPr>
        <p:spPr>
          <a:xfrm>
            <a:off x="3114624" y="4068663"/>
            <a:ext cx="1871713"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p:cNvCxnSpPr>
            <a:cxnSpLocks/>
          </p:cNvCxnSpPr>
          <p:nvPr/>
        </p:nvCxnSpPr>
        <p:spPr>
          <a:xfrm flipV="1">
            <a:off x="2970113" y="6156895"/>
            <a:ext cx="289023" cy="74081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CaixaDeTexto 15"/>
          <p:cNvSpPr txBox="1"/>
          <p:nvPr/>
        </p:nvSpPr>
        <p:spPr>
          <a:xfrm>
            <a:off x="3618185" y="3879061"/>
            <a:ext cx="1080120" cy="261610"/>
          </a:xfrm>
          <a:prstGeom prst="rect">
            <a:avLst/>
          </a:prstGeom>
          <a:noFill/>
        </p:spPr>
        <p:txBody>
          <a:bodyPr wrap="square" rtlCol="0">
            <a:spAutoFit/>
          </a:bodyPr>
          <a:lstStyle/>
          <a:p>
            <a:r>
              <a:rPr lang="pt-BR" sz="1050" dirty="0"/>
              <a:t>Largura</a:t>
            </a:r>
          </a:p>
        </p:txBody>
      </p:sp>
      <p:sp>
        <p:nvSpPr>
          <p:cNvPr id="20" name="CaixaDeTexto 19"/>
          <p:cNvSpPr txBox="1"/>
          <p:nvPr/>
        </p:nvSpPr>
        <p:spPr>
          <a:xfrm>
            <a:off x="2560742" y="4401598"/>
            <a:ext cx="346249" cy="864329"/>
          </a:xfrm>
          <a:prstGeom prst="rect">
            <a:avLst/>
          </a:prstGeom>
          <a:noFill/>
        </p:spPr>
        <p:txBody>
          <a:bodyPr vert="vert270" wrap="square" rtlCol="0">
            <a:spAutoFit/>
          </a:bodyPr>
          <a:lstStyle/>
          <a:p>
            <a:r>
              <a:rPr lang="pt-BR" sz="1050" dirty="0"/>
              <a:t>Altura</a:t>
            </a:r>
          </a:p>
        </p:txBody>
      </p:sp>
      <p:pic>
        <p:nvPicPr>
          <p:cNvPr id="17" name="Imagem 16"/>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l="14831" t="10493" r="26865" b="6453"/>
          <a:stretch/>
        </p:blipFill>
        <p:spPr>
          <a:xfrm>
            <a:off x="161801" y="3457967"/>
            <a:ext cx="2464683" cy="3707040"/>
          </a:xfrm>
          <a:prstGeom prst="rect">
            <a:avLst/>
          </a:prstGeom>
        </p:spPr>
      </p:pic>
      <p:sp>
        <p:nvSpPr>
          <p:cNvPr id="28" name="CaixaDeTexto 27"/>
          <p:cNvSpPr txBox="1"/>
          <p:nvPr/>
        </p:nvSpPr>
        <p:spPr>
          <a:xfrm rot="17465026">
            <a:off x="2545775" y="6119916"/>
            <a:ext cx="1080120" cy="261610"/>
          </a:xfrm>
          <a:prstGeom prst="rect">
            <a:avLst/>
          </a:prstGeom>
          <a:noFill/>
        </p:spPr>
        <p:txBody>
          <a:bodyPr wrap="square" rtlCol="0">
            <a:spAutoFit/>
          </a:bodyPr>
          <a:lstStyle/>
          <a:p>
            <a:r>
              <a:rPr lang="pt-BR" sz="1050" dirty="0"/>
              <a:t>Profundidade</a:t>
            </a:r>
          </a:p>
        </p:txBody>
      </p:sp>
    </p:spTree>
    <p:extLst>
      <p:ext uri="{BB962C8B-B14F-4D97-AF65-F5344CB8AC3E}">
        <p14:creationId xmlns:p14="http://schemas.microsoft.com/office/powerpoint/2010/main" val="830138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ela 7"/>
          <p:cNvGraphicFramePr>
            <a:graphicFrameLocks noGrp="1"/>
          </p:cNvGraphicFramePr>
          <p:nvPr>
            <p:extLst>
              <p:ext uri="{D42A27DB-BD31-4B8C-83A1-F6EECF244321}">
                <p14:modId xmlns:p14="http://schemas.microsoft.com/office/powerpoint/2010/main" val="2567988983"/>
              </p:ext>
            </p:extLst>
          </p:nvPr>
        </p:nvGraphicFramePr>
        <p:xfrm>
          <a:off x="212401" y="310325"/>
          <a:ext cx="4693833" cy="6674658"/>
        </p:xfrm>
        <a:graphic>
          <a:graphicData uri="http://schemas.openxmlformats.org/drawingml/2006/table">
            <a:tbl>
              <a:tblPr firstRow="1" bandRow="1">
                <a:tableStyleId>{9D7B26C5-4107-4FEC-AEDC-1716B250A1EF}</a:tableStyleId>
              </a:tblPr>
              <a:tblGrid>
                <a:gridCol w="1000588">
                  <a:extLst>
                    <a:ext uri="{9D8B030D-6E8A-4147-A177-3AD203B41FA5}">
                      <a16:colId xmlns:a16="http://schemas.microsoft.com/office/drawing/2014/main" val="20000"/>
                    </a:ext>
                  </a:extLst>
                </a:gridCol>
                <a:gridCol w="2132479">
                  <a:extLst>
                    <a:ext uri="{9D8B030D-6E8A-4147-A177-3AD203B41FA5}">
                      <a16:colId xmlns:a16="http://schemas.microsoft.com/office/drawing/2014/main" val="20001"/>
                    </a:ext>
                  </a:extLst>
                </a:gridCol>
                <a:gridCol w="780383">
                  <a:extLst>
                    <a:ext uri="{9D8B030D-6E8A-4147-A177-3AD203B41FA5}">
                      <a16:colId xmlns:a16="http://schemas.microsoft.com/office/drawing/2014/main" val="20002"/>
                    </a:ext>
                  </a:extLst>
                </a:gridCol>
                <a:gridCol w="780383">
                  <a:extLst>
                    <a:ext uri="{9D8B030D-6E8A-4147-A177-3AD203B41FA5}">
                      <a16:colId xmlns:a16="http://schemas.microsoft.com/office/drawing/2014/main" val="20003"/>
                    </a:ext>
                  </a:extLst>
                </a:gridCol>
              </a:tblGrid>
              <a:tr h="806658">
                <a:tc>
                  <a:txBody>
                    <a:bodyPr/>
                    <a:lstStyle/>
                    <a:p>
                      <a:pPr algn="ctr">
                        <a:lnSpc>
                          <a:spcPct val="115000"/>
                        </a:lnSpc>
                        <a:spcAft>
                          <a:spcPts val="0"/>
                        </a:spcAft>
                      </a:pPr>
                      <a:r>
                        <a:rPr lang="pt-BR" sz="900" dirty="0">
                          <a:effectLst/>
                        </a:rPr>
                        <a:t>COMPONENTE</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rPr>
                        <a:t>DESENHO</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mn-lt"/>
                          <a:ea typeface="+mn-ea"/>
                          <a:cs typeface="+mn-cs"/>
                        </a:rPr>
                        <a:t>SIMPLES</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DUPLO</a:t>
                      </a:r>
                    </a:p>
                  </a:txBody>
                  <a:tcPr marL="68580" marR="68580" marT="0" marB="0" anchor="ctr"/>
                </a:tc>
                <a:extLst>
                  <a:ext uri="{0D108BD9-81ED-4DB2-BD59-A6C34878D82A}">
                    <a16:rowId xmlns:a16="http://schemas.microsoft.com/office/drawing/2014/main" val="10000"/>
                  </a:ext>
                </a:extLst>
              </a:tr>
              <a:tr h="648000">
                <a:tc>
                  <a:txBody>
                    <a:bodyPr/>
                    <a:lstStyle/>
                    <a:p>
                      <a:pPr>
                        <a:lnSpc>
                          <a:spcPct val="115000"/>
                        </a:lnSpc>
                        <a:spcAft>
                          <a:spcPts val="0"/>
                        </a:spcAft>
                      </a:pPr>
                      <a:r>
                        <a:rPr lang="pt-BR" sz="900" dirty="0">
                          <a:effectLst/>
                        </a:rPr>
                        <a:t>TERMÔMETRO</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pt-BR" sz="900" dirty="0">
                          <a:effectLst/>
                        </a:rPr>
                        <a:t>1</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extLst>
                  <a:ext uri="{0D108BD9-81ED-4DB2-BD59-A6C34878D82A}">
                    <a16:rowId xmlns:a16="http://schemas.microsoft.com/office/drawing/2014/main" val="10001"/>
                  </a:ext>
                </a:extLst>
              </a:tr>
              <a:tr h="1080000">
                <a:tc>
                  <a:txBody>
                    <a:bodyPr/>
                    <a:lstStyle/>
                    <a:p>
                      <a:pPr>
                        <a:lnSpc>
                          <a:spcPct val="115000"/>
                        </a:lnSpc>
                        <a:spcAft>
                          <a:spcPts val="0"/>
                        </a:spcAft>
                      </a:pPr>
                      <a:r>
                        <a:rPr lang="pt-BR" sz="900" dirty="0">
                          <a:effectLst/>
                        </a:rPr>
                        <a:t>PESO</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chor="ctr"/>
                </a:tc>
                <a:extLst>
                  <a:ext uri="{0D108BD9-81ED-4DB2-BD59-A6C34878D82A}">
                    <a16:rowId xmlns:a16="http://schemas.microsoft.com/office/drawing/2014/main" val="10002"/>
                  </a:ext>
                </a:extLst>
              </a:tr>
              <a:tr h="1260000">
                <a:tc>
                  <a:txBody>
                    <a:bodyPr/>
                    <a:lstStyle/>
                    <a:p>
                      <a:pPr>
                        <a:lnSpc>
                          <a:spcPct val="115000"/>
                        </a:lnSpc>
                        <a:spcAft>
                          <a:spcPts val="0"/>
                        </a:spcAft>
                      </a:pPr>
                      <a:r>
                        <a:rPr lang="pt-BR" sz="900" dirty="0">
                          <a:effectLst/>
                          <a:latin typeface="+mn-lt"/>
                          <a:ea typeface="+mn-ea"/>
                          <a:cs typeface="+mn-cs"/>
                        </a:rPr>
                        <a:t>GABINETE</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pt-BR" sz="900" dirty="0">
                          <a:effectLst/>
                        </a:rPr>
                        <a:t>1</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extLst>
                  <a:ext uri="{0D108BD9-81ED-4DB2-BD59-A6C34878D82A}">
                    <a16:rowId xmlns:a16="http://schemas.microsoft.com/office/drawing/2014/main" val="10003"/>
                  </a:ext>
                </a:extLst>
              </a:tr>
              <a:tr h="1152000">
                <a:tc>
                  <a:txBody>
                    <a:bodyPr/>
                    <a:lstStyle/>
                    <a:p>
                      <a:pPr>
                        <a:lnSpc>
                          <a:spcPct val="115000"/>
                        </a:lnSpc>
                        <a:spcAft>
                          <a:spcPts val="0"/>
                        </a:spcAft>
                      </a:pPr>
                      <a:r>
                        <a:rPr lang="pt-BR" sz="900" dirty="0">
                          <a:effectLst/>
                        </a:rPr>
                        <a:t>PERNAS</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pt-BR" sz="900" dirty="0">
                          <a:effectLst/>
                        </a:rPr>
                        <a:t>4</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chor="ctr"/>
                </a:tc>
                <a:extLst>
                  <a:ext uri="{0D108BD9-81ED-4DB2-BD59-A6C34878D82A}">
                    <a16:rowId xmlns:a16="http://schemas.microsoft.com/office/drawing/2014/main" val="10004"/>
                  </a:ext>
                </a:extLst>
              </a:tr>
              <a:tr h="720000">
                <a:tc>
                  <a:txBody>
                    <a:bodyPr/>
                    <a:lstStyle/>
                    <a:p>
                      <a:pPr>
                        <a:lnSpc>
                          <a:spcPct val="115000"/>
                        </a:lnSpc>
                        <a:spcAft>
                          <a:spcPts val="0"/>
                        </a:spcAft>
                      </a:pPr>
                      <a:r>
                        <a:rPr lang="pt-BR" sz="900" dirty="0">
                          <a:effectLst/>
                        </a:rPr>
                        <a:t>PANELEIRO</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pt-BR" sz="900" dirty="0">
                          <a:effectLst/>
                        </a:rPr>
                        <a:t>1</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extLst>
                  <a:ext uri="{0D108BD9-81ED-4DB2-BD59-A6C34878D82A}">
                    <a16:rowId xmlns:a16="http://schemas.microsoft.com/office/drawing/2014/main" val="10005"/>
                  </a:ext>
                </a:extLst>
              </a:tr>
              <a:tr h="1008000">
                <a:tc>
                  <a:txBody>
                    <a:bodyPr/>
                    <a:lstStyle/>
                    <a:p>
                      <a:pP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QUEIMADOR</a:t>
                      </a:r>
                    </a:p>
                  </a:txBody>
                  <a:tcPr marL="68580" marR="68580" marT="0" marB="0"/>
                </a:tc>
                <a:tc>
                  <a:txBody>
                    <a:bodyPr/>
                    <a:lstStyle/>
                    <a:p>
                      <a:pP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extLst>
                  <a:ext uri="{0D108BD9-81ED-4DB2-BD59-A6C34878D82A}">
                    <a16:rowId xmlns:a16="http://schemas.microsoft.com/office/drawing/2014/main" val="10006"/>
                  </a:ext>
                </a:extLst>
              </a:tr>
            </a:tbl>
          </a:graphicData>
        </a:graphic>
      </p:graphicFrame>
      <p:pic>
        <p:nvPicPr>
          <p:cNvPr id="1029" name="Imagem 1" descr="03"/>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18183" t="19895" r="32243" b="20421"/>
          <a:stretch/>
        </p:blipFill>
        <p:spPr bwMode="auto">
          <a:xfrm>
            <a:off x="2538064" y="1188343"/>
            <a:ext cx="288033" cy="432049"/>
          </a:xfrm>
          <a:prstGeom prst="rect">
            <a:avLst/>
          </a:prstGeom>
          <a:noFill/>
          <a:extLst>
            <a:ext uri="{909E8E84-426E-40DD-AFC4-6F175D3DCCD1}">
              <a14:hiddenFill xmlns:a14="http://schemas.microsoft.com/office/drawing/2010/main">
                <a:solidFill>
                  <a:srgbClr val="FFFFFF"/>
                </a:solidFill>
              </a14:hiddenFill>
            </a:ext>
          </a:extLst>
        </p:spPr>
      </p:pic>
      <p:pic>
        <p:nvPicPr>
          <p:cNvPr id="1028" name="Imagem 2" descr="02"/>
          <p:cNvPicPr>
            <a:picLocks noChangeAspect="1" noChangeArrowheads="1"/>
          </p:cNvPicPr>
          <p:nvPr/>
        </p:nvPicPr>
        <p:blipFill rotWithShape="1">
          <a:blip r:embed="rId4">
            <a:extLst>
              <a:ext uri="{28A0092B-C50C-407E-A947-70E740481C1C}">
                <a14:useLocalDpi xmlns:a14="http://schemas.microsoft.com/office/drawing/2010/main" val="0"/>
              </a:ext>
            </a:extLst>
          </a:blip>
          <a:srcRect l="32975" t="13574" r="33867" b="19135"/>
          <a:stretch/>
        </p:blipFill>
        <p:spPr bwMode="auto">
          <a:xfrm>
            <a:off x="2538064" y="2051933"/>
            <a:ext cx="360041" cy="711458"/>
          </a:xfrm>
          <a:prstGeom prst="rect">
            <a:avLst/>
          </a:prstGeom>
          <a:noFill/>
          <a:extLst>
            <a:ext uri="{909E8E84-426E-40DD-AFC4-6F175D3DCCD1}">
              <a14:hiddenFill xmlns:a14="http://schemas.microsoft.com/office/drawing/2010/main">
                <a:solidFill>
                  <a:srgbClr val="FFFFFF"/>
                </a:solidFill>
              </a14:hiddenFill>
            </a:ext>
          </a:extLst>
        </p:spPr>
      </p:pic>
      <p:pic>
        <p:nvPicPr>
          <p:cNvPr id="1027" name="Imagem 3" descr="IMG-20191128-WA0004 c¾pia"/>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r="5708" b="11667"/>
          <a:stretch/>
        </p:blipFill>
        <p:spPr bwMode="auto">
          <a:xfrm>
            <a:off x="1956166" y="2916535"/>
            <a:ext cx="1445995" cy="10096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Imagem 4" descr="IMG-20191128-WA0005 c¾pia"/>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9783" r="30843"/>
          <a:stretch/>
        </p:blipFill>
        <p:spPr bwMode="auto">
          <a:xfrm>
            <a:off x="2538063" y="4212679"/>
            <a:ext cx="360041" cy="1009650"/>
          </a:xfrm>
          <a:prstGeom prst="rect">
            <a:avLst/>
          </a:prstGeom>
          <a:noFill/>
          <a:extLst>
            <a:ext uri="{909E8E84-426E-40DD-AFC4-6F175D3DCCD1}">
              <a14:hiddenFill xmlns:a14="http://schemas.microsoft.com/office/drawing/2010/main">
                <a:solidFill>
                  <a:srgbClr val="FFFFFF"/>
                </a:solidFill>
              </a14:hiddenFill>
            </a:ext>
          </a:extLst>
        </p:spPr>
      </p:pic>
      <p:pic>
        <p:nvPicPr>
          <p:cNvPr id="1025" name="Imagem 6" descr="IMG-20191128-WA0008 c¾pia"/>
          <p:cNvPicPr>
            <a:picLocks noChangeAspect="1" noChangeArrowheads="1"/>
          </p:cNvPicPr>
          <p:nvPr/>
        </p:nvPicPr>
        <p:blipFill rotWithShape="1">
          <a:blip r:embed="rId8">
            <a:extLst>
              <a:ext uri="{28A0092B-C50C-407E-A947-70E740481C1C}">
                <a14:useLocalDpi xmlns:a14="http://schemas.microsoft.com/office/drawing/2010/main" val="0"/>
              </a:ext>
            </a:extLst>
          </a:blip>
          <a:srcRect t="26859" b="27658"/>
          <a:stretch/>
        </p:blipFill>
        <p:spPr bwMode="auto">
          <a:xfrm>
            <a:off x="1956166" y="5369601"/>
            <a:ext cx="1276350" cy="35524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m 8"/>
          <p:cNvPicPr>
            <a:picLocks noChangeAspect="1"/>
          </p:cNvPicPr>
          <p:nvPr/>
        </p:nvPicPr>
        <p:blipFill rotWithShape="1">
          <a:blip r:embed="rId9" cstate="print">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rcRect l="12674" t="31794" r="22386"/>
          <a:stretch/>
        </p:blipFill>
        <p:spPr>
          <a:xfrm>
            <a:off x="2028174" y="6012878"/>
            <a:ext cx="1445995" cy="904271"/>
          </a:xfrm>
          <a:prstGeom prst="rect">
            <a:avLst/>
          </a:prstGeom>
        </p:spPr>
      </p:pic>
      <p:sp>
        <p:nvSpPr>
          <p:cNvPr id="10" name="CaixaDeTexto 9">
            <a:extLst>
              <a:ext uri="{FF2B5EF4-FFF2-40B4-BE49-F238E27FC236}">
                <a16:creationId xmlns:a16="http://schemas.microsoft.com/office/drawing/2014/main" id="{2894D681-D23E-4810-8155-7B7655865111}"/>
              </a:ext>
            </a:extLst>
          </p:cNvPr>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04</a:t>
            </a:r>
          </a:p>
        </p:txBody>
      </p:sp>
    </p:spTree>
    <p:extLst>
      <p:ext uri="{BB962C8B-B14F-4D97-AF65-F5344CB8AC3E}">
        <p14:creationId xmlns:p14="http://schemas.microsoft.com/office/powerpoint/2010/main" val="721792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05</a:t>
            </a:r>
          </a:p>
        </p:txBody>
      </p:sp>
      <p:sp>
        <p:nvSpPr>
          <p:cNvPr id="10" name="Retângulo 9">
            <a:extLst>
              <a:ext uri="{FF2B5EF4-FFF2-40B4-BE49-F238E27FC236}">
                <a16:creationId xmlns:a16="http://schemas.microsoft.com/office/drawing/2014/main" id="{BE22BFE7-A124-4CD8-8F7A-3A18B776267D}"/>
              </a:ext>
            </a:extLst>
          </p:cNvPr>
          <p:cNvSpPr/>
          <p:nvPr/>
        </p:nvSpPr>
        <p:spPr>
          <a:xfrm>
            <a:off x="162081" y="309886"/>
            <a:ext cx="5040000" cy="252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2. INSTRUÇÕES PARA MONTAGEM</a:t>
            </a:r>
          </a:p>
        </p:txBody>
      </p:sp>
      <p:sp>
        <p:nvSpPr>
          <p:cNvPr id="11" name="Retângulo 10">
            <a:extLst>
              <a:ext uri="{FF2B5EF4-FFF2-40B4-BE49-F238E27FC236}">
                <a16:creationId xmlns:a16="http://schemas.microsoft.com/office/drawing/2014/main" id="{D45D80FF-A085-48C5-9530-C6798CAFD63A}"/>
              </a:ext>
            </a:extLst>
          </p:cNvPr>
          <p:cNvSpPr/>
          <p:nvPr/>
        </p:nvSpPr>
        <p:spPr>
          <a:xfrm>
            <a:off x="130983" y="643657"/>
            <a:ext cx="1061509" cy="246221"/>
          </a:xfrm>
          <a:prstGeom prst="rect">
            <a:avLst/>
          </a:prstGeom>
        </p:spPr>
        <p:txBody>
          <a:bodyPr wrap="none">
            <a:spAutoFit/>
          </a:bodyPr>
          <a:lstStyle/>
          <a:p>
            <a:pPr lvl="0" algn="just"/>
            <a:r>
              <a:rPr lang="pt-BR" sz="1000" b="1" dirty="0">
                <a:solidFill>
                  <a:prstClr val="black"/>
                </a:solidFill>
              </a:rPr>
              <a:t>2.1 INSTALAÇÃO</a:t>
            </a:r>
          </a:p>
        </p:txBody>
      </p:sp>
      <p:sp>
        <p:nvSpPr>
          <p:cNvPr id="14" name="CaixaDeTexto 13">
            <a:extLst>
              <a:ext uri="{FF2B5EF4-FFF2-40B4-BE49-F238E27FC236}">
                <a16:creationId xmlns:a16="http://schemas.microsoft.com/office/drawing/2014/main" id="{8D79C381-EA7D-42A7-9DE8-F4B59E847ED0}"/>
              </a:ext>
            </a:extLst>
          </p:cNvPr>
          <p:cNvSpPr txBox="1"/>
          <p:nvPr/>
        </p:nvSpPr>
        <p:spPr>
          <a:xfrm>
            <a:off x="129136" y="943334"/>
            <a:ext cx="2552945" cy="246221"/>
          </a:xfrm>
          <a:prstGeom prst="rect">
            <a:avLst/>
          </a:prstGeom>
          <a:noFill/>
        </p:spPr>
        <p:txBody>
          <a:bodyPr wrap="square" rtlCol="0">
            <a:spAutoFit/>
          </a:bodyPr>
          <a:lstStyle/>
          <a:p>
            <a:pPr algn="just"/>
            <a:r>
              <a:rPr lang="pt-BR" sz="1000" b="1" dirty="0">
                <a:latin typeface="+mj-lt"/>
                <a:cs typeface="Arial" pitchFamily="34" charset="0"/>
              </a:rPr>
              <a:t>PASSO 1 – </a:t>
            </a:r>
            <a:r>
              <a:rPr lang="pt-BR" sz="1000" dirty="0">
                <a:latin typeface="+mj-lt"/>
                <a:cs typeface="Arial" pitchFamily="34" charset="0"/>
              </a:rPr>
              <a:t>Remover queimador </a:t>
            </a:r>
          </a:p>
        </p:txBody>
      </p:sp>
      <p:pic>
        <p:nvPicPr>
          <p:cNvPr id="17" name="Imagem 16" descr="C:\Users\so aço industrial\AppData\Local\Microsoft\Windows\INetCache\Content.Word\IMG-20191128-WA0004 c¾pia.png"/>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963581" y="309886"/>
            <a:ext cx="2640906" cy="2334777"/>
          </a:xfrm>
          <a:prstGeom prst="rect">
            <a:avLst/>
          </a:prstGeom>
          <a:noFill/>
          <a:ln>
            <a:noFill/>
          </a:ln>
        </p:spPr>
      </p:pic>
      <p:cxnSp>
        <p:nvCxnSpPr>
          <p:cNvPr id="20" name="Conector de seta reta 19"/>
          <p:cNvCxnSpPr/>
          <p:nvPr/>
        </p:nvCxnSpPr>
        <p:spPr>
          <a:xfrm>
            <a:off x="3910352" y="1876165"/>
            <a:ext cx="675209" cy="38608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1" name="Caixa de texto 11"/>
          <p:cNvSpPr txBox="1"/>
          <p:nvPr/>
        </p:nvSpPr>
        <p:spPr>
          <a:xfrm>
            <a:off x="4451494" y="2233074"/>
            <a:ext cx="924082" cy="288564"/>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pt-BR" sz="10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QUEIMADOR</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2" name="Imagem 21" descr="C:\Users\so aço industrial\Desktop\forno.png"/>
          <p:cNvPicPr/>
          <p:nvPr/>
        </p:nvPicPr>
        <p:blipFill rotWithShape="1">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l="17057" r="40299"/>
          <a:stretch/>
        </p:blipFill>
        <p:spPr bwMode="auto">
          <a:xfrm>
            <a:off x="292392" y="3044087"/>
            <a:ext cx="1800200" cy="2513330"/>
          </a:xfrm>
          <a:prstGeom prst="rect">
            <a:avLst/>
          </a:prstGeom>
          <a:noFill/>
          <a:ln>
            <a:noFill/>
          </a:ln>
        </p:spPr>
      </p:pic>
      <p:sp>
        <p:nvSpPr>
          <p:cNvPr id="23" name="CaixaDeTexto 22">
            <a:extLst>
              <a:ext uri="{FF2B5EF4-FFF2-40B4-BE49-F238E27FC236}">
                <a16:creationId xmlns:a16="http://schemas.microsoft.com/office/drawing/2014/main" id="{8D79C381-EA7D-42A7-9DE8-F4B59E847ED0}"/>
              </a:ext>
            </a:extLst>
          </p:cNvPr>
          <p:cNvSpPr txBox="1"/>
          <p:nvPr/>
        </p:nvSpPr>
        <p:spPr>
          <a:xfrm>
            <a:off x="129136" y="2743258"/>
            <a:ext cx="2328583" cy="400110"/>
          </a:xfrm>
          <a:prstGeom prst="rect">
            <a:avLst/>
          </a:prstGeom>
          <a:noFill/>
        </p:spPr>
        <p:txBody>
          <a:bodyPr wrap="square" rtlCol="0">
            <a:spAutoFit/>
          </a:bodyPr>
          <a:lstStyle/>
          <a:p>
            <a:pPr algn="just"/>
            <a:r>
              <a:rPr lang="pt-BR" sz="1000" b="1" dirty="0">
                <a:latin typeface="+mj-lt"/>
                <a:cs typeface="Arial" pitchFamily="34" charset="0"/>
              </a:rPr>
              <a:t>PASSO 2 – </a:t>
            </a:r>
            <a:r>
              <a:rPr lang="pt-BR" sz="1000" dirty="0">
                <a:latin typeface="+mj-lt"/>
                <a:cs typeface="Arial" pitchFamily="34" charset="0"/>
              </a:rPr>
              <a:t>Virar lateralmente o gabinete do forno</a:t>
            </a:r>
          </a:p>
        </p:txBody>
      </p:sp>
      <p:sp>
        <p:nvSpPr>
          <p:cNvPr id="25" name="Seta em curva para cima 24"/>
          <p:cNvSpPr/>
          <p:nvPr/>
        </p:nvSpPr>
        <p:spPr>
          <a:xfrm>
            <a:off x="1677129" y="4175127"/>
            <a:ext cx="286452" cy="251249"/>
          </a:xfrm>
          <a:prstGeom prst="curved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5" name="CaixaDeTexto 14">
            <a:extLst>
              <a:ext uri="{FF2B5EF4-FFF2-40B4-BE49-F238E27FC236}">
                <a16:creationId xmlns:a16="http://schemas.microsoft.com/office/drawing/2014/main" id="{8D79C381-EA7D-42A7-9DE8-F4B59E847ED0}"/>
              </a:ext>
            </a:extLst>
          </p:cNvPr>
          <p:cNvSpPr txBox="1"/>
          <p:nvPr/>
        </p:nvSpPr>
        <p:spPr>
          <a:xfrm>
            <a:off x="28200" y="5458137"/>
            <a:ext cx="2295275" cy="861774"/>
          </a:xfrm>
          <a:prstGeom prst="rect">
            <a:avLst/>
          </a:prstGeom>
          <a:noFill/>
        </p:spPr>
        <p:txBody>
          <a:bodyPr wrap="square" rtlCol="0">
            <a:spAutoFit/>
          </a:bodyPr>
          <a:lstStyle/>
          <a:p>
            <a:pPr algn="just"/>
            <a:r>
              <a:rPr lang="pt-BR" sz="1000" b="1" dirty="0">
                <a:latin typeface="+mj-lt"/>
                <a:cs typeface="Arial" pitchFamily="34" charset="0"/>
              </a:rPr>
              <a:t>PASSO 3 – Com a ajuda de uma chave nº 13 fixar com parafuso e porca as pernas do forno ao gabinete.</a:t>
            </a:r>
          </a:p>
          <a:p>
            <a:pPr algn="just"/>
            <a:r>
              <a:rPr lang="pt-BR" sz="1000" b="1" dirty="0">
                <a:latin typeface="+mj-lt"/>
                <a:cs typeface="Arial" pitchFamily="34" charset="0"/>
              </a:rPr>
              <a:t>ATENÇÃO: As pernas devem ficar externas ao corpo do gabinete.</a:t>
            </a:r>
            <a:endParaRPr lang="pt-BR" sz="1000" dirty="0">
              <a:latin typeface="+mj-lt"/>
              <a:cs typeface="Arial" pitchFamily="34" charset="0"/>
            </a:endParaRPr>
          </a:p>
        </p:txBody>
      </p:sp>
      <p:pic>
        <p:nvPicPr>
          <p:cNvPr id="24" name="Imagem 23" descr="C:\Users\so aço industrial\Desktop\forno.png"/>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rcRect/>
          <a:stretch>
            <a:fillRect/>
          </a:stretch>
        </p:blipFill>
        <p:spPr bwMode="auto">
          <a:xfrm rot="518616">
            <a:off x="1742131" y="5361264"/>
            <a:ext cx="4221480" cy="2513330"/>
          </a:xfrm>
          <a:prstGeom prst="rect">
            <a:avLst/>
          </a:prstGeom>
          <a:noFill/>
          <a:ln>
            <a:noFill/>
          </a:ln>
        </p:spPr>
      </p:pic>
      <p:sp>
        <p:nvSpPr>
          <p:cNvPr id="2" name="Seta para a esquerda 1"/>
          <p:cNvSpPr/>
          <p:nvPr/>
        </p:nvSpPr>
        <p:spPr>
          <a:xfrm>
            <a:off x="4314597" y="5796855"/>
            <a:ext cx="310540" cy="99281"/>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Seta para a esquerda 25"/>
          <p:cNvSpPr/>
          <p:nvPr/>
        </p:nvSpPr>
        <p:spPr>
          <a:xfrm>
            <a:off x="4448664" y="6156895"/>
            <a:ext cx="310540" cy="99281"/>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Seta para a esquerda 26"/>
          <p:cNvSpPr/>
          <p:nvPr/>
        </p:nvSpPr>
        <p:spPr>
          <a:xfrm>
            <a:off x="4111059" y="6539535"/>
            <a:ext cx="310540" cy="99281"/>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Seta para a esquerda 27"/>
          <p:cNvSpPr/>
          <p:nvPr/>
        </p:nvSpPr>
        <p:spPr>
          <a:xfrm>
            <a:off x="4304969" y="6930045"/>
            <a:ext cx="310540" cy="99281"/>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8" name="Imagem 17"/>
          <p:cNvPicPr>
            <a:picLocks noChangeAspect="1"/>
          </p:cNvPicPr>
          <p:nvPr/>
        </p:nvPicPr>
        <p:blipFill>
          <a:blip r:embed="rId8" cstate="print">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tretch>
            <a:fillRect/>
          </a:stretch>
        </p:blipFill>
        <p:spPr>
          <a:xfrm>
            <a:off x="2869464" y="1496700"/>
            <a:ext cx="3265678" cy="1944449"/>
          </a:xfrm>
          <a:prstGeom prst="rect">
            <a:avLst/>
          </a:prstGeom>
        </p:spPr>
      </p:pic>
    </p:spTree>
    <p:extLst>
      <p:ext uri="{BB962C8B-B14F-4D97-AF65-F5344CB8AC3E}">
        <p14:creationId xmlns:p14="http://schemas.microsoft.com/office/powerpoint/2010/main" val="3747840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06</a:t>
            </a:r>
          </a:p>
        </p:txBody>
      </p:sp>
      <p:sp>
        <p:nvSpPr>
          <p:cNvPr id="14" name="CaixaDeTexto 13">
            <a:extLst>
              <a:ext uri="{FF2B5EF4-FFF2-40B4-BE49-F238E27FC236}">
                <a16:creationId xmlns:a16="http://schemas.microsoft.com/office/drawing/2014/main" id="{8D79C381-EA7D-42A7-9DE8-F4B59E847ED0}"/>
              </a:ext>
            </a:extLst>
          </p:cNvPr>
          <p:cNvSpPr txBox="1"/>
          <p:nvPr/>
        </p:nvSpPr>
        <p:spPr>
          <a:xfrm>
            <a:off x="135162" y="252239"/>
            <a:ext cx="2552945" cy="707886"/>
          </a:xfrm>
          <a:prstGeom prst="rect">
            <a:avLst/>
          </a:prstGeom>
          <a:noFill/>
        </p:spPr>
        <p:txBody>
          <a:bodyPr wrap="square" rtlCol="0">
            <a:spAutoFit/>
          </a:bodyPr>
          <a:lstStyle/>
          <a:p>
            <a:pPr algn="just"/>
            <a:r>
              <a:rPr lang="pt-BR" sz="1000" b="1" dirty="0">
                <a:latin typeface="+mj-lt"/>
                <a:cs typeface="Arial" pitchFamily="34" charset="0"/>
              </a:rPr>
              <a:t>PASSO 4 – </a:t>
            </a:r>
            <a:r>
              <a:rPr lang="pt-BR" sz="1000" dirty="0">
                <a:latin typeface="+mj-lt"/>
                <a:cs typeface="Arial" pitchFamily="34" charset="0"/>
              </a:rPr>
              <a:t>Fixar o paneleiro as pernas</a:t>
            </a:r>
          </a:p>
          <a:p>
            <a:pPr algn="just"/>
            <a:r>
              <a:rPr lang="pt-BR" sz="1000" dirty="0">
                <a:latin typeface="+mj-lt"/>
                <a:cs typeface="Arial" pitchFamily="34" charset="0"/>
              </a:rPr>
              <a:t>do forno. A fixação deve ser realizada</a:t>
            </a:r>
          </a:p>
          <a:p>
            <a:pPr algn="just"/>
            <a:r>
              <a:rPr lang="pt-BR" sz="1000" dirty="0">
                <a:latin typeface="+mj-lt"/>
                <a:cs typeface="Arial" pitchFamily="34" charset="0"/>
              </a:rPr>
              <a:t>com a ajuda de uma chave 13 </a:t>
            </a:r>
          </a:p>
          <a:p>
            <a:pPr algn="just"/>
            <a:r>
              <a:rPr lang="pt-BR" sz="1000" dirty="0">
                <a:latin typeface="+mj-lt"/>
                <a:cs typeface="Arial" pitchFamily="34" charset="0"/>
              </a:rPr>
              <a:t> </a:t>
            </a:r>
          </a:p>
        </p:txBody>
      </p:sp>
      <p:cxnSp>
        <p:nvCxnSpPr>
          <p:cNvPr id="20" name="Conector de seta reta 19"/>
          <p:cNvCxnSpPr/>
          <p:nvPr/>
        </p:nvCxnSpPr>
        <p:spPr>
          <a:xfrm flipH="1">
            <a:off x="3978225" y="2263220"/>
            <a:ext cx="433318" cy="87612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1" name="Caixa de texto 11"/>
          <p:cNvSpPr txBox="1"/>
          <p:nvPr/>
        </p:nvSpPr>
        <p:spPr>
          <a:xfrm>
            <a:off x="3386913" y="3139341"/>
            <a:ext cx="924082" cy="288564"/>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pt-BR" sz="10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FRENTE</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CaixaDeTexto 14">
            <a:extLst>
              <a:ext uri="{FF2B5EF4-FFF2-40B4-BE49-F238E27FC236}">
                <a16:creationId xmlns:a16="http://schemas.microsoft.com/office/drawing/2014/main" id="{8D79C381-EA7D-42A7-9DE8-F4B59E847ED0}"/>
              </a:ext>
            </a:extLst>
          </p:cNvPr>
          <p:cNvSpPr txBox="1"/>
          <p:nvPr/>
        </p:nvSpPr>
        <p:spPr>
          <a:xfrm>
            <a:off x="295273" y="3980462"/>
            <a:ext cx="2295275" cy="553998"/>
          </a:xfrm>
          <a:prstGeom prst="rect">
            <a:avLst/>
          </a:prstGeom>
          <a:noFill/>
        </p:spPr>
        <p:txBody>
          <a:bodyPr wrap="square" rtlCol="0">
            <a:spAutoFit/>
          </a:bodyPr>
          <a:lstStyle/>
          <a:p>
            <a:pPr algn="just"/>
            <a:r>
              <a:rPr lang="pt-BR" sz="1000" b="1" dirty="0">
                <a:latin typeface="+mj-lt"/>
                <a:cs typeface="Arial" pitchFamily="34" charset="0"/>
              </a:rPr>
              <a:t>PASSO 5 – Retornar o forno a posição normal e reposicionar o queimador novamente ao gabinete do forno.</a:t>
            </a:r>
            <a:endParaRPr lang="pt-BR" sz="1000" dirty="0">
              <a:latin typeface="+mj-lt"/>
              <a:cs typeface="Arial" pitchFamily="34" charset="0"/>
            </a:endParaRPr>
          </a:p>
        </p:txBody>
      </p:sp>
      <p:pic>
        <p:nvPicPr>
          <p:cNvPr id="3" name="Imagem 2"/>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606093" y="483679"/>
            <a:ext cx="4224894" cy="2511770"/>
          </a:xfrm>
          <a:prstGeom prst="rect">
            <a:avLst/>
          </a:prstGeom>
        </p:spPr>
      </p:pic>
      <p:sp>
        <p:nvSpPr>
          <p:cNvPr id="29" name="CaixaDeTexto 28">
            <a:extLst>
              <a:ext uri="{FF2B5EF4-FFF2-40B4-BE49-F238E27FC236}">
                <a16:creationId xmlns:a16="http://schemas.microsoft.com/office/drawing/2014/main" id="{8D79C381-EA7D-42A7-9DE8-F4B59E847ED0}"/>
              </a:ext>
            </a:extLst>
          </p:cNvPr>
          <p:cNvSpPr txBox="1"/>
          <p:nvPr/>
        </p:nvSpPr>
        <p:spPr>
          <a:xfrm>
            <a:off x="144672" y="920687"/>
            <a:ext cx="1538484" cy="1169551"/>
          </a:xfrm>
          <a:prstGeom prst="rect">
            <a:avLst/>
          </a:prstGeom>
          <a:noFill/>
        </p:spPr>
        <p:txBody>
          <a:bodyPr wrap="square" rtlCol="0">
            <a:spAutoFit/>
          </a:bodyPr>
          <a:lstStyle/>
          <a:p>
            <a:pPr algn="just"/>
            <a:r>
              <a:rPr lang="pt-BR" sz="1000" b="1" dirty="0">
                <a:latin typeface="+mj-lt"/>
                <a:cs typeface="Arial" pitchFamily="34" charset="0"/>
              </a:rPr>
              <a:t>ATENÇÃO: O paneleiro possui as dimensões da frente maior do que a da lateral. Ficar atendo, para a montagem do paneleiro ser executada corretamente.</a:t>
            </a:r>
            <a:endParaRPr lang="pt-BR" sz="1000" dirty="0">
              <a:latin typeface="+mj-lt"/>
              <a:cs typeface="Arial" pitchFamily="34" charset="0"/>
            </a:endParaRPr>
          </a:p>
        </p:txBody>
      </p:sp>
      <p:pic>
        <p:nvPicPr>
          <p:cNvPr id="30" name="Picture 2" descr="IMG-20191128-WA0006 c¾pia"/>
          <p:cNvPicPr>
            <a:picLocks noChangeAspect="1" noChangeArrowheads="1"/>
          </p:cNvPicPr>
          <p:nvPr/>
        </p:nvPicPr>
        <p:blipFill>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830540" y="3843449"/>
            <a:ext cx="2306283" cy="318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Conector de seta reta 30"/>
          <p:cNvCxnSpPr/>
          <p:nvPr/>
        </p:nvCxnSpPr>
        <p:spPr>
          <a:xfrm flipV="1">
            <a:off x="2178025" y="5508823"/>
            <a:ext cx="1107197" cy="50405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2" name="Caixa de texto 11"/>
          <p:cNvSpPr txBox="1"/>
          <p:nvPr/>
        </p:nvSpPr>
        <p:spPr>
          <a:xfrm>
            <a:off x="1313929" y="5868597"/>
            <a:ext cx="924082" cy="288564"/>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pt-BR" sz="10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QUEIMADOR</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CaixaDeTexto 32">
            <a:extLst>
              <a:ext uri="{FF2B5EF4-FFF2-40B4-BE49-F238E27FC236}">
                <a16:creationId xmlns:a16="http://schemas.microsoft.com/office/drawing/2014/main" id="{8D79C381-EA7D-42A7-9DE8-F4B59E847ED0}"/>
              </a:ext>
            </a:extLst>
          </p:cNvPr>
          <p:cNvSpPr txBox="1"/>
          <p:nvPr/>
        </p:nvSpPr>
        <p:spPr>
          <a:xfrm>
            <a:off x="295273" y="4788968"/>
            <a:ext cx="2295275" cy="400110"/>
          </a:xfrm>
          <a:prstGeom prst="rect">
            <a:avLst/>
          </a:prstGeom>
          <a:noFill/>
        </p:spPr>
        <p:txBody>
          <a:bodyPr wrap="square" rtlCol="0">
            <a:spAutoFit/>
          </a:bodyPr>
          <a:lstStyle/>
          <a:p>
            <a:pPr algn="just"/>
            <a:r>
              <a:rPr lang="pt-BR" sz="1000" b="1" dirty="0">
                <a:latin typeface="+mj-lt"/>
                <a:cs typeface="Arial" pitchFamily="34" charset="0"/>
              </a:rPr>
              <a:t>PASSO 6 – Rosquear os pesos do forno a bengala.</a:t>
            </a:r>
            <a:endParaRPr lang="pt-BR" sz="1000" dirty="0">
              <a:latin typeface="+mj-lt"/>
              <a:cs typeface="Arial" pitchFamily="34" charset="0"/>
            </a:endParaRPr>
          </a:p>
        </p:txBody>
      </p:sp>
      <p:sp>
        <p:nvSpPr>
          <p:cNvPr id="34" name="Caixa de texto 11"/>
          <p:cNvSpPr txBox="1"/>
          <p:nvPr/>
        </p:nvSpPr>
        <p:spPr>
          <a:xfrm>
            <a:off x="2128507" y="3473499"/>
            <a:ext cx="924082" cy="288564"/>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pt-BR" sz="10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PESOS</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5" name="Conector de seta reta 34"/>
          <p:cNvCxnSpPr/>
          <p:nvPr/>
        </p:nvCxnSpPr>
        <p:spPr>
          <a:xfrm>
            <a:off x="2731623" y="3747650"/>
            <a:ext cx="431726" cy="3803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6" name="Conector de seta reta 35"/>
          <p:cNvCxnSpPr/>
          <p:nvPr/>
        </p:nvCxnSpPr>
        <p:spPr>
          <a:xfrm>
            <a:off x="2830540" y="3703560"/>
            <a:ext cx="1939773" cy="55390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pic>
        <p:nvPicPr>
          <p:cNvPr id="2" name="Imagem 1"/>
          <p:cNvPicPr>
            <a:picLocks noChangeAspect="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318192" y="5372828"/>
            <a:ext cx="3265678" cy="1944449"/>
          </a:xfrm>
          <a:prstGeom prst="rect">
            <a:avLst/>
          </a:prstGeom>
        </p:spPr>
      </p:pic>
    </p:spTree>
    <p:extLst>
      <p:ext uri="{BB962C8B-B14F-4D97-AF65-F5344CB8AC3E}">
        <p14:creationId xmlns:p14="http://schemas.microsoft.com/office/powerpoint/2010/main" val="2303233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07</a:t>
            </a:r>
          </a:p>
        </p:txBody>
      </p:sp>
      <p:sp>
        <p:nvSpPr>
          <p:cNvPr id="9" name="Retângulo 8">
            <a:extLst>
              <a:ext uri="{FF2B5EF4-FFF2-40B4-BE49-F238E27FC236}">
                <a16:creationId xmlns:a16="http://schemas.microsoft.com/office/drawing/2014/main" id="{5CBA6821-580D-4008-AF06-6A2ECFE38545}"/>
              </a:ext>
            </a:extLst>
          </p:cNvPr>
          <p:cNvSpPr/>
          <p:nvPr/>
        </p:nvSpPr>
        <p:spPr>
          <a:xfrm>
            <a:off x="162081" y="234449"/>
            <a:ext cx="5040000" cy="252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3. PRÉ - OPERAÇÃO</a:t>
            </a:r>
          </a:p>
        </p:txBody>
      </p:sp>
      <p:sp>
        <p:nvSpPr>
          <p:cNvPr id="6" name="CaixaDeTexto 5">
            <a:extLst>
              <a:ext uri="{FF2B5EF4-FFF2-40B4-BE49-F238E27FC236}">
                <a16:creationId xmlns:a16="http://schemas.microsoft.com/office/drawing/2014/main" id="{EB151972-0BE7-4E2D-B86C-A00DD9934729}"/>
              </a:ext>
            </a:extLst>
          </p:cNvPr>
          <p:cNvSpPr txBox="1"/>
          <p:nvPr/>
        </p:nvSpPr>
        <p:spPr>
          <a:xfrm>
            <a:off x="162081" y="540271"/>
            <a:ext cx="5040000" cy="6863417"/>
          </a:xfrm>
          <a:prstGeom prst="rect">
            <a:avLst/>
          </a:prstGeom>
          <a:noFill/>
        </p:spPr>
        <p:txBody>
          <a:bodyPr wrap="square" rtlCol="0">
            <a:spAutoFit/>
          </a:bodyPr>
          <a:lstStyle/>
          <a:p>
            <a:pPr algn="just"/>
            <a:r>
              <a:rPr lang="pt-BR" sz="1000" b="1" dirty="0">
                <a:latin typeface="+mj-lt"/>
                <a:cs typeface="Arial" pitchFamily="34" charset="0"/>
              </a:rPr>
              <a:t>3.1 Instalando o equipamento </a:t>
            </a:r>
          </a:p>
          <a:p>
            <a:pPr marL="171450" indent="-171450" algn="just">
              <a:buFont typeface="Arial" panose="020B0604020202020204" pitchFamily="34" charset="0"/>
              <a:buChar char="•"/>
            </a:pPr>
            <a:r>
              <a:rPr lang="pt-BR" sz="1000" dirty="0">
                <a:latin typeface="+mj-lt"/>
                <a:cs typeface="Arial" pitchFamily="34" charset="0"/>
              </a:rPr>
              <a:t>Este equipamento somente deverá ser instalado por um técnico capacitado ou habilitado.</a:t>
            </a:r>
          </a:p>
          <a:p>
            <a:pPr marL="171450" indent="-171450" algn="just">
              <a:buFont typeface="Arial" panose="020B0604020202020204" pitchFamily="34" charset="0"/>
              <a:buChar char="•"/>
            </a:pPr>
            <a:r>
              <a:rPr lang="pt-BR" sz="1000" b="1" dirty="0">
                <a:latin typeface="+mj-lt"/>
                <a:cs typeface="Arial" pitchFamily="34" charset="0"/>
              </a:rPr>
              <a:t>ATENÇÃO</a:t>
            </a:r>
            <a:r>
              <a:rPr lang="pt-BR" sz="1000" dirty="0">
                <a:latin typeface="+mj-lt"/>
                <a:cs typeface="Arial" pitchFamily="34" charset="0"/>
              </a:rPr>
              <a:t>: Jamais instale o forno em qualquer superfície que não seja o cavalete que acompanha o mesmo, sob pena de danificar o produto.</a:t>
            </a:r>
          </a:p>
          <a:p>
            <a:pPr algn="just"/>
            <a:endParaRPr lang="pt-BR" sz="1000" b="1" dirty="0">
              <a:latin typeface="+mj-lt"/>
              <a:cs typeface="Arial" pitchFamily="34" charset="0"/>
            </a:endParaRPr>
          </a:p>
          <a:p>
            <a:pPr indent="457200" algn="just"/>
            <a:r>
              <a:rPr lang="pt-BR" sz="1000" dirty="0">
                <a:latin typeface="+mj-lt"/>
                <a:cs typeface="Arial" pitchFamily="34" charset="0"/>
              </a:rPr>
              <a:t>O forno deve ser instalado em ambiente que não possua corrente de ar , a fim de que não interfira no funcionamento do mesmo e com uma distância mínima de 40 cm de paredes , móveis ou de outro equipamento e/ou objetos.</a:t>
            </a:r>
          </a:p>
          <a:p>
            <a:pPr indent="457200" algn="just"/>
            <a:r>
              <a:rPr lang="pt-BR" sz="1000" dirty="0">
                <a:latin typeface="+mj-lt"/>
                <a:cs typeface="Arial" pitchFamily="34" charset="0"/>
              </a:rPr>
              <a:t>As válvulas não acompanham os fornos devido a forma de como será instalado. A instalação deve ser feita de acordo com o modelo do equipamento.</a:t>
            </a:r>
          </a:p>
          <a:p>
            <a:pPr indent="457200" algn="just"/>
            <a:r>
              <a:rPr lang="pt-BR" sz="1000" dirty="0" err="1">
                <a:solidFill>
                  <a:sysClr val="windowText" lastClr="000000"/>
                </a:solidFill>
                <a:latin typeface="+mj-lt"/>
                <a:cs typeface="Arial" pitchFamily="34" charset="0"/>
              </a:rPr>
              <a:t>Ex</a:t>
            </a:r>
            <a:r>
              <a:rPr lang="pt-BR" sz="1000" dirty="0">
                <a:solidFill>
                  <a:sysClr val="windowText" lastClr="000000"/>
                </a:solidFill>
                <a:latin typeface="+mj-lt"/>
                <a:cs typeface="Arial" pitchFamily="34" charset="0"/>
              </a:rPr>
              <a:t>: Forno PRP 1300 inox/pintado com o consumo de 1,410 kg/h de gás. Neste caso o ideal será ,sendo em regime de uso continuo ,colocar 3 botijões de 13 kg, sendo que cada um fornece 0,600 kg/h de gás ,totalizando 1,800 kg/h de gás ,interligados a uma válvula de 2 kg/h de gás .Verifique o consumo do seu modelo de equipamento e proceda com o calculo de botijões necessários.</a:t>
            </a:r>
          </a:p>
          <a:p>
            <a:pPr algn="just"/>
            <a:endParaRPr lang="pt-BR" sz="1000" dirty="0">
              <a:latin typeface="+mj-lt"/>
              <a:cs typeface="Arial" pitchFamily="34" charset="0"/>
            </a:endParaRPr>
          </a:p>
          <a:p>
            <a:pPr algn="just"/>
            <a:r>
              <a:rPr lang="pt-BR" sz="1000" b="1" dirty="0">
                <a:latin typeface="+mj-lt"/>
                <a:cs typeface="Arial" pitchFamily="34" charset="0"/>
              </a:rPr>
              <a:t>3.2 Instalação de Gás GLP (Engarrafado)</a:t>
            </a:r>
          </a:p>
          <a:p>
            <a:pPr algn="just"/>
            <a:r>
              <a:rPr lang="pt-BR" sz="1000" dirty="0">
                <a:latin typeface="+mj-lt"/>
                <a:cs typeface="Arial" pitchFamily="34" charset="0"/>
              </a:rPr>
              <a:t>Existem dois tipos :</a:t>
            </a:r>
          </a:p>
          <a:p>
            <a:pPr marL="171450" indent="-171450" algn="just">
              <a:buFont typeface="Arial" panose="020B0604020202020204" pitchFamily="34" charset="0"/>
              <a:buChar char="•"/>
            </a:pPr>
            <a:r>
              <a:rPr lang="pt-BR" sz="1000" dirty="0">
                <a:latin typeface="+mj-lt"/>
                <a:cs typeface="Arial" pitchFamily="34" charset="0"/>
              </a:rPr>
              <a:t>1</a:t>
            </a:r>
            <a:r>
              <a:rPr lang="pt-BR" sz="1000" dirty="0">
                <a:cs typeface="Arial" panose="020B0604020202020204" pitchFamily="34" charset="0"/>
              </a:rPr>
              <a:t>° </a:t>
            </a:r>
            <a:r>
              <a:rPr lang="pt-BR" sz="1000" dirty="0">
                <a:latin typeface="+mj-lt"/>
                <a:cs typeface="Arial" panose="020B0604020202020204" pitchFamily="34" charset="0"/>
              </a:rPr>
              <a:t>Quando os botijões estão localizados ao lado do forno utiliza-se a válvula reguladora de gás estágio único com pressão de entrada de 7kg/</a:t>
            </a:r>
            <a:r>
              <a:rPr lang="pt-BR" sz="1000" dirty="0"/>
              <a:t> </a:t>
            </a:r>
            <a:r>
              <a:rPr lang="pt-BR" sz="1000" dirty="0">
                <a:latin typeface="+mj-lt"/>
              </a:rPr>
              <a:t>cm² e pressão de saída de 2,8 kPa (</a:t>
            </a:r>
            <a:r>
              <a:rPr lang="pt-BR" sz="1000" dirty="0" err="1">
                <a:latin typeface="+mj-lt"/>
              </a:rPr>
              <a:t>kilopascal</a:t>
            </a:r>
            <a:r>
              <a:rPr lang="pt-BR" sz="1000" dirty="0">
                <a:latin typeface="+mj-lt"/>
              </a:rPr>
              <a:t>) ou 280mm </a:t>
            </a:r>
            <a:r>
              <a:rPr lang="pt-BR" sz="1000" dirty="0" err="1">
                <a:latin typeface="+mj-lt"/>
              </a:rPr>
              <a:t>c.a</a:t>
            </a:r>
            <a:r>
              <a:rPr lang="pt-BR" sz="1000" dirty="0">
                <a:latin typeface="+mj-lt"/>
              </a:rPr>
              <a:t>. e a vazão é determinada pelo consumo do forno .</a:t>
            </a:r>
            <a:r>
              <a:rPr lang="pt-BR" sz="1000" b="1" dirty="0">
                <a:latin typeface="+mj-lt"/>
              </a:rPr>
              <a:t>ATENÇÃO : verifique se a legislação vigente em seu estado /município permite este modelo de instalação.</a:t>
            </a:r>
          </a:p>
          <a:p>
            <a:pPr marL="171450" indent="-171450" algn="just">
              <a:buFont typeface="Arial" panose="020B0604020202020204" pitchFamily="34" charset="0"/>
              <a:buChar char="•"/>
            </a:pPr>
            <a:endParaRPr lang="pt-BR" sz="1000" b="1" dirty="0">
              <a:latin typeface="+mj-lt"/>
              <a:cs typeface="Arial" panose="020B0604020202020204" pitchFamily="34" charset="0"/>
            </a:endParaRPr>
          </a:p>
          <a:p>
            <a:pPr marL="171450" indent="-171450" algn="just">
              <a:buFont typeface="Arial" panose="020B0604020202020204" pitchFamily="34" charset="0"/>
              <a:buChar char="•"/>
            </a:pPr>
            <a:r>
              <a:rPr lang="pt-BR" sz="1000" dirty="0">
                <a:latin typeface="+mj-lt"/>
                <a:cs typeface="Arial" panose="020B0604020202020204" pitchFamily="34" charset="0"/>
              </a:rPr>
              <a:t>2</a:t>
            </a:r>
            <a:r>
              <a:rPr lang="pt-BR" sz="1000" dirty="0">
                <a:cs typeface="Arial" panose="020B0604020202020204" pitchFamily="34" charset="0"/>
              </a:rPr>
              <a:t> ° Quando os botijões estão em uma central distante do forno ,instala-se no local uma válvula reguladora de gás de 1 ° estágio ,com entrada de 7 kg/</a:t>
            </a:r>
            <a:r>
              <a:rPr lang="pt-BR" sz="1000" dirty="0"/>
              <a:t> cm² e pressão de saída de 1,2kg/ cm² ,colocando ,como condutor de gás até o forno ,tubulação de cobre ou de aço carbono ( sem costura) ,instalando no final, ao lado do forno uma segunda válvula , porem de segundo estágio com pressão de entrada de 1,2 kg/ cm² e pressão de saída de 2,8 kPa ( </a:t>
            </a:r>
            <a:r>
              <a:rPr lang="pt-BR" sz="1000" dirty="0" err="1"/>
              <a:t>Kilopascal</a:t>
            </a:r>
            <a:r>
              <a:rPr lang="pt-BR" sz="1000" dirty="0"/>
              <a:t>) ou de 280 </a:t>
            </a:r>
            <a:r>
              <a:rPr lang="pt-BR" sz="1000" dirty="0" err="1"/>
              <a:t>mm.c.a</a:t>
            </a:r>
            <a:r>
              <a:rPr lang="pt-BR" sz="1000" dirty="0"/>
              <a:t> .</a:t>
            </a:r>
            <a:r>
              <a:rPr lang="pt-BR" sz="1000" b="1" dirty="0"/>
              <a:t>Este modelo de instalação é o mais indicado ,verifique se a legislação vigente em seu estado/município permite este tipo de instalação.</a:t>
            </a:r>
          </a:p>
          <a:p>
            <a:pPr algn="just"/>
            <a:endParaRPr lang="pt-BR" sz="1000" b="1" dirty="0"/>
          </a:p>
          <a:p>
            <a:pPr algn="just"/>
            <a:r>
              <a:rPr lang="pt-BR" sz="1000" b="1" dirty="0"/>
              <a:t>3.3 Limpeza e manutenção</a:t>
            </a:r>
          </a:p>
          <a:p>
            <a:pPr marL="171450" indent="-171450" algn="just">
              <a:buFont typeface="Arial" panose="020B0604020202020204" pitchFamily="34" charset="0"/>
              <a:buChar char="•"/>
            </a:pPr>
            <a:r>
              <a:rPr lang="pt-BR" sz="1000" dirty="0"/>
              <a:t>Fechar o registro de gás e aguardar até que o forno esfrie para iniciar o processo de limpeza.</a:t>
            </a:r>
          </a:p>
          <a:p>
            <a:pPr marL="171450" indent="-171450" algn="just">
              <a:buFont typeface="Arial" panose="020B0604020202020204" pitchFamily="34" charset="0"/>
              <a:buChar char="•"/>
            </a:pPr>
            <a:r>
              <a:rPr lang="pt-BR" sz="1000" dirty="0"/>
              <a:t>Para efetuar a limpeza do forno não utilize palha de aço , nem produtos abrasivos ,bem como solventes ou qualquer outra substancias químicas pois estes ,podem danificar os materiais utilizados na confecção do forno.</a:t>
            </a:r>
          </a:p>
          <a:p>
            <a:pPr marL="171450" indent="-171450" algn="just">
              <a:buFont typeface="Arial" panose="020B0604020202020204" pitchFamily="34" charset="0"/>
              <a:buChar char="•"/>
            </a:pPr>
            <a:r>
              <a:rPr lang="pt-BR" sz="1000" dirty="0"/>
              <a:t>Todos as partes de aço inoxidável podem ser limpas regulamente com álcool e gel, internamente limpas com álcool em gel para uma perfeita higienização, a manutenção do forno deverá ser realizada por técnicos autorizados quando o mesmo ainda estiver dentro do prazo de garantia.</a:t>
            </a:r>
          </a:p>
          <a:p>
            <a:pPr algn="just"/>
            <a:endParaRPr lang="pt-BR" sz="1000" b="1" dirty="0"/>
          </a:p>
          <a:p>
            <a:pPr algn="just"/>
            <a:endParaRPr lang="pt-BR" sz="1000" dirty="0">
              <a:latin typeface="+mj-lt"/>
              <a:cs typeface="Arial" panose="020B0604020202020204" pitchFamily="34" charset="0"/>
            </a:endParaRPr>
          </a:p>
        </p:txBody>
      </p:sp>
    </p:spTree>
    <p:extLst>
      <p:ext uri="{BB962C8B-B14F-4D97-AF65-F5344CB8AC3E}">
        <p14:creationId xmlns:p14="http://schemas.microsoft.com/office/powerpoint/2010/main" val="1645644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08</a:t>
            </a:r>
          </a:p>
        </p:txBody>
      </p:sp>
      <p:sp>
        <p:nvSpPr>
          <p:cNvPr id="10" name="CaixaDeTexto 9">
            <a:extLst>
              <a:ext uri="{FF2B5EF4-FFF2-40B4-BE49-F238E27FC236}">
                <a16:creationId xmlns:a16="http://schemas.microsoft.com/office/drawing/2014/main" id="{EB151972-0BE7-4E2D-B86C-A00DD9934729}"/>
              </a:ext>
            </a:extLst>
          </p:cNvPr>
          <p:cNvSpPr txBox="1"/>
          <p:nvPr/>
        </p:nvSpPr>
        <p:spPr>
          <a:xfrm>
            <a:off x="162361" y="180231"/>
            <a:ext cx="5040000" cy="7325082"/>
          </a:xfrm>
          <a:prstGeom prst="rect">
            <a:avLst/>
          </a:prstGeom>
          <a:noFill/>
        </p:spPr>
        <p:txBody>
          <a:bodyPr wrap="square" rtlCol="0">
            <a:spAutoFit/>
          </a:bodyPr>
          <a:lstStyle/>
          <a:p>
            <a:pPr algn="just"/>
            <a:endParaRPr lang="pt-BR" sz="1000" dirty="0">
              <a:latin typeface="+mj-lt"/>
              <a:cs typeface="Arial" pitchFamily="34" charset="0"/>
            </a:endParaRPr>
          </a:p>
          <a:p>
            <a:pPr algn="just"/>
            <a:r>
              <a:rPr lang="pt-BR" sz="1000" b="1" dirty="0">
                <a:latin typeface="+mj-lt"/>
                <a:cs typeface="Arial" pitchFamily="34" charset="0"/>
              </a:rPr>
              <a:t>3.4 INSTRUÇÕES PARA MONTAGENS DO TERMÔMETRO</a:t>
            </a:r>
          </a:p>
          <a:p>
            <a:pPr algn="just"/>
            <a:endParaRPr lang="pt-BR" sz="1000" dirty="0">
              <a:latin typeface="+mj-lt"/>
              <a:cs typeface="Arial" pitchFamily="34" charset="0"/>
            </a:endParaRPr>
          </a:p>
          <a:p>
            <a:pPr algn="just"/>
            <a:r>
              <a:rPr lang="pt-BR" sz="1000" dirty="0">
                <a:latin typeface="+mj-lt"/>
                <a:cs typeface="Arial" pitchFamily="34" charset="0"/>
              </a:rPr>
              <a:t>Coloque o termômetro na parte superior do forno(olhando o forno de frente) rosqueando o mesmo até quase o fim ,deixando o mostrador para ser visto da frente do forno. O termômetro é um delicado sistema mecânico ,portanto , muito cuidado no manuseio. Devido as  características mecânicas do termômetro ,é necessário que o forno esteja com temperatura estabilizada para ter uma temperatura próxima ao valor real.</a:t>
            </a:r>
          </a:p>
          <a:p>
            <a:pPr algn="just"/>
            <a:endParaRPr lang="pt-BR" sz="1000" dirty="0">
              <a:latin typeface="+mj-lt"/>
              <a:cs typeface="Arial" pitchFamily="34" charset="0"/>
            </a:endParaRPr>
          </a:p>
          <a:p>
            <a:pPr algn="just"/>
            <a:r>
              <a:rPr lang="pt-BR" sz="1000" b="1" dirty="0">
                <a:latin typeface="+mj-lt"/>
                <a:cs typeface="Arial" pitchFamily="34" charset="0"/>
              </a:rPr>
              <a:t>3.5 FORNO GÁS GLP</a:t>
            </a:r>
            <a:r>
              <a:rPr lang="pt-BR" sz="1000" dirty="0">
                <a:latin typeface="+mj-lt"/>
                <a:cs typeface="Arial" pitchFamily="34" charset="0"/>
              </a:rPr>
              <a:t> </a:t>
            </a:r>
          </a:p>
          <a:p>
            <a:pPr algn="just"/>
            <a:endParaRPr lang="pt-BR" sz="1000" dirty="0">
              <a:latin typeface="+mj-lt"/>
              <a:cs typeface="Arial" pitchFamily="34" charset="0"/>
            </a:endParaRPr>
          </a:p>
          <a:p>
            <a:pPr algn="just"/>
            <a:r>
              <a:rPr lang="pt-BR" sz="1000" dirty="0">
                <a:latin typeface="+mj-lt"/>
                <a:cs typeface="Arial" pitchFamily="34" charset="0"/>
              </a:rPr>
              <a:t>Os fornos a gás Só aço somente devem ser instalados com válvula reguladora de baixa pressão com 2,8 kPa (280 mm </a:t>
            </a:r>
            <a:r>
              <a:rPr lang="pt-BR" sz="1000" dirty="0" err="1">
                <a:latin typeface="+mj-lt"/>
                <a:cs typeface="Arial" pitchFamily="34" charset="0"/>
              </a:rPr>
              <a:t>c.a</a:t>
            </a:r>
            <a:r>
              <a:rPr lang="pt-BR" sz="1000" dirty="0">
                <a:latin typeface="+mj-lt"/>
                <a:cs typeface="Arial" pitchFamily="34" charset="0"/>
              </a:rPr>
              <a:t>.) para gás GLP e conforme as normas de segurança da ABNT Porta de vidro temperado com sistema de abertura basculante tipo guilhotina ;</a:t>
            </a:r>
          </a:p>
          <a:p>
            <a:pPr marL="171450" indent="-171450" algn="just">
              <a:buFont typeface="Wingdings" panose="05000000000000000000" pitchFamily="2" charset="2"/>
              <a:buChar char="ü"/>
            </a:pPr>
            <a:r>
              <a:rPr lang="pt-BR" sz="1000" dirty="0">
                <a:latin typeface="+mj-lt"/>
                <a:cs typeface="Arial" pitchFamily="34" charset="0"/>
              </a:rPr>
              <a:t>Chapas internas em aço galvanizado;</a:t>
            </a:r>
          </a:p>
          <a:p>
            <a:pPr marL="171450" indent="-171450" algn="just">
              <a:buFont typeface="Wingdings" panose="05000000000000000000" pitchFamily="2" charset="2"/>
              <a:buChar char="ü"/>
            </a:pPr>
            <a:r>
              <a:rPr lang="pt-BR" sz="1000" dirty="0">
                <a:latin typeface="+mj-lt"/>
                <a:cs typeface="Arial" pitchFamily="34" charset="0"/>
              </a:rPr>
              <a:t>Isolamento térmico em manta de lã de vidro;</a:t>
            </a:r>
          </a:p>
          <a:p>
            <a:pPr marL="171450" indent="-171450" algn="just">
              <a:buFont typeface="Wingdings" panose="05000000000000000000" pitchFamily="2" charset="2"/>
              <a:buChar char="ü"/>
            </a:pPr>
            <a:r>
              <a:rPr lang="pt-BR" sz="1000" dirty="0">
                <a:latin typeface="+mj-lt"/>
                <a:cs typeface="Arial" pitchFamily="34" charset="0"/>
              </a:rPr>
              <a:t>Cobertura externa laterais, frente e teto  em aço inox ou pintura eletrostática a pó;</a:t>
            </a:r>
          </a:p>
          <a:p>
            <a:pPr marL="171450" indent="-171450" algn="just">
              <a:buFont typeface="Wingdings" panose="05000000000000000000" pitchFamily="2" charset="2"/>
              <a:buChar char="ü"/>
            </a:pPr>
            <a:r>
              <a:rPr lang="pt-BR" sz="1000" dirty="0">
                <a:latin typeface="+mj-lt"/>
                <a:cs typeface="Arial" pitchFamily="34" charset="0"/>
              </a:rPr>
              <a:t>Acompanha uma grelha por câmara;</a:t>
            </a:r>
          </a:p>
          <a:p>
            <a:pPr marL="171450" indent="-171450" algn="just">
              <a:buFont typeface="Wingdings" panose="05000000000000000000" pitchFamily="2" charset="2"/>
              <a:buChar char="ü"/>
            </a:pPr>
            <a:r>
              <a:rPr lang="pt-BR" sz="1000" dirty="0">
                <a:latin typeface="+mj-lt"/>
                <a:cs typeface="Arial" pitchFamily="34" charset="0"/>
              </a:rPr>
              <a:t>Cada câmara possui três trilhos de encaixe da grelha, possibilitando regulagens diferenciadas conforme a necessidade do usuário ; </a:t>
            </a:r>
          </a:p>
          <a:p>
            <a:pPr marL="171450" indent="-171450" algn="just">
              <a:buFont typeface="Wingdings" panose="05000000000000000000" pitchFamily="2" charset="2"/>
              <a:buChar char="ü"/>
            </a:pPr>
            <a:r>
              <a:rPr lang="pt-BR" sz="1000" dirty="0">
                <a:latin typeface="+mj-lt"/>
                <a:cs typeface="Arial" pitchFamily="34" charset="0"/>
              </a:rPr>
              <a:t>O piso do forno é composto por pedra (s) refratária(s); </a:t>
            </a:r>
          </a:p>
          <a:p>
            <a:pPr marL="171450" indent="-171450" algn="just">
              <a:buFont typeface="Wingdings" panose="05000000000000000000" pitchFamily="2" charset="2"/>
              <a:buChar char="ü"/>
            </a:pPr>
            <a:r>
              <a:rPr lang="pt-BR" sz="1000" dirty="0">
                <a:latin typeface="+mj-lt"/>
                <a:cs typeface="Arial" pitchFamily="34" charset="0"/>
              </a:rPr>
              <a:t>Acendimento dos queimadores via orifícios existentes na parte dianteira inferior externa da câmara ou através da gaveta que, para serem utilizadas, basta puxá-la pra fora.</a:t>
            </a:r>
          </a:p>
          <a:p>
            <a:pPr algn="just"/>
            <a:endParaRPr lang="pt-BR" sz="1000" dirty="0">
              <a:latin typeface="+mj-lt"/>
              <a:cs typeface="Arial" pitchFamily="34" charset="0"/>
            </a:endParaRPr>
          </a:p>
          <a:p>
            <a:pPr algn="just"/>
            <a:r>
              <a:rPr lang="pt-BR" sz="1000" b="1" i="1" dirty="0">
                <a:cs typeface="Arial" pitchFamily="34" charset="0"/>
              </a:rPr>
              <a:t>3.6 FORNO GÁS GLP COM GRATINADOR</a:t>
            </a:r>
          </a:p>
          <a:p>
            <a:pPr algn="just"/>
            <a:endParaRPr lang="pt-BR" sz="1000" b="1" dirty="0">
              <a:cs typeface="Arial" pitchFamily="34" charset="0"/>
            </a:endParaRPr>
          </a:p>
          <a:p>
            <a:pPr algn="just"/>
            <a:r>
              <a:rPr lang="pt-BR" sz="1000" b="1" dirty="0">
                <a:cs typeface="Arial" pitchFamily="34" charset="0"/>
              </a:rPr>
              <a:t>Características básicas </a:t>
            </a:r>
          </a:p>
          <a:p>
            <a:pPr marL="171450" indent="-171450" algn="just">
              <a:buFont typeface="Wingdings" panose="05000000000000000000" pitchFamily="2" charset="2"/>
              <a:buChar char="ü"/>
            </a:pPr>
            <a:r>
              <a:rPr lang="pt-BR" sz="1000" dirty="0">
                <a:cs typeface="Arial" pitchFamily="34" charset="0"/>
              </a:rPr>
              <a:t>Porta de vidro temperado com sistema de abertura basculante ,tipo guilhotina.</a:t>
            </a:r>
          </a:p>
          <a:p>
            <a:pPr marL="171450" indent="-171450" algn="just">
              <a:buFont typeface="Wingdings" panose="05000000000000000000" pitchFamily="2" charset="2"/>
              <a:buChar char="ü"/>
            </a:pPr>
            <a:r>
              <a:rPr lang="pt-BR" sz="1000" dirty="0">
                <a:cs typeface="Arial" pitchFamily="34" charset="0"/>
              </a:rPr>
              <a:t>Chapas internas em aço galvanizado</a:t>
            </a:r>
          </a:p>
          <a:p>
            <a:pPr marL="171450" indent="-171450" algn="just">
              <a:buFont typeface="Wingdings" panose="05000000000000000000" pitchFamily="2" charset="2"/>
              <a:buChar char="ü"/>
            </a:pPr>
            <a:r>
              <a:rPr lang="pt-BR" sz="1000" dirty="0">
                <a:cs typeface="Arial" pitchFamily="34" charset="0"/>
              </a:rPr>
              <a:t>Corpo externo em aço inoxidável ou pintura eletrostática a pó.</a:t>
            </a:r>
          </a:p>
          <a:p>
            <a:pPr marL="171450" indent="-171450" algn="just">
              <a:buFont typeface="Wingdings" panose="05000000000000000000" pitchFamily="2" charset="2"/>
              <a:buChar char="ü"/>
            </a:pPr>
            <a:r>
              <a:rPr lang="pt-BR" sz="1000" dirty="0">
                <a:cs typeface="Arial" pitchFamily="34" charset="0"/>
              </a:rPr>
              <a:t>Acompanha 1 (uma) grelha zincada por câmara .</a:t>
            </a:r>
          </a:p>
          <a:p>
            <a:pPr marL="171450" indent="-171450" algn="just">
              <a:buFont typeface="Wingdings" panose="05000000000000000000" pitchFamily="2" charset="2"/>
              <a:buChar char="ü"/>
            </a:pPr>
            <a:r>
              <a:rPr lang="pt-BR" sz="1000" dirty="0">
                <a:cs typeface="Arial" pitchFamily="34" charset="0"/>
              </a:rPr>
              <a:t>Isolamento térmico em manta de lã de vidro.</a:t>
            </a:r>
          </a:p>
          <a:p>
            <a:pPr marL="171450" indent="-171450" algn="just">
              <a:buFont typeface="Wingdings" panose="05000000000000000000" pitchFamily="2" charset="2"/>
              <a:buChar char="ü"/>
            </a:pPr>
            <a:r>
              <a:rPr lang="pt-BR" sz="1000" dirty="0">
                <a:cs typeface="Arial" pitchFamily="34" charset="0"/>
              </a:rPr>
              <a:t>Cada câmara possui 3 (três) trilhos de encaixe de grelhas ,possibilitando regulagens diferenciadas conforme a necessidade do usuário .</a:t>
            </a:r>
          </a:p>
          <a:p>
            <a:pPr marL="171450" indent="-171450" algn="just">
              <a:buFont typeface="Wingdings" panose="05000000000000000000" pitchFamily="2" charset="2"/>
              <a:buChar char="ü"/>
            </a:pPr>
            <a:r>
              <a:rPr lang="pt-BR" sz="1000" dirty="0">
                <a:cs typeface="Arial" pitchFamily="34" charset="0"/>
              </a:rPr>
              <a:t>O chão de forno é composto por lajes pré-moldadas aquecidas diretamente pelos queimadores .</a:t>
            </a:r>
          </a:p>
          <a:p>
            <a:pPr marL="171450" indent="-171450" algn="just">
              <a:buFont typeface="Wingdings" panose="05000000000000000000" pitchFamily="2" charset="2"/>
              <a:buChar char="ü"/>
            </a:pPr>
            <a:r>
              <a:rPr lang="pt-BR" sz="1000" dirty="0">
                <a:cs typeface="Arial" pitchFamily="34" charset="0"/>
              </a:rPr>
              <a:t>O ar quente circula pelas passagens laterais ,penetrando na parte superior de cada câmara, </a:t>
            </a:r>
            <a:r>
              <a:rPr lang="pt-BR" sz="1000" dirty="0" err="1">
                <a:cs typeface="Arial" pitchFamily="34" charset="0"/>
              </a:rPr>
              <a:t>recirculando</a:t>
            </a:r>
            <a:r>
              <a:rPr lang="pt-BR" sz="1000" dirty="0">
                <a:cs typeface="Arial" pitchFamily="34" charset="0"/>
              </a:rPr>
              <a:t> pelas mesmas  antes de sair pelos orifícios .Desta forma ,há uma uniformidade de temperatura na parte interna.</a:t>
            </a:r>
          </a:p>
          <a:p>
            <a:pPr marL="171450" indent="-171450" algn="just">
              <a:buFont typeface="Wingdings" panose="05000000000000000000" pitchFamily="2" charset="2"/>
              <a:buChar char="ü"/>
            </a:pPr>
            <a:r>
              <a:rPr lang="pt-BR" sz="1000" dirty="0">
                <a:cs typeface="Arial" pitchFamily="34" charset="0"/>
              </a:rPr>
              <a:t>Queimadores em aço tubular, com regulador de entrada de ar obtendo-se ,assim, uma chama mais perfeita .</a:t>
            </a:r>
          </a:p>
          <a:p>
            <a:pPr marL="171450" lvl="0" indent="-171450" algn="just">
              <a:buFont typeface="Wingdings" panose="05000000000000000000" pitchFamily="2" charset="2"/>
              <a:buChar char="ü"/>
            </a:pPr>
            <a:r>
              <a:rPr lang="pt-BR" sz="1000" dirty="0">
                <a:cs typeface="Arial" pitchFamily="34" charset="0"/>
              </a:rPr>
              <a:t>Termômetro de 0 a 350 C</a:t>
            </a:r>
            <a:r>
              <a:rPr lang="pt-BR" sz="1000" dirty="0">
                <a:solidFill>
                  <a:srgbClr val="1A0DAB"/>
                </a:solidFill>
                <a:cs typeface="Arial" panose="020B0604020202020204" pitchFamily="34" charset="0"/>
              </a:rPr>
              <a:t>°</a:t>
            </a:r>
            <a:r>
              <a:rPr lang="pt-BR" sz="1000" dirty="0">
                <a:cs typeface="Arial" pitchFamily="34" charset="0"/>
              </a:rPr>
              <a:t> ,permitindo a regulagem de temperatura através do registro de entrada de gás.</a:t>
            </a:r>
          </a:p>
          <a:p>
            <a:pPr marL="171450" lvl="0" indent="-171450" algn="just">
              <a:buFont typeface="Wingdings" panose="05000000000000000000" pitchFamily="2" charset="2"/>
              <a:buChar char="ü"/>
            </a:pPr>
            <a:r>
              <a:rPr lang="pt-BR" sz="1000" dirty="0">
                <a:cs typeface="Arial" pitchFamily="34" charset="0"/>
              </a:rPr>
              <a:t>Acendimento dos queimadores via orifícios existentes na parte dianteira inferior externa da câmara ou através da gaveta que , para ser utilizada ,basta puxá-la para fora.</a:t>
            </a:r>
          </a:p>
          <a:p>
            <a:pPr algn="just"/>
            <a:endParaRPr lang="pt-BR" sz="1000" dirty="0">
              <a:latin typeface="+mj-lt"/>
              <a:cs typeface="Arial" pitchFamily="34" charset="0"/>
            </a:endParaRPr>
          </a:p>
          <a:p>
            <a:pPr algn="just"/>
            <a:endParaRPr lang="pt-BR" sz="1000" b="1" dirty="0">
              <a:latin typeface="+mj-lt"/>
              <a:cs typeface="Arial" pitchFamily="34" charset="0"/>
            </a:endParaRPr>
          </a:p>
        </p:txBody>
      </p:sp>
    </p:spTree>
    <p:extLst>
      <p:ext uri="{BB962C8B-B14F-4D97-AF65-F5344CB8AC3E}">
        <p14:creationId xmlns:p14="http://schemas.microsoft.com/office/powerpoint/2010/main" val="159572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09</a:t>
            </a:r>
          </a:p>
        </p:txBody>
      </p:sp>
      <p:sp>
        <p:nvSpPr>
          <p:cNvPr id="10" name="CaixaDeTexto 9">
            <a:extLst>
              <a:ext uri="{FF2B5EF4-FFF2-40B4-BE49-F238E27FC236}">
                <a16:creationId xmlns:a16="http://schemas.microsoft.com/office/drawing/2014/main" id="{EB151972-0BE7-4E2D-B86C-A00DD9934729}"/>
              </a:ext>
            </a:extLst>
          </p:cNvPr>
          <p:cNvSpPr txBox="1"/>
          <p:nvPr/>
        </p:nvSpPr>
        <p:spPr>
          <a:xfrm>
            <a:off x="144143" y="622141"/>
            <a:ext cx="5040000" cy="3477875"/>
          </a:xfrm>
          <a:prstGeom prst="rect">
            <a:avLst/>
          </a:prstGeom>
          <a:noFill/>
        </p:spPr>
        <p:txBody>
          <a:bodyPr wrap="square" rtlCol="0">
            <a:spAutoFit/>
          </a:bodyPr>
          <a:lstStyle/>
          <a:p>
            <a:pPr algn="just"/>
            <a:r>
              <a:rPr lang="pt-BR" sz="1000" b="1" dirty="0">
                <a:latin typeface="+mj-lt"/>
                <a:cs typeface="Arial" pitchFamily="34" charset="0"/>
              </a:rPr>
              <a:t>4.1 ORIENTAÇÃO DE USO</a:t>
            </a:r>
            <a:r>
              <a:rPr lang="pt-BR" sz="1000" dirty="0">
                <a:latin typeface="+mj-lt"/>
                <a:cs typeface="Arial" pitchFamily="34" charset="0"/>
              </a:rPr>
              <a:t> </a:t>
            </a:r>
          </a:p>
          <a:p>
            <a:pPr algn="just"/>
            <a:endParaRPr lang="pt-BR" sz="1000" b="1" dirty="0">
              <a:latin typeface="+mj-lt"/>
              <a:cs typeface="Arial" pitchFamily="34" charset="0"/>
            </a:endParaRPr>
          </a:p>
          <a:p>
            <a:pPr algn="just"/>
            <a:r>
              <a:rPr lang="pt-BR" sz="1000" b="1" dirty="0">
                <a:latin typeface="+mj-lt"/>
                <a:cs typeface="Arial" pitchFamily="34" charset="0"/>
              </a:rPr>
              <a:t>4.1.2 </a:t>
            </a:r>
            <a:r>
              <a:rPr lang="pt-BR" sz="1000" dirty="0">
                <a:latin typeface="+mj-lt"/>
                <a:cs typeface="Arial" pitchFamily="34" charset="0"/>
              </a:rPr>
              <a:t>O controle de intensidade do gás e, consequentemente, da temperatura, é realizado no registro de entrada de gás.</a:t>
            </a:r>
          </a:p>
          <a:p>
            <a:pPr algn="just"/>
            <a:r>
              <a:rPr lang="pt-BR" sz="1000" b="1" dirty="0">
                <a:latin typeface="+mj-lt"/>
                <a:cs typeface="Arial" pitchFamily="34" charset="0"/>
              </a:rPr>
              <a:t>4.1.2</a:t>
            </a:r>
            <a:r>
              <a:rPr lang="pt-BR" sz="1000" dirty="0">
                <a:latin typeface="+mj-lt"/>
                <a:cs typeface="Arial" pitchFamily="34" charset="0"/>
              </a:rPr>
              <a:t> Normalmente usa-se a chama alta para o pré-aquecimento da câmara e, para o cozimento usa-se a chama média intensidade.</a:t>
            </a:r>
          </a:p>
          <a:p>
            <a:pPr algn="just"/>
            <a:r>
              <a:rPr lang="pt-BR" sz="1000" b="1" dirty="0">
                <a:latin typeface="+mj-lt"/>
                <a:cs typeface="Arial" pitchFamily="34" charset="0"/>
              </a:rPr>
              <a:t>4.1.3</a:t>
            </a:r>
            <a:r>
              <a:rPr lang="pt-BR" sz="1000" dirty="0">
                <a:latin typeface="+mj-lt"/>
                <a:cs typeface="Arial" pitchFamily="34" charset="0"/>
              </a:rPr>
              <a:t> Cada tipo de assado exige um certo tempo de cozimento e intensidade de chama, procure seguir os padrões já definidos e não haverá problemas.</a:t>
            </a:r>
          </a:p>
          <a:p>
            <a:pPr algn="just"/>
            <a:r>
              <a:rPr lang="pt-BR" sz="1000" b="1" dirty="0">
                <a:latin typeface="+mj-lt"/>
                <a:cs typeface="Arial" pitchFamily="34" charset="0"/>
              </a:rPr>
              <a:t>4.1.4</a:t>
            </a:r>
            <a:r>
              <a:rPr lang="pt-BR" sz="1000" dirty="0">
                <a:latin typeface="+mj-lt"/>
                <a:cs typeface="Arial" pitchFamily="34" charset="0"/>
              </a:rPr>
              <a:t> Nunca coloque a esteira diretamente sobre as lajes pré-moldadas. </a:t>
            </a:r>
          </a:p>
          <a:p>
            <a:pPr algn="just"/>
            <a:r>
              <a:rPr lang="pt-BR" sz="1000" b="1" dirty="0">
                <a:latin typeface="+mj-lt"/>
                <a:cs typeface="Arial" pitchFamily="34" charset="0"/>
              </a:rPr>
              <a:t>4.1.5</a:t>
            </a:r>
            <a:r>
              <a:rPr lang="pt-BR" sz="1000" dirty="0">
                <a:latin typeface="+mj-lt"/>
                <a:cs typeface="Arial" pitchFamily="34" charset="0"/>
              </a:rPr>
              <a:t> Nunca procure manter as formas ou esteiras afastadas das paredes laterais do forno, pois neste local há uma maior circulação de calor , o que poderá ocasionar uma deformidade no processo de assado.</a:t>
            </a:r>
          </a:p>
          <a:p>
            <a:pPr algn="just"/>
            <a:r>
              <a:rPr lang="pt-BR" sz="1000" b="1" dirty="0">
                <a:latin typeface="+mj-lt"/>
                <a:cs typeface="Arial" pitchFamily="34" charset="0"/>
              </a:rPr>
              <a:t>4.1.6</a:t>
            </a:r>
            <a:r>
              <a:rPr lang="pt-BR" sz="1000" dirty="0">
                <a:latin typeface="+mj-lt"/>
                <a:cs typeface="Arial" pitchFamily="34" charset="0"/>
              </a:rPr>
              <a:t> Para o primeiro uso, passe um pano úmido com álcool e gel no interior do mesmo e aguarde em torno de 10 minutos até a evaporação completa do álcool ,passando este tempo, ligue o forno vazio e com a porta aberta por 1 hora ,para queimar as impurezas ,coloque as lajes pré-moldadas de modos que fiquem no chão da câmara. </a:t>
            </a:r>
          </a:p>
          <a:p>
            <a:pPr algn="just"/>
            <a:r>
              <a:rPr lang="pt-BR" sz="1000" b="1" dirty="0">
                <a:latin typeface="+mj-lt"/>
                <a:cs typeface="Arial" pitchFamily="34" charset="0"/>
              </a:rPr>
              <a:t>4.1.7</a:t>
            </a:r>
            <a:r>
              <a:rPr lang="pt-BR" sz="1000" dirty="0">
                <a:latin typeface="+mj-lt"/>
                <a:cs typeface="Arial" pitchFamily="34" charset="0"/>
              </a:rPr>
              <a:t> Para acender ,puxa a gaveta móvel onde estão os queimadores, abra o registro geral do botijão ou da central de gás, depois, conforme a necessidade abra o registro da entrada de gás da gaveta.</a:t>
            </a:r>
          </a:p>
          <a:p>
            <a:pPr algn="just"/>
            <a:r>
              <a:rPr lang="pt-BR" sz="1000" b="1" dirty="0">
                <a:latin typeface="+mj-lt"/>
                <a:cs typeface="Arial" pitchFamily="34" charset="0"/>
              </a:rPr>
              <a:t>4.1.8 </a:t>
            </a:r>
            <a:r>
              <a:rPr lang="pt-BR" sz="1000" dirty="0">
                <a:cs typeface="Arial" pitchFamily="34" charset="0"/>
              </a:rPr>
              <a:t>Procure distribuir as grelhas ou formas de modo a manter um espaço razoável entre cada alimento que está sendo assado, pois assim, se obtêm uma melhor distribuição de calor na câmara .</a:t>
            </a:r>
          </a:p>
        </p:txBody>
      </p:sp>
      <p:sp>
        <p:nvSpPr>
          <p:cNvPr id="7" name="Retângulo 6">
            <a:extLst>
              <a:ext uri="{FF2B5EF4-FFF2-40B4-BE49-F238E27FC236}">
                <a16:creationId xmlns:a16="http://schemas.microsoft.com/office/drawing/2014/main" id="{5CBA6821-580D-4008-AF06-6A2ECFE38545}"/>
              </a:ext>
            </a:extLst>
          </p:cNvPr>
          <p:cNvSpPr/>
          <p:nvPr/>
        </p:nvSpPr>
        <p:spPr>
          <a:xfrm>
            <a:off x="162081" y="234449"/>
            <a:ext cx="5040000" cy="252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4. OPERAÇÃO</a:t>
            </a:r>
          </a:p>
        </p:txBody>
      </p:sp>
    </p:spTree>
    <p:extLst>
      <p:ext uri="{BB962C8B-B14F-4D97-AF65-F5344CB8AC3E}">
        <p14:creationId xmlns:p14="http://schemas.microsoft.com/office/powerpoint/2010/main" val="1736902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10</a:t>
            </a:r>
          </a:p>
        </p:txBody>
      </p:sp>
      <p:sp>
        <p:nvSpPr>
          <p:cNvPr id="6" name="CaixaDeTexto 5">
            <a:extLst>
              <a:ext uri="{FF2B5EF4-FFF2-40B4-BE49-F238E27FC236}">
                <a16:creationId xmlns:a16="http://schemas.microsoft.com/office/drawing/2014/main" id="{EB151972-0BE7-4E2D-B86C-A00DD9934729}"/>
              </a:ext>
            </a:extLst>
          </p:cNvPr>
          <p:cNvSpPr txBox="1"/>
          <p:nvPr/>
        </p:nvSpPr>
        <p:spPr>
          <a:xfrm>
            <a:off x="142494" y="324247"/>
            <a:ext cx="5040000" cy="4401205"/>
          </a:xfrm>
          <a:prstGeom prst="rect">
            <a:avLst/>
          </a:prstGeom>
          <a:noFill/>
        </p:spPr>
        <p:txBody>
          <a:bodyPr wrap="square" rtlCol="0">
            <a:spAutoFit/>
          </a:bodyPr>
          <a:lstStyle/>
          <a:p>
            <a:pPr lvl="0" algn="just"/>
            <a:r>
              <a:rPr lang="pt-BR" sz="1000" b="1" dirty="0">
                <a:latin typeface="+mj-lt"/>
                <a:cs typeface="Arial" pitchFamily="34" charset="0"/>
              </a:rPr>
              <a:t>4.2 ORIENTAÇÃO DE USO – Forno com </a:t>
            </a:r>
            <a:r>
              <a:rPr lang="pt-BR" sz="1000" b="1" dirty="0" err="1">
                <a:latin typeface="+mj-lt"/>
                <a:cs typeface="Arial" pitchFamily="34" charset="0"/>
              </a:rPr>
              <a:t>Gratinador</a:t>
            </a:r>
            <a:endParaRPr lang="pt-BR" sz="1000" b="1" dirty="0">
              <a:latin typeface="+mj-lt"/>
              <a:cs typeface="Arial" pitchFamily="34" charset="0"/>
            </a:endParaRPr>
          </a:p>
          <a:p>
            <a:pPr lvl="0" algn="just"/>
            <a:endParaRPr lang="pt-BR" sz="1000" b="1" dirty="0">
              <a:latin typeface="+mj-lt"/>
              <a:cs typeface="Arial" pitchFamily="34" charset="0"/>
            </a:endParaRPr>
          </a:p>
          <a:p>
            <a:pPr lvl="0" algn="just"/>
            <a:r>
              <a:rPr lang="pt-BR" sz="1000" b="1" dirty="0">
                <a:latin typeface="+mj-lt"/>
                <a:cs typeface="Arial" pitchFamily="34" charset="0"/>
              </a:rPr>
              <a:t>4.2.1</a:t>
            </a:r>
            <a:r>
              <a:rPr lang="pt-BR" sz="1000" dirty="0">
                <a:latin typeface="+mj-lt"/>
                <a:cs typeface="Arial" pitchFamily="34" charset="0"/>
              </a:rPr>
              <a:t> Quando o forno é novo, passe um pano úmido, de preferência com álcool em gel no interior do mesmo. Após a higienização, aguarde 10 minutos até a evaporação completa de todo o álcool.</a:t>
            </a:r>
          </a:p>
          <a:p>
            <a:pPr lvl="0" algn="just"/>
            <a:r>
              <a:rPr lang="pt-BR" sz="1000" b="1" dirty="0">
                <a:latin typeface="+mj-lt"/>
                <a:cs typeface="Arial" pitchFamily="34" charset="0"/>
              </a:rPr>
              <a:t>4.2.2</a:t>
            </a:r>
            <a:r>
              <a:rPr lang="pt-BR" sz="1000" dirty="0">
                <a:latin typeface="+mj-lt"/>
                <a:cs typeface="Arial" pitchFamily="34" charset="0"/>
              </a:rPr>
              <a:t> Coloque as lajes pré-moldadas de modo que fiquem no chão da câmara de cozimento, </a:t>
            </a:r>
            <a:r>
              <a:rPr lang="pt-BR" sz="1000" b="1" dirty="0">
                <a:latin typeface="+mj-lt"/>
                <a:cs typeface="Arial" pitchFamily="34" charset="0"/>
              </a:rPr>
              <a:t>acima dos queimadores inferiores</a:t>
            </a:r>
            <a:r>
              <a:rPr lang="pt-BR" sz="1000" dirty="0">
                <a:latin typeface="+mj-lt"/>
                <a:cs typeface="Arial" pitchFamily="34" charset="0"/>
              </a:rPr>
              <a:t>. Esse é um procedimento fundamental para a performance do equipamento. </a:t>
            </a:r>
          </a:p>
          <a:p>
            <a:pPr lvl="0" algn="just"/>
            <a:r>
              <a:rPr lang="pt-BR" sz="1000" b="1" dirty="0">
                <a:latin typeface="+mj-lt"/>
                <a:cs typeface="Arial" pitchFamily="34" charset="0"/>
              </a:rPr>
              <a:t>4.2.3 </a:t>
            </a:r>
            <a:r>
              <a:rPr lang="pt-BR" sz="1000" dirty="0">
                <a:latin typeface="+mj-lt"/>
                <a:cs typeface="Arial" pitchFamily="34" charset="0"/>
              </a:rPr>
              <a:t>Para acender o forno, puxe a gaveta móvel onde estão os queimadores. Abra o registro geral da válvula do botijão de gás. Depois, conforme a necessidade, abra o registro geral da válvula do botijão de gás da gaveta do queimador. Pré-aqueça o forno por no mínimo 30 minutos.</a:t>
            </a:r>
          </a:p>
          <a:p>
            <a:pPr lvl="0" algn="just"/>
            <a:r>
              <a:rPr lang="pt-BR" sz="1000" b="1" dirty="0">
                <a:latin typeface="+mj-lt"/>
                <a:cs typeface="Arial" pitchFamily="34" charset="0"/>
              </a:rPr>
              <a:t>4.2.4</a:t>
            </a:r>
            <a:r>
              <a:rPr lang="pt-BR" sz="1000" dirty="0">
                <a:latin typeface="+mj-lt"/>
                <a:cs typeface="Arial" pitchFamily="34" charset="0"/>
              </a:rPr>
              <a:t> Procure distribuir as grelhas ou formas para manter um espaço razoável entre cada alimento que está sendo assado. Assim, se obtém uma melhor distribuição de calor pela câmara.</a:t>
            </a:r>
          </a:p>
          <a:p>
            <a:pPr lvl="0" algn="just"/>
            <a:r>
              <a:rPr lang="pt-BR" sz="1000" b="1" dirty="0">
                <a:latin typeface="+mj-lt"/>
                <a:cs typeface="Arial" pitchFamily="34" charset="0"/>
              </a:rPr>
              <a:t>4.2.5</a:t>
            </a:r>
            <a:r>
              <a:rPr lang="pt-BR" sz="1000" dirty="0">
                <a:latin typeface="+mj-lt"/>
                <a:cs typeface="Arial" pitchFamily="34" charset="0"/>
              </a:rPr>
              <a:t> Quando necessário o uso do queimador superior/</a:t>
            </a:r>
            <a:r>
              <a:rPr lang="pt-BR" sz="1000" dirty="0" err="1">
                <a:latin typeface="+mj-lt"/>
                <a:cs typeface="Arial" pitchFamily="34" charset="0"/>
              </a:rPr>
              <a:t>gratinador</a:t>
            </a:r>
            <a:r>
              <a:rPr lang="pt-BR" sz="1000" dirty="0">
                <a:latin typeface="+mj-lt"/>
                <a:cs typeface="Arial" pitchFamily="34" charset="0"/>
              </a:rPr>
              <a:t> (infravermelho) deve –se,  primeiramente, </a:t>
            </a:r>
            <a:r>
              <a:rPr lang="pt-BR" sz="1000" b="1" dirty="0">
                <a:latin typeface="+mj-lt"/>
                <a:cs typeface="Arial" pitchFamily="34" charset="0"/>
              </a:rPr>
              <a:t>desligar o queimador inferior</a:t>
            </a:r>
            <a:r>
              <a:rPr lang="pt-BR" sz="1000" dirty="0">
                <a:latin typeface="+mj-lt"/>
                <a:cs typeface="Arial" pitchFamily="34" charset="0"/>
              </a:rPr>
              <a:t>, aguardando a temperatura do forno baixar ,até próximo da temperatura ambiente. Este procedimento deve ser realizado, pois se mantiver o queimador inferior aceso, o mesmo irá gerar calor que dificultará o acendimento do queimador superior (infravermelho).</a:t>
            </a:r>
          </a:p>
          <a:p>
            <a:pPr lvl="0" algn="just"/>
            <a:r>
              <a:rPr lang="pt-BR" sz="1000" b="1" dirty="0">
                <a:latin typeface="+mj-lt"/>
                <a:cs typeface="Arial" pitchFamily="34" charset="0"/>
              </a:rPr>
              <a:t>4.2.6</a:t>
            </a:r>
            <a:r>
              <a:rPr lang="pt-BR" sz="1000" dirty="0">
                <a:latin typeface="+mj-lt"/>
                <a:cs typeface="Arial" pitchFamily="34" charset="0"/>
              </a:rPr>
              <a:t> Para acender o(s) infravermelho(s) deve-se ,primeiramente ,abrir o registro de gás conforme a imagem abaixo na posição máxima e acendê-lo pela </a:t>
            </a:r>
            <a:r>
              <a:rPr lang="pt-BR" sz="1000" b="1" dirty="0">
                <a:latin typeface="+mj-lt"/>
                <a:cs typeface="Arial" pitchFamily="34" charset="0"/>
              </a:rPr>
              <a:t>parte interna do forno</a:t>
            </a:r>
            <a:r>
              <a:rPr lang="pt-BR" sz="1000" dirty="0">
                <a:latin typeface="+mj-lt"/>
                <a:cs typeface="Arial" pitchFamily="34" charset="0"/>
              </a:rPr>
              <a:t> com o auxilio de um isqueiro ou acendedor .</a:t>
            </a:r>
          </a:p>
          <a:p>
            <a:pPr lvl="0" algn="just"/>
            <a:endParaRPr lang="pt-BR" sz="1000" dirty="0">
              <a:latin typeface="+mj-lt"/>
              <a:cs typeface="Arial" pitchFamily="34" charset="0"/>
            </a:endParaRPr>
          </a:p>
          <a:p>
            <a:pPr lvl="0" algn="just"/>
            <a:endParaRPr lang="pt-BR" sz="1000" dirty="0">
              <a:latin typeface="+mj-lt"/>
              <a:cs typeface="Arial" pitchFamily="34" charset="0"/>
            </a:endParaRPr>
          </a:p>
          <a:p>
            <a:pPr lvl="0" algn="just"/>
            <a:endParaRPr lang="pt-BR" sz="1000" dirty="0">
              <a:latin typeface="+mj-lt"/>
              <a:cs typeface="Arial" pitchFamily="34" charset="0"/>
            </a:endParaRPr>
          </a:p>
          <a:p>
            <a:pPr lvl="0" algn="ctr"/>
            <a:r>
              <a:rPr lang="pt-BR" sz="1000" b="1" dirty="0">
                <a:latin typeface="+mj-lt"/>
                <a:cs typeface="Arial" pitchFamily="34" charset="0"/>
              </a:rPr>
              <a:t>Válvulas reguladoras de chama dos </a:t>
            </a:r>
            <a:r>
              <a:rPr lang="pt-BR" sz="1000" b="1" dirty="0" err="1">
                <a:latin typeface="+mj-lt"/>
                <a:cs typeface="Arial" pitchFamily="34" charset="0"/>
              </a:rPr>
              <a:t>Gratinadores</a:t>
            </a:r>
            <a:endParaRPr lang="pt-BR" sz="1000" b="1" dirty="0">
              <a:latin typeface="+mj-lt"/>
              <a:cs typeface="Arial" pitchFamily="34" charset="0"/>
            </a:endParaRPr>
          </a:p>
        </p:txBody>
      </p:sp>
      <p:pic>
        <p:nvPicPr>
          <p:cNvPr id="3" name="Imagem 2">
            <a:extLst>
              <a:ext uri="{FF2B5EF4-FFF2-40B4-BE49-F238E27FC236}">
                <a16:creationId xmlns:a16="http://schemas.microsoft.com/office/drawing/2014/main" id="{5D1E2F07-3C70-43D9-83BC-96B42B7F97E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674" t="16573" r="24494" b="7021"/>
          <a:stretch/>
        </p:blipFill>
        <p:spPr>
          <a:xfrm>
            <a:off x="639980" y="4500711"/>
            <a:ext cx="4084202" cy="2376264"/>
          </a:xfrm>
          <a:prstGeom prst="rect">
            <a:avLst/>
          </a:prstGeom>
        </p:spPr>
      </p:pic>
    </p:spTree>
    <p:extLst>
      <p:ext uri="{BB962C8B-B14F-4D97-AF65-F5344CB8AC3E}">
        <p14:creationId xmlns:p14="http://schemas.microsoft.com/office/powerpoint/2010/main" val="3071819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ela 2">
            <a:extLst>
              <a:ext uri="{FF2B5EF4-FFF2-40B4-BE49-F238E27FC236}">
                <a16:creationId xmlns:a16="http://schemas.microsoft.com/office/drawing/2014/main" id="{1A48C557-B887-447B-8099-A6B66E98394F}"/>
              </a:ext>
            </a:extLst>
          </p:cNvPr>
          <p:cNvGraphicFramePr>
            <a:graphicFrameLocks noGrp="1"/>
          </p:cNvGraphicFramePr>
          <p:nvPr>
            <p:extLst>
              <p:ext uri="{D42A27DB-BD31-4B8C-83A1-F6EECF244321}">
                <p14:modId xmlns:p14="http://schemas.microsoft.com/office/powerpoint/2010/main" val="465637679"/>
              </p:ext>
            </p:extLst>
          </p:nvPr>
        </p:nvGraphicFramePr>
        <p:xfrm>
          <a:off x="142494" y="540271"/>
          <a:ext cx="5040000" cy="5702832"/>
        </p:xfrm>
        <a:graphic>
          <a:graphicData uri="http://schemas.openxmlformats.org/drawingml/2006/table">
            <a:tbl>
              <a:tblPr firstRow="1" bandRow="1">
                <a:tableStyleId>{073A0DAA-6AF3-43AB-8588-CEC1D06C72B9}</a:tableStyleId>
              </a:tblPr>
              <a:tblGrid>
                <a:gridCol w="1680000">
                  <a:extLst>
                    <a:ext uri="{9D8B030D-6E8A-4147-A177-3AD203B41FA5}">
                      <a16:colId xmlns:a16="http://schemas.microsoft.com/office/drawing/2014/main" val="3532350830"/>
                    </a:ext>
                  </a:extLst>
                </a:gridCol>
                <a:gridCol w="1363643">
                  <a:extLst>
                    <a:ext uri="{9D8B030D-6E8A-4147-A177-3AD203B41FA5}">
                      <a16:colId xmlns:a16="http://schemas.microsoft.com/office/drawing/2014/main" val="1833651586"/>
                    </a:ext>
                  </a:extLst>
                </a:gridCol>
                <a:gridCol w="1996357">
                  <a:extLst>
                    <a:ext uri="{9D8B030D-6E8A-4147-A177-3AD203B41FA5}">
                      <a16:colId xmlns:a16="http://schemas.microsoft.com/office/drawing/2014/main" val="3656898039"/>
                    </a:ext>
                  </a:extLst>
                </a:gridCol>
              </a:tblGrid>
              <a:tr h="366612">
                <a:tc>
                  <a:txBody>
                    <a:bodyPr/>
                    <a:lstStyle/>
                    <a:p>
                      <a:pPr algn="ctr"/>
                      <a:r>
                        <a:rPr lang="pt-BR" sz="1000" dirty="0"/>
                        <a:t>Problema</a:t>
                      </a:r>
                    </a:p>
                  </a:txBody>
                  <a:tcPr anchor="ctr"/>
                </a:tc>
                <a:tc>
                  <a:txBody>
                    <a:bodyPr/>
                    <a:lstStyle/>
                    <a:p>
                      <a:pPr algn="ctr"/>
                      <a:r>
                        <a:rPr lang="pt-BR" sz="1000" dirty="0"/>
                        <a:t>Possível causa</a:t>
                      </a:r>
                    </a:p>
                  </a:txBody>
                  <a:tcPr anchor="ctr"/>
                </a:tc>
                <a:tc>
                  <a:txBody>
                    <a:bodyPr/>
                    <a:lstStyle/>
                    <a:p>
                      <a:pPr algn="ctr"/>
                      <a:r>
                        <a:rPr lang="pt-BR" sz="1000" dirty="0"/>
                        <a:t>Solução</a:t>
                      </a:r>
                    </a:p>
                  </a:txBody>
                  <a:tcPr anchor="ctr"/>
                </a:tc>
                <a:extLst>
                  <a:ext uri="{0D108BD9-81ED-4DB2-BD59-A6C34878D82A}">
                    <a16:rowId xmlns:a16="http://schemas.microsoft.com/office/drawing/2014/main" val="2153116528"/>
                  </a:ext>
                </a:extLst>
              </a:tr>
              <a:tr h="1664820">
                <a:tc>
                  <a:txBody>
                    <a:bodyPr/>
                    <a:lstStyle/>
                    <a:p>
                      <a:r>
                        <a:rPr lang="pt-BR" sz="1000" dirty="0"/>
                        <a:t>- Nível das chamas dos queimadores inferiores elevado ou muito baixo.</a:t>
                      </a:r>
                    </a:p>
                  </a:txBody>
                  <a:tcPr/>
                </a:tc>
                <a:tc>
                  <a:txBody>
                    <a:bodyPr/>
                    <a:lstStyle/>
                    <a:p>
                      <a:r>
                        <a:rPr lang="pt-BR" sz="1000" dirty="0"/>
                        <a:t>- Abertura para entrada de oxigênio nos queimadores desregulada.</a:t>
                      </a:r>
                    </a:p>
                  </a:txBody>
                  <a:tcPr/>
                </a:tc>
                <a:tc>
                  <a:txBody>
                    <a:bodyPr/>
                    <a:lstStyle/>
                    <a:p>
                      <a:r>
                        <a:rPr lang="pt-BR" sz="1000" dirty="0"/>
                        <a:t>- Reajustar as abraçadeiras, fechando ou abrindo  a passagem de oxigênio. </a:t>
                      </a:r>
                    </a:p>
                    <a:p>
                      <a:endParaRPr lang="pt-BR" sz="1000" dirty="0"/>
                    </a:p>
                  </a:txBody>
                  <a:tcPr/>
                </a:tc>
                <a:extLst>
                  <a:ext uri="{0D108BD9-81ED-4DB2-BD59-A6C34878D82A}">
                    <a16:rowId xmlns:a16="http://schemas.microsoft.com/office/drawing/2014/main" val="2134971986"/>
                  </a:ext>
                </a:extLst>
              </a:tr>
              <a:tr h="1446360">
                <a:tc>
                  <a:txBody>
                    <a:bodyPr/>
                    <a:lstStyle/>
                    <a:p>
                      <a:r>
                        <a:rPr lang="pt-BR" sz="1000" dirty="0"/>
                        <a:t>- As chamas dos </a:t>
                      </a:r>
                      <a:r>
                        <a:rPr lang="pt-BR" sz="1000" dirty="0" err="1"/>
                        <a:t>gratinadores</a:t>
                      </a:r>
                      <a:r>
                        <a:rPr lang="pt-BR" sz="1000" dirty="0"/>
                        <a:t> estão apagando.</a:t>
                      </a:r>
                    </a:p>
                  </a:txBody>
                  <a:tcPr/>
                </a:tc>
                <a:tc>
                  <a:txBody>
                    <a:bodyPr/>
                    <a:lstStyle/>
                    <a:p>
                      <a:pPr marL="0" indent="0">
                        <a:buFontTx/>
                        <a:buNone/>
                      </a:pPr>
                      <a:r>
                        <a:rPr lang="pt-BR" sz="1000" dirty="0"/>
                        <a:t>1 - Temperatura do forno elevada.</a:t>
                      </a:r>
                    </a:p>
                    <a:p>
                      <a:pPr marL="0" indent="0">
                        <a:buFontTx/>
                        <a:buNone/>
                      </a:pPr>
                      <a:r>
                        <a:rPr lang="pt-BR" sz="1000" dirty="0"/>
                        <a:t>2 – Ausência das lajes pré-moldadas. </a:t>
                      </a:r>
                    </a:p>
                    <a:p>
                      <a:pPr marL="0" indent="0">
                        <a:buFontTx/>
                        <a:buNone/>
                      </a:pPr>
                      <a:r>
                        <a:rPr lang="pt-BR" sz="1000" dirty="0"/>
                        <a:t>3 – Quantidade de botijões insuficiente</a:t>
                      </a:r>
                    </a:p>
                  </a:txBody>
                  <a:tcPr/>
                </a:tc>
                <a:tc>
                  <a:txBody>
                    <a:bodyPr/>
                    <a:lstStyle/>
                    <a:p>
                      <a:r>
                        <a:rPr lang="pt-BR" sz="1000" dirty="0"/>
                        <a:t>1 - Desligar os queimadores inferiores e aguardar a temperatura diminuir até que fique próxima da temperatura ambiente.</a:t>
                      </a:r>
                    </a:p>
                    <a:p>
                      <a:r>
                        <a:rPr lang="pt-BR" sz="1000" dirty="0"/>
                        <a:t>2 -  Colocar as lajes pré-moldadas acima dos queimadores inferiores para que o calor não seja emitido diretamente para os </a:t>
                      </a:r>
                      <a:r>
                        <a:rPr lang="pt-BR" sz="1000" dirty="0" err="1"/>
                        <a:t>gratinadores</a:t>
                      </a:r>
                      <a:r>
                        <a:rPr lang="pt-BR" sz="1000" dirty="0"/>
                        <a:t>.</a:t>
                      </a:r>
                    </a:p>
                    <a:p>
                      <a:r>
                        <a:rPr lang="pt-BR" sz="1000" dirty="0"/>
                        <a:t>3 - </a:t>
                      </a:r>
                      <a:r>
                        <a:rPr lang="pt-BR" sz="1000" kern="1200" dirty="0">
                          <a:solidFill>
                            <a:sysClr val="windowText" lastClr="000000"/>
                          </a:solidFill>
                          <a:latin typeface="+mn-lt"/>
                          <a:ea typeface="+mn-ea"/>
                          <a:cs typeface="Arial" pitchFamily="34" charset="0"/>
                        </a:rPr>
                        <a:t>Verifique o consumo do seu modelo de equipamento e proceda com o calculo de botijões necessários, de acordo com exemplo do </a:t>
                      </a:r>
                      <a:r>
                        <a:rPr lang="pt-BR" sz="1000" b="1" kern="1200" dirty="0">
                          <a:solidFill>
                            <a:sysClr val="windowText" lastClr="000000"/>
                          </a:solidFill>
                          <a:latin typeface="+mn-lt"/>
                          <a:ea typeface="+mn-ea"/>
                          <a:cs typeface="Arial" pitchFamily="34" charset="0"/>
                        </a:rPr>
                        <a:t>item 3.1</a:t>
                      </a:r>
                      <a:endParaRPr lang="pt-BR" sz="1000" b="1" dirty="0"/>
                    </a:p>
                  </a:txBody>
                  <a:tcPr/>
                </a:tc>
                <a:extLst>
                  <a:ext uri="{0D108BD9-81ED-4DB2-BD59-A6C34878D82A}">
                    <a16:rowId xmlns:a16="http://schemas.microsoft.com/office/drawing/2014/main" val="3913801572"/>
                  </a:ext>
                </a:extLst>
              </a:tr>
              <a:tr h="1446360">
                <a:tc>
                  <a:txBody>
                    <a:bodyPr/>
                    <a:lstStyle/>
                    <a:p>
                      <a:r>
                        <a:rPr lang="pt-BR" sz="1000" b="0" dirty="0">
                          <a:solidFill>
                            <a:schemeClr val="tx1"/>
                          </a:solidFill>
                        </a:rPr>
                        <a:t>- O </a:t>
                      </a:r>
                      <a:r>
                        <a:rPr lang="pt-BR" sz="1000" b="0" dirty="0" err="1">
                          <a:solidFill>
                            <a:schemeClr val="tx1"/>
                          </a:solidFill>
                        </a:rPr>
                        <a:t>assamento</a:t>
                      </a:r>
                      <a:r>
                        <a:rPr lang="pt-BR" sz="1000" b="0" dirty="0">
                          <a:solidFill>
                            <a:schemeClr val="tx1"/>
                          </a:solidFill>
                        </a:rPr>
                        <a:t> não está uniforme ou o alimento está queimando.</a:t>
                      </a:r>
                    </a:p>
                  </a:txBody>
                  <a:tcPr/>
                </a:tc>
                <a:tc>
                  <a:txBody>
                    <a:bodyPr/>
                    <a:lstStyle/>
                    <a:p>
                      <a:r>
                        <a:rPr lang="pt-BR" sz="1000" b="0" dirty="0">
                          <a:solidFill>
                            <a:schemeClr val="tx1"/>
                          </a:solidFill>
                        </a:rPr>
                        <a:t>- Temperatura muito alta.</a:t>
                      </a:r>
                    </a:p>
                  </a:txBody>
                  <a:tcPr/>
                </a:tc>
                <a:tc>
                  <a:txBody>
                    <a:bodyPr/>
                    <a:lstStyle/>
                    <a:p>
                      <a:r>
                        <a:rPr lang="pt-BR" sz="1000" b="0" dirty="0">
                          <a:solidFill>
                            <a:schemeClr val="tx1"/>
                          </a:solidFill>
                        </a:rPr>
                        <a:t>- Verificar a temperatura ou a posição do registro e baixar. </a:t>
                      </a:r>
                    </a:p>
                  </a:txBody>
                  <a:tcPr/>
                </a:tc>
                <a:extLst>
                  <a:ext uri="{0D108BD9-81ED-4DB2-BD59-A6C34878D82A}">
                    <a16:rowId xmlns:a16="http://schemas.microsoft.com/office/drawing/2014/main" val="3353364290"/>
                  </a:ext>
                </a:extLst>
              </a:tr>
            </a:tbl>
          </a:graphicData>
        </a:graphic>
      </p:graphicFrame>
      <p:pic>
        <p:nvPicPr>
          <p:cNvPr id="12" name="Espaço Reservado para Conteúdo 5">
            <a:extLst>
              <a:ext uri="{FF2B5EF4-FFF2-40B4-BE49-F238E27FC236}">
                <a16:creationId xmlns:a16="http://schemas.microsoft.com/office/drawing/2014/main" id="{78F33027-D938-40B4-8F7E-6086F33A5E0E}"/>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0"/>
                    </a14:imgEffect>
                  </a14:imgLayer>
                </a14:imgProps>
              </a:ext>
              <a:ext uri="{28A0092B-C50C-407E-A947-70E740481C1C}">
                <a14:useLocalDpi xmlns:a14="http://schemas.microsoft.com/office/drawing/2010/main" val="0"/>
              </a:ext>
            </a:extLst>
          </a:blip>
          <a:srcRect l="13313" t="11594" r="12774" b="27037"/>
          <a:stretch/>
        </p:blipFill>
        <p:spPr>
          <a:xfrm>
            <a:off x="3330153" y="1476375"/>
            <a:ext cx="1673970" cy="864096"/>
          </a:xfrm>
          <a:prstGeom prst="rect">
            <a:avLst/>
          </a:prstGeom>
        </p:spPr>
      </p:pic>
      <p:cxnSp>
        <p:nvCxnSpPr>
          <p:cNvPr id="13" name="Conector de Seta Reta 12">
            <a:extLst>
              <a:ext uri="{FF2B5EF4-FFF2-40B4-BE49-F238E27FC236}">
                <a16:creationId xmlns:a16="http://schemas.microsoft.com/office/drawing/2014/main" id="{EC0DC619-DA96-4A22-996D-3661B9590E62}"/>
              </a:ext>
            </a:extLst>
          </p:cNvPr>
          <p:cNvCxnSpPr>
            <a:cxnSpLocks/>
          </p:cNvCxnSpPr>
          <p:nvPr/>
        </p:nvCxnSpPr>
        <p:spPr>
          <a:xfrm flipV="1">
            <a:off x="3618185" y="1836415"/>
            <a:ext cx="144016" cy="32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tângulo 13">
            <a:extLst>
              <a:ext uri="{FF2B5EF4-FFF2-40B4-BE49-F238E27FC236}">
                <a16:creationId xmlns:a16="http://schemas.microsoft.com/office/drawing/2014/main" id="{FB051948-5720-469F-8E40-0098A79E75D9}"/>
              </a:ext>
            </a:extLst>
          </p:cNvPr>
          <p:cNvSpPr/>
          <p:nvPr/>
        </p:nvSpPr>
        <p:spPr>
          <a:xfrm>
            <a:off x="3114129" y="2052439"/>
            <a:ext cx="936104" cy="36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Abraçadeira</a:t>
            </a:r>
          </a:p>
        </p:txBody>
      </p:sp>
      <p:sp>
        <p:nvSpPr>
          <p:cNvPr id="15" name="Retângulo 14">
            <a:extLst>
              <a:ext uri="{FF2B5EF4-FFF2-40B4-BE49-F238E27FC236}">
                <a16:creationId xmlns:a16="http://schemas.microsoft.com/office/drawing/2014/main" id="{939BCE76-D0BF-4AA4-88A2-F0D2D18283C7}"/>
              </a:ext>
            </a:extLst>
          </p:cNvPr>
          <p:cNvSpPr/>
          <p:nvPr/>
        </p:nvSpPr>
        <p:spPr>
          <a:xfrm>
            <a:off x="4335576" y="2052439"/>
            <a:ext cx="936104" cy="36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Passagem de oxigênio</a:t>
            </a:r>
          </a:p>
        </p:txBody>
      </p:sp>
      <p:cxnSp>
        <p:nvCxnSpPr>
          <p:cNvPr id="16" name="Conector de Seta Reta 15">
            <a:extLst>
              <a:ext uri="{FF2B5EF4-FFF2-40B4-BE49-F238E27FC236}">
                <a16:creationId xmlns:a16="http://schemas.microsoft.com/office/drawing/2014/main" id="{381907CE-D1B3-4375-A388-F0FDA046C2D5}"/>
              </a:ext>
            </a:extLst>
          </p:cNvPr>
          <p:cNvCxnSpPr>
            <a:cxnSpLocks/>
          </p:cNvCxnSpPr>
          <p:nvPr/>
        </p:nvCxnSpPr>
        <p:spPr>
          <a:xfrm flipH="1" flipV="1">
            <a:off x="4767412" y="1872439"/>
            <a:ext cx="36216"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tângulo 7">
            <a:extLst>
              <a:ext uri="{FF2B5EF4-FFF2-40B4-BE49-F238E27FC236}">
                <a16:creationId xmlns:a16="http://schemas.microsoft.com/office/drawing/2014/main" id="{376A7AC1-B59F-4A6A-A1F2-C4BE97AAE8E3}"/>
              </a:ext>
            </a:extLst>
          </p:cNvPr>
          <p:cNvSpPr/>
          <p:nvPr/>
        </p:nvSpPr>
        <p:spPr>
          <a:xfrm>
            <a:off x="162081" y="234449"/>
            <a:ext cx="5040000" cy="252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5. Análise e resoluções de problemas</a:t>
            </a:r>
          </a:p>
        </p:txBody>
      </p:sp>
      <p:sp>
        <p:nvSpPr>
          <p:cNvPr id="9" name="CaixaDeTexto 8">
            <a:extLst>
              <a:ext uri="{FF2B5EF4-FFF2-40B4-BE49-F238E27FC236}">
                <a16:creationId xmlns:a16="http://schemas.microsoft.com/office/drawing/2014/main" id="{6403405A-A2CC-4953-9985-E13AE3EDF234}"/>
              </a:ext>
            </a:extLst>
          </p:cNvPr>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11</a:t>
            </a:r>
          </a:p>
        </p:txBody>
      </p:sp>
    </p:spTree>
    <p:extLst>
      <p:ext uri="{BB962C8B-B14F-4D97-AF65-F5344CB8AC3E}">
        <p14:creationId xmlns:p14="http://schemas.microsoft.com/office/powerpoint/2010/main" val="2695785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184666"/>
          </a:xfrm>
          <a:prstGeom prst="rect">
            <a:avLst/>
          </a:prstGeom>
          <a:solidFill>
            <a:schemeClr val="bg1">
              <a:lumMod val="85000"/>
            </a:schemeClr>
          </a:solidFill>
        </p:spPr>
        <p:txBody>
          <a:bodyPr wrap="square" rtlCol="0">
            <a:spAutoFit/>
          </a:bodyPr>
          <a:lstStyle/>
          <a:p>
            <a:r>
              <a:rPr lang="pt-BR" sz="600" dirty="0"/>
              <a:t>12</a:t>
            </a:r>
          </a:p>
        </p:txBody>
      </p:sp>
      <p:sp>
        <p:nvSpPr>
          <p:cNvPr id="6" name="Retângulo 5">
            <a:extLst>
              <a:ext uri="{FF2B5EF4-FFF2-40B4-BE49-F238E27FC236}">
                <a16:creationId xmlns:a16="http://schemas.microsoft.com/office/drawing/2014/main" id="{8790AF0A-A445-4B48-BC9F-CFE03F58B951}"/>
              </a:ext>
            </a:extLst>
          </p:cNvPr>
          <p:cNvSpPr/>
          <p:nvPr/>
        </p:nvSpPr>
        <p:spPr>
          <a:xfrm>
            <a:off x="127000" y="100858"/>
            <a:ext cx="5147369" cy="276999"/>
          </a:xfrm>
          <a:prstGeom prst="rect">
            <a:avLst/>
          </a:prstGeom>
          <a:solidFill>
            <a:schemeClr val="bg1">
              <a:lumMod val="85000"/>
            </a:schemeClr>
          </a:solidFill>
        </p:spPr>
        <p:txBody>
          <a:bodyPr wrap="square" rtlCol="0" anchor="ctr">
            <a:spAutoFit/>
          </a:bodyPr>
          <a:ls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ctr"/>
            <a:r>
              <a:rPr lang="pt-BR" sz="1200" b="1" dirty="0">
                <a:latin typeface="Arial" panose="020B0604020202020204" pitchFamily="34" charset="0"/>
                <a:cs typeface="Arial" panose="020B0604020202020204" pitchFamily="34" charset="0"/>
              </a:rPr>
              <a:t>TERMO DE GARANTIA</a:t>
            </a:r>
          </a:p>
        </p:txBody>
      </p:sp>
      <p:sp>
        <p:nvSpPr>
          <p:cNvPr id="7" name="CaixaDeTexto 6">
            <a:extLst>
              <a:ext uri="{FF2B5EF4-FFF2-40B4-BE49-F238E27FC236}">
                <a16:creationId xmlns:a16="http://schemas.microsoft.com/office/drawing/2014/main" id="{52D0D513-742C-4437-9E59-112062908926}"/>
              </a:ext>
            </a:extLst>
          </p:cNvPr>
          <p:cNvSpPr txBox="1"/>
          <p:nvPr/>
        </p:nvSpPr>
        <p:spPr>
          <a:xfrm>
            <a:off x="127000" y="398624"/>
            <a:ext cx="5147369" cy="5586145"/>
          </a:xfrm>
          <a:prstGeom prst="rect">
            <a:avLst/>
          </a:prstGeom>
          <a:noFill/>
        </p:spPr>
        <p:txBody>
          <a:bodyPr wrap="square" rtlCol="0">
            <a:spAutoFit/>
          </a:bodyPr>
          <a:ls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just"/>
            <a:r>
              <a:rPr lang="pt-BR" sz="830" dirty="0">
                <a:latin typeface="Arial" panose="020B0604020202020204" pitchFamily="34" charset="0"/>
                <a:cs typeface="Arial" panose="020B0604020202020204" pitchFamily="34" charset="0"/>
              </a:rPr>
              <a:t>Os produtos Só Aço são garantidos pela Só Aço, na forma estabelecida:</a:t>
            </a:r>
          </a:p>
          <a:p>
            <a:pPr algn="just"/>
            <a:endParaRPr lang="pt-BR" sz="830" dirty="0">
              <a:latin typeface="Arial" panose="020B0604020202020204" pitchFamily="34" charset="0"/>
              <a:cs typeface="Arial" panose="020B0604020202020204" pitchFamily="34" charset="0"/>
            </a:endParaRPr>
          </a:p>
          <a:p>
            <a:pPr marL="176213" indent="-176213" algn="just">
              <a:buAutoNum type="arabicPeriod"/>
            </a:pPr>
            <a:r>
              <a:rPr lang="pt-BR" sz="830" b="1" i="1" dirty="0">
                <a:latin typeface="Arial" panose="020B0604020202020204" pitchFamily="34" charset="0"/>
                <a:cs typeface="Arial" panose="020B0604020202020204" pitchFamily="34" charset="0"/>
              </a:rPr>
              <a:t>Condições gerais de garantia:</a:t>
            </a:r>
          </a:p>
          <a:p>
            <a:pPr marL="176213" indent="-176213" algn="just">
              <a:buAutoNum type="alphaLcParenR"/>
            </a:pPr>
            <a:r>
              <a:rPr lang="pt-BR" sz="830" dirty="0">
                <a:latin typeface="Arial" panose="020B0604020202020204" pitchFamily="34" charset="0"/>
                <a:cs typeface="Arial" panose="020B0604020202020204" pitchFamily="34" charset="0"/>
              </a:rPr>
              <a:t>Os produtos Só Aço são garantidos contra defeitos de fabricação por 06 (seis) meses a partir da data de emissão da nota fiscal de compra do primeiro comprador, sendo 3 (três) meses de garantia legal e mais 3 (três) meses de garantia especial concedida pela Só Aço Industrial. </a:t>
            </a:r>
          </a:p>
          <a:p>
            <a:pPr marL="176213" indent="-176213" algn="just">
              <a:buFontTx/>
              <a:buAutoNum type="alphaLcParenR"/>
            </a:pPr>
            <a:r>
              <a:rPr lang="pt-BR" sz="830" dirty="0">
                <a:latin typeface="Arial" panose="020B0604020202020204" pitchFamily="34" charset="0"/>
                <a:cs typeface="Arial" panose="020B0604020202020204" pitchFamily="34" charset="0"/>
              </a:rPr>
              <a:t>Apenas para compressores e motores elétricos a garantia se estende por mais 6 meses além da garantia legal e da garantia especial, totalizando assim 12 meses de garantia para o compressores e motores elétricos. </a:t>
            </a:r>
          </a:p>
          <a:p>
            <a:pPr marL="176213" indent="-176213" algn="just">
              <a:buAutoNum type="alphaLcParenR"/>
            </a:pPr>
            <a:r>
              <a:rPr lang="pt-BR" sz="830" dirty="0">
                <a:latin typeface="Arial" panose="020B0604020202020204" pitchFamily="34" charset="0"/>
                <a:cs typeface="Arial" panose="020B0604020202020204" pitchFamily="34" charset="0"/>
              </a:rPr>
              <a:t>Os seguintes componentes: rolamentos, rodízios, retentores, correias, vidros, motores elétricos, lâmpadas, fusíveis, chaves-contadoras, resistências, termostatos, relés, borrachas de vedação e outros componentes não são produzidos pela Só Aço, estão excluídos totalmente da garantia.</a:t>
            </a:r>
          </a:p>
          <a:p>
            <a:pPr marL="176213" indent="-176213" algn="just">
              <a:buAutoNum type="alphaLcParenR"/>
            </a:pPr>
            <a:r>
              <a:rPr lang="pt-BR" sz="83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176213" indent="-176213" algn="just">
              <a:buFontTx/>
              <a:buAutoNum type="alphaLcParenR"/>
            </a:pPr>
            <a:r>
              <a:rPr lang="pt-BR" sz="83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Para comprovação da garantia, o cliente deverá apresentar esse termo de garantia devidamente preenchido e nota fiscal do produto.</a:t>
            </a:r>
          </a:p>
          <a:p>
            <a:pPr algn="just"/>
            <a:r>
              <a:rPr lang="pt-BR" sz="830" b="1" dirty="0">
                <a:latin typeface="Arial" panose="020B0604020202020204" pitchFamily="34" charset="0"/>
                <a:cs typeface="Arial" panose="020B0604020202020204" pitchFamily="34" charset="0"/>
              </a:rPr>
              <a:t>Observação: </a:t>
            </a:r>
            <a:r>
              <a:rPr lang="pt-BR" sz="830" dirty="0">
                <a:latin typeface="Arial" panose="020B0604020202020204" pitchFamily="34" charset="0"/>
                <a:cs typeface="Arial" panose="020B0604020202020204" pitchFamily="34" charset="0"/>
              </a:rPr>
              <a:t>Fica, desde já, eleito o Foro da Comarca da Capital do Estado do Piauí para dirimir quaisquer dúvidas oriundas do cumprimento deste Termo de Garantia</a:t>
            </a:r>
          </a:p>
          <a:p>
            <a:pPr algn="just"/>
            <a:endParaRPr lang="pt-BR" sz="830" dirty="0">
              <a:latin typeface="Arial" panose="020B0604020202020204" pitchFamily="34" charset="0"/>
              <a:cs typeface="Arial" panose="020B0604020202020204" pitchFamily="34" charset="0"/>
            </a:endParaRPr>
          </a:p>
          <a:p>
            <a:pPr algn="just"/>
            <a:r>
              <a:rPr lang="pt-BR" sz="830" b="1" i="1" dirty="0">
                <a:latin typeface="Arial" panose="020B0604020202020204" pitchFamily="34" charset="0"/>
                <a:cs typeface="Arial" panose="020B0604020202020204" pitchFamily="34" charset="0"/>
              </a:rPr>
              <a:t>2. Serviços de Garantia</a:t>
            </a:r>
          </a:p>
          <a:p>
            <a:pPr algn="just"/>
            <a:r>
              <a:rPr lang="pt-BR" sz="83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830" dirty="0">
                <a:latin typeface="Arial" panose="020B0604020202020204" pitchFamily="34" charset="0"/>
                <a:cs typeface="Arial" panose="020B0604020202020204" pitchFamily="34" charset="0"/>
              </a:rPr>
              <a:t>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830" b="1" dirty="0">
              <a:latin typeface="Arial" panose="020B0604020202020204" pitchFamily="34" charset="0"/>
              <a:cs typeface="Arial" panose="020B0604020202020204" pitchFamily="34" charset="0"/>
            </a:endParaRPr>
          </a:p>
          <a:p>
            <a:pPr algn="just"/>
            <a:r>
              <a:rPr lang="pt-BR" sz="830" b="1" dirty="0">
                <a:latin typeface="Arial" panose="020B0604020202020204" pitchFamily="34" charset="0"/>
                <a:cs typeface="Arial" panose="020B0604020202020204" pitchFamily="34" charset="0"/>
              </a:rPr>
              <a:t>3. Extinção da garantia</a:t>
            </a:r>
          </a:p>
          <a:p>
            <a:pPr algn="just"/>
            <a:r>
              <a:rPr lang="pt-BR" sz="83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produto instalado em rede elétrica imprópria, arranhões, amassaduras e defeitos originados pelo desgaste natural de uso e ainda, no caso de apresentar sinais de violação, ajuste ou reparo realizado por pessoa não credenciada pela Só Aço.</a:t>
            </a:r>
          </a:p>
          <a:p>
            <a:pPr algn="just"/>
            <a:r>
              <a:rPr lang="pt-BR" sz="830" dirty="0">
                <a:latin typeface="Arial" panose="020B0604020202020204" pitchFamily="34" charset="0"/>
                <a:cs typeface="Arial" panose="020B0604020202020204" pitchFamily="34" charset="0"/>
              </a:rPr>
              <a:t>ATENÇÃO</a:t>
            </a:r>
          </a:p>
          <a:p>
            <a:pPr marL="176213" indent="-176213" algn="just">
              <a:buAutoNum type="alphaLcParenR"/>
            </a:pPr>
            <a:r>
              <a:rPr lang="pt-BR" sz="83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176213" indent="-176213" algn="just">
              <a:buAutoNum type="alphaLcParenR"/>
            </a:pPr>
            <a:r>
              <a:rPr lang="pt-BR" sz="83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 (Necessário para comprovação da garantia)</a:t>
            </a:r>
          </a:p>
          <a:p>
            <a:pPr marL="176213" indent="-176213" algn="just">
              <a:buAutoNum type="alphaLcParenR"/>
            </a:pPr>
            <a:r>
              <a:rPr lang="pt-BR" sz="830" dirty="0">
                <a:latin typeface="Arial" panose="020B0604020202020204" pitchFamily="34" charset="0"/>
                <a:cs typeface="Arial" panose="020B0604020202020204" pitchFamily="34" charset="0"/>
              </a:rPr>
              <a:t>A Só Aço se reserva do direito de alterar as características dos seus produtos sem aviso prévio.</a:t>
            </a:r>
          </a:p>
        </p:txBody>
      </p:sp>
      <p:graphicFrame>
        <p:nvGraphicFramePr>
          <p:cNvPr id="8" name="Tabela 7">
            <a:extLst>
              <a:ext uri="{FF2B5EF4-FFF2-40B4-BE49-F238E27FC236}">
                <a16:creationId xmlns:a16="http://schemas.microsoft.com/office/drawing/2014/main" id="{CEB1E43E-6F02-4E33-AFF3-D30C9C4A8A64}"/>
              </a:ext>
            </a:extLst>
          </p:cNvPr>
          <p:cNvGraphicFramePr>
            <a:graphicFrameLocks noGrp="1"/>
          </p:cNvGraphicFramePr>
          <p:nvPr>
            <p:extLst>
              <p:ext uri="{D42A27DB-BD31-4B8C-83A1-F6EECF244321}">
                <p14:modId xmlns:p14="http://schemas.microsoft.com/office/powerpoint/2010/main" val="3412214917"/>
              </p:ext>
            </p:extLst>
          </p:nvPr>
        </p:nvGraphicFramePr>
        <p:xfrm>
          <a:off x="127000" y="5827996"/>
          <a:ext cx="5147370" cy="1334643"/>
        </p:xfrm>
        <a:graphic>
          <a:graphicData uri="http://schemas.openxmlformats.org/drawingml/2006/table">
            <a:tbl>
              <a:tblPr firstRow="1" bandRow="1">
                <a:tableStyleId>{2D5ABB26-0587-4C30-8999-92F81FD0307C}</a:tableStyleId>
              </a:tblPr>
              <a:tblGrid>
                <a:gridCol w="857895">
                  <a:extLst>
                    <a:ext uri="{9D8B030D-6E8A-4147-A177-3AD203B41FA5}">
                      <a16:colId xmlns:a16="http://schemas.microsoft.com/office/drawing/2014/main" val="1713468828"/>
                    </a:ext>
                  </a:extLst>
                </a:gridCol>
                <a:gridCol w="857895">
                  <a:extLst>
                    <a:ext uri="{9D8B030D-6E8A-4147-A177-3AD203B41FA5}">
                      <a16:colId xmlns:a16="http://schemas.microsoft.com/office/drawing/2014/main" val="2269615378"/>
                    </a:ext>
                  </a:extLst>
                </a:gridCol>
                <a:gridCol w="857895">
                  <a:extLst>
                    <a:ext uri="{9D8B030D-6E8A-4147-A177-3AD203B41FA5}">
                      <a16:colId xmlns:a16="http://schemas.microsoft.com/office/drawing/2014/main" val="3517463195"/>
                    </a:ext>
                  </a:extLst>
                </a:gridCol>
                <a:gridCol w="857895">
                  <a:extLst>
                    <a:ext uri="{9D8B030D-6E8A-4147-A177-3AD203B41FA5}">
                      <a16:colId xmlns:a16="http://schemas.microsoft.com/office/drawing/2014/main" val="3012284916"/>
                    </a:ext>
                  </a:extLst>
                </a:gridCol>
                <a:gridCol w="857895">
                  <a:extLst>
                    <a:ext uri="{9D8B030D-6E8A-4147-A177-3AD203B41FA5}">
                      <a16:colId xmlns:a16="http://schemas.microsoft.com/office/drawing/2014/main" val="3103919278"/>
                    </a:ext>
                  </a:extLst>
                </a:gridCol>
                <a:gridCol w="857895">
                  <a:extLst>
                    <a:ext uri="{9D8B030D-6E8A-4147-A177-3AD203B41FA5}">
                      <a16:colId xmlns:a16="http://schemas.microsoft.com/office/drawing/2014/main" val="2449578342"/>
                    </a:ext>
                  </a:extLst>
                </a:gridCol>
              </a:tblGrid>
              <a:tr h="323669">
                <a:tc gridSpan="6">
                  <a:txBody>
                    <a:bodyPr/>
                    <a:lstStyle/>
                    <a:p>
                      <a:pPr algn="ctr"/>
                      <a:r>
                        <a:rPr lang="pt-BR" sz="1000" b="1" dirty="0">
                          <a:latin typeface="Arial" panose="020B0604020202020204" pitchFamily="34" charset="0"/>
                          <a:cs typeface="Arial" panose="020B0604020202020204" pitchFamily="34" charset="0"/>
                        </a:rPr>
                        <a:t>Dados necessários para abertura do atendimento</a:t>
                      </a:r>
                      <a:endParaRPr lang="pt-BR" sz="1050" b="1" dirty="0">
                        <a:latin typeface="Arial" panose="020B0604020202020204" pitchFamily="34" charset="0"/>
                        <a:cs typeface="Arial" panose="020B0604020202020204" pitchFamily="34" charset="0"/>
                      </a:endParaRP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2727796499"/>
                  </a:ext>
                </a:extLst>
              </a:tr>
              <a:tr h="360994">
                <a:tc>
                  <a:txBody>
                    <a:bodyPr/>
                    <a:lstStyle/>
                    <a:p>
                      <a:r>
                        <a:rPr lang="pt-BR" sz="800" dirty="0">
                          <a:latin typeface="Arial" panose="020B0604020202020204" pitchFamily="34" charset="0"/>
                          <a:cs typeface="Arial" panose="020B0604020202020204" pitchFamily="34" charset="0"/>
                        </a:rPr>
                        <a:t>Data de Compra</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800" dirty="0">
                          <a:latin typeface="Arial" panose="020B0604020202020204" pitchFamily="34" charset="0"/>
                          <a:cs typeface="Arial" panose="020B0604020202020204" pitchFamily="34" charset="0"/>
                        </a:rPr>
                        <a:t>Cliente</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800" dirty="0">
                          <a:latin typeface="Arial" panose="020B0604020202020204" pitchFamily="34" charset="0"/>
                          <a:cs typeface="Arial" panose="020B0604020202020204" pitchFamily="34" charset="0"/>
                        </a:rPr>
                        <a:t>Estado</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968675"/>
                  </a:ext>
                </a:extLst>
              </a:tr>
              <a:tr h="323669">
                <a:tc>
                  <a:txBody>
                    <a:bodyPr/>
                    <a:lstStyle/>
                    <a:p>
                      <a:r>
                        <a:rPr lang="pt-BR" sz="800" dirty="0">
                          <a:latin typeface="Arial" panose="020B0604020202020204" pitchFamily="34" charset="0"/>
                          <a:cs typeface="Arial" panose="020B0604020202020204" pitchFamily="34" charset="0"/>
                        </a:rPr>
                        <a:t>Nota Fiscal</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800" dirty="0">
                          <a:latin typeface="Arial" panose="020B0604020202020204" pitchFamily="34" charset="0"/>
                          <a:cs typeface="Arial" panose="020B0604020202020204" pitchFamily="34" charset="0"/>
                        </a:rPr>
                        <a:t>Telefone</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800" dirty="0">
                          <a:latin typeface="Arial" panose="020B0604020202020204" pitchFamily="34" charset="0"/>
                          <a:cs typeface="Arial" panose="020B0604020202020204" pitchFamily="34" charset="0"/>
                        </a:rPr>
                        <a:t>Endereço</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479289"/>
                  </a:ext>
                </a:extLst>
              </a:tr>
              <a:tr h="323669">
                <a:tc>
                  <a:txBody>
                    <a:bodyPr/>
                    <a:lstStyle/>
                    <a:p>
                      <a:r>
                        <a:rPr lang="pt-BR" sz="800" dirty="0">
                          <a:latin typeface="Arial" panose="020B0604020202020204" pitchFamily="34" charset="0"/>
                          <a:cs typeface="Arial" panose="020B0604020202020204" pitchFamily="34" charset="0"/>
                        </a:rPr>
                        <a:t>Revendedor</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800" dirty="0">
                          <a:latin typeface="Arial" panose="020B0604020202020204" pitchFamily="34" charset="0"/>
                          <a:cs typeface="Arial" panose="020B0604020202020204" pitchFamily="34" charset="0"/>
                        </a:rPr>
                        <a:t>Cidade</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800" dirty="0">
                          <a:latin typeface="Arial" panose="020B0604020202020204" pitchFamily="34" charset="0"/>
                          <a:cs typeface="Arial" panose="020B0604020202020204" pitchFamily="34" charset="0"/>
                        </a:rPr>
                        <a:t>Série</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296662"/>
                  </a:ext>
                </a:extLst>
              </a:tr>
            </a:tbl>
          </a:graphicData>
        </a:graphic>
      </p:graphicFrame>
    </p:spTree>
    <p:extLst>
      <p:ext uri="{BB962C8B-B14F-4D97-AF65-F5344CB8AC3E}">
        <p14:creationId xmlns:p14="http://schemas.microsoft.com/office/powerpoint/2010/main" val="4165309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2561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9" name="Conector reto 308">
            <a:extLst>
              <a:ext uri="{FF2B5EF4-FFF2-40B4-BE49-F238E27FC236}">
                <a16:creationId xmlns:a16="http://schemas.microsoft.com/office/drawing/2014/main" id="{8C312494-8EFE-4CEC-B7CB-56F99FC7A856}"/>
              </a:ext>
            </a:extLst>
          </p:cNvPr>
          <p:cNvCxnSpPr/>
          <p:nvPr/>
        </p:nvCxnSpPr>
        <p:spPr>
          <a:xfrm>
            <a:off x="36081" y="7453039"/>
            <a:ext cx="5292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10" name="Conector reto 309">
            <a:extLst>
              <a:ext uri="{FF2B5EF4-FFF2-40B4-BE49-F238E27FC236}">
                <a16:creationId xmlns:a16="http://schemas.microsoft.com/office/drawing/2014/main" id="{1BCFA57B-7F23-41F0-A863-E97FE36C87B0}"/>
              </a:ext>
            </a:extLst>
          </p:cNvPr>
          <p:cNvCxnSpPr/>
          <p:nvPr/>
        </p:nvCxnSpPr>
        <p:spPr>
          <a:xfrm>
            <a:off x="36081" y="7092999"/>
            <a:ext cx="5292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311" name="Imagem 310">
            <a:extLst>
              <a:ext uri="{FF2B5EF4-FFF2-40B4-BE49-F238E27FC236}">
                <a16:creationId xmlns:a16="http://schemas.microsoft.com/office/drawing/2014/main" id="{C005B00B-A800-4FE7-8A88-5ABBD432E2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8445" y="7124037"/>
            <a:ext cx="887451" cy="265943"/>
          </a:xfrm>
          <a:prstGeom prst="rect">
            <a:avLst/>
          </a:prstGeom>
        </p:spPr>
      </p:pic>
      <p:pic>
        <p:nvPicPr>
          <p:cNvPr id="313" name="Imagem 312">
            <a:extLst>
              <a:ext uri="{FF2B5EF4-FFF2-40B4-BE49-F238E27FC236}">
                <a16:creationId xmlns:a16="http://schemas.microsoft.com/office/drawing/2014/main" id="{50F72DFC-8E76-4F2D-B716-8D225B9F7B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70398" y="7124037"/>
            <a:ext cx="887451" cy="265943"/>
          </a:xfrm>
          <a:prstGeom prst="rect">
            <a:avLst/>
          </a:prstGeom>
        </p:spPr>
      </p:pic>
      <p:pic>
        <p:nvPicPr>
          <p:cNvPr id="314" name="Imagem 313">
            <a:extLst>
              <a:ext uri="{FF2B5EF4-FFF2-40B4-BE49-F238E27FC236}">
                <a16:creationId xmlns:a16="http://schemas.microsoft.com/office/drawing/2014/main" id="{F0B9FC6E-112A-4E1A-9D9A-E30346DDEA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02351" y="7126332"/>
            <a:ext cx="887451" cy="265943"/>
          </a:xfrm>
          <a:prstGeom prst="rect">
            <a:avLst/>
          </a:prstGeom>
        </p:spPr>
      </p:pic>
      <p:pic>
        <p:nvPicPr>
          <p:cNvPr id="316" name="Imagem 315">
            <a:extLst>
              <a:ext uri="{FF2B5EF4-FFF2-40B4-BE49-F238E27FC236}">
                <a16:creationId xmlns:a16="http://schemas.microsoft.com/office/drawing/2014/main" id="{15654B47-4E94-4A1B-8734-722A67CAEE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34304" y="7126332"/>
            <a:ext cx="887451" cy="265943"/>
          </a:xfrm>
          <a:prstGeom prst="rect">
            <a:avLst/>
          </a:prstGeom>
        </p:spPr>
      </p:pic>
      <p:pic>
        <p:nvPicPr>
          <p:cNvPr id="317" name="Imagem 316">
            <a:extLst>
              <a:ext uri="{FF2B5EF4-FFF2-40B4-BE49-F238E27FC236}">
                <a16:creationId xmlns:a16="http://schemas.microsoft.com/office/drawing/2014/main" id="{68F9FCC5-102A-4C29-AB6B-9D1319E044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66258" y="7141779"/>
            <a:ext cx="887451" cy="265943"/>
          </a:xfrm>
          <a:prstGeom prst="rect">
            <a:avLst/>
          </a:prstGeom>
        </p:spPr>
      </p:pic>
      <p:pic>
        <p:nvPicPr>
          <p:cNvPr id="182" name="Imagem 181">
            <a:extLst>
              <a:ext uri="{FF2B5EF4-FFF2-40B4-BE49-F238E27FC236}">
                <a16:creationId xmlns:a16="http://schemas.microsoft.com/office/drawing/2014/main" id="{1E325820-BE6E-4B2A-A995-BC90DFCD9D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492264"/>
            <a:ext cx="1181203" cy="366728"/>
          </a:xfrm>
          <a:prstGeom prst="rect">
            <a:avLst/>
          </a:prstGeom>
        </p:spPr>
      </p:pic>
      <p:pic>
        <p:nvPicPr>
          <p:cNvPr id="183" name="Imagem 182">
            <a:extLst>
              <a:ext uri="{FF2B5EF4-FFF2-40B4-BE49-F238E27FC236}">
                <a16:creationId xmlns:a16="http://schemas.microsoft.com/office/drawing/2014/main" id="{29F2E4CE-3355-463C-9C7D-7430ADA3C9D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903325"/>
            <a:ext cx="1181203" cy="366728"/>
          </a:xfrm>
          <a:prstGeom prst="rect">
            <a:avLst/>
          </a:prstGeom>
        </p:spPr>
      </p:pic>
      <p:pic>
        <p:nvPicPr>
          <p:cNvPr id="184" name="Imagem 183">
            <a:extLst>
              <a:ext uri="{FF2B5EF4-FFF2-40B4-BE49-F238E27FC236}">
                <a16:creationId xmlns:a16="http://schemas.microsoft.com/office/drawing/2014/main" id="{22FCCF49-9449-44F0-8F13-66D064D8881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1314386"/>
            <a:ext cx="1181203" cy="366728"/>
          </a:xfrm>
          <a:prstGeom prst="rect">
            <a:avLst/>
          </a:prstGeom>
        </p:spPr>
      </p:pic>
      <p:pic>
        <p:nvPicPr>
          <p:cNvPr id="185" name="Imagem 184">
            <a:extLst>
              <a:ext uri="{FF2B5EF4-FFF2-40B4-BE49-F238E27FC236}">
                <a16:creationId xmlns:a16="http://schemas.microsoft.com/office/drawing/2014/main" id="{7BBC4EFE-1FF3-402F-9EE9-7D5EDA6F91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1725447"/>
            <a:ext cx="1181203" cy="366728"/>
          </a:xfrm>
          <a:prstGeom prst="rect">
            <a:avLst/>
          </a:prstGeom>
        </p:spPr>
      </p:pic>
      <p:pic>
        <p:nvPicPr>
          <p:cNvPr id="186" name="Imagem 185">
            <a:extLst>
              <a:ext uri="{FF2B5EF4-FFF2-40B4-BE49-F238E27FC236}">
                <a16:creationId xmlns:a16="http://schemas.microsoft.com/office/drawing/2014/main" id="{AD3226DD-C298-4156-AF58-870C75EAB2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2136508"/>
            <a:ext cx="1181203" cy="366728"/>
          </a:xfrm>
          <a:prstGeom prst="rect">
            <a:avLst/>
          </a:prstGeom>
        </p:spPr>
      </p:pic>
      <p:pic>
        <p:nvPicPr>
          <p:cNvPr id="187" name="Imagem 186">
            <a:extLst>
              <a:ext uri="{FF2B5EF4-FFF2-40B4-BE49-F238E27FC236}">
                <a16:creationId xmlns:a16="http://schemas.microsoft.com/office/drawing/2014/main" id="{F05BABB8-A8A7-4CBE-BABC-CD08CC3297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2547569"/>
            <a:ext cx="1181203" cy="366728"/>
          </a:xfrm>
          <a:prstGeom prst="rect">
            <a:avLst/>
          </a:prstGeom>
        </p:spPr>
      </p:pic>
      <p:pic>
        <p:nvPicPr>
          <p:cNvPr id="188" name="Imagem 187">
            <a:extLst>
              <a:ext uri="{FF2B5EF4-FFF2-40B4-BE49-F238E27FC236}">
                <a16:creationId xmlns:a16="http://schemas.microsoft.com/office/drawing/2014/main" id="{2FAEF4CD-22AB-4CF7-B28D-288C64E8B8D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2958630"/>
            <a:ext cx="1181203" cy="366728"/>
          </a:xfrm>
          <a:prstGeom prst="rect">
            <a:avLst/>
          </a:prstGeom>
        </p:spPr>
      </p:pic>
      <p:pic>
        <p:nvPicPr>
          <p:cNvPr id="189" name="Imagem 188">
            <a:extLst>
              <a:ext uri="{FF2B5EF4-FFF2-40B4-BE49-F238E27FC236}">
                <a16:creationId xmlns:a16="http://schemas.microsoft.com/office/drawing/2014/main" id="{A3603DF8-EE30-46CA-82D1-4BD46500D7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3369691"/>
            <a:ext cx="1181203" cy="366728"/>
          </a:xfrm>
          <a:prstGeom prst="rect">
            <a:avLst/>
          </a:prstGeom>
        </p:spPr>
      </p:pic>
      <p:pic>
        <p:nvPicPr>
          <p:cNvPr id="190" name="Imagem 189">
            <a:extLst>
              <a:ext uri="{FF2B5EF4-FFF2-40B4-BE49-F238E27FC236}">
                <a16:creationId xmlns:a16="http://schemas.microsoft.com/office/drawing/2014/main" id="{084A992A-DDAE-413A-9BCC-2EFCC18127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3780752"/>
            <a:ext cx="1181203" cy="366728"/>
          </a:xfrm>
          <a:prstGeom prst="rect">
            <a:avLst/>
          </a:prstGeom>
        </p:spPr>
      </p:pic>
      <p:pic>
        <p:nvPicPr>
          <p:cNvPr id="191" name="Imagem 190">
            <a:extLst>
              <a:ext uri="{FF2B5EF4-FFF2-40B4-BE49-F238E27FC236}">
                <a16:creationId xmlns:a16="http://schemas.microsoft.com/office/drawing/2014/main" id="{A0789786-F2CA-49C5-8E4B-F6C5DB7CC2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4191813"/>
            <a:ext cx="1181203" cy="366728"/>
          </a:xfrm>
          <a:prstGeom prst="rect">
            <a:avLst/>
          </a:prstGeom>
        </p:spPr>
      </p:pic>
      <p:pic>
        <p:nvPicPr>
          <p:cNvPr id="192" name="Imagem 191">
            <a:extLst>
              <a:ext uri="{FF2B5EF4-FFF2-40B4-BE49-F238E27FC236}">
                <a16:creationId xmlns:a16="http://schemas.microsoft.com/office/drawing/2014/main" id="{04EB3CD1-511D-45B5-B5E7-86F55BCFBE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4602874"/>
            <a:ext cx="1181203" cy="366728"/>
          </a:xfrm>
          <a:prstGeom prst="rect">
            <a:avLst/>
          </a:prstGeom>
        </p:spPr>
      </p:pic>
      <p:pic>
        <p:nvPicPr>
          <p:cNvPr id="193" name="Imagem 192">
            <a:extLst>
              <a:ext uri="{FF2B5EF4-FFF2-40B4-BE49-F238E27FC236}">
                <a16:creationId xmlns:a16="http://schemas.microsoft.com/office/drawing/2014/main" id="{78A77264-0648-49E2-8E2E-E1A4CBDD75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5013935"/>
            <a:ext cx="1181203" cy="366728"/>
          </a:xfrm>
          <a:prstGeom prst="rect">
            <a:avLst/>
          </a:prstGeom>
        </p:spPr>
      </p:pic>
      <p:pic>
        <p:nvPicPr>
          <p:cNvPr id="194" name="Imagem 193">
            <a:extLst>
              <a:ext uri="{FF2B5EF4-FFF2-40B4-BE49-F238E27FC236}">
                <a16:creationId xmlns:a16="http://schemas.microsoft.com/office/drawing/2014/main" id="{381D5C90-CBC9-4F8E-9162-D736B848350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5424996"/>
            <a:ext cx="1181203" cy="366728"/>
          </a:xfrm>
          <a:prstGeom prst="rect">
            <a:avLst/>
          </a:prstGeom>
        </p:spPr>
      </p:pic>
      <p:pic>
        <p:nvPicPr>
          <p:cNvPr id="195" name="Imagem 194">
            <a:extLst>
              <a:ext uri="{FF2B5EF4-FFF2-40B4-BE49-F238E27FC236}">
                <a16:creationId xmlns:a16="http://schemas.microsoft.com/office/drawing/2014/main" id="{545E2881-36ED-492A-B18B-CF5B2686B7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5836057"/>
            <a:ext cx="1181203" cy="366728"/>
          </a:xfrm>
          <a:prstGeom prst="rect">
            <a:avLst/>
          </a:prstGeom>
        </p:spPr>
      </p:pic>
      <p:pic>
        <p:nvPicPr>
          <p:cNvPr id="196" name="Imagem 195">
            <a:extLst>
              <a:ext uri="{FF2B5EF4-FFF2-40B4-BE49-F238E27FC236}">
                <a16:creationId xmlns:a16="http://schemas.microsoft.com/office/drawing/2014/main" id="{01E52CC6-E333-4578-8535-D7265E921E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6247118"/>
            <a:ext cx="1181203" cy="366728"/>
          </a:xfrm>
          <a:prstGeom prst="rect">
            <a:avLst/>
          </a:prstGeom>
        </p:spPr>
      </p:pic>
      <p:pic>
        <p:nvPicPr>
          <p:cNvPr id="197" name="Imagem 196">
            <a:extLst>
              <a:ext uri="{FF2B5EF4-FFF2-40B4-BE49-F238E27FC236}">
                <a16:creationId xmlns:a16="http://schemas.microsoft.com/office/drawing/2014/main" id="{CD3440CB-093F-4FF4-A40E-D09D872184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492264"/>
            <a:ext cx="1181203" cy="366728"/>
          </a:xfrm>
          <a:prstGeom prst="rect">
            <a:avLst/>
          </a:prstGeom>
        </p:spPr>
      </p:pic>
      <p:pic>
        <p:nvPicPr>
          <p:cNvPr id="198" name="Imagem 197">
            <a:extLst>
              <a:ext uri="{FF2B5EF4-FFF2-40B4-BE49-F238E27FC236}">
                <a16:creationId xmlns:a16="http://schemas.microsoft.com/office/drawing/2014/main" id="{A3ECC89D-9B95-41FB-AE84-6E905AE92C5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903325"/>
            <a:ext cx="1181203" cy="366728"/>
          </a:xfrm>
          <a:prstGeom prst="rect">
            <a:avLst/>
          </a:prstGeom>
        </p:spPr>
      </p:pic>
      <p:pic>
        <p:nvPicPr>
          <p:cNvPr id="199" name="Imagem 198">
            <a:extLst>
              <a:ext uri="{FF2B5EF4-FFF2-40B4-BE49-F238E27FC236}">
                <a16:creationId xmlns:a16="http://schemas.microsoft.com/office/drawing/2014/main" id="{AC6B4332-C014-417A-A4A2-07DEE755A89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1314386"/>
            <a:ext cx="1181203" cy="366728"/>
          </a:xfrm>
          <a:prstGeom prst="rect">
            <a:avLst/>
          </a:prstGeom>
        </p:spPr>
      </p:pic>
      <p:pic>
        <p:nvPicPr>
          <p:cNvPr id="200" name="Imagem 199">
            <a:extLst>
              <a:ext uri="{FF2B5EF4-FFF2-40B4-BE49-F238E27FC236}">
                <a16:creationId xmlns:a16="http://schemas.microsoft.com/office/drawing/2014/main" id="{FFB25C8D-C39A-4E7F-BD69-988AEB0F55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1725447"/>
            <a:ext cx="1181203" cy="366728"/>
          </a:xfrm>
          <a:prstGeom prst="rect">
            <a:avLst/>
          </a:prstGeom>
        </p:spPr>
      </p:pic>
      <p:pic>
        <p:nvPicPr>
          <p:cNvPr id="201" name="Imagem 200">
            <a:extLst>
              <a:ext uri="{FF2B5EF4-FFF2-40B4-BE49-F238E27FC236}">
                <a16:creationId xmlns:a16="http://schemas.microsoft.com/office/drawing/2014/main" id="{7ECA7CB3-A55B-492A-9A7C-50EDFDE16E1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2136508"/>
            <a:ext cx="1181203" cy="366728"/>
          </a:xfrm>
          <a:prstGeom prst="rect">
            <a:avLst/>
          </a:prstGeom>
        </p:spPr>
      </p:pic>
      <p:pic>
        <p:nvPicPr>
          <p:cNvPr id="202" name="Imagem 201">
            <a:extLst>
              <a:ext uri="{FF2B5EF4-FFF2-40B4-BE49-F238E27FC236}">
                <a16:creationId xmlns:a16="http://schemas.microsoft.com/office/drawing/2014/main" id="{61C2A5C3-28D4-47BE-9753-E521A871CBA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2547569"/>
            <a:ext cx="1181203" cy="366728"/>
          </a:xfrm>
          <a:prstGeom prst="rect">
            <a:avLst/>
          </a:prstGeom>
        </p:spPr>
      </p:pic>
      <p:pic>
        <p:nvPicPr>
          <p:cNvPr id="203" name="Imagem 202">
            <a:extLst>
              <a:ext uri="{FF2B5EF4-FFF2-40B4-BE49-F238E27FC236}">
                <a16:creationId xmlns:a16="http://schemas.microsoft.com/office/drawing/2014/main" id="{62E078C4-11F3-4C96-BAF4-685B1C354F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2958630"/>
            <a:ext cx="1181203" cy="366728"/>
          </a:xfrm>
          <a:prstGeom prst="rect">
            <a:avLst/>
          </a:prstGeom>
        </p:spPr>
      </p:pic>
      <p:pic>
        <p:nvPicPr>
          <p:cNvPr id="204" name="Imagem 203">
            <a:extLst>
              <a:ext uri="{FF2B5EF4-FFF2-40B4-BE49-F238E27FC236}">
                <a16:creationId xmlns:a16="http://schemas.microsoft.com/office/drawing/2014/main" id="{06F112C2-F1A2-4548-94B0-0A673BD43A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3369691"/>
            <a:ext cx="1181203" cy="366728"/>
          </a:xfrm>
          <a:prstGeom prst="rect">
            <a:avLst/>
          </a:prstGeom>
        </p:spPr>
      </p:pic>
      <p:pic>
        <p:nvPicPr>
          <p:cNvPr id="205" name="Imagem 204">
            <a:extLst>
              <a:ext uri="{FF2B5EF4-FFF2-40B4-BE49-F238E27FC236}">
                <a16:creationId xmlns:a16="http://schemas.microsoft.com/office/drawing/2014/main" id="{33ED5565-813D-4BFB-8DB5-2232A94BA06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3780752"/>
            <a:ext cx="1181203" cy="366728"/>
          </a:xfrm>
          <a:prstGeom prst="rect">
            <a:avLst/>
          </a:prstGeom>
        </p:spPr>
      </p:pic>
      <p:pic>
        <p:nvPicPr>
          <p:cNvPr id="206" name="Imagem 205">
            <a:extLst>
              <a:ext uri="{FF2B5EF4-FFF2-40B4-BE49-F238E27FC236}">
                <a16:creationId xmlns:a16="http://schemas.microsoft.com/office/drawing/2014/main" id="{DCD32285-6CD3-4F11-ADBF-BB786E04EF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4191813"/>
            <a:ext cx="1181203" cy="366728"/>
          </a:xfrm>
          <a:prstGeom prst="rect">
            <a:avLst/>
          </a:prstGeom>
        </p:spPr>
      </p:pic>
      <p:pic>
        <p:nvPicPr>
          <p:cNvPr id="207" name="Imagem 206">
            <a:extLst>
              <a:ext uri="{FF2B5EF4-FFF2-40B4-BE49-F238E27FC236}">
                <a16:creationId xmlns:a16="http://schemas.microsoft.com/office/drawing/2014/main" id="{922C12E4-216A-442A-AFB7-1A6C13210AD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4602874"/>
            <a:ext cx="1181203" cy="366728"/>
          </a:xfrm>
          <a:prstGeom prst="rect">
            <a:avLst/>
          </a:prstGeom>
        </p:spPr>
      </p:pic>
      <p:pic>
        <p:nvPicPr>
          <p:cNvPr id="208" name="Imagem 207">
            <a:extLst>
              <a:ext uri="{FF2B5EF4-FFF2-40B4-BE49-F238E27FC236}">
                <a16:creationId xmlns:a16="http://schemas.microsoft.com/office/drawing/2014/main" id="{DD83A7AB-CE98-4469-B6DC-FD99567AC8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5013935"/>
            <a:ext cx="1181203" cy="366728"/>
          </a:xfrm>
          <a:prstGeom prst="rect">
            <a:avLst/>
          </a:prstGeom>
        </p:spPr>
      </p:pic>
      <p:pic>
        <p:nvPicPr>
          <p:cNvPr id="209" name="Imagem 208">
            <a:extLst>
              <a:ext uri="{FF2B5EF4-FFF2-40B4-BE49-F238E27FC236}">
                <a16:creationId xmlns:a16="http://schemas.microsoft.com/office/drawing/2014/main" id="{D5309729-0E84-4C92-92C8-10471A5BF1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5424996"/>
            <a:ext cx="1181203" cy="366728"/>
          </a:xfrm>
          <a:prstGeom prst="rect">
            <a:avLst/>
          </a:prstGeom>
        </p:spPr>
      </p:pic>
      <p:pic>
        <p:nvPicPr>
          <p:cNvPr id="210" name="Imagem 209">
            <a:extLst>
              <a:ext uri="{FF2B5EF4-FFF2-40B4-BE49-F238E27FC236}">
                <a16:creationId xmlns:a16="http://schemas.microsoft.com/office/drawing/2014/main" id="{B7F6E037-9FBA-4BE9-8E3B-B523E213E4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5836057"/>
            <a:ext cx="1181203" cy="366728"/>
          </a:xfrm>
          <a:prstGeom prst="rect">
            <a:avLst/>
          </a:prstGeom>
        </p:spPr>
      </p:pic>
      <p:pic>
        <p:nvPicPr>
          <p:cNvPr id="211" name="Imagem 210">
            <a:extLst>
              <a:ext uri="{FF2B5EF4-FFF2-40B4-BE49-F238E27FC236}">
                <a16:creationId xmlns:a16="http://schemas.microsoft.com/office/drawing/2014/main" id="{0A654B60-91B7-4F64-9C6C-D968ABD2D4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6247118"/>
            <a:ext cx="1181203" cy="366728"/>
          </a:xfrm>
          <a:prstGeom prst="rect">
            <a:avLst/>
          </a:prstGeom>
        </p:spPr>
      </p:pic>
      <p:pic>
        <p:nvPicPr>
          <p:cNvPr id="212" name="Imagem 211">
            <a:extLst>
              <a:ext uri="{FF2B5EF4-FFF2-40B4-BE49-F238E27FC236}">
                <a16:creationId xmlns:a16="http://schemas.microsoft.com/office/drawing/2014/main" id="{9F35B2B7-38AC-4E8D-8B26-EDF399A9D2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473230"/>
            <a:ext cx="1181203" cy="366728"/>
          </a:xfrm>
          <a:prstGeom prst="rect">
            <a:avLst/>
          </a:prstGeom>
        </p:spPr>
      </p:pic>
      <p:pic>
        <p:nvPicPr>
          <p:cNvPr id="213" name="Imagem 212">
            <a:extLst>
              <a:ext uri="{FF2B5EF4-FFF2-40B4-BE49-F238E27FC236}">
                <a16:creationId xmlns:a16="http://schemas.microsoft.com/office/drawing/2014/main" id="{9E6F4D24-ADBB-4171-98BD-B4CF41D4EF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884291"/>
            <a:ext cx="1181203" cy="366728"/>
          </a:xfrm>
          <a:prstGeom prst="rect">
            <a:avLst/>
          </a:prstGeom>
        </p:spPr>
      </p:pic>
      <p:pic>
        <p:nvPicPr>
          <p:cNvPr id="214" name="Imagem 213">
            <a:extLst>
              <a:ext uri="{FF2B5EF4-FFF2-40B4-BE49-F238E27FC236}">
                <a16:creationId xmlns:a16="http://schemas.microsoft.com/office/drawing/2014/main" id="{5ACF401E-FCC3-48E9-9EE2-C217016C602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1295352"/>
            <a:ext cx="1181203" cy="366728"/>
          </a:xfrm>
          <a:prstGeom prst="rect">
            <a:avLst/>
          </a:prstGeom>
        </p:spPr>
      </p:pic>
      <p:pic>
        <p:nvPicPr>
          <p:cNvPr id="215" name="Imagem 214">
            <a:extLst>
              <a:ext uri="{FF2B5EF4-FFF2-40B4-BE49-F238E27FC236}">
                <a16:creationId xmlns:a16="http://schemas.microsoft.com/office/drawing/2014/main" id="{633613DB-E05E-4A94-B133-4BFFCE1E58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1706413"/>
            <a:ext cx="1181203" cy="366728"/>
          </a:xfrm>
          <a:prstGeom prst="rect">
            <a:avLst/>
          </a:prstGeom>
        </p:spPr>
      </p:pic>
      <p:pic>
        <p:nvPicPr>
          <p:cNvPr id="216" name="Imagem 215">
            <a:extLst>
              <a:ext uri="{FF2B5EF4-FFF2-40B4-BE49-F238E27FC236}">
                <a16:creationId xmlns:a16="http://schemas.microsoft.com/office/drawing/2014/main" id="{EC31B0CF-EAF8-43DE-9E7E-96C8F50AC0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2117474"/>
            <a:ext cx="1181203" cy="366728"/>
          </a:xfrm>
          <a:prstGeom prst="rect">
            <a:avLst/>
          </a:prstGeom>
        </p:spPr>
      </p:pic>
      <p:pic>
        <p:nvPicPr>
          <p:cNvPr id="217" name="Imagem 216">
            <a:extLst>
              <a:ext uri="{FF2B5EF4-FFF2-40B4-BE49-F238E27FC236}">
                <a16:creationId xmlns:a16="http://schemas.microsoft.com/office/drawing/2014/main" id="{CA94C8FC-E859-46D2-A7DF-4BF75946EA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2528535"/>
            <a:ext cx="1181203" cy="366728"/>
          </a:xfrm>
          <a:prstGeom prst="rect">
            <a:avLst/>
          </a:prstGeom>
        </p:spPr>
      </p:pic>
      <p:pic>
        <p:nvPicPr>
          <p:cNvPr id="218" name="Imagem 217">
            <a:extLst>
              <a:ext uri="{FF2B5EF4-FFF2-40B4-BE49-F238E27FC236}">
                <a16:creationId xmlns:a16="http://schemas.microsoft.com/office/drawing/2014/main" id="{5BDB52C3-A548-4651-90AE-CCC182651C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2939596"/>
            <a:ext cx="1181203" cy="366728"/>
          </a:xfrm>
          <a:prstGeom prst="rect">
            <a:avLst/>
          </a:prstGeom>
        </p:spPr>
      </p:pic>
      <p:pic>
        <p:nvPicPr>
          <p:cNvPr id="219" name="Imagem 218">
            <a:extLst>
              <a:ext uri="{FF2B5EF4-FFF2-40B4-BE49-F238E27FC236}">
                <a16:creationId xmlns:a16="http://schemas.microsoft.com/office/drawing/2014/main" id="{50928413-E6A6-4F64-A750-3611D6BF18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3350657"/>
            <a:ext cx="1181203" cy="366728"/>
          </a:xfrm>
          <a:prstGeom prst="rect">
            <a:avLst/>
          </a:prstGeom>
        </p:spPr>
      </p:pic>
      <p:pic>
        <p:nvPicPr>
          <p:cNvPr id="220" name="Imagem 219">
            <a:extLst>
              <a:ext uri="{FF2B5EF4-FFF2-40B4-BE49-F238E27FC236}">
                <a16:creationId xmlns:a16="http://schemas.microsoft.com/office/drawing/2014/main" id="{110E72F4-1B99-4241-98E4-F8AA66022F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3761718"/>
            <a:ext cx="1181203" cy="366728"/>
          </a:xfrm>
          <a:prstGeom prst="rect">
            <a:avLst/>
          </a:prstGeom>
        </p:spPr>
      </p:pic>
      <p:pic>
        <p:nvPicPr>
          <p:cNvPr id="221" name="Imagem 220">
            <a:extLst>
              <a:ext uri="{FF2B5EF4-FFF2-40B4-BE49-F238E27FC236}">
                <a16:creationId xmlns:a16="http://schemas.microsoft.com/office/drawing/2014/main" id="{D7C8CBB0-A9C6-48EA-960D-C9C79DD177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4172779"/>
            <a:ext cx="1181203" cy="366728"/>
          </a:xfrm>
          <a:prstGeom prst="rect">
            <a:avLst/>
          </a:prstGeom>
        </p:spPr>
      </p:pic>
      <p:pic>
        <p:nvPicPr>
          <p:cNvPr id="222" name="Imagem 221">
            <a:extLst>
              <a:ext uri="{FF2B5EF4-FFF2-40B4-BE49-F238E27FC236}">
                <a16:creationId xmlns:a16="http://schemas.microsoft.com/office/drawing/2014/main" id="{CF00C759-4CA8-4412-9D5C-8A3F2163360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4583840"/>
            <a:ext cx="1181203" cy="366728"/>
          </a:xfrm>
          <a:prstGeom prst="rect">
            <a:avLst/>
          </a:prstGeom>
        </p:spPr>
      </p:pic>
      <p:pic>
        <p:nvPicPr>
          <p:cNvPr id="223" name="Imagem 222">
            <a:extLst>
              <a:ext uri="{FF2B5EF4-FFF2-40B4-BE49-F238E27FC236}">
                <a16:creationId xmlns:a16="http://schemas.microsoft.com/office/drawing/2014/main" id="{AC3F1105-2759-4CA0-A13C-EA1F565B59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4994901"/>
            <a:ext cx="1181203" cy="366728"/>
          </a:xfrm>
          <a:prstGeom prst="rect">
            <a:avLst/>
          </a:prstGeom>
        </p:spPr>
      </p:pic>
      <p:pic>
        <p:nvPicPr>
          <p:cNvPr id="224" name="Imagem 223">
            <a:extLst>
              <a:ext uri="{FF2B5EF4-FFF2-40B4-BE49-F238E27FC236}">
                <a16:creationId xmlns:a16="http://schemas.microsoft.com/office/drawing/2014/main" id="{AB21BE7A-F003-4E43-9F2B-C3077D427E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5405962"/>
            <a:ext cx="1181203" cy="366728"/>
          </a:xfrm>
          <a:prstGeom prst="rect">
            <a:avLst/>
          </a:prstGeom>
        </p:spPr>
      </p:pic>
      <p:pic>
        <p:nvPicPr>
          <p:cNvPr id="225" name="Imagem 224">
            <a:extLst>
              <a:ext uri="{FF2B5EF4-FFF2-40B4-BE49-F238E27FC236}">
                <a16:creationId xmlns:a16="http://schemas.microsoft.com/office/drawing/2014/main" id="{BED368FA-89B2-429C-B4CB-E34A0E6DBA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5817023"/>
            <a:ext cx="1181203" cy="366728"/>
          </a:xfrm>
          <a:prstGeom prst="rect">
            <a:avLst/>
          </a:prstGeom>
        </p:spPr>
      </p:pic>
      <p:pic>
        <p:nvPicPr>
          <p:cNvPr id="226" name="Imagem 225">
            <a:extLst>
              <a:ext uri="{FF2B5EF4-FFF2-40B4-BE49-F238E27FC236}">
                <a16:creationId xmlns:a16="http://schemas.microsoft.com/office/drawing/2014/main" id="{6EFEA573-A3E3-4654-A848-14CC917DA1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6228084"/>
            <a:ext cx="1181203" cy="366728"/>
          </a:xfrm>
          <a:prstGeom prst="rect">
            <a:avLst/>
          </a:prstGeom>
        </p:spPr>
      </p:pic>
      <p:pic>
        <p:nvPicPr>
          <p:cNvPr id="227" name="Imagem 226">
            <a:extLst>
              <a:ext uri="{FF2B5EF4-FFF2-40B4-BE49-F238E27FC236}">
                <a16:creationId xmlns:a16="http://schemas.microsoft.com/office/drawing/2014/main" id="{5684B4C6-547B-4352-A258-2C93A64CB8F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511" y="6639145"/>
            <a:ext cx="1181203" cy="366728"/>
          </a:xfrm>
          <a:prstGeom prst="rect">
            <a:avLst/>
          </a:prstGeom>
        </p:spPr>
      </p:pic>
      <p:pic>
        <p:nvPicPr>
          <p:cNvPr id="228" name="Imagem 227">
            <a:extLst>
              <a:ext uri="{FF2B5EF4-FFF2-40B4-BE49-F238E27FC236}">
                <a16:creationId xmlns:a16="http://schemas.microsoft.com/office/drawing/2014/main" id="{ABBE6DC7-30A8-4128-AB68-A4DFB1688C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468263"/>
            <a:ext cx="1181203" cy="366728"/>
          </a:xfrm>
          <a:prstGeom prst="rect">
            <a:avLst/>
          </a:prstGeom>
        </p:spPr>
      </p:pic>
      <p:pic>
        <p:nvPicPr>
          <p:cNvPr id="229" name="Imagem 228">
            <a:extLst>
              <a:ext uri="{FF2B5EF4-FFF2-40B4-BE49-F238E27FC236}">
                <a16:creationId xmlns:a16="http://schemas.microsoft.com/office/drawing/2014/main" id="{004E4EAA-7608-4B21-8102-CDB0A1EAFD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879324"/>
            <a:ext cx="1181203" cy="366728"/>
          </a:xfrm>
          <a:prstGeom prst="rect">
            <a:avLst/>
          </a:prstGeom>
        </p:spPr>
      </p:pic>
      <p:pic>
        <p:nvPicPr>
          <p:cNvPr id="230" name="Imagem 229">
            <a:extLst>
              <a:ext uri="{FF2B5EF4-FFF2-40B4-BE49-F238E27FC236}">
                <a16:creationId xmlns:a16="http://schemas.microsoft.com/office/drawing/2014/main" id="{5FE9BEA2-80F4-405B-888F-A333B0F9F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1290385"/>
            <a:ext cx="1181203" cy="366728"/>
          </a:xfrm>
          <a:prstGeom prst="rect">
            <a:avLst/>
          </a:prstGeom>
        </p:spPr>
      </p:pic>
      <p:pic>
        <p:nvPicPr>
          <p:cNvPr id="231" name="Imagem 230">
            <a:extLst>
              <a:ext uri="{FF2B5EF4-FFF2-40B4-BE49-F238E27FC236}">
                <a16:creationId xmlns:a16="http://schemas.microsoft.com/office/drawing/2014/main" id="{143C2C21-9F8B-4406-B91D-7467D8EE6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1701446"/>
            <a:ext cx="1181203" cy="366728"/>
          </a:xfrm>
          <a:prstGeom prst="rect">
            <a:avLst/>
          </a:prstGeom>
        </p:spPr>
      </p:pic>
      <p:pic>
        <p:nvPicPr>
          <p:cNvPr id="232" name="Imagem 231">
            <a:extLst>
              <a:ext uri="{FF2B5EF4-FFF2-40B4-BE49-F238E27FC236}">
                <a16:creationId xmlns:a16="http://schemas.microsoft.com/office/drawing/2014/main" id="{C04C3872-F087-45F5-9456-3F703D95CC4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2112507"/>
            <a:ext cx="1181203" cy="366728"/>
          </a:xfrm>
          <a:prstGeom prst="rect">
            <a:avLst/>
          </a:prstGeom>
        </p:spPr>
      </p:pic>
      <p:pic>
        <p:nvPicPr>
          <p:cNvPr id="233" name="Imagem 232">
            <a:extLst>
              <a:ext uri="{FF2B5EF4-FFF2-40B4-BE49-F238E27FC236}">
                <a16:creationId xmlns:a16="http://schemas.microsoft.com/office/drawing/2014/main" id="{6C3DF0D4-9DBA-424F-949B-CB36666550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2523568"/>
            <a:ext cx="1181203" cy="366728"/>
          </a:xfrm>
          <a:prstGeom prst="rect">
            <a:avLst/>
          </a:prstGeom>
        </p:spPr>
      </p:pic>
      <p:pic>
        <p:nvPicPr>
          <p:cNvPr id="234" name="Imagem 233">
            <a:extLst>
              <a:ext uri="{FF2B5EF4-FFF2-40B4-BE49-F238E27FC236}">
                <a16:creationId xmlns:a16="http://schemas.microsoft.com/office/drawing/2014/main" id="{610FEF78-050D-4B7C-BE36-A7BEDDB6516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2934629"/>
            <a:ext cx="1181203" cy="366728"/>
          </a:xfrm>
          <a:prstGeom prst="rect">
            <a:avLst/>
          </a:prstGeom>
        </p:spPr>
      </p:pic>
      <p:pic>
        <p:nvPicPr>
          <p:cNvPr id="235" name="Imagem 234">
            <a:extLst>
              <a:ext uri="{FF2B5EF4-FFF2-40B4-BE49-F238E27FC236}">
                <a16:creationId xmlns:a16="http://schemas.microsoft.com/office/drawing/2014/main" id="{2CF011D1-7929-4604-8169-DB74EC62D2D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3345690"/>
            <a:ext cx="1181203" cy="366728"/>
          </a:xfrm>
          <a:prstGeom prst="rect">
            <a:avLst/>
          </a:prstGeom>
        </p:spPr>
      </p:pic>
      <p:pic>
        <p:nvPicPr>
          <p:cNvPr id="236" name="Imagem 235">
            <a:extLst>
              <a:ext uri="{FF2B5EF4-FFF2-40B4-BE49-F238E27FC236}">
                <a16:creationId xmlns:a16="http://schemas.microsoft.com/office/drawing/2014/main" id="{0C1FCCDD-8527-4702-8081-5C8DE757E0F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3756751"/>
            <a:ext cx="1181203" cy="366728"/>
          </a:xfrm>
          <a:prstGeom prst="rect">
            <a:avLst/>
          </a:prstGeom>
        </p:spPr>
      </p:pic>
      <p:pic>
        <p:nvPicPr>
          <p:cNvPr id="237" name="Imagem 236">
            <a:extLst>
              <a:ext uri="{FF2B5EF4-FFF2-40B4-BE49-F238E27FC236}">
                <a16:creationId xmlns:a16="http://schemas.microsoft.com/office/drawing/2014/main" id="{87EF6B23-462A-49C0-8C7C-E2C673FB709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4167812"/>
            <a:ext cx="1181203" cy="366728"/>
          </a:xfrm>
          <a:prstGeom prst="rect">
            <a:avLst/>
          </a:prstGeom>
        </p:spPr>
      </p:pic>
      <p:pic>
        <p:nvPicPr>
          <p:cNvPr id="238" name="Imagem 237">
            <a:extLst>
              <a:ext uri="{FF2B5EF4-FFF2-40B4-BE49-F238E27FC236}">
                <a16:creationId xmlns:a16="http://schemas.microsoft.com/office/drawing/2014/main" id="{DF845ED6-DF91-47F1-9BA9-0B1FD69127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4578873"/>
            <a:ext cx="1181203" cy="366728"/>
          </a:xfrm>
          <a:prstGeom prst="rect">
            <a:avLst/>
          </a:prstGeom>
        </p:spPr>
      </p:pic>
      <p:pic>
        <p:nvPicPr>
          <p:cNvPr id="239" name="Imagem 238">
            <a:extLst>
              <a:ext uri="{FF2B5EF4-FFF2-40B4-BE49-F238E27FC236}">
                <a16:creationId xmlns:a16="http://schemas.microsoft.com/office/drawing/2014/main" id="{577F624D-796A-4797-814D-5BE5E6A68C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4989934"/>
            <a:ext cx="1181203" cy="366728"/>
          </a:xfrm>
          <a:prstGeom prst="rect">
            <a:avLst/>
          </a:prstGeom>
        </p:spPr>
      </p:pic>
      <p:pic>
        <p:nvPicPr>
          <p:cNvPr id="240" name="Imagem 239">
            <a:extLst>
              <a:ext uri="{FF2B5EF4-FFF2-40B4-BE49-F238E27FC236}">
                <a16:creationId xmlns:a16="http://schemas.microsoft.com/office/drawing/2014/main" id="{2EEDE268-4E78-417B-8F17-644D3B81C5D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5400995"/>
            <a:ext cx="1181203" cy="366728"/>
          </a:xfrm>
          <a:prstGeom prst="rect">
            <a:avLst/>
          </a:prstGeom>
        </p:spPr>
      </p:pic>
      <p:pic>
        <p:nvPicPr>
          <p:cNvPr id="241" name="Imagem 240">
            <a:extLst>
              <a:ext uri="{FF2B5EF4-FFF2-40B4-BE49-F238E27FC236}">
                <a16:creationId xmlns:a16="http://schemas.microsoft.com/office/drawing/2014/main" id="{1BAF97E8-186C-4551-8126-EE3C154301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5812056"/>
            <a:ext cx="1181203" cy="366728"/>
          </a:xfrm>
          <a:prstGeom prst="rect">
            <a:avLst/>
          </a:prstGeom>
        </p:spPr>
      </p:pic>
      <p:pic>
        <p:nvPicPr>
          <p:cNvPr id="242" name="Imagem 241">
            <a:extLst>
              <a:ext uri="{FF2B5EF4-FFF2-40B4-BE49-F238E27FC236}">
                <a16:creationId xmlns:a16="http://schemas.microsoft.com/office/drawing/2014/main" id="{A906B4A1-F243-4D0F-98D3-7138A228569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6223117"/>
            <a:ext cx="1181203" cy="366728"/>
          </a:xfrm>
          <a:prstGeom prst="rect">
            <a:avLst/>
          </a:prstGeom>
        </p:spPr>
      </p:pic>
      <p:pic>
        <p:nvPicPr>
          <p:cNvPr id="243" name="Imagem 242">
            <a:extLst>
              <a:ext uri="{FF2B5EF4-FFF2-40B4-BE49-F238E27FC236}">
                <a16:creationId xmlns:a16="http://schemas.microsoft.com/office/drawing/2014/main" id="{DE12386E-CDAA-4ECF-B114-FA9CC62867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367" y="6634178"/>
            <a:ext cx="1181203" cy="366728"/>
          </a:xfrm>
          <a:prstGeom prst="rect">
            <a:avLst/>
          </a:prstGeom>
        </p:spPr>
      </p:pic>
      <p:pic>
        <p:nvPicPr>
          <p:cNvPr id="244" name="Imagem 243">
            <a:extLst>
              <a:ext uri="{FF2B5EF4-FFF2-40B4-BE49-F238E27FC236}">
                <a16:creationId xmlns:a16="http://schemas.microsoft.com/office/drawing/2014/main" id="{9358841F-5AF8-454F-81C5-6A9F8C5C4E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81" y="6634178"/>
            <a:ext cx="1181203" cy="366728"/>
          </a:xfrm>
          <a:prstGeom prst="rect">
            <a:avLst/>
          </a:prstGeom>
        </p:spPr>
      </p:pic>
      <p:pic>
        <p:nvPicPr>
          <p:cNvPr id="245" name="Imagem 244">
            <a:extLst>
              <a:ext uri="{FF2B5EF4-FFF2-40B4-BE49-F238E27FC236}">
                <a16:creationId xmlns:a16="http://schemas.microsoft.com/office/drawing/2014/main" id="{A37F3307-A6D1-4847-84ED-89B54176FD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5937" y="6634178"/>
            <a:ext cx="1181203" cy="366728"/>
          </a:xfrm>
          <a:prstGeom prst="rect">
            <a:avLst/>
          </a:prstGeom>
        </p:spPr>
      </p:pic>
      <p:sp>
        <p:nvSpPr>
          <p:cNvPr id="246" name="CaixaDeTexto 245">
            <a:extLst>
              <a:ext uri="{FF2B5EF4-FFF2-40B4-BE49-F238E27FC236}">
                <a16:creationId xmlns:a16="http://schemas.microsoft.com/office/drawing/2014/main" id="{9930A23C-6622-4DA6-8249-8CE6A895DF4E}"/>
              </a:ext>
            </a:extLst>
          </p:cNvPr>
          <p:cNvSpPr txBox="1"/>
          <p:nvPr/>
        </p:nvSpPr>
        <p:spPr>
          <a:xfrm>
            <a:off x="553117" y="5076775"/>
            <a:ext cx="4257929" cy="1543499"/>
          </a:xfrm>
          <a:prstGeom prst="rect">
            <a:avLst/>
          </a:prstGeom>
          <a:solidFill>
            <a:schemeClr val="bg1"/>
          </a:solidFill>
          <a:ln>
            <a:noFill/>
          </a:ln>
        </p:spPr>
        <p:txBody>
          <a:bodyPr wrap="square" rtlCol="0">
            <a:spAutoFit/>
          </a:bodyPr>
          <a:lstStyle/>
          <a:p>
            <a:pPr algn="ctr">
              <a:defRPr/>
            </a:pPr>
            <a:r>
              <a:rPr lang="pt-BR" sz="1703" dirty="0">
                <a:ln>
                  <a:solidFill>
                    <a:srgbClr val="002060"/>
                  </a:solidFill>
                </a:ln>
                <a:solidFill>
                  <a:srgbClr val="002060"/>
                </a:solidFill>
                <a:latin typeface="Arial Black" panose="020B0A04020102020204" pitchFamily="34" charset="0"/>
              </a:rPr>
              <a:t>Só Aço Industrial Ltda</a:t>
            </a:r>
          </a:p>
          <a:p>
            <a:pPr algn="ctr">
              <a:defRPr/>
            </a:pPr>
            <a:r>
              <a:rPr lang="pt-BR" sz="1200" dirty="0">
                <a:ln>
                  <a:solidFill>
                    <a:srgbClr val="002060"/>
                  </a:solidFill>
                </a:ln>
                <a:solidFill>
                  <a:srgbClr val="002060"/>
                </a:solidFill>
              </a:rPr>
              <a:t>CNPJ: 04.041.754/0001-40</a:t>
            </a:r>
          </a:p>
          <a:p>
            <a:pPr algn="ctr">
              <a:defRPr/>
            </a:pPr>
            <a:r>
              <a:rPr lang="pt-BR" sz="1135" dirty="0">
                <a:ln>
                  <a:solidFill>
                    <a:srgbClr val="002060"/>
                  </a:solidFill>
                </a:ln>
                <a:solidFill>
                  <a:srgbClr val="002060"/>
                </a:solidFill>
                <a:latin typeface="Calibri"/>
              </a:rPr>
              <a:t>Av. Coletora Secundária, nº 9519 Bairro Pedra Miúda</a:t>
            </a:r>
          </a:p>
          <a:p>
            <a:pPr algn="ctr">
              <a:defRPr/>
            </a:pPr>
            <a:r>
              <a:rPr lang="pt-BR" sz="1135" dirty="0">
                <a:ln>
                  <a:solidFill>
                    <a:srgbClr val="002060"/>
                  </a:solidFill>
                </a:ln>
                <a:solidFill>
                  <a:srgbClr val="002060"/>
                </a:solidFill>
                <a:latin typeface="Calibri"/>
              </a:rPr>
              <a:t>Telefones: (86) 3219 1200/1300</a:t>
            </a:r>
          </a:p>
          <a:p>
            <a:pPr algn="ctr">
              <a:defRPr/>
            </a:pPr>
            <a:r>
              <a:rPr lang="pt-BR" sz="1135" dirty="0">
                <a:ln>
                  <a:solidFill>
                    <a:srgbClr val="002060"/>
                  </a:solidFill>
                </a:ln>
                <a:solidFill>
                  <a:srgbClr val="002060"/>
                </a:solidFill>
                <a:latin typeface="Calibri"/>
              </a:rPr>
              <a:t>Teresina – Piauí</a:t>
            </a:r>
          </a:p>
          <a:p>
            <a:pPr algn="ctr">
              <a:defRPr/>
            </a:pPr>
            <a:r>
              <a:rPr lang="pt-BR" sz="1135" dirty="0">
                <a:ln>
                  <a:solidFill>
                    <a:srgbClr val="002060"/>
                  </a:solidFill>
                </a:ln>
                <a:solidFill>
                  <a:srgbClr val="002060"/>
                </a:solidFill>
                <a:latin typeface="Calibri"/>
              </a:rPr>
              <a:t>Site: </a:t>
            </a:r>
            <a:r>
              <a:rPr lang="pt-BR" sz="1135" dirty="0">
                <a:ln>
                  <a:solidFill>
                    <a:srgbClr val="002060"/>
                  </a:solidFill>
                </a:ln>
                <a:solidFill>
                  <a:srgbClr val="002060"/>
                </a:solidFill>
                <a:latin typeface="Calibri"/>
                <a:hlinkClick r:id="rId5"/>
              </a:rPr>
              <a:t>www.soacoindustrial.com.br</a:t>
            </a:r>
            <a:endParaRPr lang="pt-BR" sz="1135" dirty="0">
              <a:ln>
                <a:solidFill>
                  <a:srgbClr val="002060"/>
                </a:solidFill>
              </a:ln>
              <a:solidFill>
                <a:srgbClr val="002060"/>
              </a:solidFill>
              <a:latin typeface="Calibri"/>
            </a:endParaRPr>
          </a:p>
          <a:p>
            <a:pPr algn="ctr">
              <a:defRPr/>
            </a:pPr>
            <a:r>
              <a:rPr lang="pt-BR" sz="1135" dirty="0">
                <a:ln>
                  <a:solidFill>
                    <a:srgbClr val="002060"/>
                  </a:solidFill>
                </a:ln>
                <a:solidFill>
                  <a:srgbClr val="002060"/>
                </a:solidFill>
                <a:latin typeface="Calibri"/>
              </a:rPr>
              <a:t>Ouvidoria/SAC: </a:t>
            </a:r>
            <a:r>
              <a:rPr lang="pt-BR" sz="1135" dirty="0">
                <a:ln>
                  <a:solidFill>
                    <a:srgbClr val="002060"/>
                  </a:solidFill>
                </a:ln>
                <a:solidFill>
                  <a:srgbClr val="002060"/>
                </a:solidFill>
                <a:latin typeface="Calibri"/>
                <a:hlinkClick r:id="rId6"/>
              </a:rPr>
              <a:t>sac@soacoindustrial.com.br</a:t>
            </a:r>
            <a:endParaRPr lang="pt-BR" sz="852" dirty="0">
              <a:ln>
                <a:solidFill>
                  <a:srgbClr val="002060"/>
                </a:solidFill>
              </a:ln>
              <a:solidFill>
                <a:srgbClr val="FF0000"/>
              </a:solidFill>
              <a:latin typeface="Calibri"/>
            </a:endParaRPr>
          </a:p>
          <a:p>
            <a:pPr algn="ctr">
              <a:defRPr/>
            </a:pPr>
            <a:r>
              <a:rPr lang="pt-BR" sz="852" dirty="0">
                <a:ln>
                  <a:solidFill>
                    <a:srgbClr val="002060"/>
                  </a:solidFill>
                </a:ln>
                <a:solidFill>
                  <a:srgbClr val="FF0000"/>
                </a:solidFill>
                <a:latin typeface="Calibri"/>
              </a:rPr>
              <a:t>MP-SA-0016 Rev.1</a:t>
            </a:r>
            <a:endParaRPr lang="pt-BR" sz="1135" dirty="0">
              <a:ln>
                <a:solidFill>
                  <a:srgbClr val="002060"/>
                </a:solidFill>
              </a:ln>
              <a:solidFill>
                <a:srgbClr val="002060"/>
              </a:solidFill>
              <a:latin typeface="Calibri"/>
            </a:endParaRPr>
          </a:p>
        </p:txBody>
      </p:sp>
      <p:sp>
        <p:nvSpPr>
          <p:cNvPr id="77" name="CaixaDeTexto 76">
            <a:extLst>
              <a:ext uri="{FF2B5EF4-FFF2-40B4-BE49-F238E27FC236}">
                <a16:creationId xmlns:a16="http://schemas.microsoft.com/office/drawing/2014/main" id="{C5843F64-696B-402C-B7AD-25A5C6F4AD29}"/>
              </a:ext>
            </a:extLst>
          </p:cNvPr>
          <p:cNvSpPr txBox="1"/>
          <p:nvPr/>
        </p:nvSpPr>
        <p:spPr>
          <a:xfrm>
            <a:off x="162081" y="139010"/>
            <a:ext cx="5040000" cy="338554"/>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1600" b="1" noProof="0" dirty="0">
                <a:solidFill>
                  <a:prstClr val="black"/>
                </a:solidFill>
                <a:latin typeface="Monda" pitchFamily="2" charset="0"/>
              </a:rPr>
              <a:t>FORNO PRP </a:t>
            </a:r>
            <a:endParaRPr kumimoji="0" lang="pt-BR" sz="1600" b="1" i="0" u="none" strike="noStrike" kern="1200" cap="none" spc="0" normalizeH="0" baseline="0" noProof="0" dirty="0">
              <a:ln>
                <a:noFill/>
              </a:ln>
              <a:solidFill>
                <a:prstClr val="black"/>
              </a:solidFill>
              <a:effectLst/>
              <a:uLnTx/>
              <a:uFillTx/>
              <a:latin typeface="Monda" pitchFamily="2" charset="0"/>
            </a:endParaRPr>
          </a:p>
        </p:txBody>
      </p:sp>
      <p:cxnSp>
        <p:nvCxnSpPr>
          <p:cNvPr id="78" name="Conector reto 77">
            <a:extLst>
              <a:ext uri="{FF2B5EF4-FFF2-40B4-BE49-F238E27FC236}">
                <a16:creationId xmlns:a16="http://schemas.microsoft.com/office/drawing/2014/main" id="{C162D0B9-25FD-4B31-8163-C15A2AE189E7}"/>
              </a:ext>
            </a:extLst>
          </p:cNvPr>
          <p:cNvCxnSpPr/>
          <p:nvPr/>
        </p:nvCxnSpPr>
        <p:spPr>
          <a:xfrm>
            <a:off x="36081" y="108223"/>
            <a:ext cx="5292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9" name="Conector reto 78">
            <a:extLst>
              <a:ext uri="{FF2B5EF4-FFF2-40B4-BE49-F238E27FC236}">
                <a16:creationId xmlns:a16="http://schemas.microsoft.com/office/drawing/2014/main" id="{251A52BF-A2B6-411C-83A5-A61A37C5CAFA}"/>
              </a:ext>
            </a:extLst>
          </p:cNvPr>
          <p:cNvCxnSpPr/>
          <p:nvPr/>
        </p:nvCxnSpPr>
        <p:spPr>
          <a:xfrm>
            <a:off x="36081" y="438529"/>
            <a:ext cx="5292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1029057"/>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9493</TotalTime>
  <Words>3196</Words>
  <Application>Microsoft Office PowerPoint</Application>
  <PresentationFormat>Personalizar</PresentationFormat>
  <Paragraphs>325</Paragraphs>
  <Slides>16</Slides>
  <Notes>1</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16</vt:i4>
      </vt:variant>
    </vt:vector>
  </HeadingPairs>
  <TitlesOfParts>
    <vt:vector size="22" baseType="lpstr">
      <vt:lpstr>Arial</vt:lpstr>
      <vt:lpstr>Arial Black</vt:lpstr>
      <vt:lpstr>Calibri</vt:lpstr>
      <vt:lpstr>Monda</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producaosoaco</dc:creator>
  <cp:lastModifiedBy>Eliel Lima</cp:lastModifiedBy>
  <cp:revision>811</cp:revision>
  <cp:lastPrinted>2020-05-26T10:41:04Z</cp:lastPrinted>
  <dcterms:created xsi:type="dcterms:W3CDTF">2018-12-03T13:41:48Z</dcterms:created>
  <dcterms:modified xsi:type="dcterms:W3CDTF">2021-12-16T13:56:37Z</dcterms:modified>
</cp:coreProperties>
</file>