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63" r:id="rId2"/>
    <p:sldId id="305" r:id="rId3"/>
    <p:sldId id="256" r:id="rId4"/>
    <p:sldId id="257" r:id="rId5"/>
    <p:sldId id="258" r:id="rId6"/>
    <p:sldId id="296" r:id="rId7"/>
    <p:sldId id="288" r:id="rId8"/>
    <p:sldId id="297" r:id="rId9"/>
    <p:sldId id="301" r:id="rId10"/>
    <p:sldId id="298" r:id="rId11"/>
    <p:sldId id="303" r:id="rId12"/>
    <p:sldId id="299" r:id="rId13"/>
    <p:sldId id="304" r:id="rId14"/>
    <p:sldId id="302" r:id="rId15"/>
    <p:sldId id="261" r:id="rId16"/>
    <p:sldId id="281" r:id="rId17"/>
  </p:sldIdLst>
  <p:sldSz cx="5364163" cy="7561263"/>
  <p:notesSz cx="6858000" cy="9945688"/>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2">
          <p15:clr>
            <a:srgbClr val="A4A3A4"/>
          </p15:clr>
        </p15:guide>
        <p15:guide id="2" pos="169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Estilo Mé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Estilo Mé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50" autoAdjust="0"/>
    <p:restoredTop sz="94660"/>
  </p:normalViewPr>
  <p:slideViewPr>
    <p:cSldViewPr>
      <p:cViewPr varScale="1">
        <p:scale>
          <a:sx n="104" d="100"/>
          <a:sy n="104" d="100"/>
        </p:scale>
        <p:origin x="3450" y="108"/>
      </p:cViewPr>
      <p:guideLst>
        <p:guide orient="horz" pos="2382"/>
        <p:guide pos="1690"/>
      </p:guideLst>
    </p:cSldViewPr>
  </p:slideViewPr>
  <p:outlineViewPr>
    <p:cViewPr>
      <p:scale>
        <a:sx n="33" d="100"/>
        <a:sy n="33" d="100"/>
      </p:scale>
      <p:origin x="0" y="-30"/>
    </p:cViewPr>
  </p:outlineViewPr>
  <p:notesTextViewPr>
    <p:cViewPr>
      <p:scale>
        <a:sx n="1" d="1"/>
        <a:sy n="1" d="1"/>
      </p:scale>
      <p:origin x="0" y="0"/>
    </p:cViewPr>
  </p:notesTextViewPr>
  <p:sorterViewPr>
    <p:cViewPr>
      <p:scale>
        <a:sx n="200" d="100"/>
        <a:sy n="200" d="100"/>
      </p:scale>
      <p:origin x="0" y="-10326"/>
    </p:cViewPr>
  </p:sorterViewPr>
  <p:notesViewPr>
    <p:cSldViewPr>
      <p:cViewPr varScale="1">
        <p:scale>
          <a:sx n="48" d="100"/>
          <a:sy n="48" d="100"/>
        </p:scale>
        <p:origin x="2928"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15FE29EC-A449-459A-9060-4B54D8E8FC50}"/>
              </a:ext>
            </a:extLst>
          </p:cNvPr>
          <p:cNvSpPr>
            <a:spLocks noGrp="1"/>
          </p:cNvSpPr>
          <p:nvPr>
            <p:ph type="hdr" sz="quarter"/>
          </p:nvPr>
        </p:nvSpPr>
        <p:spPr>
          <a:xfrm>
            <a:off x="1" y="1"/>
            <a:ext cx="2971800" cy="499011"/>
          </a:xfrm>
          <a:prstGeom prst="rect">
            <a:avLst/>
          </a:prstGeom>
        </p:spPr>
        <p:txBody>
          <a:bodyPr vert="horz" lIns="96017" tIns="48008" rIns="96017" bIns="48008" rtlCol="0"/>
          <a:lstStyle>
            <a:lvl1pPr algn="l">
              <a:defRPr sz="1300"/>
            </a:lvl1pPr>
          </a:lstStyle>
          <a:p>
            <a:endParaRPr lang="pt-BR"/>
          </a:p>
        </p:txBody>
      </p:sp>
      <p:sp>
        <p:nvSpPr>
          <p:cNvPr id="3" name="Espaço Reservado para Data 2">
            <a:extLst>
              <a:ext uri="{FF2B5EF4-FFF2-40B4-BE49-F238E27FC236}">
                <a16:creationId xmlns:a16="http://schemas.microsoft.com/office/drawing/2014/main" id="{3ED8170D-9D8C-4581-A0F7-7847596EF29F}"/>
              </a:ext>
            </a:extLst>
          </p:cNvPr>
          <p:cNvSpPr>
            <a:spLocks noGrp="1"/>
          </p:cNvSpPr>
          <p:nvPr>
            <p:ph type="dt" sz="quarter" idx="1"/>
          </p:nvPr>
        </p:nvSpPr>
        <p:spPr>
          <a:xfrm>
            <a:off x="3884613" y="1"/>
            <a:ext cx="2971800" cy="499011"/>
          </a:xfrm>
          <a:prstGeom prst="rect">
            <a:avLst/>
          </a:prstGeom>
        </p:spPr>
        <p:txBody>
          <a:bodyPr vert="horz" lIns="96017" tIns="48008" rIns="96017" bIns="48008" rtlCol="0"/>
          <a:lstStyle>
            <a:lvl1pPr algn="r">
              <a:defRPr sz="1300"/>
            </a:lvl1pPr>
          </a:lstStyle>
          <a:p>
            <a:fld id="{47E021E5-30EC-43B9-B06C-1C1AB5557424}" type="datetimeFigureOut">
              <a:rPr lang="pt-BR" smtClean="0"/>
              <a:t>12/05/2021</a:t>
            </a:fld>
            <a:endParaRPr lang="pt-BR"/>
          </a:p>
        </p:txBody>
      </p:sp>
      <p:sp>
        <p:nvSpPr>
          <p:cNvPr id="4" name="Espaço Reservado para Rodapé 3">
            <a:extLst>
              <a:ext uri="{FF2B5EF4-FFF2-40B4-BE49-F238E27FC236}">
                <a16:creationId xmlns:a16="http://schemas.microsoft.com/office/drawing/2014/main" id="{7FBFC128-3C06-4746-A700-C981C43F75A7}"/>
              </a:ext>
            </a:extLst>
          </p:cNvPr>
          <p:cNvSpPr>
            <a:spLocks noGrp="1"/>
          </p:cNvSpPr>
          <p:nvPr>
            <p:ph type="ftr" sz="quarter" idx="2"/>
          </p:nvPr>
        </p:nvSpPr>
        <p:spPr>
          <a:xfrm>
            <a:off x="1" y="9446679"/>
            <a:ext cx="2971800" cy="499010"/>
          </a:xfrm>
          <a:prstGeom prst="rect">
            <a:avLst/>
          </a:prstGeom>
        </p:spPr>
        <p:txBody>
          <a:bodyPr vert="horz" lIns="96017" tIns="48008" rIns="96017" bIns="48008" rtlCol="0" anchor="b"/>
          <a:lstStyle>
            <a:lvl1pPr algn="l">
              <a:defRPr sz="1300"/>
            </a:lvl1pPr>
          </a:lstStyle>
          <a:p>
            <a:endParaRPr lang="pt-BR"/>
          </a:p>
        </p:txBody>
      </p:sp>
      <p:sp>
        <p:nvSpPr>
          <p:cNvPr id="5" name="Espaço Reservado para Número de Slide 4">
            <a:extLst>
              <a:ext uri="{FF2B5EF4-FFF2-40B4-BE49-F238E27FC236}">
                <a16:creationId xmlns:a16="http://schemas.microsoft.com/office/drawing/2014/main" id="{318AA8DE-656B-4F1E-81F9-6EC9B0724169}"/>
              </a:ext>
            </a:extLst>
          </p:cNvPr>
          <p:cNvSpPr>
            <a:spLocks noGrp="1"/>
          </p:cNvSpPr>
          <p:nvPr>
            <p:ph type="sldNum" sz="quarter" idx="3"/>
          </p:nvPr>
        </p:nvSpPr>
        <p:spPr>
          <a:xfrm>
            <a:off x="3884613" y="9446679"/>
            <a:ext cx="2971800" cy="499010"/>
          </a:xfrm>
          <a:prstGeom prst="rect">
            <a:avLst/>
          </a:prstGeom>
        </p:spPr>
        <p:txBody>
          <a:bodyPr vert="horz" lIns="96017" tIns="48008" rIns="96017" bIns="48008" rtlCol="0" anchor="b"/>
          <a:lstStyle>
            <a:lvl1pPr algn="r">
              <a:defRPr sz="1300"/>
            </a:lvl1pPr>
          </a:lstStyle>
          <a:p>
            <a:fld id="{0765AAC2-2D4D-42F3-94F7-30B6B8673DF9}" type="slidenum">
              <a:rPr lang="pt-BR" smtClean="0"/>
              <a:t>‹nº›</a:t>
            </a:fld>
            <a:endParaRPr lang="pt-BR"/>
          </a:p>
        </p:txBody>
      </p:sp>
    </p:spTree>
    <p:extLst>
      <p:ext uri="{BB962C8B-B14F-4D97-AF65-F5344CB8AC3E}">
        <p14:creationId xmlns:p14="http://schemas.microsoft.com/office/powerpoint/2010/main" val="5942473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1" y="1"/>
            <a:ext cx="2971800" cy="499011"/>
          </a:xfrm>
          <a:prstGeom prst="rect">
            <a:avLst/>
          </a:prstGeom>
        </p:spPr>
        <p:txBody>
          <a:bodyPr vert="horz" lIns="96017" tIns="48008" rIns="96017" bIns="48008" rtlCol="0"/>
          <a:lstStyle>
            <a:lvl1pPr algn="l">
              <a:defRPr sz="1300"/>
            </a:lvl1pPr>
          </a:lstStyle>
          <a:p>
            <a:endParaRPr lang="pt-BR"/>
          </a:p>
        </p:txBody>
      </p:sp>
      <p:sp>
        <p:nvSpPr>
          <p:cNvPr id="3" name="Espaço Reservado para Data 2"/>
          <p:cNvSpPr>
            <a:spLocks noGrp="1"/>
          </p:cNvSpPr>
          <p:nvPr>
            <p:ph type="dt" idx="1"/>
          </p:nvPr>
        </p:nvSpPr>
        <p:spPr>
          <a:xfrm>
            <a:off x="3884613" y="1"/>
            <a:ext cx="2971800" cy="499011"/>
          </a:xfrm>
          <a:prstGeom prst="rect">
            <a:avLst/>
          </a:prstGeom>
        </p:spPr>
        <p:txBody>
          <a:bodyPr vert="horz" lIns="96017" tIns="48008" rIns="96017" bIns="48008" rtlCol="0"/>
          <a:lstStyle>
            <a:lvl1pPr algn="r">
              <a:defRPr sz="1300"/>
            </a:lvl1pPr>
          </a:lstStyle>
          <a:p>
            <a:fld id="{1A06E57C-08D1-4570-AE96-6A5B42D6AF6F}" type="datetimeFigureOut">
              <a:rPr lang="pt-BR" smtClean="0"/>
              <a:t>12/05/2021</a:t>
            </a:fld>
            <a:endParaRPr lang="pt-BR"/>
          </a:p>
        </p:txBody>
      </p:sp>
      <p:sp>
        <p:nvSpPr>
          <p:cNvPr id="4" name="Espaço Reservado para Imagem de Slide 3"/>
          <p:cNvSpPr>
            <a:spLocks noGrp="1" noRot="1" noChangeAspect="1"/>
          </p:cNvSpPr>
          <p:nvPr>
            <p:ph type="sldImg" idx="2"/>
          </p:nvPr>
        </p:nvSpPr>
        <p:spPr>
          <a:xfrm>
            <a:off x="2238375" y="1243013"/>
            <a:ext cx="2381250" cy="3355975"/>
          </a:xfrm>
          <a:prstGeom prst="rect">
            <a:avLst/>
          </a:prstGeom>
          <a:noFill/>
          <a:ln w="12700">
            <a:solidFill>
              <a:prstClr val="black"/>
            </a:solidFill>
          </a:ln>
        </p:spPr>
        <p:txBody>
          <a:bodyPr vert="horz" lIns="96017" tIns="48008" rIns="96017" bIns="48008" rtlCol="0" anchor="ctr"/>
          <a:lstStyle/>
          <a:p>
            <a:endParaRPr lang="pt-BR"/>
          </a:p>
        </p:txBody>
      </p:sp>
      <p:sp>
        <p:nvSpPr>
          <p:cNvPr id="5" name="Espaço Reservado para Anotações 4"/>
          <p:cNvSpPr>
            <a:spLocks noGrp="1"/>
          </p:cNvSpPr>
          <p:nvPr>
            <p:ph type="body" sz="quarter" idx="3"/>
          </p:nvPr>
        </p:nvSpPr>
        <p:spPr>
          <a:xfrm>
            <a:off x="685800" y="4786362"/>
            <a:ext cx="5486400" cy="3916115"/>
          </a:xfrm>
          <a:prstGeom prst="rect">
            <a:avLst/>
          </a:prstGeom>
        </p:spPr>
        <p:txBody>
          <a:bodyPr vert="horz" lIns="96017" tIns="48008" rIns="96017" bIns="48008"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1" y="9446679"/>
            <a:ext cx="2971800" cy="499010"/>
          </a:xfrm>
          <a:prstGeom prst="rect">
            <a:avLst/>
          </a:prstGeom>
        </p:spPr>
        <p:txBody>
          <a:bodyPr vert="horz" lIns="96017" tIns="48008" rIns="96017" bIns="48008" rtlCol="0" anchor="b"/>
          <a:lstStyle>
            <a:lvl1pPr algn="l">
              <a:defRPr sz="1300"/>
            </a:lvl1pPr>
          </a:lstStyle>
          <a:p>
            <a:endParaRPr lang="pt-BR"/>
          </a:p>
        </p:txBody>
      </p:sp>
      <p:sp>
        <p:nvSpPr>
          <p:cNvPr id="7" name="Espaço Reservado para Número de Slide 6"/>
          <p:cNvSpPr>
            <a:spLocks noGrp="1"/>
          </p:cNvSpPr>
          <p:nvPr>
            <p:ph type="sldNum" sz="quarter" idx="5"/>
          </p:nvPr>
        </p:nvSpPr>
        <p:spPr>
          <a:xfrm>
            <a:off x="3884613" y="9446679"/>
            <a:ext cx="2971800" cy="499010"/>
          </a:xfrm>
          <a:prstGeom prst="rect">
            <a:avLst/>
          </a:prstGeom>
        </p:spPr>
        <p:txBody>
          <a:bodyPr vert="horz" lIns="96017" tIns="48008" rIns="96017" bIns="48008" rtlCol="0" anchor="b"/>
          <a:lstStyle>
            <a:lvl1pPr algn="r">
              <a:defRPr sz="1300"/>
            </a:lvl1pPr>
          </a:lstStyle>
          <a:p>
            <a:fld id="{EF140256-97A5-4D1E-A1B2-2DA962A9F564}" type="slidenum">
              <a:rPr lang="pt-BR" smtClean="0"/>
              <a:t>‹nº›</a:t>
            </a:fld>
            <a:endParaRPr lang="pt-BR"/>
          </a:p>
        </p:txBody>
      </p:sp>
    </p:spTree>
    <p:extLst>
      <p:ext uri="{BB962C8B-B14F-4D97-AF65-F5344CB8AC3E}">
        <p14:creationId xmlns:p14="http://schemas.microsoft.com/office/powerpoint/2010/main" val="2372487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1993900" y="815975"/>
            <a:ext cx="2898775" cy="4087813"/>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defTabSz="1095260">
              <a:defRPr/>
            </a:pPr>
            <a:fld id="{DAD5CC9F-21B8-43E0-9ED1-B2EDFE01E557}" type="slidenum">
              <a:rPr lang="pt-BR">
                <a:solidFill>
                  <a:prstClr val="black"/>
                </a:solidFill>
                <a:latin typeface="Calibri"/>
              </a:rPr>
              <a:pPr defTabSz="1095260">
                <a:defRPr/>
              </a:pPr>
              <a:t>16</a:t>
            </a:fld>
            <a:endParaRPr lang="pt-BR">
              <a:solidFill>
                <a:prstClr val="black"/>
              </a:solidFill>
              <a:latin typeface="Calibri"/>
            </a:endParaRPr>
          </a:p>
        </p:txBody>
      </p:sp>
    </p:spTree>
    <p:extLst>
      <p:ext uri="{BB962C8B-B14F-4D97-AF65-F5344CB8AC3E}">
        <p14:creationId xmlns:p14="http://schemas.microsoft.com/office/powerpoint/2010/main" val="3171675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402312" y="2348893"/>
            <a:ext cx="4559539" cy="1620771"/>
          </a:xfrm>
        </p:spPr>
        <p:txBody>
          <a:bodyPr/>
          <a:lstStyle/>
          <a:p>
            <a:r>
              <a:rPr lang="pt-BR"/>
              <a:t>Clique para editar o título mestre</a:t>
            </a:r>
          </a:p>
        </p:txBody>
      </p:sp>
      <p:sp>
        <p:nvSpPr>
          <p:cNvPr id="3" name="Subtítulo 2"/>
          <p:cNvSpPr>
            <a:spLocks noGrp="1"/>
          </p:cNvSpPr>
          <p:nvPr>
            <p:ph type="subTitle" idx="1"/>
          </p:nvPr>
        </p:nvSpPr>
        <p:spPr>
          <a:xfrm>
            <a:off x="804625" y="4284716"/>
            <a:ext cx="3754914" cy="193232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12/05/2021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25019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12/05/2021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194087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423732" y="4858812"/>
            <a:ext cx="4559539" cy="1501751"/>
          </a:xfrm>
        </p:spPr>
        <p:txBody>
          <a:bodyPr anchor="t"/>
          <a:lstStyle>
            <a:lvl1pPr algn="l">
              <a:defRPr sz="4000" b="1" cap="all"/>
            </a:lvl1pPr>
          </a:lstStyle>
          <a:p>
            <a:r>
              <a:rPr lang="pt-BR"/>
              <a:t>Clique para editar o título mestre</a:t>
            </a:r>
          </a:p>
        </p:txBody>
      </p:sp>
      <p:sp>
        <p:nvSpPr>
          <p:cNvPr id="3" name="Espaço Reservado para Texto 2"/>
          <p:cNvSpPr>
            <a:spLocks noGrp="1"/>
          </p:cNvSpPr>
          <p:nvPr>
            <p:ph type="body" idx="1"/>
          </p:nvPr>
        </p:nvSpPr>
        <p:spPr>
          <a:xfrm>
            <a:off x="423732" y="3204786"/>
            <a:ext cx="4559539" cy="165402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12/05/2021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747319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268208"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2726783" y="1764295"/>
            <a:ext cx="2369172" cy="499008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658B1440-2FAC-4D08-BF0E-B78FB96B65A9}" type="datetimeFigureOut">
              <a:rPr lang="pt-BR" smtClean="0"/>
              <a:t>12/05/2021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77033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268208" y="1692533"/>
            <a:ext cx="2370104"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268208" y="2397901"/>
            <a:ext cx="2370104"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2724920" y="1692533"/>
            <a:ext cx="2371035" cy="70536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2724920" y="2397901"/>
            <a:ext cx="2371035" cy="435647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658B1440-2FAC-4D08-BF0E-B78FB96B65A9}" type="datetimeFigureOut">
              <a:rPr lang="pt-BR" smtClean="0"/>
              <a:t>12/05/2021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40547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658B1440-2FAC-4D08-BF0E-B78FB96B65A9}" type="datetimeFigureOut">
              <a:rPr lang="pt-BR" smtClean="0"/>
              <a:t>12/05/2021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534050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58B1440-2FAC-4D08-BF0E-B78FB96B65A9}" type="datetimeFigureOut">
              <a:rPr lang="pt-BR" smtClean="0"/>
              <a:t>12/05/2021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207221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68208" y="301050"/>
            <a:ext cx="1764773" cy="1281214"/>
          </a:xfrm>
        </p:spPr>
        <p:txBody>
          <a:bodyPr anchor="b"/>
          <a:lstStyle>
            <a:lvl1pPr algn="l">
              <a:defRPr sz="2000" b="1"/>
            </a:lvl1pPr>
          </a:lstStyle>
          <a:p>
            <a:r>
              <a:rPr lang="pt-BR"/>
              <a:t>Clique para editar o título mestre</a:t>
            </a:r>
          </a:p>
        </p:txBody>
      </p:sp>
      <p:sp>
        <p:nvSpPr>
          <p:cNvPr id="3" name="Espaço Reservado para Conteúdo 2"/>
          <p:cNvSpPr>
            <a:spLocks noGrp="1"/>
          </p:cNvSpPr>
          <p:nvPr>
            <p:ph idx="1"/>
          </p:nvPr>
        </p:nvSpPr>
        <p:spPr>
          <a:xfrm>
            <a:off x="2097239" y="301051"/>
            <a:ext cx="2998716" cy="645332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268208" y="1582265"/>
            <a:ext cx="1764773" cy="517211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58B1440-2FAC-4D08-BF0E-B78FB96B65A9}" type="datetimeFigureOut">
              <a:rPr lang="pt-BR" smtClean="0"/>
              <a:t>12/05/2021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76338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051413" y="5292884"/>
            <a:ext cx="3218498" cy="624855"/>
          </a:xfrm>
        </p:spPr>
        <p:txBody>
          <a:bodyPr anchor="b"/>
          <a:lstStyle>
            <a:lvl1pPr algn="l">
              <a:defRPr sz="2000" b="1"/>
            </a:lvl1pPr>
          </a:lstStyle>
          <a:p>
            <a:r>
              <a:rPr lang="pt-BR"/>
              <a:t>Clique para editar o título mestre</a:t>
            </a:r>
          </a:p>
        </p:txBody>
      </p:sp>
      <p:sp>
        <p:nvSpPr>
          <p:cNvPr id="3" name="Espaço Reservado para Imagem 2"/>
          <p:cNvSpPr>
            <a:spLocks noGrp="1"/>
          </p:cNvSpPr>
          <p:nvPr>
            <p:ph type="pic" idx="1"/>
          </p:nvPr>
        </p:nvSpPr>
        <p:spPr>
          <a:xfrm>
            <a:off x="1051413" y="675613"/>
            <a:ext cx="3218498" cy="45367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051413" y="5917739"/>
            <a:ext cx="3218498" cy="88739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58B1440-2FAC-4D08-BF0E-B78FB96B65A9}" type="datetimeFigureOut">
              <a:rPr lang="pt-BR" smtClean="0"/>
              <a:t>12/05/2021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16286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12/05/2021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37972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3889018" y="302802"/>
            <a:ext cx="1206937" cy="645157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268208" y="302802"/>
            <a:ext cx="3531407" cy="645157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658B1440-2FAC-4D08-BF0E-B78FB96B65A9}" type="datetimeFigureOut">
              <a:rPr lang="pt-BR" smtClean="0"/>
              <a:t>12/05/2021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5583268C-60FE-4333-B092-1A38FFBDC3D2}" type="slidenum">
              <a:rPr lang="pt-BR" smtClean="0"/>
              <a:t>‹nº›</a:t>
            </a:fld>
            <a:endParaRPr lang="pt-BR"/>
          </a:p>
        </p:txBody>
      </p:sp>
    </p:spTree>
    <p:extLst>
      <p:ext uri="{BB962C8B-B14F-4D97-AF65-F5344CB8AC3E}">
        <p14:creationId xmlns:p14="http://schemas.microsoft.com/office/powerpoint/2010/main" val="3894740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268208" y="302801"/>
            <a:ext cx="4827747" cy="1260211"/>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268208" y="1764295"/>
            <a:ext cx="4827747" cy="4990084"/>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268208" y="7008171"/>
            <a:ext cx="1251638" cy="402567"/>
          </a:xfrm>
          <a:prstGeom prst="rect">
            <a:avLst/>
          </a:prstGeom>
        </p:spPr>
        <p:txBody>
          <a:bodyPr vert="horz" lIns="91440" tIns="45720" rIns="91440" bIns="45720" rtlCol="0" anchor="ctr"/>
          <a:lstStyle>
            <a:lvl1pPr algn="l">
              <a:defRPr sz="1200">
                <a:solidFill>
                  <a:schemeClr val="tx1">
                    <a:tint val="75000"/>
                  </a:schemeClr>
                </a:solidFill>
              </a:defRPr>
            </a:lvl1pPr>
          </a:lstStyle>
          <a:p>
            <a:fld id="{658B1440-2FAC-4D08-BF0E-B78FB96B65A9}" type="datetimeFigureOut">
              <a:rPr lang="pt-BR" smtClean="0"/>
              <a:t>12/05/2021</a:t>
            </a:fld>
            <a:endParaRPr lang="pt-BR"/>
          </a:p>
        </p:txBody>
      </p:sp>
      <p:sp>
        <p:nvSpPr>
          <p:cNvPr id="5" name="Espaço Reservado para Rodapé 4"/>
          <p:cNvSpPr>
            <a:spLocks noGrp="1"/>
          </p:cNvSpPr>
          <p:nvPr>
            <p:ph type="ftr" sz="quarter" idx="3"/>
          </p:nvPr>
        </p:nvSpPr>
        <p:spPr>
          <a:xfrm>
            <a:off x="1832756" y="7008171"/>
            <a:ext cx="1698652" cy="40256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3844317" y="7008171"/>
            <a:ext cx="1251638" cy="402567"/>
          </a:xfrm>
          <a:prstGeom prst="rect">
            <a:avLst/>
          </a:prstGeom>
        </p:spPr>
        <p:txBody>
          <a:bodyPr vert="horz" lIns="91440" tIns="45720" rIns="91440" bIns="45720" rtlCol="0" anchor="ctr"/>
          <a:lstStyle>
            <a:lvl1pPr algn="r">
              <a:defRPr sz="1200">
                <a:solidFill>
                  <a:schemeClr val="tx1">
                    <a:tint val="75000"/>
                  </a:schemeClr>
                </a:solidFill>
              </a:defRPr>
            </a:lvl1pPr>
          </a:lstStyle>
          <a:p>
            <a:fld id="{5583268C-60FE-4333-B092-1A38FFBDC3D2}" type="slidenum">
              <a:rPr lang="pt-BR" smtClean="0"/>
              <a:t>‹nº›</a:t>
            </a:fld>
            <a:endParaRPr lang="pt-BR"/>
          </a:p>
        </p:txBody>
      </p:sp>
    </p:spTree>
    <p:extLst>
      <p:ext uri="{BB962C8B-B14F-4D97-AF65-F5344CB8AC3E}">
        <p14:creationId xmlns:p14="http://schemas.microsoft.com/office/powerpoint/2010/main" val="2449934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3.wdp"/><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 Id="rId6" Type="http://schemas.microsoft.com/office/2007/relationships/hdphoto" Target="../media/hdphoto4.wdp"/><Relationship Id="rId5" Type="http://schemas.openxmlformats.org/officeDocument/2006/relationships/image" Target="../media/image8.png"/><Relationship Id="rId10" Type="http://schemas.microsoft.com/office/2007/relationships/hdphoto" Target="../media/hdphoto5.wdp"/><Relationship Id="rId4" Type="http://schemas.openxmlformats.org/officeDocument/2006/relationships/image" Target="../media/image7.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hdphoto" Target="../media/hdphoto4.wdp"/><Relationship Id="rId7" Type="http://schemas.microsoft.com/office/2007/relationships/hdphoto" Target="../media/hdphoto7.wdp"/><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3.png"/><Relationship Id="rId5" Type="http://schemas.microsoft.com/office/2007/relationships/hdphoto" Target="../media/hdphoto6.wdp"/><Relationship Id="rId4" Type="http://schemas.openxmlformats.org/officeDocument/2006/relationships/image" Target="../media/image12.png"/><Relationship Id="rId9" Type="http://schemas.microsoft.com/office/2007/relationships/hdphoto" Target="../media/hdphoto8.wdp"/></Relationships>
</file>

<file path=ppt/slides/_rels/slide8.xml.rels><?xml version="1.0" encoding="UTF-8" standalone="yes"?>
<Relationships xmlns="http://schemas.openxmlformats.org/package/2006/relationships"><Relationship Id="rId3" Type="http://schemas.microsoft.com/office/2007/relationships/hdphoto" Target="../media/hdphoto9.wdp"/><Relationship Id="rId7" Type="http://schemas.microsoft.com/office/2007/relationships/hdphoto" Target="../media/hdphoto8.wdp"/><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Imagem 42">
            <a:extLst>
              <a:ext uri="{FF2B5EF4-FFF2-40B4-BE49-F238E27FC236}">
                <a16:creationId xmlns:a16="http://schemas.microsoft.com/office/drawing/2014/main" id="{B6B61C7F-4FFB-45B4-989D-1AA0E18227BA}"/>
              </a:ext>
            </a:extLst>
          </p:cNvPr>
          <p:cNvPicPr/>
          <p:nvPr/>
        </p:nvPicPr>
        <p:blipFill>
          <a:blip r:embed="rId2">
            <a:extLst>
              <a:ext uri="{28A0092B-C50C-407E-A947-70E740481C1C}">
                <a14:useLocalDpi xmlns:a14="http://schemas.microsoft.com/office/drawing/2010/main" val="0"/>
              </a:ext>
            </a:extLst>
          </a:blip>
          <a:stretch>
            <a:fillRect/>
          </a:stretch>
        </p:blipFill>
        <p:spPr>
          <a:xfrm>
            <a:off x="57466" y="7138719"/>
            <a:ext cx="593151" cy="322819"/>
          </a:xfrm>
          <a:prstGeom prst="rect">
            <a:avLst/>
          </a:prstGeom>
        </p:spPr>
      </p:pic>
      <p:pic>
        <p:nvPicPr>
          <p:cNvPr id="21" name="Imagem 20">
            <a:extLst>
              <a:ext uri="{FF2B5EF4-FFF2-40B4-BE49-F238E27FC236}">
                <a16:creationId xmlns:a16="http://schemas.microsoft.com/office/drawing/2014/main" id="{1AD67718-77EA-4B69-8449-19186B143417}"/>
              </a:ext>
            </a:extLst>
          </p:cNvPr>
          <p:cNvPicPr/>
          <p:nvPr/>
        </p:nvPicPr>
        <p:blipFill>
          <a:blip r:embed="rId2">
            <a:extLst>
              <a:ext uri="{28A0092B-C50C-407E-A947-70E740481C1C}">
                <a14:useLocalDpi xmlns:a14="http://schemas.microsoft.com/office/drawing/2010/main" val="0"/>
              </a:ext>
            </a:extLst>
          </a:blip>
          <a:stretch>
            <a:fillRect/>
          </a:stretch>
        </p:blipFill>
        <p:spPr>
          <a:xfrm>
            <a:off x="4775377" y="7142147"/>
            <a:ext cx="593151" cy="322819"/>
          </a:xfrm>
          <a:prstGeom prst="rect">
            <a:avLst/>
          </a:prstGeom>
        </p:spPr>
      </p:pic>
      <p:sp>
        <p:nvSpPr>
          <p:cNvPr id="22" name="CaixaDeTexto 21">
            <a:extLst>
              <a:ext uri="{FF2B5EF4-FFF2-40B4-BE49-F238E27FC236}">
                <a16:creationId xmlns:a16="http://schemas.microsoft.com/office/drawing/2014/main" id="{8ABC8E75-CF25-4C71-A645-636D81179D6B}"/>
              </a:ext>
            </a:extLst>
          </p:cNvPr>
          <p:cNvSpPr txBox="1"/>
          <p:nvPr/>
        </p:nvSpPr>
        <p:spPr>
          <a:xfrm>
            <a:off x="162081" y="180231"/>
            <a:ext cx="5040000"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1400" noProof="0" dirty="0">
                <a:solidFill>
                  <a:prstClr val="black"/>
                </a:solidFill>
                <a:latin typeface="Arial Black" panose="020B0A04020102020204" pitchFamily="34" charset="0"/>
              </a:rPr>
              <a:t>FORNO PRP </a:t>
            </a:r>
            <a:endParaRPr kumimoji="0" lang="pt-BR" sz="1400" b="0" i="0" u="none" strike="noStrike" kern="1200" cap="none" spc="0" normalizeH="0" baseline="0" noProof="0" dirty="0">
              <a:ln>
                <a:noFill/>
              </a:ln>
              <a:solidFill>
                <a:prstClr val="black"/>
              </a:solidFill>
              <a:effectLst/>
              <a:uLnTx/>
              <a:uFillTx/>
              <a:latin typeface="Arial Black" panose="020B0A04020102020204" pitchFamily="34" charset="0"/>
              <a:ea typeface="+mn-ea"/>
              <a:cs typeface="+mn-cs"/>
            </a:endParaRPr>
          </a:p>
        </p:txBody>
      </p:sp>
      <p:cxnSp>
        <p:nvCxnSpPr>
          <p:cNvPr id="24" name="Conector reto 23">
            <a:extLst>
              <a:ext uri="{FF2B5EF4-FFF2-40B4-BE49-F238E27FC236}">
                <a16:creationId xmlns:a16="http://schemas.microsoft.com/office/drawing/2014/main" id="{BBE67A95-AE29-4944-AA64-BDB665B83E47}"/>
              </a:ext>
            </a:extLst>
          </p:cNvPr>
          <p:cNvCxnSpPr/>
          <p:nvPr/>
        </p:nvCxnSpPr>
        <p:spPr>
          <a:xfrm>
            <a:off x="36081" y="149444"/>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5" name="Conector reto 24">
            <a:extLst>
              <a:ext uri="{FF2B5EF4-FFF2-40B4-BE49-F238E27FC236}">
                <a16:creationId xmlns:a16="http://schemas.microsoft.com/office/drawing/2014/main" id="{A8BA4762-4289-4BD1-A4C9-7AA34A5E7F82}"/>
              </a:ext>
            </a:extLst>
          </p:cNvPr>
          <p:cNvCxnSpPr/>
          <p:nvPr/>
        </p:nvCxnSpPr>
        <p:spPr>
          <a:xfrm>
            <a:off x="36081" y="479750"/>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28" name="Imagem 27">
            <a:extLst>
              <a:ext uri="{FF2B5EF4-FFF2-40B4-BE49-F238E27FC236}">
                <a16:creationId xmlns:a16="http://schemas.microsoft.com/office/drawing/2014/main" id="{AB468CC2-0EDB-475D-83C3-FDAE3F610FE4}"/>
              </a:ext>
            </a:extLst>
          </p:cNvPr>
          <p:cNvPicPr/>
          <p:nvPr/>
        </p:nvPicPr>
        <p:blipFill>
          <a:blip r:embed="rId2">
            <a:extLst>
              <a:ext uri="{28A0092B-C50C-407E-A947-70E740481C1C}">
                <a14:useLocalDpi xmlns:a14="http://schemas.microsoft.com/office/drawing/2010/main" val="0"/>
              </a:ext>
            </a:extLst>
          </a:blip>
          <a:stretch>
            <a:fillRect/>
          </a:stretch>
        </p:blipFill>
        <p:spPr>
          <a:xfrm>
            <a:off x="640094" y="7143846"/>
            <a:ext cx="593151" cy="322819"/>
          </a:xfrm>
          <a:prstGeom prst="rect">
            <a:avLst/>
          </a:prstGeom>
        </p:spPr>
      </p:pic>
      <p:pic>
        <p:nvPicPr>
          <p:cNvPr id="29" name="Imagem 28">
            <a:extLst>
              <a:ext uri="{FF2B5EF4-FFF2-40B4-BE49-F238E27FC236}">
                <a16:creationId xmlns:a16="http://schemas.microsoft.com/office/drawing/2014/main" id="{44AF7DE2-4123-4040-B34C-02F87C25B449}"/>
              </a:ext>
            </a:extLst>
          </p:cNvPr>
          <p:cNvPicPr/>
          <p:nvPr/>
        </p:nvPicPr>
        <p:blipFill>
          <a:blip r:embed="rId2">
            <a:extLst>
              <a:ext uri="{28A0092B-C50C-407E-A947-70E740481C1C}">
                <a14:useLocalDpi xmlns:a14="http://schemas.microsoft.com/office/drawing/2010/main" val="0"/>
              </a:ext>
            </a:extLst>
          </a:blip>
          <a:stretch>
            <a:fillRect/>
          </a:stretch>
        </p:blipFill>
        <p:spPr>
          <a:xfrm>
            <a:off x="1233245" y="7143190"/>
            <a:ext cx="593151" cy="322818"/>
          </a:xfrm>
          <a:prstGeom prst="rect">
            <a:avLst/>
          </a:prstGeom>
        </p:spPr>
      </p:pic>
      <p:pic>
        <p:nvPicPr>
          <p:cNvPr id="30" name="Imagem 29">
            <a:extLst>
              <a:ext uri="{FF2B5EF4-FFF2-40B4-BE49-F238E27FC236}">
                <a16:creationId xmlns:a16="http://schemas.microsoft.com/office/drawing/2014/main" id="{AF9AD81B-6B50-4654-9817-D8052C06F023}"/>
              </a:ext>
            </a:extLst>
          </p:cNvPr>
          <p:cNvPicPr/>
          <p:nvPr/>
        </p:nvPicPr>
        <p:blipFill>
          <a:blip r:embed="rId2">
            <a:extLst>
              <a:ext uri="{28A0092B-C50C-407E-A947-70E740481C1C}">
                <a14:useLocalDpi xmlns:a14="http://schemas.microsoft.com/office/drawing/2010/main" val="0"/>
              </a:ext>
            </a:extLst>
          </a:blip>
          <a:stretch>
            <a:fillRect/>
          </a:stretch>
        </p:blipFill>
        <p:spPr>
          <a:xfrm>
            <a:off x="1826396" y="7144913"/>
            <a:ext cx="593151" cy="322819"/>
          </a:xfrm>
          <a:prstGeom prst="rect">
            <a:avLst/>
          </a:prstGeom>
        </p:spPr>
      </p:pic>
      <p:pic>
        <p:nvPicPr>
          <p:cNvPr id="31" name="Imagem 30">
            <a:extLst>
              <a:ext uri="{FF2B5EF4-FFF2-40B4-BE49-F238E27FC236}">
                <a16:creationId xmlns:a16="http://schemas.microsoft.com/office/drawing/2014/main" id="{026580DC-7F4D-487A-AB9E-4EFED02BBF37}"/>
              </a:ext>
            </a:extLst>
          </p:cNvPr>
          <p:cNvPicPr/>
          <p:nvPr/>
        </p:nvPicPr>
        <p:blipFill>
          <a:blip r:embed="rId2">
            <a:extLst>
              <a:ext uri="{28A0092B-C50C-407E-A947-70E740481C1C}">
                <a14:useLocalDpi xmlns:a14="http://schemas.microsoft.com/office/drawing/2010/main" val="0"/>
              </a:ext>
            </a:extLst>
          </a:blip>
          <a:stretch>
            <a:fillRect/>
          </a:stretch>
        </p:blipFill>
        <p:spPr>
          <a:xfrm>
            <a:off x="2419547" y="7144913"/>
            <a:ext cx="593151" cy="322819"/>
          </a:xfrm>
          <a:prstGeom prst="rect">
            <a:avLst/>
          </a:prstGeom>
        </p:spPr>
      </p:pic>
      <p:pic>
        <p:nvPicPr>
          <p:cNvPr id="32" name="Imagem 31">
            <a:extLst>
              <a:ext uri="{FF2B5EF4-FFF2-40B4-BE49-F238E27FC236}">
                <a16:creationId xmlns:a16="http://schemas.microsoft.com/office/drawing/2014/main" id="{29624387-AA4C-43A1-9CA8-22853E2B2987}"/>
              </a:ext>
            </a:extLst>
          </p:cNvPr>
          <p:cNvPicPr/>
          <p:nvPr/>
        </p:nvPicPr>
        <p:blipFill>
          <a:blip r:embed="rId2">
            <a:extLst>
              <a:ext uri="{28A0092B-C50C-407E-A947-70E740481C1C}">
                <a14:useLocalDpi xmlns:a14="http://schemas.microsoft.com/office/drawing/2010/main" val="0"/>
              </a:ext>
            </a:extLst>
          </a:blip>
          <a:stretch>
            <a:fillRect/>
          </a:stretch>
        </p:blipFill>
        <p:spPr>
          <a:xfrm>
            <a:off x="3012698" y="7144537"/>
            <a:ext cx="593151" cy="322819"/>
          </a:xfrm>
          <a:prstGeom prst="rect">
            <a:avLst/>
          </a:prstGeom>
        </p:spPr>
      </p:pic>
      <p:pic>
        <p:nvPicPr>
          <p:cNvPr id="33" name="Imagem 32">
            <a:extLst>
              <a:ext uri="{FF2B5EF4-FFF2-40B4-BE49-F238E27FC236}">
                <a16:creationId xmlns:a16="http://schemas.microsoft.com/office/drawing/2014/main" id="{FFF6E3A2-542A-4267-9994-53B829B99D41}"/>
              </a:ext>
            </a:extLst>
          </p:cNvPr>
          <p:cNvPicPr/>
          <p:nvPr/>
        </p:nvPicPr>
        <p:blipFill>
          <a:blip r:embed="rId2">
            <a:extLst>
              <a:ext uri="{28A0092B-C50C-407E-A947-70E740481C1C}">
                <a14:useLocalDpi xmlns:a14="http://schemas.microsoft.com/office/drawing/2010/main" val="0"/>
              </a:ext>
            </a:extLst>
          </a:blip>
          <a:stretch>
            <a:fillRect/>
          </a:stretch>
        </p:blipFill>
        <p:spPr>
          <a:xfrm>
            <a:off x="3605849" y="7154192"/>
            <a:ext cx="593151" cy="322819"/>
          </a:xfrm>
          <a:prstGeom prst="rect">
            <a:avLst/>
          </a:prstGeom>
        </p:spPr>
      </p:pic>
      <p:pic>
        <p:nvPicPr>
          <p:cNvPr id="34" name="Imagem 33">
            <a:extLst>
              <a:ext uri="{FF2B5EF4-FFF2-40B4-BE49-F238E27FC236}">
                <a16:creationId xmlns:a16="http://schemas.microsoft.com/office/drawing/2014/main" id="{AA4A757A-4A7D-426B-AB91-DC7DB82FCB7C}"/>
              </a:ext>
            </a:extLst>
          </p:cNvPr>
          <p:cNvPicPr/>
          <p:nvPr/>
        </p:nvPicPr>
        <p:blipFill>
          <a:blip r:embed="rId2">
            <a:extLst>
              <a:ext uri="{28A0092B-C50C-407E-A947-70E740481C1C}">
                <a14:useLocalDpi xmlns:a14="http://schemas.microsoft.com/office/drawing/2010/main" val="0"/>
              </a:ext>
            </a:extLst>
          </a:blip>
          <a:stretch>
            <a:fillRect/>
          </a:stretch>
        </p:blipFill>
        <p:spPr>
          <a:xfrm>
            <a:off x="4199000" y="7153776"/>
            <a:ext cx="593151" cy="322819"/>
          </a:xfrm>
          <a:prstGeom prst="rect">
            <a:avLst/>
          </a:prstGeom>
        </p:spPr>
      </p:pic>
      <p:sp>
        <p:nvSpPr>
          <p:cNvPr id="35" name="CaixaDeTexto 34">
            <a:extLst>
              <a:ext uri="{FF2B5EF4-FFF2-40B4-BE49-F238E27FC236}">
                <a16:creationId xmlns:a16="http://schemas.microsoft.com/office/drawing/2014/main" id="{3DA44E89-8ADC-405B-BC43-7805133F2208}"/>
              </a:ext>
            </a:extLst>
          </p:cNvPr>
          <p:cNvSpPr txBox="1"/>
          <p:nvPr/>
        </p:nvSpPr>
        <p:spPr>
          <a:xfrm>
            <a:off x="2710644" y="6077336"/>
            <a:ext cx="2635893" cy="1015663"/>
          </a:xfrm>
          <a:prstGeom prst="rect">
            <a:avLst/>
          </a:prstGeom>
          <a:noFill/>
        </p:spPr>
        <p:txBody>
          <a:bodyPr wrap="square" rtlCol="0">
            <a:spAutoFit/>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kumimoji="0" lang="pt-BR" sz="12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Parabéns pela sua nova aquisição! Para obter o máximo desempenho e garantir o perfeito funcionamento do seu produto, leia atentamente este manual. </a:t>
            </a:r>
          </a:p>
        </p:txBody>
      </p:sp>
      <p:sp>
        <p:nvSpPr>
          <p:cNvPr id="38" name="CaixaDeTexto 37">
            <a:extLst>
              <a:ext uri="{FF2B5EF4-FFF2-40B4-BE49-F238E27FC236}">
                <a16:creationId xmlns:a16="http://schemas.microsoft.com/office/drawing/2014/main" id="{C2BA3E30-13DD-4F4E-A031-13E6899E223B}"/>
              </a:ext>
            </a:extLst>
          </p:cNvPr>
          <p:cNvSpPr txBox="1"/>
          <p:nvPr/>
        </p:nvSpPr>
        <p:spPr>
          <a:xfrm>
            <a:off x="2970114" y="4951050"/>
            <a:ext cx="2592287" cy="1061829"/>
          </a:xfrm>
          <a:prstGeom prst="rect">
            <a:avLst/>
          </a:prstGeom>
          <a:noFill/>
        </p:spPr>
        <p:txBody>
          <a:bodyPr wrap="square" rtlCol="0">
            <a:spAutoFit/>
          </a:bodyPr>
          <a:lstStyle/>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Instruções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Especificações</a:t>
            </a:r>
          </a:p>
          <a:p>
            <a:pPr marL="342900" marR="0" lvl="0" indent="-342900" algn="l" defTabSz="1043056"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pt-BR" sz="21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Garantia</a:t>
            </a:r>
          </a:p>
        </p:txBody>
      </p:sp>
      <p:cxnSp>
        <p:nvCxnSpPr>
          <p:cNvPr id="39" name="Conector reto 38">
            <a:extLst>
              <a:ext uri="{FF2B5EF4-FFF2-40B4-BE49-F238E27FC236}">
                <a16:creationId xmlns:a16="http://schemas.microsoft.com/office/drawing/2014/main" id="{4AEE42CB-E904-4AC5-AA3E-D7782FA2737D}"/>
              </a:ext>
            </a:extLst>
          </p:cNvPr>
          <p:cNvCxnSpPr>
            <a:cxnSpLocks/>
          </p:cNvCxnSpPr>
          <p:nvPr/>
        </p:nvCxnSpPr>
        <p:spPr>
          <a:xfrm>
            <a:off x="36081" y="7120138"/>
            <a:ext cx="5292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Conector reto 39">
            <a:extLst>
              <a:ext uri="{FF2B5EF4-FFF2-40B4-BE49-F238E27FC236}">
                <a16:creationId xmlns:a16="http://schemas.microsoft.com/office/drawing/2014/main" id="{D1A94368-DA36-4C81-BE02-0EE994E17007}"/>
              </a:ext>
            </a:extLst>
          </p:cNvPr>
          <p:cNvCxnSpPr>
            <a:cxnSpLocks/>
          </p:cNvCxnSpPr>
          <p:nvPr/>
        </p:nvCxnSpPr>
        <p:spPr>
          <a:xfrm>
            <a:off x="36081" y="7453039"/>
            <a:ext cx="5292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6" name="Imagem 5">
            <a:extLst>
              <a:ext uri="{FF2B5EF4-FFF2-40B4-BE49-F238E27FC236}">
                <a16:creationId xmlns:a16="http://schemas.microsoft.com/office/drawing/2014/main" id="{2DF14D14-9050-4029-A64C-6E5B7E936C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764" y="717458"/>
            <a:ext cx="4174634" cy="1337466"/>
          </a:xfrm>
          <a:prstGeom prst="rect">
            <a:avLst/>
          </a:prstGeom>
        </p:spPr>
      </p:pic>
      <p:sp>
        <p:nvSpPr>
          <p:cNvPr id="2" name="CaixaDeTexto 1">
            <a:extLst>
              <a:ext uri="{FF2B5EF4-FFF2-40B4-BE49-F238E27FC236}">
                <a16:creationId xmlns:a16="http://schemas.microsoft.com/office/drawing/2014/main" id="{D0E3C98F-EA6E-4E1C-BAAB-833806061BDB}"/>
              </a:ext>
            </a:extLst>
          </p:cNvPr>
          <p:cNvSpPr txBox="1"/>
          <p:nvPr/>
        </p:nvSpPr>
        <p:spPr>
          <a:xfrm>
            <a:off x="1313929" y="2268463"/>
            <a:ext cx="300082" cy="2254710"/>
          </a:xfrm>
          <a:prstGeom prst="rect">
            <a:avLst/>
          </a:prstGeom>
          <a:noFill/>
        </p:spPr>
        <p:txBody>
          <a:bodyPr vert="vert270" wrap="square" rtlCol="0">
            <a:spAutoFit/>
          </a:bodyPr>
          <a:lstStyle/>
          <a:p>
            <a:r>
              <a:rPr lang="pt-BR" sz="750" dirty="0"/>
              <a:t>Confira outros modelos disponíveis</a:t>
            </a:r>
          </a:p>
        </p:txBody>
      </p:sp>
      <p:pic>
        <p:nvPicPr>
          <p:cNvPr id="1028" name="Picture 4">
            <a:extLst>
              <a:ext uri="{FF2B5EF4-FFF2-40B4-BE49-F238E27FC236}">
                <a16:creationId xmlns:a16="http://schemas.microsoft.com/office/drawing/2014/main" id="{3CCC9659-D6F1-4A01-8F9C-1E309260943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87453" y="2340471"/>
            <a:ext cx="2189257" cy="2645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7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6906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161801" y="108223"/>
            <a:ext cx="5040560" cy="1200329"/>
          </a:xfrm>
          <a:prstGeom prst="rect">
            <a:avLst/>
          </a:prstGeom>
          <a:noFill/>
        </p:spPr>
        <p:txBody>
          <a:bodyPr wrap="square" rtlCol="0">
            <a:spAutoFit/>
          </a:bodyPr>
          <a:lstStyle/>
          <a:p>
            <a:pPr algn="just"/>
            <a:r>
              <a:rPr lang="pt-BR" sz="900" dirty="0">
                <a:latin typeface="Arial" panose="020B0604020202020204" pitchFamily="34" charset="0"/>
                <a:cs typeface="Arial" panose="020B0604020202020204" pitchFamily="34" charset="0"/>
              </a:rPr>
              <a:t>Caro Cliente,</a:t>
            </a:r>
          </a:p>
          <a:p>
            <a:pPr algn="just"/>
            <a:r>
              <a:rPr lang="pt-BR" sz="900" dirty="0">
                <a:latin typeface="Arial" panose="020B0604020202020204" pitchFamily="34" charset="0"/>
                <a:cs typeface="Arial" panose="020B0604020202020204" pitchFamily="34" charset="0"/>
              </a:rPr>
              <a:t>Parabéns por sua escolha</a:t>
            </a:r>
          </a:p>
          <a:p>
            <a:pPr algn="just"/>
            <a:endParaRPr lang="pt-BR" sz="900" dirty="0">
              <a:latin typeface="Arial" panose="020B0604020202020204" pitchFamily="34" charset="0"/>
              <a:cs typeface="Arial" panose="020B0604020202020204" pitchFamily="34" charset="0"/>
            </a:endParaRPr>
          </a:p>
          <a:p>
            <a:pPr algn="just"/>
            <a:r>
              <a:rPr lang="pt-BR" sz="900" dirty="0">
                <a:latin typeface="Arial" panose="020B0604020202020204" pitchFamily="34" charset="0"/>
                <a:cs typeface="Arial" panose="020B0604020202020204" pitchFamily="34" charset="0"/>
              </a:rPr>
              <a:t>O produto que você comprou leva a marca de um dos maiores fabricantes de equipamentos para lanchonetes, bares, restaurantes, industrias, etc., e é a melhor garantia que você tem de estar adquirindo um produto moderno e que vai satisfazer plenamente as suas necessidades. Os produtos SÒ AÇO são fabricados utilizando se dos melhores materiais existentes no mercado e conta com a tecnologia mais avançada no ramo de refrigeração comercial do pais. </a:t>
            </a:r>
            <a:endParaRPr lang="pt-BR" sz="900" dirty="0"/>
          </a:p>
        </p:txBody>
      </p:sp>
      <p:sp>
        <p:nvSpPr>
          <p:cNvPr id="8" name="CaixaDeTexto 7">
            <a:extLst>
              <a:ext uri="{FF2B5EF4-FFF2-40B4-BE49-F238E27FC236}">
                <a16:creationId xmlns:a16="http://schemas.microsoft.com/office/drawing/2014/main" id="{68D55697-2B46-4B29-B96B-8BE932CFF598}"/>
              </a:ext>
            </a:extLst>
          </p:cNvPr>
          <p:cNvSpPr txBox="1"/>
          <p:nvPr/>
        </p:nvSpPr>
        <p:spPr>
          <a:xfrm>
            <a:off x="161801" y="1332359"/>
            <a:ext cx="5040560" cy="523220"/>
          </a:xfrm>
          <a:prstGeom prst="rect">
            <a:avLst/>
          </a:prstGeom>
          <a:noFill/>
        </p:spPr>
        <p:txBody>
          <a:bodyPr wrap="square" rtlCol="0">
            <a:spAutoFit/>
          </a:bodyPr>
          <a:lstStyle/>
          <a:p>
            <a:pPr algn="just"/>
            <a:r>
              <a:rPr lang="pt-BR" sz="1000" b="1" dirty="0"/>
              <a:t>NOTA: </a:t>
            </a:r>
            <a:r>
              <a:rPr lang="pt-BR" sz="900" i="1" dirty="0"/>
              <a:t>Guarde a </a:t>
            </a:r>
            <a:r>
              <a:rPr lang="pt-BR" sz="900" i="1" u="sng" dirty="0"/>
              <a:t>nota fiscal </a:t>
            </a:r>
            <a:r>
              <a:rPr lang="pt-BR" sz="90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2" name="CaixaDeTexto 1"/>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01</a:t>
            </a:r>
          </a:p>
        </p:txBody>
      </p:sp>
      <p:sp>
        <p:nvSpPr>
          <p:cNvPr id="11" name="Retângulo 10">
            <a:extLst>
              <a:ext uri="{FF2B5EF4-FFF2-40B4-BE49-F238E27FC236}">
                <a16:creationId xmlns:a16="http://schemas.microsoft.com/office/drawing/2014/main" id="{2D0FA2F1-E6DB-421C-B346-CF0C721A4D52}"/>
              </a:ext>
            </a:extLst>
          </p:cNvPr>
          <p:cNvSpPr/>
          <p:nvPr/>
        </p:nvSpPr>
        <p:spPr>
          <a:xfrm>
            <a:off x="144089" y="1908423"/>
            <a:ext cx="513028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Índice</a:t>
            </a:r>
          </a:p>
        </p:txBody>
      </p:sp>
      <p:graphicFrame>
        <p:nvGraphicFramePr>
          <p:cNvPr id="5" name="Tabela 4">
            <a:extLst>
              <a:ext uri="{FF2B5EF4-FFF2-40B4-BE49-F238E27FC236}">
                <a16:creationId xmlns:a16="http://schemas.microsoft.com/office/drawing/2014/main" id="{9D94ED1A-CDF2-4EA0-B0DB-EC290050C285}"/>
              </a:ext>
            </a:extLst>
          </p:cNvPr>
          <p:cNvGraphicFramePr>
            <a:graphicFrameLocks noGrp="1"/>
          </p:cNvGraphicFramePr>
          <p:nvPr>
            <p:extLst>
              <p:ext uri="{D42A27DB-BD31-4B8C-83A1-F6EECF244321}">
                <p14:modId xmlns:p14="http://schemas.microsoft.com/office/powerpoint/2010/main" val="1019997332"/>
              </p:ext>
            </p:extLst>
          </p:nvPr>
        </p:nvGraphicFramePr>
        <p:xfrm>
          <a:off x="193650" y="2196455"/>
          <a:ext cx="5008711" cy="3253154"/>
        </p:xfrm>
        <a:graphic>
          <a:graphicData uri="http://schemas.openxmlformats.org/drawingml/2006/table">
            <a:tbl>
              <a:tblPr firstRow="1" bandRow="1">
                <a:tableStyleId>{2D5ABB26-0587-4C30-8999-92F81FD0307C}</a:tableStyleId>
              </a:tblPr>
              <a:tblGrid>
                <a:gridCol w="4761670">
                  <a:extLst>
                    <a:ext uri="{9D8B030D-6E8A-4147-A177-3AD203B41FA5}">
                      <a16:colId xmlns:a16="http://schemas.microsoft.com/office/drawing/2014/main" val="1697301374"/>
                    </a:ext>
                  </a:extLst>
                </a:gridCol>
                <a:gridCol w="247041">
                  <a:extLst>
                    <a:ext uri="{9D8B030D-6E8A-4147-A177-3AD203B41FA5}">
                      <a16:colId xmlns:a16="http://schemas.microsoft.com/office/drawing/2014/main" val="2443384093"/>
                    </a:ext>
                  </a:extLst>
                </a:gridCol>
              </a:tblGrid>
              <a:tr h="180000">
                <a:tc>
                  <a:txBody>
                    <a:bodyPr/>
                    <a:lstStyle/>
                    <a:p>
                      <a:pPr>
                        <a:lnSpc>
                          <a:spcPct val="100000"/>
                        </a:lnSpc>
                        <a:spcAft>
                          <a:spcPts val="0"/>
                        </a:spcAft>
                      </a:pPr>
                      <a:r>
                        <a:rPr lang="pt-BR" sz="800" dirty="0">
                          <a:effectLst/>
                        </a:rPr>
                        <a:t>1. INTRODUÇÃO..............................................................................................................................................................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02</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607705150"/>
                  </a:ext>
                </a:extLst>
              </a:tr>
              <a:tr h="180000">
                <a:tc>
                  <a:txBody>
                    <a:bodyPr/>
                    <a:lstStyle/>
                    <a:p>
                      <a:pPr>
                        <a:lnSpc>
                          <a:spcPct val="100000"/>
                        </a:lnSpc>
                        <a:spcAft>
                          <a:spcPts val="0"/>
                        </a:spcAft>
                      </a:pPr>
                      <a:r>
                        <a:rPr lang="pt-BR" sz="800" dirty="0">
                          <a:effectLst/>
                        </a:rPr>
                        <a:t>1.1.Segurança.................................................................................................................................................................</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02</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470459698"/>
                  </a:ext>
                </a:extLst>
              </a:tr>
              <a:tr h="180000">
                <a:tc>
                  <a:txBody>
                    <a:bodyPr/>
                    <a:lstStyle/>
                    <a:p>
                      <a:pPr>
                        <a:lnSpc>
                          <a:spcPct val="100000"/>
                        </a:lnSpc>
                        <a:spcAft>
                          <a:spcPts val="0"/>
                        </a:spcAft>
                      </a:pPr>
                      <a:r>
                        <a:rPr lang="pt-BR" sz="800" dirty="0">
                          <a:effectLst/>
                        </a:rPr>
                        <a:t>1.2.Dimensões/componentes........................................................................................................................................</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03</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795885520"/>
                  </a:ext>
                </a:extLst>
              </a:tr>
              <a:tr h="180000">
                <a:tc>
                  <a:txBody>
                    <a:bodyPr/>
                    <a:lstStyle/>
                    <a:p>
                      <a:pPr>
                        <a:lnSpc>
                          <a:spcPct val="100000"/>
                        </a:lnSpc>
                        <a:spcAft>
                          <a:spcPts val="0"/>
                        </a:spcAft>
                      </a:pPr>
                      <a:r>
                        <a:rPr lang="pt-BR" sz="800" dirty="0">
                          <a:effectLst/>
                        </a:rPr>
                        <a:t>2.INSTRUÇÕES PARA MONTAGEM.................................................................................................................................</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05</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954066343"/>
                  </a:ext>
                </a:extLst>
              </a:tr>
              <a:tr h="180000">
                <a:tc>
                  <a:txBody>
                    <a:bodyPr/>
                    <a:lstStyle/>
                    <a:p>
                      <a:pPr>
                        <a:lnSpc>
                          <a:spcPct val="100000"/>
                        </a:lnSpc>
                        <a:spcAft>
                          <a:spcPts val="0"/>
                        </a:spcAft>
                      </a:pPr>
                      <a:r>
                        <a:rPr lang="pt-BR" sz="800" dirty="0">
                          <a:effectLst/>
                        </a:rPr>
                        <a:t>2.1.Instalação..................................................................................................................................................................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a:effectLst/>
                        </a:rPr>
                        <a:t>05</a:t>
                      </a:r>
                      <a:endParaRPr lang="pt-BR"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300738735"/>
                  </a:ext>
                </a:extLst>
              </a:tr>
              <a:tr h="180000">
                <a:tc>
                  <a:txBody>
                    <a:bodyPr/>
                    <a:lstStyle/>
                    <a:p>
                      <a:pPr>
                        <a:lnSpc>
                          <a:spcPct val="100000"/>
                        </a:lnSpc>
                        <a:spcAft>
                          <a:spcPts val="0"/>
                        </a:spcAft>
                      </a:pPr>
                      <a:r>
                        <a:rPr lang="pt-BR" sz="800" dirty="0">
                          <a:effectLst/>
                        </a:rPr>
                        <a:t>3.PRÉ-OPERAÇÃO............................................................................................................................................................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07</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429447783"/>
                  </a:ext>
                </a:extLst>
              </a:tr>
              <a:tr h="18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800" dirty="0">
                          <a:effectLst/>
                        </a:rPr>
                        <a:t>3.1.Instalando o equipamento.......................................................................................................................................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latin typeface="Calibri" panose="020F0502020204030204" pitchFamily="34" charset="0"/>
                          <a:ea typeface="Calibri" panose="020F0502020204030204" pitchFamily="34" charset="0"/>
                          <a:cs typeface="Times New Roman" panose="02020603050405020304" pitchFamily="18" charset="0"/>
                        </a:rPr>
                        <a:t>07</a:t>
                      </a:r>
                    </a:p>
                  </a:txBody>
                  <a:tcPr marL="0" marR="0" marT="0" marB="0"/>
                </a:tc>
                <a:extLst>
                  <a:ext uri="{0D108BD9-81ED-4DB2-BD59-A6C34878D82A}">
                    <a16:rowId xmlns:a16="http://schemas.microsoft.com/office/drawing/2014/main" val="1553900451"/>
                  </a:ext>
                </a:extLst>
              </a:tr>
              <a:tr h="180000">
                <a:tc>
                  <a:txBody>
                    <a:bodyPr/>
                    <a:lstStyle/>
                    <a:p>
                      <a:pPr>
                        <a:lnSpc>
                          <a:spcPct val="100000"/>
                        </a:lnSpc>
                        <a:spcAft>
                          <a:spcPts val="0"/>
                        </a:spcAft>
                      </a:pPr>
                      <a:r>
                        <a:rPr lang="pt-BR" sz="800" dirty="0">
                          <a:effectLst/>
                        </a:rPr>
                        <a:t>3.2 Instalação de gás GLP...............................................................................................................................................</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07</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39973084"/>
                  </a:ext>
                </a:extLst>
              </a:tr>
              <a:tr h="180000">
                <a:tc>
                  <a:txBody>
                    <a:bodyPr/>
                    <a:lstStyle/>
                    <a:p>
                      <a:pPr>
                        <a:lnSpc>
                          <a:spcPct val="100000"/>
                        </a:lnSpc>
                        <a:spcAft>
                          <a:spcPts val="0"/>
                        </a:spcAft>
                      </a:pPr>
                      <a:r>
                        <a:rPr lang="pt-BR" sz="800" dirty="0">
                          <a:effectLst/>
                        </a:rPr>
                        <a:t>3.3 Limpeza e manutenção............................................................................................................................................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07</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503598005"/>
                  </a:ext>
                </a:extLst>
              </a:tr>
              <a:tr h="180000">
                <a:tc>
                  <a:txBody>
                    <a:bodyPr/>
                    <a:lstStyle/>
                    <a:p>
                      <a:pPr>
                        <a:lnSpc>
                          <a:spcPct val="100000"/>
                        </a:lnSpc>
                        <a:spcAft>
                          <a:spcPts val="0"/>
                        </a:spcAft>
                      </a:pPr>
                      <a:r>
                        <a:rPr lang="pt-BR" sz="800" dirty="0">
                          <a:effectLst/>
                        </a:rPr>
                        <a:t>3.4 Instrução para montagem do termômetro..............................................................................................................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08</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48156493"/>
                  </a:ext>
                </a:extLst>
              </a:tr>
              <a:tr h="180000">
                <a:tc>
                  <a:txBody>
                    <a:bodyPr/>
                    <a:lstStyle/>
                    <a:p>
                      <a:pPr>
                        <a:lnSpc>
                          <a:spcPct val="100000"/>
                        </a:lnSpc>
                        <a:spcAft>
                          <a:spcPts val="0"/>
                        </a:spcAft>
                      </a:pPr>
                      <a:r>
                        <a:rPr lang="pt-BR" sz="800" dirty="0">
                          <a:effectLst/>
                        </a:rPr>
                        <a:t>3.5 Forno gás GLP..........................................................................................................................................................</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08</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237740072"/>
                  </a:ext>
                </a:extLst>
              </a:tr>
              <a:tr h="180000">
                <a:tc>
                  <a:txBody>
                    <a:bodyPr/>
                    <a:lstStyle/>
                    <a:p>
                      <a:pPr>
                        <a:lnSpc>
                          <a:spcPct val="100000"/>
                        </a:lnSpc>
                        <a:spcAft>
                          <a:spcPts val="0"/>
                        </a:spcAft>
                      </a:pPr>
                      <a:r>
                        <a:rPr lang="pt-BR" sz="800" dirty="0">
                          <a:effectLst/>
                        </a:rPr>
                        <a:t>3.6 Forno gás GLP com </a:t>
                      </a:r>
                      <a:r>
                        <a:rPr lang="pt-BR" sz="800" dirty="0" err="1">
                          <a:effectLst/>
                        </a:rPr>
                        <a:t>gratinador</a:t>
                      </a:r>
                      <a:r>
                        <a:rPr lang="pt-BR" sz="800" dirty="0">
                          <a:effectLst/>
                        </a:rPr>
                        <a:t>................................................................................................................................</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a:effectLst/>
                        </a:rPr>
                        <a:t>08</a:t>
                      </a:r>
                      <a:endParaRPr lang="pt-BR" sz="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345192478"/>
                  </a:ext>
                </a:extLst>
              </a:tr>
              <a:tr h="180000">
                <a:tc>
                  <a:txBody>
                    <a:bodyPr/>
                    <a:lstStyle/>
                    <a:p>
                      <a:pPr>
                        <a:lnSpc>
                          <a:spcPct val="100000"/>
                        </a:lnSpc>
                        <a:spcAft>
                          <a:spcPts val="0"/>
                        </a:spcAft>
                      </a:pPr>
                      <a:r>
                        <a:rPr lang="pt-BR" sz="800" dirty="0">
                          <a:effectLst/>
                        </a:rPr>
                        <a:t>4.OPERAÇÃO...................................................................................................................................................................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09</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16814359"/>
                  </a:ext>
                </a:extLst>
              </a:tr>
              <a:tr h="180000">
                <a:tc>
                  <a:txBody>
                    <a:bodyPr/>
                    <a:lstStyle/>
                    <a:p>
                      <a:pPr>
                        <a:lnSpc>
                          <a:spcPct val="100000"/>
                        </a:lnSpc>
                        <a:spcAft>
                          <a:spcPts val="0"/>
                        </a:spcAft>
                      </a:pPr>
                      <a:r>
                        <a:rPr lang="pt-BR" sz="800" dirty="0">
                          <a:effectLst/>
                        </a:rPr>
                        <a:t>4.1.Orientações de uso...................................................................................................................................................</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09</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517831848"/>
                  </a:ext>
                </a:extLst>
              </a:tr>
              <a:tr h="180000">
                <a:tc>
                  <a:txBody>
                    <a:bodyPr/>
                    <a:lstStyle/>
                    <a:p>
                      <a:pPr>
                        <a:lnSpc>
                          <a:spcPct val="100000"/>
                        </a:lnSpc>
                        <a:spcAft>
                          <a:spcPts val="0"/>
                        </a:spcAft>
                      </a:pPr>
                      <a:r>
                        <a:rPr lang="pt-BR" sz="800" dirty="0">
                          <a:effectLst/>
                        </a:rPr>
                        <a:t>4.2.Orientações de uso – Forno com </a:t>
                      </a:r>
                      <a:r>
                        <a:rPr lang="pt-BR" sz="800" dirty="0" err="1">
                          <a:effectLst/>
                        </a:rPr>
                        <a:t>gratinador</a:t>
                      </a:r>
                      <a:r>
                        <a:rPr lang="pt-BR" sz="800" dirty="0">
                          <a:effectLst/>
                        </a:rPr>
                        <a:t>............................................................................................................</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latin typeface="Calibri" panose="020F0502020204030204" pitchFamily="34" charset="0"/>
                          <a:ea typeface="Calibri" panose="020F0502020204030204" pitchFamily="34" charset="0"/>
                          <a:cs typeface="Times New Roman" panose="02020603050405020304" pitchFamily="18" charset="0"/>
                        </a:rPr>
                        <a:t>10</a:t>
                      </a:r>
                    </a:p>
                  </a:txBody>
                  <a:tcPr marL="0" marR="0" marT="0" marB="0"/>
                </a:tc>
                <a:extLst>
                  <a:ext uri="{0D108BD9-81ED-4DB2-BD59-A6C34878D82A}">
                    <a16:rowId xmlns:a16="http://schemas.microsoft.com/office/drawing/2014/main" val="2136414046"/>
                  </a:ext>
                </a:extLst>
              </a:tr>
              <a:tr h="180000">
                <a:tc>
                  <a:txBody>
                    <a:bodyPr/>
                    <a:lstStyle/>
                    <a:p>
                      <a:pPr>
                        <a:lnSpc>
                          <a:spcPct val="100000"/>
                        </a:lnSpc>
                        <a:spcAft>
                          <a:spcPts val="0"/>
                        </a:spcAft>
                      </a:pPr>
                      <a:r>
                        <a:rPr lang="pt-BR" sz="800" dirty="0">
                          <a:effectLst/>
                        </a:rPr>
                        <a:t>5. ANÁLISE E RESOLUÇÕES DE PROBLEMAS...................................................................................................................</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latin typeface="Calibri" panose="020F0502020204030204" pitchFamily="34" charset="0"/>
                          <a:ea typeface="Calibri" panose="020F0502020204030204" pitchFamily="34" charset="0"/>
                          <a:cs typeface="Times New Roman" panose="02020603050405020304" pitchFamily="18" charset="0"/>
                        </a:rPr>
                        <a:t>11</a:t>
                      </a:r>
                    </a:p>
                  </a:txBody>
                  <a:tcPr marL="0" marR="0" marT="0" marB="0"/>
                </a:tc>
                <a:extLst>
                  <a:ext uri="{0D108BD9-81ED-4DB2-BD59-A6C34878D82A}">
                    <a16:rowId xmlns:a16="http://schemas.microsoft.com/office/drawing/2014/main" val="1926894886"/>
                  </a:ext>
                </a:extLst>
              </a:tr>
              <a:tr h="180000">
                <a:tc>
                  <a:txBody>
                    <a:bodyPr/>
                    <a:lstStyle/>
                    <a:p>
                      <a:pPr>
                        <a:lnSpc>
                          <a:spcPct val="100000"/>
                        </a:lnSpc>
                        <a:spcAft>
                          <a:spcPts val="0"/>
                        </a:spcAft>
                      </a:pPr>
                      <a:r>
                        <a:rPr lang="pt-BR" sz="800" dirty="0">
                          <a:effectLst/>
                        </a:rPr>
                        <a:t>6. TERMO DE GARANTIA.................................................................................................................................................</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4721" marR="34721" marT="34721" marB="34721"/>
                </a:tc>
                <a:tc>
                  <a:txBody>
                    <a:bodyPr/>
                    <a:lstStyle/>
                    <a:p>
                      <a:pPr>
                        <a:lnSpc>
                          <a:spcPct val="100000"/>
                        </a:lnSpc>
                        <a:spcAft>
                          <a:spcPts val="0"/>
                        </a:spcAft>
                      </a:pPr>
                      <a:r>
                        <a:rPr lang="pt-BR" sz="800" dirty="0">
                          <a:effectLst/>
                        </a:rPr>
                        <a:t>12</a:t>
                      </a:r>
                      <a:endParaRPr lang="pt-BR" sz="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908243385"/>
                  </a:ext>
                </a:extLst>
              </a:tr>
            </a:tbl>
          </a:graphicData>
        </a:graphic>
      </p:graphicFrame>
    </p:spTree>
    <p:extLst>
      <p:ext uri="{BB962C8B-B14F-4D97-AF65-F5344CB8AC3E}">
        <p14:creationId xmlns:p14="http://schemas.microsoft.com/office/powerpoint/2010/main" val="3505505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p:cNvSpPr txBox="1"/>
          <p:nvPr/>
        </p:nvSpPr>
        <p:spPr>
          <a:xfrm>
            <a:off x="167689" y="424993"/>
            <a:ext cx="5001042" cy="4939814"/>
          </a:xfrm>
          <a:prstGeom prst="rect">
            <a:avLst/>
          </a:prstGeom>
          <a:noFill/>
        </p:spPr>
        <p:txBody>
          <a:bodyPr wrap="square" rtlCol="0">
            <a:spAutoFit/>
          </a:bodyPr>
          <a:lstStyle/>
          <a:p>
            <a:pPr algn="just"/>
            <a:r>
              <a:rPr lang="pt-BR" sz="1050" b="1" dirty="0"/>
              <a:t>1.1 SEGURANÇA</a:t>
            </a:r>
          </a:p>
          <a:p>
            <a:pPr algn="just"/>
            <a:r>
              <a:rPr lang="pt-BR" sz="1050" b="1" dirty="0"/>
              <a:t>1.1.1</a:t>
            </a:r>
            <a:r>
              <a:rPr lang="pt-BR" sz="1050" dirty="0"/>
              <a:t> Leia todas as instruções contidas neste manual.</a:t>
            </a:r>
          </a:p>
          <a:p>
            <a:pPr algn="just"/>
            <a:r>
              <a:rPr lang="pt-BR" sz="1050" b="1" dirty="0"/>
              <a:t>1.1.2 </a:t>
            </a:r>
            <a:r>
              <a:rPr lang="pt-BR" sz="1050" dirty="0"/>
              <a:t>Todos os produtos, sejam fornos ou fogões a gás, industriais/profissional, de baixa pressão da Só Aço Industrial são fabricados para funcionarem com válvulas reguladora de pressão para gás GLP e conforme as normas de segurança da ABNT.</a:t>
            </a:r>
          </a:p>
          <a:p>
            <a:pPr algn="just"/>
            <a:r>
              <a:rPr lang="pt-BR" sz="1050" b="1" dirty="0"/>
              <a:t>1.1.3 </a:t>
            </a:r>
            <a:r>
              <a:rPr lang="pt-BR" sz="1050" dirty="0"/>
              <a:t>A instalação deve ser feita de acordo com as instruções do fabricante e por pessoas qualificadas e autorizadas;</a:t>
            </a:r>
          </a:p>
          <a:p>
            <a:pPr algn="just"/>
            <a:r>
              <a:rPr lang="pt-BR" sz="1050" b="1" dirty="0"/>
              <a:t>1.1.4</a:t>
            </a:r>
            <a:r>
              <a:rPr lang="pt-BR" sz="1050" dirty="0"/>
              <a:t> Para eventuais reparos, dirija-se exclusivamente a um centro de assistência técnica autorizado pelo fabricante e solicite peças de reposição originais;</a:t>
            </a:r>
          </a:p>
          <a:p>
            <a:pPr algn="just"/>
            <a:r>
              <a:rPr lang="pt-BR" sz="1050" b="1" dirty="0"/>
              <a:t>1.1.5</a:t>
            </a:r>
            <a:r>
              <a:rPr lang="pt-BR" sz="1050" dirty="0"/>
              <a:t> O não cumprimento dos avisos contidos neste manual pode comprometer a segurança do operador;</a:t>
            </a:r>
          </a:p>
          <a:p>
            <a:pPr algn="just"/>
            <a:r>
              <a:rPr lang="pt-BR" sz="1050" b="1" dirty="0"/>
              <a:t>1.1.6 </a:t>
            </a:r>
            <a:r>
              <a:rPr lang="pt-BR" sz="1050" dirty="0"/>
              <a:t>Entre em contato com o distribuidor de sua confiança para conseguir o endereço da autorizada mais próxima de você.</a:t>
            </a:r>
          </a:p>
          <a:p>
            <a:pPr algn="just"/>
            <a:r>
              <a:rPr lang="pt-BR" sz="1050" b="1" dirty="0"/>
              <a:t>1.1.7 </a:t>
            </a:r>
            <a:r>
              <a:rPr lang="pt-BR" sz="1050" dirty="0"/>
              <a:t>Conservar em local adequado este manual para qualquer consulta.</a:t>
            </a:r>
          </a:p>
          <a:p>
            <a:pPr algn="just"/>
            <a:r>
              <a:rPr lang="pt-BR" sz="1050" b="1" dirty="0"/>
              <a:t>1.1.8</a:t>
            </a:r>
            <a:r>
              <a:rPr lang="pt-BR" sz="1050" dirty="0"/>
              <a:t> O fabricante reserva-se o direito de modificar em qualquer momento e sem aviso prévio o conteúdo deste manual.</a:t>
            </a:r>
          </a:p>
          <a:p>
            <a:pPr algn="just"/>
            <a:r>
              <a:rPr lang="pt-BR" sz="1050" b="1" dirty="0"/>
              <a:t>1.1.9</a:t>
            </a:r>
            <a:r>
              <a:rPr lang="pt-BR" sz="1050" dirty="0"/>
              <a:t> A Só Aço se reserva do direito de alterar as características dos seus produtos sem aviso prévio.</a:t>
            </a:r>
          </a:p>
          <a:p>
            <a:pPr algn="just"/>
            <a:r>
              <a:rPr lang="pt-BR" sz="1050" b="1" dirty="0"/>
              <a:t>1.1.10</a:t>
            </a:r>
            <a:r>
              <a:rPr lang="pt-BR" sz="1050" dirty="0"/>
              <a:t> Este equipamento não se destina a utilização por pessoas (inclusive crianças) com capacidades físicas, sensoriais ou mentais reduzidas, ou por pessoas com falta de experiência e conhecimento, a menos que tenha recebido instruções referentes à utilização do equipamento ou estejam sob a supervisão de uma pessoa responsável pela sua segurança.</a:t>
            </a:r>
          </a:p>
          <a:p>
            <a:pPr algn="just"/>
            <a:r>
              <a:rPr lang="pt-BR" sz="1050" b="1" dirty="0"/>
              <a:t>1.1.11</a:t>
            </a:r>
            <a:r>
              <a:rPr lang="pt-BR" sz="1050" dirty="0"/>
              <a:t> Recomenda-se que as crianças sejam vigiadas para assegurar que elas não estejam brincando com o equipamento.</a:t>
            </a:r>
          </a:p>
          <a:p>
            <a:pPr algn="just"/>
            <a:r>
              <a:rPr lang="pt-BR" sz="1050" b="1" dirty="0"/>
              <a:t>1.1.12</a:t>
            </a:r>
            <a:r>
              <a:rPr lang="pt-BR" sz="1050" dirty="0"/>
              <a:t> Não guarde substâncias explosivas, tais como aerossol com um propelente inflamável neste aparelho </a:t>
            </a:r>
          </a:p>
          <a:p>
            <a:pPr algn="just"/>
            <a:r>
              <a:rPr lang="pt-BR" sz="1050" b="1" dirty="0"/>
              <a:t>1.1.13 </a:t>
            </a:r>
            <a:r>
              <a:rPr lang="pt-BR" sz="1050" dirty="0"/>
              <a:t>Higienizar diariamente o produto após o uso utilizando detergente neutro, não utilize materiais abrasivos e jamais utilize jato d’água para a higienização do produto.</a:t>
            </a:r>
          </a:p>
          <a:p>
            <a:pPr algn="just"/>
            <a:endParaRPr lang="pt-BR" sz="1050" dirty="0"/>
          </a:p>
        </p:txBody>
      </p:sp>
      <p:sp>
        <p:nvSpPr>
          <p:cNvPr id="26" name="Retângulo 25">
            <a:extLst>
              <a:ext uri="{FF2B5EF4-FFF2-40B4-BE49-F238E27FC236}">
                <a16:creationId xmlns:a16="http://schemas.microsoft.com/office/drawing/2014/main" id="{82323E52-BACF-48AD-B8FA-8F60F81D68A0}"/>
              </a:ext>
            </a:extLst>
          </p:cNvPr>
          <p:cNvSpPr/>
          <p:nvPr/>
        </p:nvSpPr>
        <p:spPr>
          <a:xfrm>
            <a:off x="181560" y="217089"/>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  INTRODUÇÃO</a:t>
            </a:r>
          </a:p>
        </p:txBody>
      </p:sp>
      <p:sp>
        <p:nvSpPr>
          <p:cNvPr id="8" name="CaixaDeTexto 7"/>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02</a:t>
            </a:r>
          </a:p>
        </p:txBody>
      </p:sp>
    </p:spTree>
    <p:extLst>
      <p:ext uri="{BB962C8B-B14F-4D97-AF65-F5344CB8AC3E}">
        <p14:creationId xmlns:p14="http://schemas.microsoft.com/office/powerpoint/2010/main" val="294390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997F9E67-7CEF-43C2-BE62-225F396CADA4}"/>
              </a:ext>
            </a:extLst>
          </p:cNvPr>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03</a:t>
            </a:r>
          </a:p>
        </p:txBody>
      </p:sp>
      <p:sp>
        <p:nvSpPr>
          <p:cNvPr id="5" name="Retângulo 4">
            <a:extLst>
              <a:ext uri="{FF2B5EF4-FFF2-40B4-BE49-F238E27FC236}">
                <a16:creationId xmlns:a16="http://schemas.microsoft.com/office/drawing/2014/main" id="{31C546B9-CA64-4178-A0AB-F7B116EA7540}"/>
              </a:ext>
            </a:extLst>
          </p:cNvPr>
          <p:cNvSpPr/>
          <p:nvPr/>
        </p:nvSpPr>
        <p:spPr>
          <a:xfrm>
            <a:off x="305817" y="252239"/>
            <a:ext cx="1919115" cy="246221"/>
          </a:xfrm>
          <a:prstGeom prst="rect">
            <a:avLst/>
          </a:prstGeom>
        </p:spPr>
        <p:txBody>
          <a:bodyPr wrap="none">
            <a:spAutoFit/>
          </a:bodyPr>
          <a:lstStyle/>
          <a:p>
            <a:pPr lvl="0" algn="just"/>
            <a:r>
              <a:rPr lang="pt-BR" sz="1000" b="1" dirty="0">
                <a:solidFill>
                  <a:prstClr val="black"/>
                </a:solidFill>
              </a:rPr>
              <a:t>1.2 DIMENSÕES/COMPONENTES</a:t>
            </a:r>
          </a:p>
        </p:txBody>
      </p:sp>
      <p:pic>
        <p:nvPicPr>
          <p:cNvPr id="1026" name="Picture 2" descr="IMG-20191128-WA0006 c¾pia"/>
          <p:cNvPicPr>
            <a:picLocks noChangeAspect="1" noChangeArrowheads="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896078" y="3978043"/>
            <a:ext cx="2306283" cy="318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ela 5"/>
          <p:cNvGraphicFramePr>
            <a:graphicFrameLocks noGrp="1"/>
          </p:cNvGraphicFramePr>
          <p:nvPr>
            <p:extLst>
              <p:ext uri="{D42A27DB-BD31-4B8C-83A1-F6EECF244321}">
                <p14:modId xmlns:p14="http://schemas.microsoft.com/office/powerpoint/2010/main" val="3555535008"/>
              </p:ext>
            </p:extLst>
          </p:nvPr>
        </p:nvGraphicFramePr>
        <p:xfrm>
          <a:off x="398921" y="468263"/>
          <a:ext cx="4710335" cy="2945130"/>
        </p:xfrm>
        <a:graphic>
          <a:graphicData uri="http://schemas.openxmlformats.org/drawingml/2006/table">
            <a:tbl>
              <a:tblPr firstRow="1" bandRow="1">
                <a:tableStyleId>{9D7B26C5-4107-4FEC-AEDC-1716B250A1EF}</a:tableStyleId>
              </a:tblPr>
              <a:tblGrid>
                <a:gridCol w="987016">
                  <a:extLst>
                    <a:ext uri="{9D8B030D-6E8A-4147-A177-3AD203B41FA5}">
                      <a16:colId xmlns:a16="http://schemas.microsoft.com/office/drawing/2014/main" val="758592272"/>
                    </a:ext>
                  </a:extLst>
                </a:gridCol>
                <a:gridCol w="360040">
                  <a:extLst>
                    <a:ext uri="{9D8B030D-6E8A-4147-A177-3AD203B41FA5}">
                      <a16:colId xmlns:a16="http://schemas.microsoft.com/office/drawing/2014/main" val="20000"/>
                    </a:ext>
                  </a:extLst>
                </a:gridCol>
                <a:gridCol w="360040">
                  <a:extLst>
                    <a:ext uri="{9D8B030D-6E8A-4147-A177-3AD203B41FA5}">
                      <a16:colId xmlns:a16="http://schemas.microsoft.com/office/drawing/2014/main" val="20002"/>
                    </a:ext>
                  </a:extLst>
                </a:gridCol>
                <a:gridCol w="288032">
                  <a:extLst>
                    <a:ext uri="{9D8B030D-6E8A-4147-A177-3AD203B41FA5}">
                      <a16:colId xmlns:a16="http://schemas.microsoft.com/office/drawing/2014/main" val="20003"/>
                    </a:ext>
                  </a:extLst>
                </a:gridCol>
                <a:gridCol w="432048">
                  <a:extLst>
                    <a:ext uri="{9D8B030D-6E8A-4147-A177-3AD203B41FA5}">
                      <a16:colId xmlns:a16="http://schemas.microsoft.com/office/drawing/2014/main" val="20004"/>
                    </a:ext>
                  </a:extLst>
                </a:gridCol>
                <a:gridCol w="360040">
                  <a:extLst>
                    <a:ext uri="{9D8B030D-6E8A-4147-A177-3AD203B41FA5}">
                      <a16:colId xmlns:a16="http://schemas.microsoft.com/office/drawing/2014/main" val="20005"/>
                    </a:ext>
                  </a:extLst>
                </a:gridCol>
                <a:gridCol w="288032">
                  <a:extLst>
                    <a:ext uri="{9D8B030D-6E8A-4147-A177-3AD203B41FA5}">
                      <a16:colId xmlns:a16="http://schemas.microsoft.com/office/drawing/2014/main" val="20006"/>
                    </a:ext>
                  </a:extLst>
                </a:gridCol>
                <a:gridCol w="720080">
                  <a:extLst>
                    <a:ext uri="{9D8B030D-6E8A-4147-A177-3AD203B41FA5}">
                      <a16:colId xmlns:a16="http://schemas.microsoft.com/office/drawing/2014/main" val="20007"/>
                    </a:ext>
                  </a:extLst>
                </a:gridCol>
                <a:gridCol w="915007">
                  <a:extLst>
                    <a:ext uri="{9D8B030D-6E8A-4147-A177-3AD203B41FA5}">
                      <a16:colId xmlns:a16="http://schemas.microsoft.com/office/drawing/2014/main" val="674205717"/>
                    </a:ext>
                  </a:extLst>
                </a:gridCol>
              </a:tblGrid>
              <a:tr h="176662">
                <a:tc>
                  <a:txBody>
                    <a:bodyPr/>
                    <a:lstStyle/>
                    <a:p>
                      <a:pPr algn="ctr"/>
                      <a:endParaRPr lang="pt-BR" sz="850" dirty="0">
                        <a:latin typeface="Arial" pitchFamily="34" charset="0"/>
                        <a:cs typeface="Arial" pitchFamily="34" charset="0"/>
                      </a:endParaRPr>
                    </a:p>
                  </a:txBody>
                  <a:tcPr/>
                </a:tc>
                <a:tc gridSpan="3">
                  <a:txBody>
                    <a:bodyPr/>
                    <a:lstStyle/>
                    <a:p>
                      <a:pPr algn="ctr"/>
                      <a:r>
                        <a:rPr lang="pt-BR" sz="850" dirty="0">
                          <a:latin typeface="Arial" pitchFamily="34" charset="0"/>
                          <a:cs typeface="Arial" pitchFamily="34" charset="0"/>
                        </a:rPr>
                        <a:t>MEDIDAS</a:t>
                      </a:r>
                      <a:r>
                        <a:rPr lang="pt-BR" sz="850" baseline="0" dirty="0">
                          <a:latin typeface="Arial" pitchFamily="34" charset="0"/>
                          <a:cs typeface="Arial" pitchFamily="34" charset="0"/>
                        </a:rPr>
                        <a:t> INTERNAS (MM)</a:t>
                      </a:r>
                      <a:endParaRPr lang="pt-BR" sz="850" dirty="0">
                        <a:latin typeface="Arial" pitchFamily="34" charset="0"/>
                        <a:cs typeface="Arial" pitchFamily="34" charset="0"/>
                      </a:endParaRPr>
                    </a:p>
                  </a:txBody>
                  <a:tcPr anchor="ctr"/>
                </a:tc>
                <a:tc hMerge="1">
                  <a:txBody>
                    <a:bodyPr/>
                    <a:lstStyle/>
                    <a:p>
                      <a:pPr algn="ctr"/>
                      <a:endParaRPr lang="pt-BR" sz="850" dirty="0">
                        <a:latin typeface="Arial" pitchFamily="34" charset="0"/>
                        <a:cs typeface="Arial" pitchFamily="34" charset="0"/>
                      </a:endParaRPr>
                    </a:p>
                  </a:txBody>
                  <a:tcPr/>
                </a:tc>
                <a:tc hMerge="1">
                  <a:txBody>
                    <a:bodyPr/>
                    <a:lstStyle/>
                    <a:p>
                      <a:pPr algn="ctr"/>
                      <a:endParaRPr lang="pt-BR" sz="850" dirty="0">
                        <a:latin typeface="Arial" pitchFamily="34" charset="0"/>
                        <a:cs typeface="Arial" pitchFamily="34" charset="0"/>
                      </a:endParaRPr>
                    </a:p>
                  </a:txBody>
                  <a:tcPr/>
                </a:tc>
                <a:tc gridSpan="3">
                  <a:txBody>
                    <a:bodyPr/>
                    <a:lstStyle/>
                    <a:p>
                      <a:pPr algn="ctr"/>
                      <a:r>
                        <a:rPr lang="pt-BR" sz="850" dirty="0">
                          <a:latin typeface="Arial" pitchFamily="34" charset="0"/>
                          <a:cs typeface="Arial" pitchFamily="34" charset="0"/>
                        </a:rPr>
                        <a:t>MEDIDAS</a:t>
                      </a:r>
                      <a:r>
                        <a:rPr lang="pt-BR" sz="850" baseline="0" dirty="0">
                          <a:latin typeface="Arial" pitchFamily="34" charset="0"/>
                          <a:cs typeface="Arial" pitchFamily="34" charset="0"/>
                        </a:rPr>
                        <a:t> EXTERNAS (MM)</a:t>
                      </a:r>
                      <a:endParaRPr lang="pt-BR" sz="850" dirty="0">
                        <a:latin typeface="Arial" pitchFamily="34" charset="0"/>
                        <a:cs typeface="Arial" pitchFamily="34" charset="0"/>
                      </a:endParaRPr>
                    </a:p>
                  </a:txBody>
                  <a:tcPr anchor="ctr"/>
                </a:tc>
                <a:tc hMerge="1">
                  <a:txBody>
                    <a:bodyPr/>
                    <a:lstStyle/>
                    <a:p>
                      <a:pPr algn="ctr"/>
                      <a:endParaRPr lang="pt-BR" sz="850" dirty="0">
                        <a:latin typeface="Arial" pitchFamily="34" charset="0"/>
                        <a:cs typeface="Arial" pitchFamily="34" charset="0"/>
                      </a:endParaRPr>
                    </a:p>
                  </a:txBody>
                  <a:tcPr/>
                </a:tc>
                <a:tc hMerge="1">
                  <a:txBody>
                    <a:bodyPr/>
                    <a:lstStyle/>
                    <a:p>
                      <a:pPr algn="ctr"/>
                      <a:endParaRPr lang="pt-BR" sz="850" dirty="0">
                        <a:latin typeface="Arial" pitchFamily="34" charset="0"/>
                        <a:cs typeface="Arial" pitchFamily="34" charset="0"/>
                      </a:endParaRPr>
                    </a:p>
                  </a:txBody>
                  <a:tcPr/>
                </a:tc>
                <a:tc>
                  <a:txBody>
                    <a:bodyPr/>
                    <a:lstStyle/>
                    <a:p>
                      <a:pPr algn="ctr"/>
                      <a:r>
                        <a:rPr lang="pt-BR" sz="850" dirty="0">
                          <a:latin typeface="Arial" pitchFamily="34" charset="0"/>
                          <a:cs typeface="Arial" pitchFamily="34" charset="0"/>
                        </a:rPr>
                        <a:t>Consumo de gás botijão 13Kg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850" dirty="0">
                          <a:latin typeface="Arial" pitchFamily="34" charset="0"/>
                          <a:cs typeface="Arial" pitchFamily="34" charset="0"/>
                        </a:rPr>
                        <a:t>Consumo de gás botijão 13Kg - </a:t>
                      </a:r>
                      <a:r>
                        <a:rPr lang="pt-BR" sz="850" dirty="0" err="1">
                          <a:latin typeface="Arial" pitchFamily="34" charset="0"/>
                          <a:cs typeface="Arial" pitchFamily="34" charset="0"/>
                        </a:rPr>
                        <a:t>Gratinadores</a:t>
                      </a:r>
                      <a:endParaRPr lang="pt-BR" sz="850" dirty="0">
                        <a:latin typeface="Arial" pitchFamily="34" charset="0"/>
                        <a:cs typeface="Arial" pitchFamily="34" charset="0"/>
                      </a:endParaRPr>
                    </a:p>
                  </a:txBody>
                  <a:tcPr anchor="ctr"/>
                </a:tc>
                <a:extLst>
                  <a:ext uri="{0D108BD9-81ED-4DB2-BD59-A6C34878D82A}">
                    <a16:rowId xmlns:a16="http://schemas.microsoft.com/office/drawing/2014/main" val="10007"/>
                  </a:ext>
                </a:extLst>
              </a:tr>
              <a:tr h="176662">
                <a:tc>
                  <a:txBody>
                    <a:bodyPr/>
                    <a:lstStyle/>
                    <a:p>
                      <a:pPr algn="ctr"/>
                      <a:r>
                        <a:rPr lang="pt-BR" sz="900" b="1" dirty="0">
                          <a:latin typeface="+mn-lt"/>
                          <a:cs typeface="+mn-cs"/>
                        </a:rPr>
                        <a:t>PRODUTO</a:t>
                      </a:r>
                      <a:r>
                        <a:rPr lang="pt-BR" sz="900" b="1" baseline="0" dirty="0">
                          <a:latin typeface="+mn-lt"/>
                          <a:cs typeface="+mn-cs"/>
                        </a:rPr>
                        <a:t> </a:t>
                      </a:r>
                      <a:endParaRPr lang="pt-BR" sz="900" b="1" dirty="0">
                        <a:latin typeface="Arial" pitchFamily="34" charset="0"/>
                        <a:cs typeface="Arial" pitchFamily="34" charset="0"/>
                      </a:endParaRPr>
                    </a:p>
                  </a:txBody>
                  <a:tcPr anchor="ctr"/>
                </a:tc>
                <a:tc>
                  <a:txBody>
                    <a:bodyPr/>
                    <a:lstStyle/>
                    <a:p>
                      <a:pPr algn="ctr"/>
                      <a:r>
                        <a:rPr lang="pt-BR" sz="900" b="1" dirty="0"/>
                        <a:t>A</a:t>
                      </a:r>
                      <a:endParaRPr lang="pt-BR" sz="900" b="1" dirty="0">
                        <a:latin typeface="Arial" pitchFamily="34" charset="0"/>
                        <a:cs typeface="Arial" pitchFamily="34" charset="0"/>
                      </a:endParaRPr>
                    </a:p>
                  </a:txBody>
                  <a:tcPr anchor="ctr"/>
                </a:tc>
                <a:tc>
                  <a:txBody>
                    <a:bodyPr/>
                    <a:lstStyle/>
                    <a:p>
                      <a:pPr algn="ctr"/>
                      <a:r>
                        <a:rPr lang="pt-BR" sz="900" b="1" dirty="0">
                          <a:latin typeface="Arial" pitchFamily="34" charset="0"/>
                          <a:cs typeface="Arial" pitchFamily="34" charset="0"/>
                        </a:rPr>
                        <a:t>L</a:t>
                      </a:r>
                    </a:p>
                  </a:txBody>
                  <a:tcPr anchor="ctr"/>
                </a:tc>
                <a:tc>
                  <a:txBody>
                    <a:bodyPr/>
                    <a:lstStyle/>
                    <a:p>
                      <a:pPr algn="ctr"/>
                      <a:r>
                        <a:rPr lang="pt-BR" sz="900" b="1" dirty="0">
                          <a:latin typeface="Arial" pitchFamily="34" charset="0"/>
                          <a:cs typeface="Arial" pitchFamily="34" charset="0"/>
                        </a:rPr>
                        <a:t>P</a:t>
                      </a:r>
                    </a:p>
                  </a:txBody>
                  <a:tcPr anchor="ctr"/>
                </a:tc>
                <a:tc>
                  <a:txBody>
                    <a:bodyPr/>
                    <a:lstStyle/>
                    <a:p>
                      <a:pPr algn="ctr"/>
                      <a:r>
                        <a:rPr lang="pt-BR" sz="900" b="1" dirty="0"/>
                        <a:t>A</a:t>
                      </a:r>
                      <a:endParaRPr lang="pt-BR" sz="900" b="1" dirty="0">
                        <a:latin typeface="Arial" pitchFamily="34" charset="0"/>
                        <a:cs typeface="Arial" pitchFamily="34" charset="0"/>
                      </a:endParaRPr>
                    </a:p>
                  </a:txBody>
                  <a:tcPr anchor="ctr"/>
                </a:tc>
                <a:tc>
                  <a:txBody>
                    <a:bodyPr/>
                    <a:lstStyle/>
                    <a:p>
                      <a:pPr algn="ctr"/>
                      <a:r>
                        <a:rPr lang="pt-BR" sz="900" b="1" dirty="0">
                          <a:latin typeface="Arial" pitchFamily="34" charset="0"/>
                          <a:cs typeface="Arial" pitchFamily="34" charset="0"/>
                        </a:rPr>
                        <a:t>L</a:t>
                      </a:r>
                    </a:p>
                  </a:txBody>
                  <a:tcPr anchor="ctr"/>
                </a:tc>
                <a:tc>
                  <a:txBody>
                    <a:bodyPr/>
                    <a:lstStyle/>
                    <a:p>
                      <a:pPr algn="ctr"/>
                      <a:r>
                        <a:rPr lang="pt-BR" sz="900" b="1" dirty="0">
                          <a:latin typeface="Arial" pitchFamily="34" charset="0"/>
                          <a:cs typeface="Arial" pitchFamily="34" charset="0"/>
                        </a:rPr>
                        <a:t>P</a:t>
                      </a:r>
                    </a:p>
                  </a:txBody>
                  <a:tcPr anchor="ctr"/>
                </a:tc>
                <a:tc>
                  <a:txBody>
                    <a:bodyPr/>
                    <a:lstStyle/>
                    <a:p>
                      <a:pPr algn="ctr"/>
                      <a:r>
                        <a:rPr lang="pt-BR" sz="900" b="1" dirty="0">
                          <a:latin typeface="Arial" pitchFamily="34" charset="0"/>
                          <a:cs typeface="Arial" pitchFamily="34" charset="0"/>
                        </a:rPr>
                        <a:t>Kg/h </a:t>
                      </a:r>
                    </a:p>
                  </a:txBody>
                  <a:tcPr anchor="ctr"/>
                </a:tc>
                <a:tc>
                  <a:txBody>
                    <a:bodyPr/>
                    <a:lstStyle/>
                    <a:p>
                      <a:pPr algn="ctr"/>
                      <a:r>
                        <a:rPr lang="pt-BR" sz="900" b="1" dirty="0">
                          <a:latin typeface="Arial" pitchFamily="34" charset="0"/>
                          <a:cs typeface="Arial" pitchFamily="34" charset="0"/>
                        </a:rPr>
                        <a:t>Kg/h</a:t>
                      </a:r>
                    </a:p>
                  </a:txBody>
                  <a:tcPr anchor="ctr"/>
                </a:tc>
                <a:extLst>
                  <a:ext uri="{0D108BD9-81ED-4DB2-BD59-A6C34878D82A}">
                    <a16:rowId xmlns:a16="http://schemas.microsoft.com/office/drawing/2014/main" val="10000"/>
                  </a:ext>
                </a:extLst>
              </a:tr>
              <a:tr h="180000">
                <a:tc>
                  <a:txBody>
                    <a:bodyPr/>
                    <a:lstStyle/>
                    <a:p>
                      <a:r>
                        <a:rPr lang="pt-BR" sz="800" b="0" dirty="0">
                          <a:solidFill>
                            <a:srgbClr val="3A250C"/>
                          </a:solidFill>
                          <a:effectLst/>
                          <a:latin typeface="Arial"/>
                        </a:rPr>
                        <a:t>Forno PRP 770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735</a:t>
                      </a:r>
                    </a:p>
                  </a:txBody>
                  <a:tcPr marL="38100" marR="38100" marT="47625" marB="9525"/>
                </a:tc>
                <a:tc>
                  <a:txBody>
                    <a:bodyPr/>
                    <a:lstStyle/>
                    <a:p>
                      <a:r>
                        <a:rPr lang="pt-BR" sz="800" b="0" dirty="0">
                          <a:solidFill>
                            <a:srgbClr val="3A250C"/>
                          </a:solidFill>
                          <a:effectLst/>
                          <a:latin typeface="Arial"/>
                        </a:rPr>
                        <a:t>775</a:t>
                      </a:r>
                    </a:p>
                  </a:txBody>
                  <a:tcPr marL="38100" marR="38100" marT="47625" marB="9525"/>
                </a:tc>
                <a:tc>
                  <a:txBody>
                    <a:bodyPr/>
                    <a:lstStyle/>
                    <a:p>
                      <a:pPr algn="ctr"/>
                      <a:r>
                        <a:rPr lang="pt-BR" sz="800" b="0" dirty="0">
                          <a:solidFill>
                            <a:srgbClr val="3A250C"/>
                          </a:solidFill>
                          <a:effectLst/>
                          <a:latin typeface="Arial"/>
                        </a:rPr>
                        <a:t>1235</a:t>
                      </a:r>
                    </a:p>
                  </a:txBody>
                  <a:tcPr marL="38100" marR="38100" marT="47625" marB="9525"/>
                </a:tc>
                <a:tc>
                  <a:txBody>
                    <a:bodyPr/>
                    <a:lstStyle/>
                    <a:p>
                      <a:r>
                        <a:rPr lang="pt-BR" sz="800" b="0" dirty="0">
                          <a:solidFill>
                            <a:srgbClr val="3A250C"/>
                          </a:solidFill>
                          <a:effectLst/>
                          <a:latin typeface="Arial"/>
                        </a:rPr>
                        <a:t>830</a:t>
                      </a:r>
                    </a:p>
                  </a:txBody>
                  <a:tcPr marL="38100" marR="38100" marT="47625" marB="9525"/>
                </a:tc>
                <a:tc>
                  <a:txBody>
                    <a:bodyPr/>
                    <a:lstStyle/>
                    <a:p>
                      <a:r>
                        <a:rPr lang="pt-BR" sz="800" b="0" dirty="0">
                          <a:solidFill>
                            <a:srgbClr val="3A250C"/>
                          </a:solidFill>
                          <a:effectLst/>
                          <a:latin typeface="Arial"/>
                        </a:rPr>
                        <a:t>800</a:t>
                      </a:r>
                    </a:p>
                  </a:txBody>
                  <a:tcPr marL="38100" marR="38100" marT="47625" marB="9525"/>
                </a:tc>
                <a:tc>
                  <a:txBody>
                    <a:bodyPr/>
                    <a:lstStyle/>
                    <a:p>
                      <a:pPr algn="ctr"/>
                      <a:r>
                        <a:rPr lang="pt-BR" sz="800" b="0" dirty="0">
                          <a:solidFill>
                            <a:srgbClr val="3A250C"/>
                          </a:solidFill>
                          <a:effectLst/>
                          <a:latin typeface="Arial"/>
                        </a:rPr>
                        <a:t>0,660</a:t>
                      </a:r>
                    </a:p>
                  </a:txBody>
                  <a:tcPr marL="38100" marR="38100" marT="47625" marB="9525"/>
                </a:tc>
                <a:tc>
                  <a:txBody>
                    <a:bodyPr/>
                    <a:lstStyle/>
                    <a:p>
                      <a:pPr algn="ctr"/>
                      <a:r>
                        <a:rPr lang="pt-BR" sz="800" b="1" dirty="0">
                          <a:solidFill>
                            <a:srgbClr val="3A250C"/>
                          </a:solidFill>
                          <a:effectLst/>
                          <a:latin typeface="Arial"/>
                        </a:rPr>
                        <a:t>0,300</a:t>
                      </a:r>
                    </a:p>
                  </a:txBody>
                  <a:tcPr marL="38100" marR="38100" marT="47625" marB="9525"/>
                </a:tc>
                <a:extLst>
                  <a:ext uri="{0D108BD9-81ED-4DB2-BD59-A6C34878D82A}">
                    <a16:rowId xmlns:a16="http://schemas.microsoft.com/office/drawing/2014/main" val="10001"/>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900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925</a:t>
                      </a:r>
                    </a:p>
                  </a:txBody>
                  <a:tcPr marL="38100" marR="38100" marT="47625" marB="9525"/>
                </a:tc>
                <a:tc>
                  <a:txBody>
                    <a:bodyPr/>
                    <a:lstStyle/>
                    <a:p>
                      <a:r>
                        <a:rPr lang="pt-BR" sz="800" b="0" dirty="0">
                          <a:solidFill>
                            <a:srgbClr val="3A250C"/>
                          </a:solidFill>
                          <a:effectLst/>
                          <a:latin typeface="Arial"/>
                        </a:rPr>
                        <a:t>895</a:t>
                      </a:r>
                    </a:p>
                  </a:txBody>
                  <a:tcPr marL="38100" marR="38100" marT="47625" marB="9525"/>
                </a:tc>
                <a:tc>
                  <a:txBody>
                    <a:bodyPr/>
                    <a:lstStyle/>
                    <a:p>
                      <a:r>
                        <a:rPr lang="pt-BR" sz="800" b="0" dirty="0">
                          <a:solidFill>
                            <a:srgbClr val="3A250C"/>
                          </a:solidFill>
                          <a:effectLst/>
                          <a:latin typeface="Arial"/>
                        </a:rPr>
                        <a:t>1235</a:t>
                      </a:r>
                    </a:p>
                  </a:txBody>
                  <a:tcPr marL="38100" marR="38100" marT="47625" marB="9525"/>
                </a:tc>
                <a:tc>
                  <a:txBody>
                    <a:bodyPr/>
                    <a:lstStyle/>
                    <a:p>
                      <a:r>
                        <a:rPr lang="pt-BR" sz="800" b="0" dirty="0">
                          <a:solidFill>
                            <a:srgbClr val="3A250C"/>
                          </a:solidFill>
                          <a:effectLst/>
                          <a:latin typeface="Arial"/>
                        </a:rPr>
                        <a:t>1030</a:t>
                      </a:r>
                    </a:p>
                  </a:txBody>
                  <a:tcPr marL="38100" marR="38100" marT="47625" marB="9525"/>
                </a:tc>
                <a:tc>
                  <a:txBody>
                    <a:bodyPr/>
                    <a:lstStyle/>
                    <a:p>
                      <a:r>
                        <a:rPr lang="pt-BR" sz="800" b="0" dirty="0">
                          <a:solidFill>
                            <a:srgbClr val="3A250C"/>
                          </a:solidFill>
                          <a:effectLst/>
                          <a:latin typeface="Arial"/>
                        </a:rPr>
                        <a:t>930</a:t>
                      </a:r>
                    </a:p>
                  </a:txBody>
                  <a:tcPr marL="38100" marR="38100" marT="47625" marB="9525"/>
                </a:tc>
                <a:tc>
                  <a:txBody>
                    <a:bodyPr/>
                    <a:lstStyle/>
                    <a:p>
                      <a:pPr algn="ctr"/>
                      <a:r>
                        <a:rPr lang="pt-BR" sz="800" b="0" dirty="0">
                          <a:solidFill>
                            <a:srgbClr val="3A250C"/>
                          </a:solidFill>
                          <a:effectLst/>
                          <a:latin typeface="Arial"/>
                        </a:rPr>
                        <a:t>1,110</a:t>
                      </a:r>
                    </a:p>
                  </a:txBody>
                  <a:tcPr marL="38100" marR="38100" marT="47625" marB="9525"/>
                </a:tc>
                <a:tc>
                  <a:txBody>
                    <a:bodyPr/>
                    <a:lstStyle/>
                    <a:p>
                      <a:pPr algn="ctr"/>
                      <a:r>
                        <a:rPr lang="pt-BR" sz="800" b="1" dirty="0">
                          <a:solidFill>
                            <a:srgbClr val="3A250C"/>
                          </a:solidFill>
                          <a:effectLst/>
                          <a:latin typeface="Arial"/>
                        </a:rPr>
                        <a:t>0,300</a:t>
                      </a:r>
                    </a:p>
                  </a:txBody>
                  <a:tcPr marL="38100" marR="38100" marT="47625" marB="9525"/>
                </a:tc>
                <a:extLst>
                  <a:ext uri="{0D108BD9-81ED-4DB2-BD59-A6C34878D82A}">
                    <a16:rowId xmlns:a16="http://schemas.microsoft.com/office/drawing/2014/main" val="10002"/>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1300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1200</a:t>
                      </a:r>
                    </a:p>
                  </a:txBody>
                  <a:tcPr marL="38100" marR="38100" marT="47625" marB="9525"/>
                </a:tc>
                <a:tc>
                  <a:txBody>
                    <a:bodyPr/>
                    <a:lstStyle/>
                    <a:p>
                      <a:r>
                        <a:rPr lang="pt-BR" sz="800" b="0" dirty="0">
                          <a:solidFill>
                            <a:srgbClr val="3A250C"/>
                          </a:solidFill>
                          <a:effectLst/>
                          <a:latin typeface="Arial"/>
                        </a:rPr>
                        <a:t>800</a:t>
                      </a:r>
                    </a:p>
                  </a:txBody>
                  <a:tcPr marL="38100" marR="38100" marT="47625" marB="9525"/>
                </a:tc>
                <a:tc>
                  <a:txBody>
                    <a:bodyPr/>
                    <a:lstStyle/>
                    <a:p>
                      <a:r>
                        <a:rPr lang="pt-BR" sz="800" b="0" dirty="0">
                          <a:solidFill>
                            <a:srgbClr val="3A250C"/>
                          </a:solidFill>
                          <a:effectLst/>
                          <a:latin typeface="Arial"/>
                        </a:rPr>
                        <a:t>1235</a:t>
                      </a:r>
                    </a:p>
                  </a:txBody>
                  <a:tcPr marL="38100" marR="38100" marT="47625" marB="9525"/>
                </a:tc>
                <a:tc>
                  <a:txBody>
                    <a:bodyPr/>
                    <a:lstStyle/>
                    <a:p>
                      <a:r>
                        <a:rPr lang="pt-BR" sz="800" b="0" dirty="0">
                          <a:solidFill>
                            <a:srgbClr val="3A250C"/>
                          </a:solidFill>
                          <a:effectLst/>
                          <a:latin typeface="Arial"/>
                        </a:rPr>
                        <a:t>1300</a:t>
                      </a:r>
                    </a:p>
                  </a:txBody>
                  <a:tcPr marL="38100" marR="38100" marT="47625" marB="9525"/>
                </a:tc>
                <a:tc>
                  <a:txBody>
                    <a:bodyPr/>
                    <a:lstStyle/>
                    <a:p>
                      <a:r>
                        <a:rPr lang="pt-BR" sz="800" b="0" dirty="0">
                          <a:solidFill>
                            <a:srgbClr val="3A250C"/>
                          </a:solidFill>
                          <a:effectLst/>
                          <a:latin typeface="Arial"/>
                        </a:rPr>
                        <a:t>830</a:t>
                      </a:r>
                    </a:p>
                  </a:txBody>
                  <a:tcPr marL="38100" marR="38100" marT="47625" marB="9525"/>
                </a:tc>
                <a:tc>
                  <a:txBody>
                    <a:bodyPr/>
                    <a:lstStyle/>
                    <a:p>
                      <a:pPr algn="ctr"/>
                      <a:r>
                        <a:rPr lang="pt-BR" sz="800" b="0" dirty="0">
                          <a:solidFill>
                            <a:srgbClr val="3A250C"/>
                          </a:solidFill>
                          <a:effectLst/>
                          <a:latin typeface="Arial"/>
                        </a:rPr>
                        <a:t>1,410 </a:t>
                      </a:r>
                    </a:p>
                  </a:txBody>
                  <a:tcPr marL="38100" marR="38100" marT="47625" marB="9525"/>
                </a:tc>
                <a:tc>
                  <a:txBody>
                    <a:bodyPr/>
                    <a:lstStyle/>
                    <a:p>
                      <a:pPr algn="ctr"/>
                      <a:r>
                        <a:rPr lang="pt-BR" sz="800" b="1" dirty="0">
                          <a:solidFill>
                            <a:srgbClr val="3A250C"/>
                          </a:solidFill>
                          <a:effectLst/>
                          <a:latin typeface="Arial"/>
                        </a:rPr>
                        <a:t>0,300</a:t>
                      </a:r>
                    </a:p>
                  </a:txBody>
                  <a:tcPr marL="38100" marR="38100" marT="47625" marB="9525"/>
                </a:tc>
                <a:extLst>
                  <a:ext uri="{0D108BD9-81ED-4DB2-BD59-A6C34878D82A}">
                    <a16:rowId xmlns:a16="http://schemas.microsoft.com/office/drawing/2014/main" val="10003"/>
                  </a:ext>
                </a:extLst>
              </a:tr>
              <a:tr h="180000">
                <a:tc>
                  <a:txBody>
                    <a:bodyPr/>
                    <a:lstStyle/>
                    <a:p>
                      <a:r>
                        <a:rPr lang="pt-BR" sz="800" b="0" dirty="0">
                          <a:solidFill>
                            <a:srgbClr val="3A250C"/>
                          </a:solidFill>
                          <a:effectLst/>
                          <a:latin typeface="Arial"/>
                        </a:rPr>
                        <a:t>Forno PRP 770 duplo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735</a:t>
                      </a:r>
                    </a:p>
                  </a:txBody>
                  <a:tcPr marL="38100" marR="38100" marT="47625" marB="9525"/>
                </a:tc>
                <a:tc>
                  <a:txBody>
                    <a:bodyPr/>
                    <a:lstStyle/>
                    <a:p>
                      <a:r>
                        <a:rPr lang="pt-BR" sz="800" b="0" dirty="0">
                          <a:solidFill>
                            <a:srgbClr val="3A250C"/>
                          </a:solidFill>
                          <a:effectLst/>
                          <a:latin typeface="Arial"/>
                        </a:rPr>
                        <a:t>775</a:t>
                      </a:r>
                    </a:p>
                  </a:txBody>
                  <a:tcPr marL="38100" marR="38100" marT="47625" marB="9525"/>
                </a:tc>
                <a:tc>
                  <a:txBody>
                    <a:bodyPr/>
                    <a:lstStyle/>
                    <a:p>
                      <a:r>
                        <a:rPr lang="pt-BR" sz="800" b="0" dirty="0">
                          <a:solidFill>
                            <a:srgbClr val="3A250C"/>
                          </a:solidFill>
                          <a:effectLst/>
                          <a:latin typeface="Arial"/>
                        </a:rPr>
                        <a:t>1835</a:t>
                      </a:r>
                    </a:p>
                  </a:txBody>
                  <a:tcPr marL="38100" marR="38100" marT="47625" marB="9525"/>
                </a:tc>
                <a:tc>
                  <a:txBody>
                    <a:bodyPr/>
                    <a:lstStyle/>
                    <a:p>
                      <a:r>
                        <a:rPr lang="pt-BR" sz="800" b="0" dirty="0">
                          <a:solidFill>
                            <a:srgbClr val="3A250C"/>
                          </a:solidFill>
                          <a:effectLst/>
                          <a:latin typeface="Arial"/>
                        </a:rPr>
                        <a:t>830</a:t>
                      </a:r>
                    </a:p>
                  </a:txBody>
                  <a:tcPr marL="38100" marR="38100" marT="47625" marB="9525"/>
                </a:tc>
                <a:tc>
                  <a:txBody>
                    <a:bodyPr/>
                    <a:lstStyle/>
                    <a:p>
                      <a:r>
                        <a:rPr lang="pt-BR" sz="800" b="0" dirty="0">
                          <a:solidFill>
                            <a:srgbClr val="3A250C"/>
                          </a:solidFill>
                          <a:effectLst/>
                          <a:latin typeface="Arial"/>
                        </a:rPr>
                        <a:t>800</a:t>
                      </a:r>
                    </a:p>
                  </a:txBody>
                  <a:tcPr marL="38100" marR="38100" marT="47625" marB="9525"/>
                </a:tc>
                <a:tc>
                  <a:txBody>
                    <a:bodyPr/>
                    <a:lstStyle/>
                    <a:p>
                      <a:pPr algn="ctr"/>
                      <a:r>
                        <a:rPr lang="pt-BR" sz="800" b="0" dirty="0">
                          <a:solidFill>
                            <a:srgbClr val="3A250C"/>
                          </a:solidFill>
                          <a:effectLst/>
                          <a:latin typeface="Arial"/>
                        </a:rPr>
                        <a:t>1,320</a:t>
                      </a:r>
                    </a:p>
                  </a:txBody>
                  <a:tcPr marL="38100" marR="38100" marT="47625" marB="9525"/>
                </a:tc>
                <a:tc>
                  <a:txBody>
                    <a:bodyPr/>
                    <a:lstStyle/>
                    <a:p>
                      <a:pPr algn="ctr"/>
                      <a:r>
                        <a:rPr lang="pt-BR" sz="800" b="1" dirty="0">
                          <a:solidFill>
                            <a:srgbClr val="3A250C"/>
                          </a:solidFill>
                          <a:effectLst/>
                          <a:latin typeface="Arial"/>
                        </a:rPr>
                        <a:t>-</a:t>
                      </a:r>
                    </a:p>
                  </a:txBody>
                  <a:tcPr marL="38100" marR="38100" marT="47625" marB="9525"/>
                </a:tc>
                <a:extLst>
                  <a:ext uri="{0D108BD9-81ED-4DB2-BD59-A6C34878D82A}">
                    <a16:rowId xmlns:a16="http://schemas.microsoft.com/office/drawing/2014/main" val="10004"/>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900 duplo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925</a:t>
                      </a:r>
                    </a:p>
                  </a:txBody>
                  <a:tcPr marL="38100" marR="38100" marT="47625" marB="9525"/>
                </a:tc>
                <a:tc>
                  <a:txBody>
                    <a:bodyPr/>
                    <a:lstStyle/>
                    <a:p>
                      <a:r>
                        <a:rPr lang="pt-BR" sz="800" b="0" dirty="0">
                          <a:solidFill>
                            <a:srgbClr val="3A250C"/>
                          </a:solidFill>
                          <a:effectLst/>
                          <a:latin typeface="Arial"/>
                        </a:rPr>
                        <a:t>898</a:t>
                      </a:r>
                    </a:p>
                  </a:txBody>
                  <a:tcPr marL="38100" marR="38100" marT="47625" marB="9525"/>
                </a:tc>
                <a:tc>
                  <a:txBody>
                    <a:bodyPr/>
                    <a:lstStyle/>
                    <a:p>
                      <a:r>
                        <a:rPr lang="pt-BR" sz="800" b="0" dirty="0">
                          <a:solidFill>
                            <a:srgbClr val="3A250C"/>
                          </a:solidFill>
                          <a:effectLst/>
                          <a:latin typeface="Arial"/>
                        </a:rPr>
                        <a:t>1835</a:t>
                      </a:r>
                    </a:p>
                  </a:txBody>
                  <a:tcPr marL="38100" marR="38100" marT="47625" marB="9525"/>
                </a:tc>
                <a:tc>
                  <a:txBody>
                    <a:bodyPr/>
                    <a:lstStyle/>
                    <a:p>
                      <a:r>
                        <a:rPr lang="pt-BR" sz="800" b="0" dirty="0">
                          <a:solidFill>
                            <a:srgbClr val="3A250C"/>
                          </a:solidFill>
                          <a:effectLst/>
                          <a:latin typeface="Arial"/>
                        </a:rPr>
                        <a:t>1030</a:t>
                      </a:r>
                    </a:p>
                  </a:txBody>
                  <a:tcPr marL="38100" marR="38100" marT="47625" marB="9525"/>
                </a:tc>
                <a:tc>
                  <a:txBody>
                    <a:bodyPr/>
                    <a:lstStyle/>
                    <a:p>
                      <a:r>
                        <a:rPr lang="pt-BR" sz="800" b="0" dirty="0">
                          <a:solidFill>
                            <a:srgbClr val="3A250C"/>
                          </a:solidFill>
                          <a:effectLst/>
                          <a:latin typeface="Arial"/>
                        </a:rPr>
                        <a:t>930</a:t>
                      </a:r>
                    </a:p>
                  </a:txBody>
                  <a:tcPr marL="38100" marR="38100" marT="47625" marB="9525"/>
                </a:tc>
                <a:tc>
                  <a:txBody>
                    <a:bodyPr/>
                    <a:lstStyle/>
                    <a:p>
                      <a:pPr algn="ctr"/>
                      <a:r>
                        <a:rPr lang="pt-BR" sz="800" b="0" dirty="0">
                          <a:solidFill>
                            <a:srgbClr val="3A250C"/>
                          </a:solidFill>
                          <a:effectLst/>
                          <a:latin typeface="Arial"/>
                        </a:rPr>
                        <a:t>2,220</a:t>
                      </a:r>
                    </a:p>
                  </a:txBody>
                  <a:tcPr marL="38100" marR="38100" marT="47625" marB="9525"/>
                </a:tc>
                <a:tc>
                  <a:txBody>
                    <a:bodyPr/>
                    <a:lstStyle/>
                    <a:p>
                      <a:pPr algn="ctr"/>
                      <a:r>
                        <a:rPr lang="pt-BR" sz="800" b="1" dirty="0">
                          <a:solidFill>
                            <a:srgbClr val="3A250C"/>
                          </a:solidFill>
                          <a:effectLst/>
                          <a:latin typeface="Arial"/>
                        </a:rPr>
                        <a:t>-</a:t>
                      </a:r>
                    </a:p>
                  </a:txBody>
                  <a:tcPr marL="38100" marR="38100" marT="47625" marB="9525"/>
                </a:tc>
                <a:extLst>
                  <a:ext uri="{0D108BD9-81ED-4DB2-BD59-A6C34878D82A}">
                    <a16:rowId xmlns:a16="http://schemas.microsoft.com/office/drawing/2014/main" val="10005"/>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1300 duplo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1200</a:t>
                      </a:r>
                    </a:p>
                  </a:txBody>
                  <a:tcPr marL="38100" marR="38100" marT="47625" marB="9525"/>
                </a:tc>
                <a:tc>
                  <a:txBody>
                    <a:bodyPr/>
                    <a:lstStyle/>
                    <a:p>
                      <a:r>
                        <a:rPr lang="pt-BR" sz="800" b="0" dirty="0">
                          <a:solidFill>
                            <a:srgbClr val="3A250C"/>
                          </a:solidFill>
                          <a:effectLst/>
                          <a:latin typeface="Arial"/>
                        </a:rPr>
                        <a:t>800</a:t>
                      </a:r>
                    </a:p>
                  </a:txBody>
                  <a:tcPr marL="38100" marR="38100" marT="47625" marB="9525"/>
                </a:tc>
                <a:tc>
                  <a:txBody>
                    <a:bodyPr/>
                    <a:lstStyle/>
                    <a:p>
                      <a:r>
                        <a:rPr lang="pt-BR" sz="800" b="0" dirty="0">
                          <a:solidFill>
                            <a:srgbClr val="3A250C"/>
                          </a:solidFill>
                          <a:effectLst/>
                          <a:latin typeface="Arial"/>
                        </a:rPr>
                        <a:t>1835</a:t>
                      </a:r>
                    </a:p>
                  </a:txBody>
                  <a:tcPr marL="38100" marR="38100" marT="47625" marB="9525"/>
                </a:tc>
                <a:tc>
                  <a:txBody>
                    <a:bodyPr/>
                    <a:lstStyle/>
                    <a:p>
                      <a:r>
                        <a:rPr lang="pt-BR" sz="800" b="0" dirty="0">
                          <a:solidFill>
                            <a:srgbClr val="3A250C"/>
                          </a:solidFill>
                          <a:effectLst/>
                          <a:latin typeface="Arial"/>
                        </a:rPr>
                        <a:t>1300</a:t>
                      </a:r>
                    </a:p>
                  </a:txBody>
                  <a:tcPr marL="38100" marR="38100" marT="47625" marB="9525"/>
                </a:tc>
                <a:tc>
                  <a:txBody>
                    <a:bodyPr/>
                    <a:lstStyle/>
                    <a:p>
                      <a:r>
                        <a:rPr lang="pt-BR" sz="800" b="0" dirty="0">
                          <a:solidFill>
                            <a:srgbClr val="3A250C"/>
                          </a:solidFill>
                          <a:effectLst/>
                          <a:latin typeface="Arial"/>
                        </a:rPr>
                        <a:t>830</a:t>
                      </a:r>
                    </a:p>
                  </a:txBody>
                  <a:tcPr marL="38100" marR="38100" marT="47625" marB="9525"/>
                </a:tc>
                <a:tc>
                  <a:txBody>
                    <a:bodyPr/>
                    <a:lstStyle/>
                    <a:p>
                      <a:pPr algn="ctr"/>
                      <a:r>
                        <a:rPr lang="pt-BR" sz="800" b="0" dirty="0">
                          <a:solidFill>
                            <a:srgbClr val="3A250C"/>
                          </a:solidFill>
                          <a:effectLst/>
                          <a:latin typeface="Arial"/>
                        </a:rPr>
                        <a:t>2,820</a:t>
                      </a:r>
                    </a:p>
                  </a:txBody>
                  <a:tcPr marL="38100" marR="38100" marT="47625" marB="9525"/>
                </a:tc>
                <a:tc>
                  <a:txBody>
                    <a:bodyPr/>
                    <a:lstStyle/>
                    <a:p>
                      <a:pPr algn="ctr"/>
                      <a:r>
                        <a:rPr lang="pt-BR" sz="800" b="1" dirty="0">
                          <a:solidFill>
                            <a:srgbClr val="3A250C"/>
                          </a:solidFill>
                          <a:effectLst/>
                          <a:latin typeface="Arial"/>
                        </a:rPr>
                        <a:t>-</a:t>
                      </a:r>
                    </a:p>
                  </a:txBody>
                  <a:tcPr marL="38100" marR="38100" marT="47625" marB="9525"/>
                </a:tc>
                <a:extLst>
                  <a:ext uri="{0D108BD9-81ED-4DB2-BD59-A6C34878D82A}">
                    <a16:rowId xmlns:a16="http://schemas.microsoft.com/office/drawing/2014/main" val="10006"/>
                  </a:ext>
                </a:extLst>
              </a:tr>
              <a:tr h="18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800" b="0" dirty="0">
                          <a:solidFill>
                            <a:srgbClr val="3A250C"/>
                          </a:solidFill>
                          <a:effectLst/>
                          <a:latin typeface="Arial"/>
                        </a:rPr>
                        <a:t>Forno PRP 1300 SLIM inox/pintado</a:t>
                      </a:r>
                    </a:p>
                  </a:txBody>
                  <a:tcPr marL="38100" marR="38100" marT="47625" marB="9525"/>
                </a:tc>
                <a:tc>
                  <a:txBody>
                    <a:bodyPr/>
                    <a:lstStyle/>
                    <a:p>
                      <a:r>
                        <a:rPr lang="pt-BR" sz="800" b="0" dirty="0">
                          <a:solidFill>
                            <a:srgbClr val="3A250C"/>
                          </a:solidFill>
                          <a:effectLst/>
                          <a:latin typeface="Arial"/>
                        </a:rPr>
                        <a:t>345</a:t>
                      </a:r>
                    </a:p>
                  </a:txBody>
                  <a:tcPr marL="38100" marR="38100" marT="47625" marB="9525"/>
                </a:tc>
                <a:tc>
                  <a:txBody>
                    <a:bodyPr/>
                    <a:lstStyle/>
                    <a:p>
                      <a:r>
                        <a:rPr lang="pt-BR" sz="800" b="0" dirty="0">
                          <a:solidFill>
                            <a:srgbClr val="3A250C"/>
                          </a:solidFill>
                          <a:effectLst/>
                          <a:latin typeface="Arial"/>
                        </a:rPr>
                        <a:t>1250</a:t>
                      </a:r>
                    </a:p>
                  </a:txBody>
                  <a:tcPr marL="38100" marR="38100" marT="47625" marB="9525"/>
                </a:tc>
                <a:tc>
                  <a:txBody>
                    <a:bodyPr/>
                    <a:lstStyle/>
                    <a:p>
                      <a:r>
                        <a:rPr lang="pt-BR" sz="800" b="0" dirty="0">
                          <a:solidFill>
                            <a:srgbClr val="3A250C"/>
                          </a:solidFill>
                          <a:effectLst/>
                          <a:latin typeface="Arial"/>
                        </a:rPr>
                        <a:t>700</a:t>
                      </a:r>
                    </a:p>
                  </a:txBody>
                  <a:tcPr marL="38100" marR="38100" marT="47625" marB="9525"/>
                </a:tc>
                <a:tc>
                  <a:txBody>
                    <a:bodyPr/>
                    <a:lstStyle/>
                    <a:p>
                      <a:r>
                        <a:rPr lang="pt-BR" sz="800" b="0" dirty="0">
                          <a:solidFill>
                            <a:srgbClr val="3A250C"/>
                          </a:solidFill>
                          <a:effectLst/>
                          <a:latin typeface="Arial"/>
                        </a:rPr>
                        <a:t>1235</a:t>
                      </a:r>
                    </a:p>
                  </a:txBody>
                  <a:tcPr marL="38100" marR="38100" marT="47625" marB="9525"/>
                </a:tc>
                <a:tc>
                  <a:txBody>
                    <a:bodyPr/>
                    <a:lstStyle/>
                    <a:p>
                      <a:r>
                        <a:rPr lang="pt-BR" sz="800" b="0" dirty="0">
                          <a:solidFill>
                            <a:srgbClr val="3A250C"/>
                          </a:solidFill>
                          <a:effectLst/>
                          <a:latin typeface="Arial"/>
                        </a:rPr>
                        <a:t>1350</a:t>
                      </a:r>
                    </a:p>
                  </a:txBody>
                  <a:tcPr marL="38100" marR="38100" marT="47625" marB="9525"/>
                </a:tc>
                <a:tc>
                  <a:txBody>
                    <a:bodyPr/>
                    <a:lstStyle/>
                    <a:p>
                      <a:r>
                        <a:rPr lang="pt-BR" sz="800" b="0" dirty="0">
                          <a:solidFill>
                            <a:srgbClr val="3A250C"/>
                          </a:solidFill>
                          <a:effectLst/>
                          <a:latin typeface="Arial"/>
                        </a:rPr>
                        <a:t>730</a:t>
                      </a:r>
                    </a:p>
                  </a:txBody>
                  <a:tcPr marL="38100" marR="38100" marT="47625" marB="9525"/>
                </a:tc>
                <a:tc>
                  <a:txBody>
                    <a:bodyPr/>
                    <a:lstStyle/>
                    <a:p>
                      <a:pPr algn="ctr"/>
                      <a:r>
                        <a:rPr lang="pt-BR" sz="800" b="0" dirty="0">
                          <a:solidFill>
                            <a:srgbClr val="3A250C"/>
                          </a:solidFill>
                          <a:effectLst/>
                          <a:latin typeface="Arial"/>
                        </a:rPr>
                        <a:t>1,080</a:t>
                      </a:r>
                    </a:p>
                  </a:txBody>
                  <a:tcPr marL="38100" marR="38100" marT="47625" marB="9525"/>
                </a:tc>
                <a:tc>
                  <a:txBody>
                    <a:bodyPr/>
                    <a:lstStyle/>
                    <a:p>
                      <a:pPr algn="ctr"/>
                      <a:r>
                        <a:rPr lang="pt-BR" sz="800" b="1" dirty="0">
                          <a:solidFill>
                            <a:srgbClr val="3A250C"/>
                          </a:solidFill>
                          <a:effectLst/>
                          <a:latin typeface="Arial"/>
                        </a:rPr>
                        <a:t>-</a:t>
                      </a:r>
                    </a:p>
                  </a:txBody>
                  <a:tcPr marL="38100" marR="38100" marT="47625" marB="9525"/>
                </a:tc>
                <a:extLst>
                  <a:ext uri="{0D108BD9-81ED-4DB2-BD59-A6C34878D82A}">
                    <a16:rowId xmlns:a16="http://schemas.microsoft.com/office/drawing/2014/main" val="1251211688"/>
                  </a:ext>
                </a:extLst>
              </a:tr>
            </a:tbl>
          </a:graphicData>
        </a:graphic>
      </p:graphicFrame>
      <p:cxnSp>
        <p:nvCxnSpPr>
          <p:cNvPr id="4" name="Conector de seta reta 3"/>
          <p:cNvCxnSpPr>
            <a:cxnSpLocks/>
          </p:cNvCxnSpPr>
          <p:nvPr/>
        </p:nvCxnSpPr>
        <p:spPr>
          <a:xfrm>
            <a:off x="2827088" y="4212679"/>
            <a:ext cx="3452" cy="281773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Conector de seta reta 7"/>
          <p:cNvCxnSpPr>
            <a:cxnSpLocks/>
          </p:cNvCxnSpPr>
          <p:nvPr/>
        </p:nvCxnSpPr>
        <p:spPr>
          <a:xfrm>
            <a:off x="3114624" y="4068663"/>
            <a:ext cx="187171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p:cNvCxnSpPr>
            <a:cxnSpLocks/>
          </p:cNvCxnSpPr>
          <p:nvPr/>
        </p:nvCxnSpPr>
        <p:spPr>
          <a:xfrm flipV="1">
            <a:off x="2970113" y="6156895"/>
            <a:ext cx="289023" cy="74081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CaixaDeTexto 15"/>
          <p:cNvSpPr txBox="1"/>
          <p:nvPr/>
        </p:nvSpPr>
        <p:spPr>
          <a:xfrm>
            <a:off x="3618185" y="3879061"/>
            <a:ext cx="1080120" cy="261610"/>
          </a:xfrm>
          <a:prstGeom prst="rect">
            <a:avLst/>
          </a:prstGeom>
          <a:noFill/>
        </p:spPr>
        <p:txBody>
          <a:bodyPr wrap="square" rtlCol="0">
            <a:spAutoFit/>
          </a:bodyPr>
          <a:lstStyle/>
          <a:p>
            <a:r>
              <a:rPr lang="pt-BR" sz="1050" dirty="0"/>
              <a:t>Largura</a:t>
            </a:r>
          </a:p>
        </p:txBody>
      </p:sp>
      <p:sp>
        <p:nvSpPr>
          <p:cNvPr id="20" name="CaixaDeTexto 19"/>
          <p:cNvSpPr txBox="1"/>
          <p:nvPr/>
        </p:nvSpPr>
        <p:spPr>
          <a:xfrm>
            <a:off x="2560742" y="4401598"/>
            <a:ext cx="346249" cy="864329"/>
          </a:xfrm>
          <a:prstGeom prst="rect">
            <a:avLst/>
          </a:prstGeom>
          <a:noFill/>
        </p:spPr>
        <p:txBody>
          <a:bodyPr vert="vert270" wrap="square" rtlCol="0">
            <a:spAutoFit/>
          </a:bodyPr>
          <a:lstStyle/>
          <a:p>
            <a:r>
              <a:rPr lang="pt-BR" sz="1050" dirty="0"/>
              <a:t>Altura</a:t>
            </a:r>
          </a:p>
        </p:txBody>
      </p:sp>
      <p:pic>
        <p:nvPicPr>
          <p:cNvPr id="17" name="Imagem 16"/>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4831" t="10493" r="26865" b="6453"/>
          <a:stretch/>
        </p:blipFill>
        <p:spPr>
          <a:xfrm>
            <a:off x="161801" y="3457967"/>
            <a:ext cx="2464683" cy="3707040"/>
          </a:xfrm>
          <a:prstGeom prst="rect">
            <a:avLst/>
          </a:prstGeom>
        </p:spPr>
      </p:pic>
      <p:sp>
        <p:nvSpPr>
          <p:cNvPr id="28" name="CaixaDeTexto 27"/>
          <p:cNvSpPr txBox="1"/>
          <p:nvPr/>
        </p:nvSpPr>
        <p:spPr>
          <a:xfrm rot="17465026">
            <a:off x="2545775" y="6119916"/>
            <a:ext cx="1080120" cy="261610"/>
          </a:xfrm>
          <a:prstGeom prst="rect">
            <a:avLst/>
          </a:prstGeom>
          <a:noFill/>
        </p:spPr>
        <p:txBody>
          <a:bodyPr wrap="square" rtlCol="0">
            <a:spAutoFit/>
          </a:bodyPr>
          <a:lstStyle/>
          <a:p>
            <a:r>
              <a:rPr lang="pt-BR" sz="1050" dirty="0"/>
              <a:t>Profundidade</a:t>
            </a:r>
          </a:p>
        </p:txBody>
      </p:sp>
    </p:spTree>
    <p:extLst>
      <p:ext uri="{BB962C8B-B14F-4D97-AF65-F5344CB8AC3E}">
        <p14:creationId xmlns:p14="http://schemas.microsoft.com/office/powerpoint/2010/main" val="830138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ela 7"/>
          <p:cNvGraphicFramePr>
            <a:graphicFrameLocks noGrp="1"/>
          </p:cNvGraphicFramePr>
          <p:nvPr>
            <p:extLst>
              <p:ext uri="{D42A27DB-BD31-4B8C-83A1-F6EECF244321}">
                <p14:modId xmlns:p14="http://schemas.microsoft.com/office/powerpoint/2010/main" val="2567988983"/>
              </p:ext>
            </p:extLst>
          </p:nvPr>
        </p:nvGraphicFramePr>
        <p:xfrm>
          <a:off x="212401" y="310325"/>
          <a:ext cx="4693833" cy="6674658"/>
        </p:xfrm>
        <a:graphic>
          <a:graphicData uri="http://schemas.openxmlformats.org/drawingml/2006/table">
            <a:tbl>
              <a:tblPr firstRow="1" bandRow="1">
                <a:tableStyleId>{9D7B26C5-4107-4FEC-AEDC-1716B250A1EF}</a:tableStyleId>
              </a:tblPr>
              <a:tblGrid>
                <a:gridCol w="1000588">
                  <a:extLst>
                    <a:ext uri="{9D8B030D-6E8A-4147-A177-3AD203B41FA5}">
                      <a16:colId xmlns:a16="http://schemas.microsoft.com/office/drawing/2014/main" val="20000"/>
                    </a:ext>
                  </a:extLst>
                </a:gridCol>
                <a:gridCol w="2132479">
                  <a:extLst>
                    <a:ext uri="{9D8B030D-6E8A-4147-A177-3AD203B41FA5}">
                      <a16:colId xmlns:a16="http://schemas.microsoft.com/office/drawing/2014/main" val="20001"/>
                    </a:ext>
                  </a:extLst>
                </a:gridCol>
                <a:gridCol w="780383">
                  <a:extLst>
                    <a:ext uri="{9D8B030D-6E8A-4147-A177-3AD203B41FA5}">
                      <a16:colId xmlns:a16="http://schemas.microsoft.com/office/drawing/2014/main" val="20002"/>
                    </a:ext>
                  </a:extLst>
                </a:gridCol>
                <a:gridCol w="780383">
                  <a:extLst>
                    <a:ext uri="{9D8B030D-6E8A-4147-A177-3AD203B41FA5}">
                      <a16:colId xmlns:a16="http://schemas.microsoft.com/office/drawing/2014/main" val="20003"/>
                    </a:ext>
                  </a:extLst>
                </a:gridCol>
              </a:tblGrid>
              <a:tr h="806658">
                <a:tc>
                  <a:txBody>
                    <a:bodyPr/>
                    <a:lstStyle/>
                    <a:p>
                      <a:pPr algn="ctr">
                        <a:lnSpc>
                          <a:spcPct val="115000"/>
                        </a:lnSpc>
                        <a:spcAft>
                          <a:spcPts val="0"/>
                        </a:spcAft>
                      </a:pPr>
                      <a:r>
                        <a:rPr lang="pt-BR" sz="900" dirty="0">
                          <a:effectLst/>
                        </a:rPr>
                        <a:t>COMPONENTE</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rPr>
                        <a:t>DESENHO</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mn-lt"/>
                          <a:ea typeface="+mn-ea"/>
                          <a:cs typeface="+mn-cs"/>
                        </a:rPr>
                        <a:t>SIMPLES</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DUPLO</a:t>
                      </a:r>
                    </a:p>
                  </a:txBody>
                  <a:tcPr marL="68580" marR="68580" marT="0" marB="0" anchor="ctr"/>
                </a:tc>
                <a:extLst>
                  <a:ext uri="{0D108BD9-81ED-4DB2-BD59-A6C34878D82A}">
                    <a16:rowId xmlns:a16="http://schemas.microsoft.com/office/drawing/2014/main" val="10000"/>
                  </a:ext>
                </a:extLst>
              </a:tr>
              <a:tr h="648000">
                <a:tc>
                  <a:txBody>
                    <a:bodyPr/>
                    <a:lstStyle/>
                    <a:p>
                      <a:pPr>
                        <a:lnSpc>
                          <a:spcPct val="115000"/>
                        </a:lnSpc>
                        <a:spcAft>
                          <a:spcPts val="0"/>
                        </a:spcAft>
                      </a:pPr>
                      <a:r>
                        <a:rPr lang="pt-BR" sz="900" dirty="0">
                          <a:effectLst/>
                        </a:rPr>
                        <a:t>TERMÔMETRO</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rPr>
                        <a:t>1</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extLst>
                  <a:ext uri="{0D108BD9-81ED-4DB2-BD59-A6C34878D82A}">
                    <a16:rowId xmlns:a16="http://schemas.microsoft.com/office/drawing/2014/main" val="10001"/>
                  </a:ext>
                </a:extLst>
              </a:tr>
              <a:tr h="1080000">
                <a:tc>
                  <a:txBody>
                    <a:bodyPr/>
                    <a:lstStyle/>
                    <a:p>
                      <a:pPr>
                        <a:lnSpc>
                          <a:spcPct val="115000"/>
                        </a:lnSpc>
                        <a:spcAft>
                          <a:spcPts val="0"/>
                        </a:spcAft>
                      </a:pPr>
                      <a:r>
                        <a:rPr lang="pt-BR" sz="900" dirty="0">
                          <a:effectLst/>
                        </a:rPr>
                        <a:t>PESO</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tc>
                <a:extLst>
                  <a:ext uri="{0D108BD9-81ED-4DB2-BD59-A6C34878D82A}">
                    <a16:rowId xmlns:a16="http://schemas.microsoft.com/office/drawing/2014/main" val="10002"/>
                  </a:ext>
                </a:extLst>
              </a:tr>
              <a:tr h="1260000">
                <a:tc>
                  <a:txBody>
                    <a:bodyPr/>
                    <a:lstStyle/>
                    <a:p>
                      <a:pPr>
                        <a:lnSpc>
                          <a:spcPct val="115000"/>
                        </a:lnSpc>
                        <a:spcAft>
                          <a:spcPts val="0"/>
                        </a:spcAft>
                      </a:pPr>
                      <a:r>
                        <a:rPr lang="pt-BR" sz="900" dirty="0">
                          <a:effectLst/>
                          <a:latin typeface="+mn-lt"/>
                          <a:ea typeface="+mn-ea"/>
                          <a:cs typeface="+mn-cs"/>
                        </a:rPr>
                        <a:t>GABINETE</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rPr>
                        <a:t>1</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extLst>
                  <a:ext uri="{0D108BD9-81ED-4DB2-BD59-A6C34878D82A}">
                    <a16:rowId xmlns:a16="http://schemas.microsoft.com/office/drawing/2014/main" val="10003"/>
                  </a:ext>
                </a:extLst>
              </a:tr>
              <a:tr h="1152000">
                <a:tc>
                  <a:txBody>
                    <a:bodyPr/>
                    <a:lstStyle/>
                    <a:p>
                      <a:pPr>
                        <a:lnSpc>
                          <a:spcPct val="115000"/>
                        </a:lnSpc>
                        <a:spcAft>
                          <a:spcPts val="0"/>
                        </a:spcAft>
                      </a:pPr>
                      <a:r>
                        <a:rPr lang="pt-BR" sz="900" dirty="0">
                          <a:effectLst/>
                        </a:rPr>
                        <a:t>PERNAS</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rPr>
                        <a:t>4</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nchor="ctr"/>
                </a:tc>
                <a:extLst>
                  <a:ext uri="{0D108BD9-81ED-4DB2-BD59-A6C34878D82A}">
                    <a16:rowId xmlns:a16="http://schemas.microsoft.com/office/drawing/2014/main" val="10004"/>
                  </a:ext>
                </a:extLst>
              </a:tr>
              <a:tr h="720000">
                <a:tc>
                  <a:txBody>
                    <a:bodyPr/>
                    <a:lstStyle/>
                    <a:p>
                      <a:pPr>
                        <a:lnSpc>
                          <a:spcPct val="115000"/>
                        </a:lnSpc>
                        <a:spcAft>
                          <a:spcPts val="0"/>
                        </a:spcAft>
                      </a:pPr>
                      <a:r>
                        <a:rPr lang="pt-BR" sz="900" dirty="0">
                          <a:effectLst/>
                        </a:rPr>
                        <a:t>PANELEIRO</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pt-BR" sz="900" dirty="0">
                          <a:effectLst/>
                        </a:rPr>
                        <a:t>1</a:t>
                      </a: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extLst>
                  <a:ext uri="{0D108BD9-81ED-4DB2-BD59-A6C34878D82A}">
                    <a16:rowId xmlns:a16="http://schemas.microsoft.com/office/drawing/2014/main" val="10005"/>
                  </a:ext>
                </a:extLst>
              </a:tr>
              <a:tr h="1008000">
                <a:tc>
                  <a:txBody>
                    <a:bodyPr/>
                    <a:lstStyle/>
                    <a:p>
                      <a:pP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QUEIMADOR</a:t>
                      </a:r>
                    </a:p>
                  </a:txBody>
                  <a:tcPr marL="68580" marR="68580" marT="0" marB="0"/>
                </a:tc>
                <a:tc>
                  <a:txBody>
                    <a:bodyPr/>
                    <a:lstStyle/>
                    <a:p>
                      <a:pP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endParaRPr lang="pt-BR" sz="9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nchor="ctr"/>
                </a:tc>
                <a:extLst>
                  <a:ext uri="{0D108BD9-81ED-4DB2-BD59-A6C34878D82A}">
                    <a16:rowId xmlns:a16="http://schemas.microsoft.com/office/drawing/2014/main" val="10006"/>
                  </a:ext>
                </a:extLst>
              </a:tr>
            </a:tbl>
          </a:graphicData>
        </a:graphic>
      </p:graphicFrame>
      <p:pic>
        <p:nvPicPr>
          <p:cNvPr id="1029" name="Imagem 1" descr="03"/>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8183" t="19895" r="32243" b="20421"/>
          <a:stretch/>
        </p:blipFill>
        <p:spPr bwMode="auto">
          <a:xfrm>
            <a:off x="2538064" y="1188343"/>
            <a:ext cx="288033" cy="4320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Imagem 2" descr="02"/>
          <p:cNvPicPr>
            <a:picLocks noChangeAspect="1" noChangeArrowheads="1"/>
          </p:cNvPicPr>
          <p:nvPr/>
        </p:nvPicPr>
        <p:blipFill rotWithShape="1">
          <a:blip r:embed="rId4">
            <a:extLst>
              <a:ext uri="{28A0092B-C50C-407E-A947-70E740481C1C}">
                <a14:useLocalDpi xmlns:a14="http://schemas.microsoft.com/office/drawing/2010/main" val="0"/>
              </a:ext>
            </a:extLst>
          </a:blip>
          <a:srcRect l="32975" t="13574" r="33867" b="19135"/>
          <a:stretch/>
        </p:blipFill>
        <p:spPr bwMode="auto">
          <a:xfrm>
            <a:off x="2538064" y="2051933"/>
            <a:ext cx="360041" cy="711458"/>
          </a:xfrm>
          <a:prstGeom prst="rect">
            <a:avLst/>
          </a:prstGeom>
          <a:noFill/>
          <a:extLst>
            <a:ext uri="{909E8E84-426E-40DD-AFC4-6F175D3DCCD1}">
              <a14:hiddenFill xmlns:a14="http://schemas.microsoft.com/office/drawing/2010/main">
                <a:solidFill>
                  <a:srgbClr val="FFFFFF"/>
                </a:solidFill>
              </a14:hiddenFill>
            </a:ext>
          </a:extLst>
        </p:spPr>
      </p:pic>
      <p:pic>
        <p:nvPicPr>
          <p:cNvPr id="1027" name="Imagem 3" descr="IMG-20191128-WA0004 c¾pia"/>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r="5708" b="11667"/>
          <a:stretch/>
        </p:blipFill>
        <p:spPr bwMode="auto">
          <a:xfrm>
            <a:off x="1956166" y="2916535"/>
            <a:ext cx="1445995"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Imagem 4" descr="IMG-20191128-WA0005 c¾pia"/>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83" r="30843"/>
          <a:stretch/>
        </p:blipFill>
        <p:spPr bwMode="auto">
          <a:xfrm>
            <a:off x="2538063" y="4212679"/>
            <a:ext cx="360041"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25" name="Imagem 6" descr="IMG-20191128-WA0008 c¾pia"/>
          <p:cNvPicPr>
            <a:picLocks noChangeAspect="1" noChangeArrowheads="1"/>
          </p:cNvPicPr>
          <p:nvPr/>
        </p:nvPicPr>
        <p:blipFill rotWithShape="1">
          <a:blip r:embed="rId8">
            <a:extLst>
              <a:ext uri="{28A0092B-C50C-407E-A947-70E740481C1C}">
                <a14:useLocalDpi xmlns:a14="http://schemas.microsoft.com/office/drawing/2010/main" val="0"/>
              </a:ext>
            </a:extLst>
          </a:blip>
          <a:srcRect t="26859" b="27658"/>
          <a:stretch/>
        </p:blipFill>
        <p:spPr bwMode="auto">
          <a:xfrm>
            <a:off x="1956166" y="5369601"/>
            <a:ext cx="1276350" cy="35524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m 8"/>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12674" t="31794" r="22386"/>
          <a:stretch/>
        </p:blipFill>
        <p:spPr>
          <a:xfrm>
            <a:off x="2028174" y="6012878"/>
            <a:ext cx="1445995" cy="904271"/>
          </a:xfrm>
          <a:prstGeom prst="rect">
            <a:avLst/>
          </a:prstGeom>
        </p:spPr>
      </p:pic>
      <p:sp>
        <p:nvSpPr>
          <p:cNvPr id="10" name="CaixaDeTexto 9">
            <a:extLst>
              <a:ext uri="{FF2B5EF4-FFF2-40B4-BE49-F238E27FC236}">
                <a16:creationId xmlns:a16="http://schemas.microsoft.com/office/drawing/2014/main" id="{2894D681-D23E-4810-8155-7B7655865111}"/>
              </a:ext>
            </a:extLst>
          </p:cNvPr>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04</a:t>
            </a:r>
          </a:p>
        </p:txBody>
      </p:sp>
    </p:spTree>
    <p:extLst>
      <p:ext uri="{BB962C8B-B14F-4D97-AF65-F5344CB8AC3E}">
        <p14:creationId xmlns:p14="http://schemas.microsoft.com/office/powerpoint/2010/main" val="721792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05</a:t>
            </a:r>
          </a:p>
        </p:txBody>
      </p:sp>
      <p:sp>
        <p:nvSpPr>
          <p:cNvPr id="10" name="Retângulo 9">
            <a:extLst>
              <a:ext uri="{FF2B5EF4-FFF2-40B4-BE49-F238E27FC236}">
                <a16:creationId xmlns:a16="http://schemas.microsoft.com/office/drawing/2014/main" id="{BE22BFE7-A124-4CD8-8F7A-3A18B776267D}"/>
              </a:ext>
            </a:extLst>
          </p:cNvPr>
          <p:cNvSpPr/>
          <p:nvPr/>
        </p:nvSpPr>
        <p:spPr>
          <a:xfrm>
            <a:off x="162081" y="309886"/>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2. INSTRUÇÕES PARA MONTAGEM</a:t>
            </a:r>
          </a:p>
        </p:txBody>
      </p:sp>
      <p:sp>
        <p:nvSpPr>
          <p:cNvPr id="11" name="Retângulo 10">
            <a:extLst>
              <a:ext uri="{FF2B5EF4-FFF2-40B4-BE49-F238E27FC236}">
                <a16:creationId xmlns:a16="http://schemas.microsoft.com/office/drawing/2014/main" id="{D45D80FF-A085-48C5-9530-C6798CAFD63A}"/>
              </a:ext>
            </a:extLst>
          </p:cNvPr>
          <p:cNvSpPr/>
          <p:nvPr/>
        </p:nvSpPr>
        <p:spPr>
          <a:xfrm>
            <a:off x="130983" y="643657"/>
            <a:ext cx="1061509" cy="246221"/>
          </a:xfrm>
          <a:prstGeom prst="rect">
            <a:avLst/>
          </a:prstGeom>
        </p:spPr>
        <p:txBody>
          <a:bodyPr wrap="none">
            <a:spAutoFit/>
          </a:bodyPr>
          <a:lstStyle/>
          <a:p>
            <a:pPr lvl="0" algn="just"/>
            <a:r>
              <a:rPr lang="pt-BR" sz="1000" b="1" dirty="0">
                <a:solidFill>
                  <a:prstClr val="black"/>
                </a:solidFill>
              </a:rPr>
              <a:t>2.1 INSTALAÇÃO</a:t>
            </a:r>
          </a:p>
        </p:txBody>
      </p:sp>
      <p:sp>
        <p:nvSpPr>
          <p:cNvPr id="14" name="CaixaDeTexto 13">
            <a:extLst>
              <a:ext uri="{FF2B5EF4-FFF2-40B4-BE49-F238E27FC236}">
                <a16:creationId xmlns:a16="http://schemas.microsoft.com/office/drawing/2014/main" id="{8D79C381-EA7D-42A7-9DE8-F4B59E847ED0}"/>
              </a:ext>
            </a:extLst>
          </p:cNvPr>
          <p:cNvSpPr txBox="1"/>
          <p:nvPr/>
        </p:nvSpPr>
        <p:spPr>
          <a:xfrm>
            <a:off x="129136" y="943334"/>
            <a:ext cx="2552945" cy="246221"/>
          </a:xfrm>
          <a:prstGeom prst="rect">
            <a:avLst/>
          </a:prstGeom>
          <a:noFill/>
        </p:spPr>
        <p:txBody>
          <a:bodyPr wrap="square" rtlCol="0">
            <a:spAutoFit/>
          </a:bodyPr>
          <a:lstStyle/>
          <a:p>
            <a:pPr algn="just"/>
            <a:r>
              <a:rPr lang="pt-BR" sz="1000" b="1" dirty="0">
                <a:latin typeface="+mj-lt"/>
                <a:cs typeface="Arial" pitchFamily="34" charset="0"/>
              </a:rPr>
              <a:t>PASSO 1 – </a:t>
            </a:r>
            <a:r>
              <a:rPr lang="pt-BR" sz="1000" dirty="0">
                <a:latin typeface="+mj-lt"/>
                <a:cs typeface="Arial" pitchFamily="34" charset="0"/>
              </a:rPr>
              <a:t>Remover queimador </a:t>
            </a:r>
          </a:p>
        </p:txBody>
      </p:sp>
      <p:pic>
        <p:nvPicPr>
          <p:cNvPr id="17" name="Imagem 16" descr="C:\Users\so aço industrial\AppData\Local\Microsoft\Windows\INetCache\Content.Word\IMG-20191128-WA0004 c¾pia.png"/>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963581" y="309886"/>
            <a:ext cx="2640906" cy="2334777"/>
          </a:xfrm>
          <a:prstGeom prst="rect">
            <a:avLst/>
          </a:prstGeom>
          <a:noFill/>
          <a:ln>
            <a:noFill/>
          </a:ln>
        </p:spPr>
      </p:pic>
      <p:cxnSp>
        <p:nvCxnSpPr>
          <p:cNvPr id="20" name="Conector de seta reta 19"/>
          <p:cNvCxnSpPr/>
          <p:nvPr/>
        </p:nvCxnSpPr>
        <p:spPr>
          <a:xfrm>
            <a:off x="3910352" y="1876165"/>
            <a:ext cx="675209" cy="38608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1" name="Caixa de texto 11"/>
          <p:cNvSpPr txBox="1"/>
          <p:nvPr/>
        </p:nvSpPr>
        <p:spPr>
          <a:xfrm>
            <a:off x="4451494" y="2233074"/>
            <a:ext cx="924082" cy="288564"/>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pt-BR"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QUEIMADOR</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2" name="Imagem 21" descr="C:\Users\so aço industrial\Desktop\forno.png"/>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7057" r="40299"/>
          <a:stretch/>
        </p:blipFill>
        <p:spPr bwMode="auto">
          <a:xfrm>
            <a:off x="292392" y="3044087"/>
            <a:ext cx="1800200" cy="2513330"/>
          </a:xfrm>
          <a:prstGeom prst="rect">
            <a:avLst/>
          </a:prstGeom>
          <a:noFill/>
          <a:ln>
            <a:noFill/>
          </a:ln>
        </p:spPr>
      </p:pic>
      <p:sp>
        <p:nvSpPr>
          <p:cNvPr id="23" name="CaixaDeTexto 22">
            <a:extLst>
              <a:ext uri="{FF2B5EF4-FFF2-40B4-BE49-F238E27FC236}">
                <a16:creationId xmlns:a16="http://schemas.microsoft.com/office/drawing/2014/main" id="{8D79C381-EA7D-42A7-9DE8-F4B59E847ED0}"/>
              </a:ext>
            </a:extLst>
          </p:cNvPr>
          <p:cNvSpPr txBox="1"/>
          <p:nvPr/>
        </p:nvSpPr>
        <p:spPr>
          <a:xfrm>
            <a:off x="129136" y="2743258"/>
            <a:ext cx="2328583" cy="400110"/>
          </a:xfrm>
          <a:prstGeom prst="rect">
            <a:avLst/>
          </a:prstGeom>
          <a:noFill/>
        </p:spPr>
        <p:txBody>
          <a:bodyPr wrap="square" rtlCol="0">
            <a:spAutoFit/>
          </a:bodyPr>
          <a:lstStyle/>
          <a:p>
            <a:pPr algn="just"/>
            <a:r>
              <a:rPr lang="pt-BR" sz="1000" b="1" dirty="0">
                <a:latin typeface="+mj-lt"/>
                <a:cs typeface="Arial" pitchFamily="34" charset="0"/>
              </a:rPr>
              <a:t>PASSO 2 – </a:t>
            </a:r>
            <a:r>
              <a:rPr lang="pt-BR" sz="1000" dirty="0">
                <a:latin typeface="+mj-lt"/>
                <a:cs typeface="Arial" pitchFamily="34" charset="0"/>
              </a:rPr>
              <a:t>Virar lateralmente o gabinete do forno</a:t>
            </a:r>
          </a:p>
        </p:txBody>
      </p:sp>
      <p:sp>
        <p:nvSpPr>
          <p:cNvPr id="25" name="Seta em curva para cima 24"/>
          <p:cNvSpPr/>
          <p:nvPr/>
        </p:nvSpPr>
        <p:spPr>
          <a:xfrm>
            <a:off x="1677129" y="4175127"/>
            <a:ext cx="286452" cy="251249"/>
          </a:xfrm>
          <a:prstGeom prst="curved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5" name="CaixaDeTexto 14">
            <a:extLst>
              <a:ext uri="{FF2B5EF4-FFF2-40B4-BE49-F238E27FC236}">
                <a16:creationId xmlns:a16="http://schemas.microsoft.com/office/drawing/2014/main" id="{8D79C381-EA7D-42A7-9DE8-F4B59E847ED0}"/>
              </a:ext>
            </a:extLst>
          </p:cNvPr>
          <p:cNvSpPr txBox="1"/>
          <p:nvPr/>
        </p:nvSpPr>
        <p:spPr>
          <a:xfrm>
            <a:off x="28200" y="5458137"/>
            <a:ext cx="2295275" cy="861774"/>
          </a:xfrm>
          <a:prstGeom prst="rect">
            <a:avLst/>
          </a:prstGeom>
          <a:noFill/>
        </p:spPr>
        <p:txBody>
          <a:bodyPr wrap="square" rtlCol="0">
            <a:spAutoFit/>
          </a:bodyPr>
          <a:lstStyle/>
          <a:p>
            <a:pPr algn="just"/>
            <a:r>
              <a:rPr lang="pt-BR" sz="1000" b="1" dirty="0">
                <a:latin typeface="+mj-lt"/>
                <a:cs typeface="Arial" pitchFamily="34" charset="0"/>
              </a:rPr>
              <a:t>PASSO 3 – Com a ajuda de uma chave nº 13 fixar com parafuso e porca as pernas do forno ao gabinete.</a:t>
            </a:r>
          </a:p>
          <a:p>
            <a:pPr algn="just"/>
            <a:r>
              <a:rPr lang="pt-BR" sz="1000" b="1" dirty="0">
                <a:latin typeface="+mj-lt"/>
                <a:cs typeface="Arial" pitchFamily="34" charset="0"/>
              </a:rPr>
              <a:t>ATENÇÃO: As pernas devem ficar externas ao corpo do gabinete.</a:t>
            </a:r>
            <a:endParaRPr lang="pt-BR" sz="1000" dirty="0">
              <a:latin typeface="+mj-lt"/>
              <a:cs typeface="Arial" pitchFamily="34" charset="0"/>
            </a:endParaRPr>
          </a:p>
        </p:txBody>
      </p:sp>
      <p:pic>
        <p:nvPicPr>
          <p:cNvPr id="24" name="Imagem 23" descr="C:\Users\so aço industrial\Desktop\forno.png"/>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a:stretch>
            <a:fillRect/>
          </a:stretch>
        </p:blipFill>
        <p:spPr bwMode="auto">
          <a:xfrm rot="518616">
            <a:off x="1742131" y="5361264"/>
            <a:ext cx="4221480" cy="2513330"/>
          </a:xfrm>
          <a:prstGeom prst="rect">
            <a:avLst/>
          </a:prstGeom>
          <a:noFill/>
          <a:ln>
            <a:noFill/>
          </a:ln>
        </p:spPr>
      </p:pic>
      <p:sp>
        <p:nvSpPr>
          <p:cNvPr id="2" name="Seta para a esquerda 1"/>
          <p:cNvSpPr/>
          <p:nvPr/>
        </p:nvSpPr>
        <p:spPr>
          <a:xfrm>
            <a:off x="4314597" y="5796855"/>
            <a:ext cx="310540" cy="99281"/>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Seta para a esquerda 25"/>
          <p:cNvSpPr/>
          <p:nvPr/>
        </p:nvSpPr>
        <p:spPr>
          <a:xfrm>
            <a:off x="4448664" y="6156895"/>
            <a:ext cx="310540" cy="99281"/>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Seta para a esquerda 26"/>
          <p:cNvSpPr/>
          <p:nvPr/>
        </p:nvSpPr>
        <p:spPr>
          <a:xfrm>
            <a:off x="4111059" y="6539535"/>
            <a:ext cx="310540" cy="99281"/>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Seta para a esquerda 27"/>
          <p:cNvSpPr/>
          <p:nvPr/>
        </p:nvSpPr>
        <p:spPr>
          <a:xfrm>
            <a:off x="4304969" y="6930045"/>
            <a:ext cx="310540" cy="99281"/>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8" name="Imagem 17"/>
          <p:cNvPicPr>
            <a:picLocks noChangeAspect="1"/>
          </p:cNvPicPr>
          <p:nvPr/>
        </p:nvPicPr>
        <p:blipFill>
          <a:blip r:embed="rId8" cstate="print">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tretch>
            <a:fillRect/>
          </a:stretch>
        </p:blipFill>
        <p:spPr>
          <a:xfrm>
            <a:off x="2869464" y="1496700"/>
            <a:ext cx="3265678" cy="1944449"/>
          </a:xfrm>
          <a:prstGeom prst="rect">
            <a:avLst/>
          </a:prstGeom>
        </p:spPr>
      </p:pic>
    </p:spTree>
    <p:extLst>
      <p:ext uri="{BB962C8B-B14F-4D97-AF65-F5344CB8AC3E}">
        <p14:creationId xmlns:p14="http://schemas.microsoft.com/office/powerpoint/2010/main" val="3747840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06</a:t>
            </a:r>
          </a:p>
        </p:txBody>
      </p:sp>
      <p:sp>
        <p:nvSpPr>
          <p:cNvPr id="14" name="CaixaDeTexto 13">
            <a:extLst>
              <a:ext uri="{FF2B5EF4-FFF2-40B4-BE49-F238E27FC236}">
                <a16:creationId xmlns:a16="http://schemas.microsoft.com/office/drawing/2014/main" id="{8D79C381-EA7D-42A7-9DE8-F4B59E847ED0}"/>
              </a:ext>
            </a:extLst>
          </p:cNvPr>
          <p:cNvSpPr txBox="1"/>
          <p:nvPr/>
        </p:nvSpPr>
        <p:spPr>
          <a:xfrm>
            <a:off x="135162" y="252239"/>
            <a:ext cx="2552945" cy="707886"/>
          </a:xfrm>
          <a:prstGeom prst="rect">
            <a:avLst/>
          </a:prstGeom>
          <a:noFill/>
        </p:spPr>
        <p:txBody>
          <a:bodyPr wrap="square" rtlCol="0">
            <a:spAutoFit/>
          </a:bodyPr>
          <a:lstStyle/>
          <a:p>
            <a:pPr algn="just"/>
            <a:r>
              <a:rPr lang="pt-BR" sz="1000" b="1" dirty="0">
                <a:latin typeface="+mj-lt"/>
                <a:cs typeface="Arial" pitchFamily="34" charset="0"/>
              </a:rPr>
              <a:t>PASSO 4 – </a:t>
            </a:r>
            <a:r>
              <a:rPr lang="pt-BR" sz="1000" dirty="0">
                <a:latin typeface="+mj-lt"/>
                <a:cs typeface="Arial" pitchFamily="34" charset="0"/>
              </a:rPr>
              <a:t>Fixar o paneleiro as pernas</a:t>
            </a:r>
          </a:p>
          <a:p>
            <a:pPr algn="just"/>
            <a:r>
              <a:rPr lang="pt-BR" sz="1000" dirty="0">
                <a:latin typeface="+mj-lt"/>
                <a:cs typeface="Arial" pitchFamily="34" charset="0"/>
              </a:rPr>
              <a:t>do forno. A fixação deve ser realizada</a:t>
            </a:r>
          </a:p>
          <a:p>
            <a:pPr algn="just"/>
            <a:r>
              <a:rPr lang="pt-BR" sz="1000" dirty="0">
                <a:latin typeface="+mj-lt"/>
                <a:cs typeface="Arial" pitchFamily="34" charset="0"/>
              </a:rPr>
              <a:t>com a ajuda de uma chave 13 </a:t>
            </a:r>
          </a:p>
          <a:p>
            <a:pPr algn="just"/>
            <a:r>
              <a:rPr lang="pt-BR" sz="1000" dirty="0">
                <a:latin typeface="+mj-lt"/>
                <a:cs typeface="Arial" pitchFamily="34" charset="0"/>
              </a:rPr>
              <a:t> </a:t>
            </a:r>
          </a:p>
        </p:txBody>
      </p:sp>
      <p:cxnSp>
        <p:nvCxnSpPr>
          <p:cNvPr id="20" name="Conector de seta reta 19"/>
          <p:cNvCxnSpPr/>
          <p:nvPr/>
        </p:nvCxnSpPr>
        <p:spPr>
          <a:xfrm flipH="1">
            <a:off x="3978225" y="2263220"/>
            <a:ext cx="433318" cy="8761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1" name="Caixa de texto 11"/>
          <p:cNvSpPr txBox="1"/>
          <p:nvPr/>
        </p:nvSpPr>
        <p:spPr>
          <a:xfrm>
            <a:off x="3386913" y="3139341"/>
            <a:ext cx="924082" cy="288564"/>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pt-BR"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FRENTE</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CaixaDeTexto 14">
            <a:extLst>
              <a:ext uri="{FF2B5EF4-FFF2-40B4-BE49-F238E27FC236}">
                <a16:creationId xmlns:a16="http://schemas.microsoft.com/office/drawing/2014/main" id="{8D79C381-EA7D-42A7-9DE8-F4B59E847ED0}"/>
              </a:ext>
            </a:extLst>
          </p:cNvPr>
          <p:cNvSpPr txBox="1"/>
          <p:nvPr/>
        </p:nvSpPr>
        <p:spPr>
          <a:xfrm>
            <a:off x="295273" y="3980462"/>
            <a:ext cx="2295275" cy="553998"/>
          </a:xfrm>
          <a:prstGeom prst="rect">
            <a:avLst/>
          </a:prstGeom>
          <a:noFill/>
        </p:spPr>
        <p:txBody>
          <a:bodyPr wrap="square" rtlCol="0">
            <a:spAutoFit/>
          </a:bodyPr>
          <a:lstStyle/>
          <a:p>
            <a:pPr algn="just"/>
            <a:r>
              <a:rPr lang="pt-BR" sz="1000" b="1" dirty="0">
                <a:latin typeface="+mj-lt"/>
                <a:cs typeface="Arial" pitchFamily="34" charset="0"/>
              </a:rPr>
              <a:t>PASSO 5 – Retornar o forno a posição normal e reposicionar o queimador novamente ao gabinete do forno.</a:t>
            </a:r>
            <a:endParaRPr lang="pt-BR" sz="1000" dirty="0">
              <a:latin typeface="+mj-lt"/>
              <a:cs typeface="Arial" pitchFamily="34" charset="0"/>
            </a:endParaRPr>
          </a:p>
        </p:txBody>
      </p:sp>
      <p:pic>
        <p:nvPicPr>
          <p:cNvPr id="3" name="Imagem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606093" y="483679"/>
            <a:ext cx="4224894" cy="2511770"/>
          </a:xfrm>
          <a:prstGeom prst="rect">
            <a:avLst/>
          </a:prstGeom>
        </p:spPr>
      </p:pic>
      <p:sp>
        <p:nvSpPr>
          <p:cNvPr id="29" name="CaixaDeTexto 28">
            <a:extLst>
              <a:ext uri="{FF2B5EF4-FFF2-40B4-BE49-F238E27FC236}">
                <a16:creationId xmlns:a16="http://schemas.microsoft.com/office/drawing/2014/main" id="{8D79C381-EA7D-42A7-9DE8-F4B59E847ED0}"/>
              </a:ext>
            </a:extLst>
          </p:cNvPr>
          <p:cNvSpPr txBox="1"/>
          <p:nvPr/>
        </p:nvSpPr>
        <p:spPr>
          <a:xfrm>
            <a:off x="144672" y="920687"/>
            <a:ext cx="1538484" cy="1169551"/>
          </a:xfrm>
          <a:prstGeom prst="rect">
            <a:avLst/>
          </a:prstGeom>
          <a:noFill/>
        </p:spPr>
        <p:txBody>
          <a:bodyPr wrap="square" rtlCol="0">
            <a:spAutoFit/>
          </a:bodyPr>
          <a:lstStyle/>
          <a:p>
            <a:pPr algn="just"/>
            <a:r>
              <a:rPr lang="pt-BR" sz="1000" b="1" dirty="0">
                <a:latin typeface="+mj-lt"/>
                <a:cs typeface="Arial" pitchFamily="34" charset="0"/>
              </a:rPr>
              <a:t>ATENÇÃO: O paneleiro possui as dimensões da frente maior do que a da lateral. Ficar atendo, para a montagem do paneleiro ser executada corretamente.</a:t>
            </a:r>
            <a:endParaRPr lang="pt-BR" sz="1000" dirty="0">
              <a:latin typeface="+mj-lt"/>
              <a:cs typeface="Arial" pitchFamily="34" charset="0"/>
            </a:endParaRPr>
          </a:p>
        </p:txBody>
      </p:sp>
      <p:pic>
        <p:nvPicPr>
          <p:cNvPr id="30" name="Picture 2" descr="IMG-20191128-WA0006 c¾pia"/>
          <p:cNvPicPr>
            <a:picLocks noChangeAspect="1" noChangeArrowheads="1"/>
          </p:cNvPicPr>
          <p:nvPr/>
        </p:nvPicPr>
        <p:blipFill>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830540" y="3843449"/>
            <a:ext cx="2306283" cy="318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Conector de seta reta 30"/>
          <p:cNvCxnSpPr/>
          <p:nvPr/>
        </p:nvCxnSpPr>
        <p:spPr>
          <a:xfrm flipV="1">
            <a:off x="2178025" y="5508823"/>
            <a:ext cx="1107197" cy="50405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2" name="Caixa de texto 11"/>
          <p:cNvSpPr txBox="1"/>
          <p:nvPr/>
        </p:nvSpPr>
        <p:spPr>
          <a:xfrm>
            <a:off x="1313929" y="5868597"/>
            <a:ext cx="924082" cy="288564"/>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pt-BR"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QUEIMADOR</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CaixaDeTexto 32">
            <a:extLst>
              <a:ext uri="{FF2B5EF4-FFF2-40B4-BE49-F238E27FC236}">
                <a16:creationId xmlns:a16="http://schemas.microsoft.com/office/drawing/2014/main" id="{8D79C381-EA7D-42A7-9DE8-F4B59E847ED0}"/>
              </a:ext>
            </a:extLst>
          </p:cNvPr>
          <p:cNvSpPr txBox="1"/>
          <p:nvPr/>
        </p:nvSpPr>
        <p:spPr>
          <a:xfrm>
            <a:off x="295273" y="4788968"/>
            <a:ext cx="2295275" cy="400110"/>
          </a:xfrm>
          <a:prstGeom prst="rect">
            <a:avLst/>
          </a:prstGeom>
          <a:noFill/>
        </p:spPr>
        <p:txBody>
          <a:bodyPr wrap="square" rtlCol="0">
            <a:spAutoFit/>
          </a:bodyPr>
          <a:lstStyle/>
          <a:p>
            <a:pPr algn="just"/>
            <a:r>
              <a:rPr lang="pt-BR" sz="1000" b="1" dirty="0">
                <a:latin typeface="+mj-lt"/>
                <a:cs typeface="Arial" pitchFamily="34" charset="0"/>
              </a:rPr>
              <a:t>PASSO 6 – Rosquear os pesos do forno a bengala.</a:t>
            </a:r>
            <a:endParaRPr lang="pt-BR" sz="1000" dirty="0">
              <a:latin typeface="+mj-lt"/>
              <a:cs typeface="Arial" pitchFamily="34" charset="0"/>
            </a:endParaRPr>
          </a:p>
        </p:txBody>
      </p:sp>
      <p:sp>
        <p:nvSpPr>
          <p:cNvPr id="34" name="Caixa de texto 11"/>
          <p:cNvSpPr txBox="1"/>
          <p:nvPr/>
        </p:nvSpPr>
        <p:spPr>
          <a:xfrm>
            <a:off x="2128507" y="3473499"/>
            <a:ext cx="924082" cy="288564"/>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pt-BR" sz="1000" dirty="0">
                <a:ln w="0"/>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PESOS</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5" name="Conector de seta reta 34"/>
          <p:cNvCxnSpPr/>
          <p:nvPr/>
        </p:nvCxnSpPr>
        <p:spPr>
          <a:xfrm>
            <a:off x="2731623" y="3747650"/>
            <a:ext cx="431726" cy="3803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6" name="Conector de seta reta 35"/>
          <p:cNvCxnSpPr/>
          <p:nvPr/>
        </p:nvCxnSpPr>
        <p:spPr>
          <a:xfrm>
            <a:off x="2830540" y="3703560"/>
            <a:ext cx="1939773" cy="55390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2" name="Imagem 1"/>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318192" y="5372828"/>
            <a:ext cx="3265678" cy="1944449"/>
          </a:xfrm>
          <a:prstGeom prst="rect">
            <a:avLst/>
          </a:prstGeom>
        </p:spPr>
      </p:pic>
    </p:spTree>
    <p:extLst>
      <p:ext uri="{BB962C8B-B14F-4D97-AF65-F5344CB8AC3E}">
        <p14:creationId xmlns:p14="http://schemas.microsoft.com/office/powerpoint/2010/main" val="2303233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07</a:t>
            </a:r>
          </a:p>
        </p:txBody>
      </p:sp>
      <p:sp>
        <p:nvSpPr>
          <p:cNvPr id="9" name="Retângulo 8">
            <a:extLst>
              <a:ext uri="{FF2B5EF4-FFF2-40B4-BE49-F238E27FC236}">
                <a16:creationId xmlns:a16="http://schemas.microsoft.com/office/drawing/2014/main" id="{5CBA6821-580D-4008-AF06-6A2ECFE38545}"/>
              </a:ext>
            </a:extLst>
          </p:cNvPr>
          <p:cNvSpPr/>
          <p:nvPr/>
        </p:nvSpPr>
        <p:spPr>
          <a:xfrm>
            <a:off x="162081" y="234449"/>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PRÉ - OPERAÇÃO</a:t>
            </a:r>
          </a:p>
        </p:txBody>
      </p:sp>
      <p:sp>
        <p:nvSpPr>
          <p:cNvPr id="6" name="CaixaDeTexto 5">
            <a:extLst>
              <a:ext uri="{FF2B5EF4-FFF2-40B4-BE49-F238E27FC236}">
                <a16:creationId xmlns:a16="http://schemas.microsoft.com/office/drawing/2014/main" id="{EB151972-0BE7-4E2D-B86C-A00DD9934729}"/>
              </a:ext>
            </a:extLst>
          </p:cNvPr>
          <p:cNvSpPr txBox="1"/>
          <p:nvPr/>
        </p:nvSpPr>
        <p:spPr>
          <a:xfrm>
            <a:off x="162081" y="540271"/>
            <a:ext cx="5040000" cy="6863417"/>
          </a:xfrm>
          <a:prstGeom prst="rect">
            <a:avLst/>
          </a:prstGeom>
          <a:noFill/>
        </p:spPr>
        <p:txBody>
          <a:bodyPr wrap="square" rtlCol="0">
            <a:spAutoFit/>
          </a:bodyPr>
          <a:lstStyle/>
          <a:p>
            <a:pPr algn="just"/>
            <a:r>
              <a:rPr lang="pt-BR" sz="1000" b="1" dirty="0">
                <a:latin typeface="+mj-lt"/>
                <a:cs typeface="Arial" pitchFamily="34" charset="0"/>
              </a:rPr>
              <a:t>3.1 Instalando o equipamento </a:t>
            </a:r>
          </a:p>
          <a:p>
            <a:pPr marL="171450" indent="-171450" algn="just">
              <a:buFont typeface="Arial" panose="020B0604020202020204" pitchFamily="34" charset="0"/>
              <a:buChar char="•"/>
            </a:pPr>
            <a:r>
              <a:rPr lang="pt-BR" sz="1000" dirty="0">
                <a:latin typeface="+mj-lt"/>
                <a:cs typeface="Arial" pitchFamily="34" charset="0"/>
              </a:rPr>
              <a:t>Este equipamento somente deverá ser instalado por um técnico capacitado ou habilitado.</a:t>
            </a:r>
          </a:p>
          <a:p>
            <a:pPr marL="171450" indent="-171450" algn="just">
              <a:buFont typeface="Arial" panose="020B0604020202020204" pitchFamily="34" charset="0"/>
              <a:buChar char="•"/>
            </a:pPr>
            <a:r>
              <a:rPr lang="pt-BR" sz="1000" b="1" dirty="0">
                <a:latin typeface="+mj-lt"/>
                <a:cs typeface="Arial" pitchFamily="34" charset="0"/>
              </a:rPr>
              <a:t>ATENÇÃO</a:t>
            </a:r>
            <a:r>
              <a:rPr lang="pt-BR" sz="1000" dirty="0">
                <a:latin typeface="+mj-lt"/>
                <a:cs typeface="Arial" pitchFamily="34" charset="0"/>
              </a:rPr>
              <a:t>: Jamais instale o forno em qualquer superfície que não seja o cavalete que acompanha o mesmo, sob pena de danificar o produto.</a:t>
            </a:r>
          </a:p>
          <a:p>
            <a:pPr algn="just"/>
            <a:endParaRPr lang="pt-BR" sz="1000" b="1" dirty="0">
              <a:latin typeface="+mj-lt"/>
              <a:cs typeface="Arial" pitchFamily="34" charset="0"/>
            </a:endParaRPr>
          </a:p>
          <a:p>
            <a:pPr indent="457200" algn="just"/>
            <a:r>
              <a:rPr lang="pt-BR" sz="1000" dirty="0">
                <a:latin typeface="+mj-lt"/>
                <a:cs typeface="Arial" pitchFamily="34" charset="0"/>
              </a:rPr>
              <a:t>O forno deve ser instalado em ambiente que não possua corrente de ar , a fim de que não interfira no funcionamento do mesmo e com uma distância mínima de 40 cm de paredes , móveis ou de outro equipamento e/ou objetos.</a:t>
            </a:r>
          </a:p>
          <a:p>
            <a:pPr indent="457200" algn="just"/>
            <a:r>
              <a:rPr lang="pt-BR" sz="1000" dirty="0">
                <a:latin typeface="+mj-lt"/>
                <a:cs typeface="Arial" pitchFamily="34" charset="0"/>
              </a:rPr>
              <a:t>As válvulas não acompanham os fornos devido a forma de como será instalado. A instalação deve ser feita de acordo com o modelo do equipamento.</a:t>
            </a:r>
          </a:p>
          <a:p>
            <a:pPr indent="457200" algn="just"/>
            <a:r>
              <a:rPr lang="pt-BR" sz="1000" dirty="0" err="1">
                <a:solidFill>
                  <a:sysClr val="windowText" lastClr="000000"/>
                </a:solidFill>
                <a:latin typeface="+mj-lt"/>
                <a:cs typeface="Arial" pitchFamily="34" charset="0"/>
              </a:rPr>
              <a:t>Ex</a:t>
            </a:r>
            <a:r>
              <a:rPr lang="pt-BR" sz="1000" dirty="0">
                <a:solidFill>
                  <a:sysClr val="windowText" lastClr="000000"/>
                </a:solidFill>
                <a:latin typeface="+mj-lt"/>
                <a:cs typeface="Arial" pitchFamily="34" charset="0"/>
              </a:rPr>
              <a:t>: Forno PRP 1300 inox/pintado com o consumo de 1,410 kg/h de gás. Neste caso o ideal será ,sendo em regime de uso continuo ,colocar 3 botijões de 13 kg, sendo que cada um fornece 0,600 kg/h de gás ,totalizando 1,800 kg/h de gás ,interligados a uma válvula de 2 kg/h de gás .Verifique o consumo do seu modelo de equipamento e proceda com o calculo de botijões necessários.</a:t>
            </a:r>
          </a:p>
          <a:p>
            <a:pPr algn="just"/>
            <a:endParaRPr lang="pt-BR" sz="1000" dirty="0">
              <a:latin typeface="+mj-lt"/>
              <a:cs typeface="Arial" pitchFamily="34" charset="0"/>
            </a:endParaRPr>
          </a:p>
          <a:p>
            <a:pPr algn="just"/>
            <a:r>
              <a:rPr lang="pt-BR" sz="1000" b="1" dirty="0">
                <a:latin typeface="+mj-lt"/>
                <a:cs typeface="Arial" pitchFamily="34" charset="0"/>
              </a:rPr>
              <a:t>3.2 Instalação de Gás GLP (Engarrafado)</a:t>
            </a:r>
          </a:p>
          <a:p>
            <a:pPr algn="just"/>
            <a:r>
              <a:rPr lang="pt-BR" sz="1000" dirty="0">
                <a:latin typeface="+mj-lt"/>
                <a:cs typeface="Arial" pitchFamily="34" charset="0"/>
              </a:rPr>
              <a:t>Existem dois tipos :</a:t>
            </a:r>
          </a:p>
          <a:p>
            <a:pPr marL="171450" indent="-171450" algn="just">
              <a:buFont typeface="Arial" panose="020B0604020202020204" pitchFamily="34" charset="0"/>
              <a:buChar char="•"/>
            </a:pPr>
            <a:r>
              <a:rPr lang="pt-BR" sz="1000" dirty="0">
                <a:latin typeface="+mj-lt"/>
                <a:cs typeface="Arial" pitchFamily="34" charset="0"/>
              </a:rPr>
              <a:t>1</a:t>
            </a:r>
            <a:r>
              <a:rPr lang="pt-BR" sz="1000" dirty="0">
                <a:cs typeface="Arial" panose="020B0604020202020204" pitchFamily="34" charset="0"/>
              </a:rPr>
              <a:t>° </a:t>
            </a:r>
            <a:r>
              <a:rPr lang="pt-BR" sz="1000" dirty="0">
                <a:latin typeface="+mj-lt"/>
                <a:cs typeface="Arial" panose="020B0604020202020204" pitchFamily="34" charset="0"/>
              </a:rPr>
              <a:t>Quando os botijões estão localizados ao lado do forno utiliza-se a válvula reguladora de gás estágio único com pressão de entrada de 7kg/</a:t>
            </a:r>
            <a:r>
              <a:rPr lang="pt-BR" sz="1000" dirty="0"/>
              <a:t> </a:t>
            </a:r>
            <a:r>
              <a:rPr lang="pt-BR" sz="1000" dirty="0">
                <a:latin typeface="+mj-lt"/>
              </a:rPr>
              <a:t>cm² e pressão de saída de 2,8 kPa (</a:t>
            </a:r>
            <a:r>
              <a:rPr lang="pt-BR" sz="1000" dirty="0" err="1">
                <a:latin typeface="+mj-lt"/>
              </a:rPr>
              <a:t>kilopascal</a:t>
            </a:r>
            <a:r>
              <a:rPr lang="pt-BR" sz="1000" dirty="0">
                <a:latin typeface="+mj-lt"/>
              </a:rPr>
              <a:t>) ou 280mm </a:t>
            </a:r>
            <a:r>
              <a:rPr lang="pt-BR" sz="1000" dirty="0" err="1">
                <a:latin typeface="+mj-lt"/>
              </a:rPr>
              <a:t>c.a</a:t>
            </a:r>
            <a:r>
              <a:rPr lang="pt-BR" sz="1000" dirty="0">
                <a:latin typeface="+mj-lt"/>
              </a:rPr>
              <a:t>. e a vazão é determinada pelo consumo do forno .</a:t>
            </a:r>
            <a:r>
              <a:rPr lang="pt-BR" sz="1000" b="1" dirty="0">
                <a:latin typeface="+mj-lt"/>
              </a:rPr>
              <a:t>ATENÇÃO : verifique se a legislação vigente em seu estado /município permite este modelo de instalação.</a:t>
            </a:r>
          </a:p>
          <a:p>
            <a:pPr marL="171450" indent="-171450" algn="just">
              <a:buFont typeface="Arial" panose="020B0604020202020204" pitchFamily="34" charset="0"/>
              <a:buChar char="•"/>
            </a:pPr>
            <a:endParaRPr lang="pt-BR" sz="1000" b="1" dirty="0">
              <a:latin typeface="+mj-lt"/>
              <a:cs typeface="Arial" panose="020B0604020202020204" pitchFamily="34" charset="0"/>
            </a:endParaRPr>
          </a:p>
          <a:p>
            <a:pPr marL="171450" indent="-171450" algn="just">
              <a:buFont typeface="Arial" panose="020B0604020202020204" pitchFamily="34" charset="0"/>
              <a:buChar char="•"/>
            </a:pPr>
            <a:r>
              <a:rPr lang="pt-BR" sz="1000" dirty="0">
                <a:latin typeface="+mj-lt"/>
                <a:cs typeface="Arial" panose="020B0604020202020204" pitchFamily="34" charset="0"/>
              </a:rPr>
              <a:t>2</a:t>
            </a:r>
            <a:r>
              <a:rPr lang="pt-BR" sz="1000" dirty="0">
                <a:cs typeface="Arial" panose="020B0604020202020204" pitchFamily="34" charset="0"/>
              </a:rPr>
              <a:t> ° Quando os botijões estão em uma central distante do forno ,instala-se no local uma válvula reguladora de gás de 1 ° estágio ,com entrada de 7 kg/</a:t>
            </a:r>
            <a:r>
              <a:rPr lang="pt-BR" sz="1000" dirty="0"/>
              <a:t> cm² e pressão de saída de 1,2kg/ cm² ,colocando ,como condutor de gás até o forno ,tubulação de cobre ou de aço carbono ( sem costura) ,instalando no final, ao lado do forno uma segunda válvula , porem de segundo estágio com pressão de entrada de 1,2 kg/ cm² e pressão de saída de 2,8 kPa ( </a:t>
            </a:r>
            <a:r>
              <a:rPr lang="pt-BR" sz="1000" dirty="0" err="1"/>
              <a:t>Kilopascal</a:t>
            </a:r>
            <a:r>
              <a:rPr lang="pt-BR" sz="1000" dirty="0"/>
              <a:t>) ou de 280 </a:t>
            </a:r>
            <a:r>
              <a:rPr lang="pt-BR" sz="1000" dirty="0" err="1"/>
              <a:t>mm.c.a</a:t>
            </a:r>
            <a:r>
              <a:rPr lang="pt-BR" sz="1000" dirty="0"/>
              <a:t> .</a:t>
            </a:r>
            <a:r>
              <a:rPr lang="pt-BR" sz="1000" b="1" dirty="0"/>
              <a:t>Este modelo de instalação é o mais indicado ,verifique se a legislação vigente em seu estado/município permite este tipo de instalação.</a:t>
            </a:r>
          </a:p>
          <a:p>
            <a:pPr algn="just"/>
            <a:endParaRPr lang="pt-BR" sz="1000" b="1" dirty="0"/>
          </a:p>
          <a:p>
            <a:pPr algn="just"/>
            <a:r>
              <a:rPr lang="pt-BR" sz="1000" b="1" dirty="0"/>
              <a:t>3.3 Limpeza e manutenção</a:t>
            </a:r>
          </a:p>
          <a:p>
            <a:pPr marL="171450" indent="-171450" algn="just">
              <a:buFont typeface="Arial" panose="020B0604020202020204" pitchFamily="34" charset="0"/>
              <a:buChar char="•"/>
            </a:pPr>
            <a:r>
              <a:rPr lang="pt-BR" sz="1000" dirty="0"/>
              <a:t>Fechar o registro de gás e aguardar até que o forno esfrie para iniciar o processo de limpeza.</a:t>
            </a:r>
          </a:p>
          <a:p>
            <a:pPr marL="171450" indent="-171450" algn="just">
              <a:buFont typeface="Arial" panose="020B0604020202020204" pitchFamily="34" charset="0"/>
              <a:buChar char="•"/>
            </a:pPr>
            <a:r>
              <a:rPr lang="pt-BR" sz="1000" dirty="0"/>
              <a:t>Para efetuar a limpeza do forno não utilize palha de aço , nem produtos abrasivos ,bem como solventes ou qualquer outra substancias químicas pois estes ,podem danificar os materiais utilizados na confecção do forno.</a:t>
            </a:r>
          </a:p>
          <a:p>
            <a:pPr marL="171450" indent="-171450" algn="just">
              <a:buFont typeface="Arial" panose="020B0604020202020204" pitchFamily="34" charset="0"/>
              <a:buChar char="•"/>
            </a:pPr>
            <a:r>
              <a:rPr lang="pt-BR" sz="1000" dirty="0"/>
              <a:t>Todos as partes de aço inoxidável podem ser limpas regulamente com álcool e gel, internamente limpas com álcool em gel para uma perfeita higienização, a manutenção do forno deverá ser realizada por técnicos autorizados quando o mesmo ainda estiver dentro do prazo de garantia.</a:t>
            </a:r>
          </a:p>
          <a:p>
            <a:pPr algn="just"/>
            <a:endParaRPr lang="pt-BR" sz="1000" b="1" dirty="0"/>
          </a:p>
          <a:p>
            <a:pPr algn="just"/>
            <a:endParaRPr lang="pt-BR" sz="1000" dirty="0">
              <a:latin typeface="+mj-lt"/>
              <a:cs typeface="Arial" panose="020B0604020202020204" pitchFamily="34" charset="0"/>
            </a:endParaRPr>
          </a:p>
        </p:txBody>
      </p:sp>
    </p:spTree>
    <p:extLst>
      <p:ext uri="{BB962C8B-B14F-4D97-AF65-F5344CB8AC3E}">
        <p14:creationId xmlns:p14="http://schemas.microsoft.com/office/powerpoint/2010/main" val="1645644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08</a:t>
            </a:r>
          </a:p>
        </p:txBody>
      </p:sp>
      <p:sp>
        <p:nvSpPr>
          <p:cNvPr id="10" name="CaixaDeTexto 9">
            <a:extLst>
              <a:ext uri="{FF2B5EF4-FFF2-40B4-BE49-F238E27FC236}">
                <a16:creationId xmlns:a16="http://schemas.microsoft.com/office/drawing/2014/main" id="{EB151972-0BE7-4E2D-B86C-A00DD9934729}"/>
              </a:ext>
            </a:extLst>
          </p:cNvPr>
          <p:cNvSpPr txBox="1"/>
          <p:nvPr/>
        </p:nvSpPr>
        <p:spPr>
          <a:xfrm>
            <a:off x="162361" y="180231"/>
            <a:ext cx="5040000" cy="7325082"/>
          </a:xfrm>
          <a:prstGeom prst="rect">
            <a:avLst/>
          </a:prstGeom>
          <a:noFill/>
        </p:spPr>
        <p:txBody>
          <a:bodyPr wrap="square" rtlCol="0">
            <a:spAutoFit/>
          </a:bodyPr>
          <a:lstStyle/>
          <a:p>
            <a:pPr algn="just"/>
            <a:endParaRPr lang="pt-BR" sz="1000" dirty="0">
              <a:latin typeface="+mj-lt"/>
              <a:cs typeface="Arial" pitchFamily="34" charset="0"/>
            </a:endParaRPr>
          </a:p>
          <a:p>
            <a:pPr algn="just"/>
            <a:r>
              <a:rPr lang="pt-BR" sz="1000" b="1" dirty="0">
                <a:latin typeface="+mj-lt"/>
                <a:cs typeface="Arial" pitchFamily="34" charset="0"/>
              </a:rPr>
              <a:t>3.4 INSTRUÇÕES PARA MONTAGENS DO TERMÔMETRO</a:t>
            </a:r>
          </a:p>
          <a:p>
            <a:pPr algn="just"/>
            <a:endParaRPr lang="pt-BR" sz="1000" dirty="0">
              <a:latin typeface="+mj-lt"/>
              <a:cs typeface="Arial" pitchFamily="34" charset="0"/>
            </a:endParaRPr>
          </a:p>
          <a:p>
            <a:pPr algn="just"/>
            <a:r>
              <a:rPr lang="pt-BR" sz="1000" dirty="0">
                <a:latin typeface="+mj-lt"/>
                <a:cs typeface="Arial" pitchFamily="34" charset="0"/>
              </a:rPr>
              <a:t>Coloque o termômetro na parte superior do forno(olhando o forno de frente) rosqueando o mesmo até quase o fim ,deixando o mostrador para ser visto da frente do forno. O termômetro é um delicado sistema mecânico ,portanto , muito cuidado no manuseio. Devido as  características mecânicas do termômetro ,é necessário que o forno esteja com temperatura estabilizada para ter uma temperatura próxima ao valor real.</a:t>
            </a:r>
          </a:p>
          <a:p>
            <a:pPr algn="just"/>
            <a:endParaRPr lang="pt-BR" sz="1000" dirty="0">
              <a:latin typeface="+mj-lt"/>
              <a:cs typeface="Arial" pitchFamily="34" charset="0"/>
            </a:endParaRPr>
          </a:p>
          <a:p>
            <a:pPr algn="just"/>
            <a:r>
              <a:rPr lang="pt-BR" sz="1000" b="1" dirty="0">
                <a:latin typeface="+mj-lt"/>
                <a:cs typeface="Arial" pitchFamily="34" charset="0"/>
              </a:rPr>
              <a:t>3.5 FORNO GÁS GLP</a:t>
            </a:r>
            <a:r>
              <a:rPr lang="pt-BR" sz="1000" dirty="0">
                <a:latin typeface="+mj-lt"/>
                <a:cs typeface="Arial" pitchFamily="34" charset="0"/>
              </a:rPr>
              <a:t> </a:t>
            </a:r>
          </a:p>
          <a:p>
            <a:pPr algn="just"/>
            <a:endParaRPr lang="pt-BR" sz="1000" dirty="0">
              <a:latin typeface="+mj-lt"/>
              <a:cs typeface="Arial" pitchFamily="34" charset="0"/>
            </a:endParaRPr>
          </a:p>
          <a:p>
            <a:pPr algn="just"/>
            <a:r>
              <a:rPr lang="pt-BR" sz="1000" dirty="0">
                <a:latin typeface="+mj-lt"/>
                <a:cs typeface="Arial" pitchFamily="34" charset="0"/>
              </a:rPr>
              <a:t>Os fornos a gás Só aço somente devem ser instalados com válvula reguladora de baixa pressão com 2,8 kPa (280 mm </a:t>
            </a:r>
            <a:r>
              <a:rPr lang="pt-BR" sz="1000" dirty="0" err="1">
                <a:latin typeface="+mj-lt"/>
                <a:cs typeface="Arial" pitchFamily="34" charset="0"/>
              </a:rPr>
              <a:t>c.a</a:t>
            </a:r>
            <a:r>
              <a:rPr lang="pt-BR" sz="1000" dirty="0">
                <a:latin typeface="+mj-lt"/>
                <a:cs typeface="Arial" pitchFamily="34" charset="0"/>
              </a:rPr>
              <a:t>.) para gás GLP e conforme as normas de segurança da ABNT Porta de vidro temperado com sistema de abertura basculante tipo guilhotina ;</a:t>
            </a:r>
          </a:p>
          <a:p>
            <a:pPr marL="171450" indent="-171450" algn="just">
              <a:buFont typeface="Wingdings" panose="05000000000000000000" pitchFamily="2" charset="2"/>
              <a:buChar char="ü"/>
            </a:pPr>
            <a:r>
              <a:rPr lang="pt-BR" sz="1000" dirty="0">
                <a:latin typeface="+mj-lt"/>
                <a:cs typeface="Arial" pitchFamily="34" charset="0"/>
              </a:rPr>
              <a:t>Chapas internas em aço galvanizado;</a:t>
            </a:r>
          </a:p>
          <a:p>
            <a:pPr marL="171450" indent="-171450" algn="just">
              <a:buFont typeface="Wingdings" panose="05000000000000000000" pitchFamily="2" charset="2"/>
              <a:buChar char="ü"/>
            </a:pPr>
            <a:r>
              <a:rPr lang="pt-BR" sz="1000" dirty="0">
                <a:latin typeface="+mj-lt"/>
                <a:cs typeface="Arial" pitchFamily="34" charset="0"/>
              </a:rPr>
              <a:t>Isolamento térmico em manta de lã de vidro;</a:t>
            </a:r>
          </a:p>
          <a:p>
            <a:pPr marL="171450" indent="-171450" algn="just">
              <a:buFont typeface="Wingdings" panose="05000000000000000000" pitchFamily="2" charset="2"/>
              <a:buChar char="ü"/>
            </a:pPr>
            <a:r>
              <a:rPr lang="pt-BR" sz="1000" dirty="0">
                <a:latin typeface="+mj-lt"/>
                <a:cs typeface="Arial" pitchFamily="34" charset="0"/>
              </a:rPr>
              <a:t>Cobertura externa laterais, frente e teto  em aço inox ou pintura eletrostática a pó;</a:t>
            </a:r>
          </a:p>
          <a:p>
            <a:pPr marL="171450" indent="-171450" algn="just">
              <a:buFont typeface="Wingdings" panose="05000000000000000000" pitchFamily="2" charset="2"/>
              <a:buChar char="ü"/>
            </a:pPr>
            <a:r>
              <a:rPr lang="pt-BR" sz="1000" dirty="0">
                <a:latin typeface="+mj-lt"/>
                <a:cs typeface="Arial" pitchFamily="34" charset="0"/>
              </a:rPr>
              <a:t>Acompanha uma grelha por câmara;</a:t>
            </a:r>
          </a:p>
          <a:p>
            <a:pPr marL="171450" indent="-171450" algn="just">
              <a:buFont typeface="Wingdings" panose="05000000000000000000" pitchFamily="2" charset="2"/>
              <a:buChar char="ü"/>
            </a:pPr>
            <a:r>
              <a:rPr lang="pt-BR" sz="1000" dirty="0">
                <a:latin typeface="+mj-lt"/>
                <a:cs typeface="Arial" pitchFamily="34" charset="0"/>
              </a:rPr>
              <a:t>Cada câmara possui três trilhos de encaixe da grelha, possibilitando regulagens diferenciadas conforme a necessidade do usuário ; </a:t>
            </a:r>
          </a:p>
          <a:p>
            <a:pPr marL="171450" indent="-171450" algn="just">
              <a:buFont typeface="Wingdings" panose="05000000000000000000" pitchFamily="2" charset="2"/>
              <a:buChar char="ü"/>
            </a:pPr>
            <a:r>
              <a:rPr lang="pt-BR" sz="1000" dirty="0">
                <a:latin typeface="+mj-lt"/>
                <a:cs typeface="Arial" pitchFamily="34" charset="0"/>
              </a:rPr>
              <a:t>O piso do forno é composto por pedra (s) refratária(s); </a:t>
            </a:r>
          </a:p>
          <a:p>
            <a:pPr marL="171450" indent="-171450" algn="just">
              <a:buFont typeface="Wingdings" panose="05000000000000000000" pitchFamily="2" charset="2"/>
              <a:buChar char="ü"/>
            </a:pPr>
            <a:r>
              <a:rPr lang="pt-BR" sz="1000" dirty="0">
                <a:latin typeface="+mj-lt"/>
                <a:cs typeface="Arial" pitchFamily="34" charset="0"/>
              </a:rPr>
              <a:t>Acendimento dos queimadores via orifícios existentes na parte dianteira inferior externa da câmara ou através da gaveta que, para serem utilizadas, basta puxá-la pra fora.</a:t>
            </a:r>
          </a:p>
          <a:p>
            <a:pPr algn="just"/>
            <a:endParaRPr lang="pt-BR" sz="1000" dirty="0">
              <a:latin typeface="+mj-lt"/>
              <a:cs typeface="Arial" pitchFamily="34" charset="0"/>
            </a:endParaRPr>
          </a:p>
          <a:p>
            <a:pPr algn="just"/>
            <a:r>
              <a:rPr lang="pt-BR" sz="1000" b="1" i="1" dirty="0">
                <a:cs typeface="Arial" pitchFamily="34" charset="0"/>
              </a:rPr>
              <a:t>3.6 FORNO GÁS GLP COM GRATINADOR</a:t>
            </a:r>
          </a:p>
          <a:p>
            <a:pPr algn="just"/>
            <a:endParaRPr lang="pt-BR" sz="1000" b="1" dirty="0">
              <a:cs typeface="Arial" pitchFamily="34" charset="0"/>
            </a:endParaRPr>
          </a:p>
          <a:p>
            <a:pPr algn="just"/>
            <a:r>
              <a:rPr lang="pt-BR" sz="1000" b="1" dirty="0">
                <a:cs typeface="Arial" pitchFamily="34" charset="0"/>
              </a:rPr>
              <a:t>Características básicas </a:t>
            </a:r>
          </a:p>
          <a:p>
            <a:pPr marL="171450" indent="-171450" algn="just">
              <a:buFont typeface="Wingdings" panose="05000000000000000000" pitchFamily="2" charset="2"/>
              <a:buChar char="ü"/>
            </a:pPr>
            <a:r>
              <a:rPr lang="pt-BR" sz="1000" dirty="0">
                <a:cs typeface="Arial" pitchFamily="34" charset="0"/>
              </a:rPr>
              <a:t>Porta de vidro temperado com sistema de abertura basculante ,tipo guilhotina.</a:t>
            </a:r>
          </a:p>
          <a:p>
            <a:pPr marL="171450" indent="-171450" algn="just">
              <a:buFont typeface="Wingdings" panose="05000000000000000000" pitchFamily="2" charset="2"/>
              <a:buChar char="ü"/>
            </a:pPr>
            <a:r>
              <a:rPr lang="pt-BR" sz="1000" dirty="0">
                <a:cs typeface="Arial" pitchFamily="34" charset="0"/>
              </a:rPr>
              <a:t>Chapas internas em aço galvanizado</a:t>
            </a:r>
          </a:p>
          <a:p>
            <a:pPr marL="171450" indent="-171450" algn="just">
              <a:buFont typeface="Wingdings" panose="05000000000000000000" pitchFamily="2" charset="2"/>
              <a:buChar char="ü"/>
            </a:pPr>
            <a:r>
              <a:rPr lang="pt-BR" sz="1000" dirty="0">
                <a:cs typeface="Arial" pitchFamily="34" charset="0"/>
              </a:rPr>
              <a:t>Corpo externo em aço inoxidável ou pintura eletrostática a pó.</a:t>
            </a:r>
          </a:p>
          <a:p>
            <a:pPr marL="171450" indent="-171450" algn="just">
              <a:buFont typeface="Wingdings" panose="05000000000000000000" pitchFamily="2" charset="2"/>
              <a:buChar char="ü"/>
            </a:pPr>
            <a:r>
              <a:rPr lang="pt-BR" sz="1000" dirty="0">
                <a:cs typeface="Arial" pitchFamily="34" charset="0"/>
              </a:rPr>
              <a:t>Acompanha 1 (uma) grelha zincada por câmara .</a:t>
            </a:r>
          </a:p>
          <a:p>
            <a:pPr marL="171450" indent="-171450" algn="just">
              <a:buFont typeface="Wingdings" panose="05000000000000000000" pitchFamily="2" charset="2"/>
              <a:buChar char="ü"/>
            </a:pPr>
            <a:r>
              <a:rPr lang="pt-BR" sz="1000" dirty="0">
                <a:cs typeface="Arial" pitchFamily="34" charset="0"/>
              </a:rPr>
              <a:t>Isolamento térmico em manta de lã de vidro.</a:t>
            </a:r>
          </a:p>
          <a:p>
            <a:pPr marL="171450" indent="-171450" algn="just">
              <a:buFont typeface="Wingdings" panose="05000000000000000000" pitchFamily="2" charset="2"/>
              <a:buChar char="ü"/>
            </a:pPr>
            <a:r>
              <a:rPr lang="pt-BR" sz="1000" dirty="0">
                <a:cs typeface="Arial" pitchFamily="34" charset="0"/>
              </a:rPr>
              <a:t>Cada câmara possui 3 (três) trilhos de encaixe de grelhas ,possibilitando regulagens diferenciadas conforme a necessidade do usuário .</a:t>
            </a:r>
          </a:p>
          <a:p>
            <a:pPr marL="171450" indent="-171450" algn="just">
              <a:buFont typeface="Wingdings" panose="05000000000000000000" pitchFamily="2" charset="2"/>
              <a:buChar char="ü"/>
            </a:pPr>
            <a:r>
              <a:rPr lang="pt-BR" sz="1000" dirty="0">
                <a:cs typeface="Arial" pitchFamily="34" charset="0"/>
              </a:rPr>
              <a:t>O chão de forno é composto por lajes pré-moldadas aquecidas diretamente pelos queimadores .</a:t>
            </a:r>
          </a:p>
          <a:p>
            <a:pPr marL="171450" indent="-171450" algn="just">
              <a:buFont typeface="Wingdings" panose="05000000000000000000" pitchFamily="2" charset="2"/>
              <a:buChar char="ü"/>
            </a:pPr>
            <a:r>
              <a:rPr lang="pt-BR" sz="1000" dirty="0">
                <a:cs typeface="Arial" pitchFamily="34" charset="0"/>
              </a:rPr>
              <a:t>O ar quente circula pelas passagens laterais ,penetrando na parte superior de cada câmara, </a:t>
            </a:r>
            <a:r>
              <a:rPr lang="pt-BR" sz="1000" dirty="0" err="1">
                <a:cs typeface="Arial" pitchFamily="34" charset="0"/>
              </a:rPr>
              <a:t>recirculando</a:t>
            </a:r>
            <a:r>
              <a:rPr lang="pt-BR" sz="1000" dirty="0">
                <a:cs typeface="Arial" pitchFamily="34" charset="0"/>
              </a:rPr>
              <a:t> pelas mesmas  antes de sair pelos orifícios .Desta forma ,há uma uniformidade de temperatura na parte interna.</a:t>
            </a:r>
          </a:p>
          <a:p>
            <a:pPr marL="171450" indent="-171450" algn="just">
              <a:buFont typeface="Wingdings" panose="05000000000000000000" pitchFamily="2" charset="2"/>
              <a:buChar char="ü"/>
            </a:pPr>
            <a:r>
              <a:rPr lang="pt-BR" sz="1000" dirty="0">
                <a:cs typeface="Arial" pitchFamily="34" charset="0"/>
              </a:rPr>
              <a:t>Queimadores em aço tubular, com regulador de entrada de ar obtendo-se ,assim, uma chama mais perfeita .</a:t>
            </a:r>
          </a:p>
          <a:p>
            <a:pPr marL="171450" lvl="0" indent="-171450" algn="just">
              <a:buFont typeface="Wingdings" panose="05000000000000000000" pitchFamily="2" charset="2"/>
              <a:buChar char="ü"/>
            </a:pPr>
            <a:r>
              <a:rPr lang="pt-BR" sz="1000" dirty="0">
                <a:cs typeface="Arial" pitchFamily="34" charset="0"/>
              </a:rPr>
              <a:t>Termômetro de 0 a 350 C</a:t>
            </a:r>
            <a:r>
              <a:rPr lang="pt-BR" sz="1000" dirty="0">
                <a:solidFill>
                  <a:srgbClr val="1A0DAB"/>
                </a:solidFill>
                <a:cs typeface="Arial" panose="020B0604020202020204" pitchFamily="34" charset="0"/>
              </a:rPr>
              <a:t>°</a:t>
            </a:r>
            <a:r>
              <a:rPr lang="pt-BR" sz="1000" dirty="0">
                <a:cs typeface="Arial" pitchFamily="34" charset="0"/>
              </a:rPr>
              <a:t> ,permitindo a regulagem de temperatura através do registro de entrada de gás.</a:t>
            </a:r>
          </a:p>
          <a:p>
            <a:pPr marL="171450" lvl="0" indent="-171450" algn="just">
              <a:buFont typeface="Wingdings" panose="05000000000000000000" pitchFamily="2" charset="2"/>
              <a:buChar char="ü"/>
            </a:pPr>
            <a:r>
              <a:rPr lang="pt-BR" sz="1000" dirty="0">
                <a:cs typeface="Arial" pitchFamily="34" charset="0"/>
              </a:rPr>
              <a:t>Acendimento dos queimadores via orifícios existentes na parte dianteira inferior externa da câmara ou através da gaveta que , para ser utilizada ,basta puxá-la para fora.</a:t>
            </a:r>
          </a:p>
          <a:p>
            <a:pPr algn="just"/>
            <a:endParaRPr lang="pt-BR" sz="1000" dirty="0">
              <a:latin typeface="+mj-lt"/>
              <a:cs typeface="Arial" pitchFamily="34" charset="0"/>
            </a:endParaRPr>
          </a:p>
          <a:p>
            <a:pPr algn="just"/>
            <a:endParaRPr lang="pt-BR" sz="1000" b="1" dirty="0">
              <a:latin typeface="+mj-lt"/>
              <a:cs typeface="Arial" pitchFamily="34" charset="0"/>
            </a:endParaRPr>
          </a:p>
        </p:txBody>
      </p:sp>
    </p:spTree>
    <p:extLst>
      <p:ext uri="{BB962C8B-B14F-4D97-AF65-F5344CB8AC3E}">
        <p14:creationId xmlns:p14="http://schemas.microsoft.com/office/powerpoint/2010/main" val="159572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09</a:t>
            </a:r>
          </a:p>
        </p:txBody>
      </p:sp>
      <p:sp>
        <p:nvSpPr>
          <p:cNvPr id="10" name="CaixaDeTexto 9">
            <a:extLst>
              <a:ext uri="{FF2B5EF4-FFF2-40B4-BE49-F238E27FC236}">
                <a16:creationId xmlns:a16="http://schemas.microsoft.com/office/drawing/2014/main" id="{EB151972-0BE7-4E2D-B86C-A00DD9934729}"/>
              </a:ext>
            </a:extLst>
          </p:cNvPr>
          <p:cNvSpPr txBox="1"/>
          <p:nvPr/>
        </p:nvSpPr>
        <p:spPr>
          <a:xfrm>
            <a:off x="144143" y="622141"/>
            <a:ext cx="5040000" cy="3477875"/>
          </a:xfrm>
          <a:prstGeom prst="rect">
            <a:avLst/>
          </a:prstGeom>
          <a:noFill/>
        </p:spPr>
        <p:txBody>
          <a:bodyPr wrap="square" rtlCol="0">
            <a:spAutoFit/>
          </a:bodyPr>
          <a:lstStyle/>
          <a:p>
            <a:pPr algn="just"/>
            <a:r>
              <a:rPr lang="pt-BR" sz="1000" b="1" dirty="0">
                <a:latin typeface="+mj-lt"/>
                <a:cs typeface="Arial" pitchFamily="34" charset="0"/>
              </a:rPr>
              <a:t>4.1 ORIENTAÇÃO DE USO</a:t>
            </a:r>
            <a:r>
              <a:rPr lang="pt-BR" sz="1000" dirty="0">
                <a:latin typeface="+mj-lt"/>
                <a:cs typeface="Arial" pitchFamily="34" charset="0"/>
              </a:rPr>
              <a:t> </a:t>
            </a:r>
          </a:p>
          <a:p>
            <a:pPr algn="just"/>
            <a:endParaRPr lang="pt-BR" sz="1000" b="1" dirty="0">
              <a:latin typeface="+mj-lt"/>
              <a:cs typeface="Arial" pitchFamily="34" charset="0"/>
            </a:endParaRPr>
          </a:p>
          <a:p>
            <a:pPr algn="just"/>
            <a:r>
              <a:rPr lang="pt-BR" sz="1000" b="1" dirty="0">
                <a:latin typeface="+mj-lt"/>
                <a:cs typeface="Arial" pitchFamily="34" charset="0"/>
              </a:rPr>
              <a:t>4.1.2 </a:t>
            </a:r>
            <a:r>
              <a:rPr lang="pt-BR" sz="1000" dirty="0">
                <a:latin typeface="+mj-lt"/>
                <a:cs typeface="Arial" pitchFamily="34" charset="0"/>
              </a:rPr>
              <a:t>O controle de intensidade do gás e, consequentemente, da temperatura, é realizado no registro de entrada de gás.</a:t>
            </a:r>
          </a:p>
          <a:p>
            <a:pPr algn="just"/>
            <a:r>
              <a:rPr lang="pt-BR" sz="1000" b="1" dirty="0">
                <a:latin typeface="+mj-lt"/>
                <a:cs typeface="Arial" pitchFamily="34" charset="0"/>
              </a:rPr>
              <a:t>4.1.2</a:t>
            </a:r>
            <a:r>
              <a:rPr lang="pt-BR" sz="1000" dirty="0">
                <a:latin typeface="+mj-lt"/>
                <a:cs typeface="Arial" pitchFamily="34" charset="0"/>
              </a:rPr>
              <a:t> Normalmente usa-se a chama alta para o pré-aquecimento da câmara e, para o cozimento usa-se a chama média intensidade.</a:t>
            </a:r>
          </a:p>
          <a:p>
            <a:pPr algn="just"/>
            <a:r>
              <a:rPr lang="pt-BR" sz="1000" b="1" dirty="0">
                <a:latin typeface="+mj-lt"/>
                <a:cs typeface="Arial" pitchFamily="34" charset="0"/>
              </a:rPr>
              <a:t>4.1.3</a:t>
            </a:r>
            <a:r>
              <a:rPr lang="pt-BR" sz="1000" dirty="0">
                <a:latin typeface="+mj-lt"/>
                <a:cs typeface="Arial" pitchFamily="34" charset="0"/>
              </a:rPr>
              <a:t> Cada tipo de assado exige um certo tempo de cozimento e intensidade de chama, procure seguir os padrões já definidos e não haverá problemas.</a:t>
            </a:r>
          </a:p>
          <a:p>
            <a:pPr algn="just"/>
            <a:r>
              <a:rPr lang="pt-BR" sz="1000" b="1" dirty="0">
                <a:latin typeface="+mj-lt"/>
                <a:cs typeface="Arial" pitchFamily="34" charset="0"/>
              </a:rPr>
              <a:t>4.1.4</a:t>
            </a:r>
            <a:r>
              <a:rPr lang="pt-BR" sz="1000" dirty="0">
                <a:latin typeface="+mj-lt"/>
                <a:cs typeface="Arial" pitchFamily="34" charset="0"/>
              </a:rPr>
              <a:t> Nunca coloque a esteira diretamente sobre as lajes pré-moldadas. </a:t>
            </a:r>
          </a:p>
          <a:p>
            <a:pPr algn="just"/>
            <a:r>
              <a:rPr lang="pt-BR" sz="1000" b="1" dirty="0">
                <a:latin typeface="+mj-lt"/>
                <a:cs typeface="Arial" pitchFamily="34" charset="0"/>
              </a:rPr>
              <a:t>4.1.5</a:t>
            </a:r>
            <a:r>
              <a:rPr lang="pt-BR" sz="1000" dirty="0">
                <a:latin typeface="+mj-lt"/>
                <a:cs typeface="Arial" pitchFamily="34" charset="0"/>
              </a:rPr>
              <a:t> Nunca procure manter as formas ou esteiras afastadas das paredes laterais do forno, pois neste local há uma maior circulação de calor , o que poderá ocasionar uma deformidade no processo de assado.</a:t>
            </a:r>
          </a:p>
          <a:p>
            <a:pPr algn="just"/>
            <a:r>
              <a:rPr lang="pt-BR" sz="1000" b="1" dirty="0">
                <a:latin typeface="+mj-lt"/>
                <a:cs typeface="Arial" pitchFamily="34" charset="0"/>
              </a:rPr>
              <a:t>4.1.6</a:t>
            </a:r>
            <a:r>
              <a:rPr lang="pt-BR" sz="1000" dirty="0">
                <a:latin typeface="+mj-lt"/>
                <a:cs typeface="Arial" pitchFamily="34" charset="0"/>
              </a:rPr>
              <a:t> Para o primeiro uso, passe um pano úmido com álcool e gel no interior do mesmo e aguarde em torno de 10 minutos até a evaporação completa do álcool ,passando este tempo, ligue o forno vazio e com a porta aberta por 1 hora ,para queimar as impurezas ,coloque as lajes pré-moldadas de modos que fiquem no chão da câmara. </a:t>
            </a:r>
          </a:p>
          <a:p>
            <a:pPr algn="just"/>
            <a:r>
              <a:rPr lang="pt-BR" sz="1000" b="1" dirty="0">
                <a:latin typeface="+mj-lt"/>
                <a:cs typeface="Arial" pitchFamily="34" charset="0"/>
              </a:rPr>
              <a:t>4.1.7</a:t>
            </a:r>
            <a:r>
              <a:rPr lang="pt-BR" sz="1000" dirty="0">
                <a:latin typeface="+mj-lt"/>
                <a:cs typeface="Arial" pitchFamily="34" charset="0"/>
              </a:rPr>
              <a:t> Para acender ,puxa a gaveta móvel onde estão os queimadores, abra o registro geral do botijão ou da central de gás, depois, conforme a necessidade abra o registro da entrada de gás da gaveta.</a:t>
            </a:r>
          </a:p>
          <a:p>
            <a:pPr algn="just"/>
            <a:r>
              <a:rPr lang="pt-BR" sz="1000" b="1" dirty="0">
                <a:latin typeface="+mj-lt"/>
                <a:cs typeface="Arial" pitchFamily="34" charset="0"/>
              </a:rPr>
              <a:t>4.1.8 </a:t>
            </a:r>
            <a:r>
              <a:rPr lang="pt-BR" sz="1000" dirty="0">
                <a:cs typeface="Arial" pitchFamily="34" charset="0"/>
              </a:rPr>
              <a:t>Procure distribuir as grelhas ou formas de modo a manter um espaço razoável entre cada alimento que está sendo assado, pois assim, se obtêm uma melhor distribuição de calor na câmara .</a:t>
            </a:r>
          </a:p>
        </p:txBody>
      </p:sp>
      <p:sp>
        <p:nvSpPr>
          <p:cNvPr id="7" name="Retângulo 6">
            <a:extLst>
              <a:ext uri="{FF2B5EF4-FFF2-40B4-BE49-F238E27FC236}">
                <a16:creationId xmlns:a16="http://schemas.microsoft.com/office/drawing/2014/main" id="{5CBA6821-580D-4008-AF06-6A2ECFE38545}"/>
              </a:ext>
            </a:extLst>
          </p:cNvPr>
          <p:cNvSpPr/>
          <p:nvPr/>
        </p:nvSpPr>
        <p:spPr>
          <a:xfrm>
            <a:off x="162081" y="234449"/>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4. OPERAÇÃO</a:t>
            </a:r>
          </a:p>
        </p:txBody>
      </p:sp>
    </p:spTree>
    <p:extLst>
      <p:ext uri="{BB962C8B-B14F-4D97-AF65-F5344CB8AC3E}">
        <p14:creationId xmlns:p14="http://schemas.microsoft.com/office/powerpoint/2010/main" val="1736902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10</a:t>
            </a:r>
          </a:p>
        </p:txBody>
      </p:sp>
      <p:sp>
        <p:nvSpPr>
          <p:cNvPr id="6" name="CaixaDeTexto 5">
            <a:extLst>
              <a:ext uri="{FF2B5EF4-FFF2-40B4-BE49-F238E27FC236}">
                <a16:creationId xmlns:a16="http://schemas.microsoft.com/office/drawing/2014/main" id="{EB151972-0BE7-4E2D-B86C-A00DD9934729}"/>
              </a:ext>
            </a:extLst>
          </p:cNvPr>
          <p:cNvSpPr txBox="1"/>
          <p:nvPr/>
        </p:nvSpPr>
        <p:spPr>
          <a:xfrm>
            <a:off x="142494" y="324247"/>
            <a:ext cx="5040000" cy="4401205"/>
          </a:xfrm>
          <a:prstGeom prst="rect">
            <a:avLst/>
          </a:prstGeom>
          <a:noFill/>
        </p:spPr>
        <p:txBody>
          <a:bodyPr wrap="square" rtlCol="0">
            <a:spAutoFit/>
          </a:bodyPr>
          <a:lstStyle/>
          <a:p>
            <a:pPr lvl="0" algn="just"/>
            <a:r>
              <a:rPr lang="pt-BR" sz="1000" b="1" dirty="0">
                <a:latin typeface="+mj-lt"/>
                <a:cs typeface="Arial" pitchFamily="34" charset="0"/>
              </a:rPr>
              <a:t>4.2 ORIENTAÇÃO DE USO – Forno com </a:t>
            </a:r>
            <a:r>
              <a:rPr lang="pt-BR" sz="1000" b="1" dirty="0" err="1">
                <a:latin typeface="+mj-lt"/>
                <a:cs typeface="Arial" pitchFamily="34" charset="0"/>
              </a:rPr>
              <a:t>Gratinador</a:t>
            </a:r>
            <a:endParaRPr lang="pt-BR" sz="1000" b="1" dirty="0">
              <a:latin typeface="+mj-lt"/>
              <a:cs typeface="Arial" pitchFamily="34" charset="0"/>
            </a:endParaRPr>
          </a:p>
          <a:p>
            <a:pPr lvl="0" algn="just"/>
            <a:endParaRPr lang="pt-BR" sz="1000" b="1" dirty="0">
              <a:latin typeface="+mj-lt"/>
              <a:cs typeface="Arial" pitchFamily="34" charset="0"/>
            </a:endParaRPr>
          </a:p>
          <a:p>
            <a:pPr lvl="0" algn="just"/>
            <a:r>
              <a:rPr lang="pt-BR" sz="1000" b="1" dirty="0">
                <a:latin typeface="+mj-lt"/>
                <a:cs typeface="Arial" pitchFamily="34" charset="0"/>
              </a:rPr>
              <a:t>4.2.1</a:t>
            </a:r>
            <a:r>
              <a:rPr lang="pt-BR" sz="1000" dirty="0">
                <a:latin typeface="+mj-lt"/>
                <a:cs typeface="Arial" pitchFamily="34" charset="0"/>
              </a:rPr>
              <a:t> Quando o forno é novo, passe um pano úmido, de preferência com álcool em gel no interior do mesmo. Após a higienização, aguarde 10 minutos até a evaporação completa de todo o álcool.</a:t>
            </a:r>
          </a:p>
          <a:p>
            <a:pPr lvl="0" algn="just"/>
            <a:r>
              <a:rPr lang="pt-BR" sz="1000" b="1" dirty="0">
                <a:latin typeface="+mj-lt"/>
                <a:cs typeface="Arial" pitchFamily="34" charset="0"/>
              </a:rPr>
              <a:t>4.2.2</a:t>
            </a:r>
            <a:r>
              <a:rPr lang="pt-BR" sz="1000" dirty="0">
                <a:latin typeface="+mj-lt"/>
                <a:cs typeface="Arial" pitchFamily="34" charset="0"/>
              </a:rPr>
              <a:t> Coloque as lajes pré-moldadas de modo que fiquem no chão da câmara de cozimento, </a:t>
            </a:r>
            <a:r>
              <a:rPr lang="pt-BR" sz="1000" b="1" dirty="0">
                <a:latin typeface="+mj-lt"/>
                <a:cs typeface="Arial" pitchFamily="34" charset="0"/>
              </a:rPr>
              <a:t>acima dos queimadores inferiores</a:t>
            </a:r>
            <a:r>
              <a:rPr lang="pt-BR" sz="1000" dirty="0">
                <a:latin typeface="+mj-lt"/>
                <a:cs typeface="Arial" pitchFamily="34" charset="0"/>
              </a:rPr>
              <a:t>. Esse é um procedimento fundamental para a performance do equipamento. </a:t>
            </a:r>
          </a:p>
          <a:p>
            <a:pPr lvl="0" algn="just"/>
            <a:r>
              <a:rPr lang="pt-BR" sz="1000" b="1" dirty="0">
                <a:latin typeface="+mj-lt"/>
                <a:cs typeface="Arial" pitchFamily="34" charset="0"/>
              </a:rPr>
              <a:t>4.2.3 </a:t>
            </a:r>
            <a:r>
              <a:rPr lang="pt-BR" sz="1000" dirty="0">
                <a:latin typeface="+mj-lt"/>
                <a:cs typeface="Arial" pitchFamily="34" charset="0"/>
              </a:rPr>
              <a:t>Para acender o forno, puxe a gaveta móvel onde estão os queimadores. Abra o registro geral da válvula do botijão de gás. Depois, conforme a necessidade, abra o registro geral da válvula do botijão de gás da gaveta do queimador. Pré-aqueça o forno por no mínimo 30 minutos.</a:t>
            </a:r>
          </a:p>
          <a:p>
            <a:pPr lvl="0" algn="just"/>
            <a:r>
              <a:rPr lang="pt-BR" sz="1000" b="1" dirty="0">
                <a:latin typeface="+mj-lt"/>
                <a:cs typeface="Arial" pitchFamily="34" charset="0"/>
              </a:rPr>
              <a:t>4.2.4</a:t>
            </a:r>
            <a:r>
              <a:rPr lang="pt-BR" sz="1000" dirty="0">
                <a:latin typeface="+mj-lt"/>
                <a:cs typeface="Arial" pitchFamily="34" charset="0"/>
              </a:rPr>
              <a:t> Procure distribuir as grelhas ou formas para manter um espaço razoável entre cada alimento que está sendo assado. Assim, se obtém uma melhor distribuição de calor pela câmara.</a:t>
            </a:r>
          </a:p>
          <a:p>
            <a:pPr lvl="0" algn="just"/>
            <a:r>
              <a:rPr lang="pt-BR" sz="1000" b="1" dirty="0">
                <a:latin typeface="+mj-lt"/>
                <a:cs typeface="Arial" pitchFamily="34" charset="0"/>
              </a:rPr>
              <a:t>4.2.5</a:t>
            </a:r>
            <a:r>
              <a:rPr lang="pt-BR" sz="1000" dirty="0">
                <a:latin typeface="+mj-lt"/>
                <a:cs typeface="Arial" pitchFamily="34" charset="0"/>
              </a:rPr>
              <a:t> Quando necessário o uso do queimador superior/</a:t>
            </a:r>
            <a:r>
              <a:rPr lang="pt-BR" sz="1000" dirty="0" err="1">
                <a:latin typeface="+mj-lt"/>
                <a:cs typeface="Arial" pitchFamily="34" charset="0"/>
              </a:rPr>
              <a:t>gratinador</a:t>
            </a:r>
            <a:r>
              <a:rPr lang="pt-BR" sz="1000" dirty="0">
                <a:latin typeface="+mj-lt"/>
                <a:cs typeface="Arial" pitchFamily="34" charset="0"/>
              </a:rPr>
              <a:t> (infravermelho) deve –se,  primeiramente, </a:t>
            </a:r>
            <a:r>
              <a:rPr lang="pt-BR" sz="1000" b="1" dirty="0">
                <a:latin typeface="+mj-lt"/>
                <a:cs typeface="Arial" pitchFamily="34" charset="0"/>
              </a:rPr>
              <a:t>desligar o queimador inferior</a:t>
            </a:r>
            <a:r>
              <a:rPr lang="pt-BR" sz="1000" dirty="0">
                <a:latin typeface="+mj-lt"/>
                <a:cs typeface="Arial" pitchFamily="34" charset="0"/>
              </a:rPr>
              <a:t>, aguardando a temperatura do forno baixar ,até próximo da temperatura ambiente. Este procedimento deve ser realizado, pois se mantiver o queimador inferior aceso, o mesmo irá gerar calor que dificultará o acendimento do queimador superior (infravermelho).</a:t>
            </a:r>
          </a:p>
          <a:p>
            <a:pPr lvl="0" algn="just"/>
            <a:r>
              <a:rPr lang="pt-BR" sz="1000" b="1" dirty="0">
                <a:latin typeface="+mj-lt"/>
                <a:cs typeface="Arial" pitchFamily="34" charset="0"/>
              </a:rPr>
              <a:t>4.2.6</a:t>
            </a:r>
            <a:r>
              <a:rPr lang="pt-BR" sz="1000" dirty="0">
                <a:latin typeface="+mj-lt"/>
                <a:cs typeface="Arial" pitchFamily="34" charset="0"/>
              </a:rPr>
              <a:t> Para acender o(s) infravermelho(s) deve-se ,primeiramente ,abrir o registro de gás conforme a imagem abaixo na posição máxima e acendê-lo pela </a:t>
            </a:r>
            <a:r>
              <a:rPr lang="pt-BR" sz="1000" b="1" dirty="0">
                <a:latin typeface="+mj-lt"/>
                <a:cs typeface="Arial" pitchFamily="34" charset="0"/>
              </a:rPr>
              <a:t>parte interna do forno</a:t>
            </a:r>
            <a:r>
              <a:rPr lang="pt-BR" sz="1000" dirty="0">
                <a:latin typeface="+mj-lt"/>
                <a:cs typeface="Arial" pitchFamily="34" charset="0"/>
              </a:rPr>
              <a:t> com o auxilio de um isqueiro ou acendedor .</a:t>
            </a:r>
          </a:p>
          <a:p>
            <a:pPr lvl="0" algn="just"/>
            <a:endParaRPr lang="pt-BR" sz="1000" dirty="0">
              <a:latin typeface="+mj-lt"/>
              <a:cs typeface="Arial" pitchFamily="34" charset="0"/>
            </a:endParaRPr>
          </a:p>
          <a:p>
            <a:pPr lvl="0" algn="just"/>
            <a:endParaRPr lang="pt-BR" sz="1000" dirty="0">
              <a:latin typeface="+mj-lt"/>
              <a:cs typeface="Arial" pitchFamily="34" charset="0"/>
            </a:endParaRPr>
          </a:p>
          <a:p>
            <a:pPr lvl="0" algn="just"/>
            <a:endParaRPr lang="pt-BR" sz="1000" dirty="0">
              <a:latin typeface="+mj-lt"/>
              <a:cs typeface="Arial" pitchFamily="34" charset="0"/>
            </a:endParaRPr>
          </a:p>
          <a:p>
            <a:pPr lvl="0" algn="ctr"/>
            <a:r>
              <a:rPr lang="pt-BR" sz="1000" b="1" dirty="0">
                <a:latin typeface="+mj-lt"/>
                <a:cs typeface="Arial" pitchFamily="34" charset="0"/>
              </a:rPr>
              <a:t>Válvulas reguladoras de chama dos </a:t>
            </a:r>
            <a:r>
              <a:rPr lang="pt-BR" sz="1000" b="1" dirty="0" err="1">
                <a:latin typeface="+mj-lt"/>
                <a:cs typeface="Arial" pitchFamily="34" charset="0"/>
              </a:rPr>
              <a:t>Gratinadores</a:t>
            </a:r>
            <a:endParaRPr lang="pt-BR" sz="1000" b="1" dirty="0">
              <a:latin typeface="+mj-lt"/>
              <a:cs typeface="Arial" pitchFamily="34" charset="0"/>
            </a:endParaRPr>
          </a:p>
        </p:txBody>
      </p:sp>
      <p:pic>
        <p:nvPicPr>
          <p:cNvPr id="3" name="Imagem 2">
            <a:extLst>
              <a:ext uri="{FF2B5EF4-FFF2-40B4-BE49-F238E27FC236}">
                <a16:creationId xmlns:a16="http://schemas.microsoft.com/office/drawing/2014/main" id="{5D1E2F07-3C70-43D9-83BC-96B42B7F97E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674" t="16573" r="24494" b="7021"/>
          <a:stretch/>
        </p:blipFill>
        <p:spPr>
          <a:xfrm>
            <a:off x="639980" y="4500711"/>
            <a:ext cx="4084202" cy="2376264"/>
          </a:xfrm>
          <a:prstGeom prst="rect">
            <a:avLst/>
          </a:prstGeom>
        </p:spPr>
      </p:pic>
    </p:spTree>
    <p:extLst>
      <p:ext uri="{BB962C8B-B14F-4D97-AF65-F5344CB8AC3E}">
        <p14:creationId xmlns:p14="http://schemas.microsoft.com/office/powerpoint/2010/main" val="3071819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ela 2">
            <a:extLst>
              <a:ext uri="{FF2B5EF4-FFF2-40B4-BE49-F238E27FC236}">
                <a16:creationId xmlns:a16="http://schemas.microsoft.com/office/drawing/2014/main" id="{1A48C557-B887-447B-8099-A6B66E98394F}"/>
              </a:ext>
            </a:extLst>
          </p:cNvPr>
          <p:cNvGraphicFramePr>
            <a:graphicFrameLocks noGrp="1"/>
          </p:cNvGraphicFramePr>
          <p:nvPr>
            <p:extLst>
              <p:ext uri="{D42A27DB-BD31-4B8C-83A1-F6EECF244321}">
                <p14:modId xmlns:p14="http://schemas.microsoft.com/office/powerpoint/2010/main" val="465637679"/>
              </p:ext>
            </p:extLst>
          </p:nvPr>
        </p:nvGraphicFramePr>
        <p:xfrm>
          <a:off x="142494" y="540271"/>
          <a:ext cx="5040000" cy="5702832"/>
        </p:xfrm>
        <a:graphic>
          <a:graphicData uri="http://schemas.openxmlformats.org/drawingml/2006/table">
            <a:tbl>
              <a:tblPr firstRow="1" bandRow="1">
                <a:tableStyleId>{073A0DAA-6AF3-43AB-8588-CEC1D06C72B9}</a:tableStyleId>
              </a:tblPr>
              <a:tblGrid>
                <a:gridCol w="1680000">
                  <a:extLst>
                    <a:ext uri="{9D8B030D-6E8A-4147-A177-3AD203B41FA5}">
                      <a16:colId xmlns:a16="http://schemas.microsoft.com/office/drawing/2014/main" val="3532350830"/>
                    </a:ext>
                  </a:extLst>
                </a:gridCol>
                <a:gridCol w="1363643">
                  <a:extLst>
                    <a:ext uri="{9D8B030D-6E8A-4147-A177-3AD203B41FA5}">
                      <a16:colId xmlns:a16="http://schemas.microsoft.com/office/drawing/2014/main" val="1833651586"/>
                    </a:ext>
                  </a:extLst>
                </a:gridCol>
                <a:gridCol w="1996357">
                  <a:extLst>
                    <a:ext uri="{9D8B030D-6E8A-4147-A177-3AD203B41FA5}">
                      <a16:colId xmlns:a16="http://schemas.microsoft.com/office/drawing/2014/main" val="3656898039"/>
                    </a:ext>
                  </a:extLst>
                </a:gridCol>
              </a:tblGrid>
              <a:tr h="366612">
                <a:tc>
                  <a:txBody>
                    <a:bodyPr/>
                    <a:lstStyle/>
                    <a:p>
                      <a:pPr algn="ctr"/>
                      <a:r>
                        <a:rPr lang="pt-BR" sz="1000" dirty="0"/>
                        <a:t>Problema</a:t>
                      </a:r>
                    </a:p>
                  </a:txBody>
                  <a:tcPr anchor="ctr"/>
                </a:tc>
                <a:tc>
                  <a:txBody>
                    <a:bodyPr/>
                    <a:lstStyle/>
                    <a:p>
                      <a:pPr algn="ctr"/>
                      <a:r>
                        <a:rPr lang="pt-BR" sz="1000" dirty="0"/>
                        <a:t>Possível causa</a:t>
                      </a:r>
                    </a:p>
                  </a:txBody>
                  <a:tcPr anchor="ctr"/>
                </a:tc>
                <a:tc>
                  <a:txBody>
                    <a:bodyPr/>
                    <a:lstStyle/>
                    <a:p>
                      <a:pPr algn="ctr"/>
                      <a:r>
                        <a:rPr lang="pt-BR" sz="1000" dirty="0"/>
                        <a:t>Solução</a:t>
                      </a:r>
                    </a:p>
                  </a:txBody>
                  <a:tcPr anchor="ctr"/>
                </a:tc>
                <a:extLst>
                  <a:ext uri="{0D108BD9-81ED-4DB2-BD59-A6C34878D82A}">
                    <a16:rowId xmlns:a16="http://schemas.microsoft.com/office/drawing/2014/main" val="2153116528"/>
                  </a:ext>
                </a:extLst>
              </a:tr>
              <a:tr h="1664820">
                <a:tc>
                  <a:txBody>
                    <a:bodyPr/>
                    <a:lstStyle/>
                    <a:p>
                      <a:r>
                        <a:rPr lang="pt-BR" sz="1000" dirty="0"/>
                        <a:t>- Nível das chamas dos queimadores inferiores elevado ou muito baixo.</a:t>
                      </a:r>
                    </a:p>
                  </a:txBody>
                  <a:tcPr/>
                </a:tc>
                <a:tc>
                  <a:txBody>
                    <a:bodyPr/>
                    <a:lstStyle/>
                    <a:p>
                      <a:r>
                        <a:rPr lang="pt-BR" sz="1000" dirty="0"/>
                        <a:t>- Abertura para entrada de oxigênio nos queimadores desregulada.</a:t>
                      </a:r>
                    </a:p>
                  </a:txBody>
                  <a:tcPr/>
                </a:tc>
                <a:tc>
                  <a:txBody>
                    <a:bodyPr/>
                    <a:lstStyle/>
                    <a:p>
                      <a:r>
                        <a:rPr lang="pt-BR" sz="1000" dirty="0"/>
                        <a:t>- Reajustar as abraçadeiras, fechando ou abrindo  a passagem de oxigênio. </a:t>
                      </a:r>
                    </a:p>
                    <a:p>
                      <a:endParaRPr lang="pt-BR" sz="1000" dirty="0"/>
                    </a:p>
                  </a:txBody>
                  <a:tcPr/>
                </a:tc>
                <a:extLst>
                  <a:ext uri="{0D108BD9-81ED-4DB2-BD59-A6C34878D82A}">
                    <a16:rowId xmlns:a16="http://schemas.microsoft.com/office/drawing/2014/main" val="2134971986"/>
                  </a:ext>
                </a:extLst>
              </a:tr>
              <a:tr h="1446360">
                <a:tc>
                  <a:txBody>
                    <a:bodyPr/>
                    <a:lstStyle/>
                    <a:p>
                      <a:r>
                        <a:rPr lang="pt-BR" sz="1000" dirty="0"/>
                        <a:t>- As chamas dos </a:t>
                      </a:r>
                      <a:r>
                        <a:rPr lang="pt-BR" sz="1000" dirty="0" err="1"/>
                        <a:t>gratinadores</a:t>
                      </a:r>
                      <a:r>
                        <a:rPr lang="pt-BR" sz="1000" dirty="0"/>
                        <a:t> estão apagando.</a:t>
                      </a:r>
                    </a:p>
                  </a:txBody>
                  <a:tcPr/>
                </a:tc>
                <a:tc>
                  <a:txBody>
                    <a:bodyPr/>
                    <a:lstStyle/>
                    <a:p>
                      <a:pPr marL="0" indent="0">
                        <a:buFontTx/>
                        <a:buNone/>
                      </a:pPr>
                      <a:r>
                        <a:rPr lang="pt-BR" sz="1000" dirty="0"/>
                        <a:t>1 - Temperatura do forno elevada.</a:t>
                      </a:r>
                    </a:p>
                    <a:p>
                      <a:pPr marL="0" indent="0">
                        <a:buFontTx/>
                        <a:buNone/>
                      </a:pPr>
                      <a:r>
                        <a:rPr lang="pt-BR" sz="1000" dirty="0"/>
                        <a:t>2 – Ausência das lajes pré-moldadas. </a:t>
                      </a:r>
                    </a:p>
                    <a:p>
                      <a:pPr marL="0" indent="0">
                        <a:buFontTx/>
                        <a:buNone/>
                      </a:pPr>
                      <a:r>
                        <a:rPr lang="pt-BR" sz="1000" dirty="0"/>
                        <a:t>3 – Quantidade de botijões insuficiente</a:t>
                      </a:r>
                    </a:p>
                  </a:txBody>
                  <a:tcPr/>
                </a:tc>
                <a:tc>
                  <a:txBody>
                    <a:bodyPr/>
                    <a:lstStyle/>
                    <a:p>
                      <a:r>
                        <a:rPr lang="pt-BR" sz="1000" dirty="0"/>
                        <a:t>1 - Desligar os queimadores inferiores e aguardar a temperatura diminuir até que fique próxima da temperatura ambiente.</a:t>
                      </a:r>
                    </a:p>
                    <a:p>
                      <a:r>
                        <a:rPr lang="pt-BR" sz="1000" dirty="0"/>
                        <a:t>2 -  Colocar as lajes pré-moldadas acima dos queimadores inferiores para que o calor não seja emitido diretamente para os </a:t>
                      </a:r>
                      <a:r>
                        <a:rPr lang="pt-BR" sz="1000" dirty="0" err="1"/>
                        <a:t>gratinadores</a:t>
                      </a:r>
                      <a:r>
                        <a:rPr lang="pt-BR" sz="1000" dirty="0"/>
                        <a:t>.</a:t>
                      </a:r>
                    </a:p>
                    <a:p>
                      <a:r>
                        <a:rPr lang="pt-BR" sz="1000" dirty="0"/>
                        <a:t>3 - </a:t>
                      </a:r>
                      <a:r>
                        <a:rPr lang="pt-BR" sz="1000" kern="1200" dirty="0">
                          <a:solidFill>
                            <a:sysClr val="windowText" lastClr="000000"/>
                          </a:solidFill>
                          <a:latin typeface="+mn-lt"/>
                          <a:ea typeface="+mn-ea"/>
                          <a:cs typeface="Arial" pitchFamily="34" charset="0"/>
                        </a:rPr>
                        <a:t>Verifique o consumo do seu modelo de equipamento e proceda com o calculo de botijões necessários, de acordo com exemplo do </a:t>
                      </a:r>
                      <a:r>
                        <a:rPr lang="pt-BR" sz="1000" b="1" kern="1200" dirty="0">
                          <a:solidFill>
                            <a:sysClr val="windowText" lastClr="000000"/>
                          </a:solidFill>
                          <a:latin typeface="+mn-lt"/>
                          <a:ea typeface="+mn-ea"/>
                          <a:cs typeface="Arial" pitchFamily="34" charset="0"/>
                        </a:rPr>
                        <a:t>item 3.1</a:t>
                      </a:r>
                      <a:endParaRPr lang="pt-BR" sz="1000" b="1" dirty="0"/>
                    </a:p>
                  </a:txBody>
                  <a:tcPr/>
                </a:tc>
                <a:extLst>
                  <a:ext uri="{0D108BD9-81ED-4DB2-BD59-A6C34878D82A}">
                    <a16:rowId xmlns:a16="http://schemas.microsoft.com/office/drawing/2014/main" val="3913801572"/>
                  </a:ext>
                </a:extLst>
              </a:tr>
              <a:tr h="1446360">
                <a:tc>
                  <a:txBody>
                    <a:bodyPr/>
                    <a:lstStyle/>
                    <a:p>
                      <a:r>
                        <a:rPr lang="pt-BR" sz="1000" b="0" dirty="0">
                          <a:solidFill>
                            <a:schemeClr val="tx1"/>
                          </a:solidFill>
                        </a:rPr>
                        <a:t>- O </a:t>
                      </a:r>
                      <a:r>
                        <a:rPr lang="pt-BR" sz="1000" b="0" dirty="0" err="1">
                          <a:solidFill>
                            <a:schemeClr val="tx1"/>
                          </a:solidFill>
                        </a:rPr>
                        <a:t>assamento</a:t>
                      </a:r>
                      <a:r>
                        <a:rPr lang="pt-BR" sz="1000" b="0" dirty="0">
                          <a:solidFill>
                            <a:schemeClr val="tx1"/>
                          </a:solidFill>
                        </a:rPr>
                        <a:t> não está uniforme ou o alimento está queimando.</a:t>
                      </a:r>
                    </a:p>
                  </a:txBody>
                  <a:tcPr/>
                </a:tc>
                <a:tc>
                  <a:txBody>
                    <a:bodyPr/>
                    <a:lstStyle/>
                    <a:p>
                      <a:r>
                        <a:rPr lang="pt-BR" sz="1000" b="0" dirty="0">
                          <a:solidFill>
                            <a:schemeClr val="tx1"/>
                          </a:solidFill>
                        </a:rPr>
                        <a:t>- Temperatura muito alta.</a:t>
                      </a:r>
                    </a:p>
                  </a:txBody>
                  <a:tcPr/>
                </a:tc>
                <a:tc>
                  <a:txBody>
                    <a:bodyPr/>
                    <a:lstStyle/>
                    <a:p>
                      <a:r>
                        <a:rPr lang="pt-BR" sz="1000" b="0" dirty="0">
                          <a:solidFill>
                            <a:schemeClr val="tx1"/>
                          </a:solidFill>
                        </a:rPr>
                        <a:t>- Verificar a temperatura ou a posição do registro e baixar. </a:t>
                      </a:r>
                    </a:p>
                  </a:txBody>
                  <a:tcPr/>
                </a:tc>
                <a:extLst>
                  <a:ext uri="{0D108BD9-81ED-4DB2-BD59-A6C34878D82A}">
                    <a16:rowId xmlns:a16="http://schemas.microsoft.com/office/drawing/2014/main" val="3353364290"/>
                  </a:ext>
                </a:extLst>
              </a:tr>
            </a:tbl>
          </a:graphicData>
        </a:graphic>
      </p:graphicFrame>
      <p:pic>
        <p:nvPicPr>
          <p:cNvPr id="12" name="Espaço Reservado para Conteúdo 5">
            <a:extLst>
              <a:ext uri="{FF2B5EF4-FFF2-40B4-BE49-F238E27FC236}">
                <a16:creationId xmlns:a16="http://schemas.microsoft.com/office/drawing/2014/main" id="{78F33027-D938-40B4-8F7E-6086F33A5E0E}"/>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0"/>
                    </a14:imgEffect>
                  </a14:imgLayer>
                </a14:imgProps>
              </a:ext>
              <a:ext uri="{28A0092B-C50C-407E-A947-70E740481C1C}">
                <a14:useLocalDpi xmlns:a14="http://schemas.microsoft.com/office/drawing/2010/main" val="0"/>
              </a:ext>
            </a:extLst>
          </a:blip>
          <a:srcRect l="13313" t="11594" r="12774" b="27037"/>
          <a:stretch/>
        </p:blipFill>
        <p:spPr>
          <a:xfrm>
            <a:off x="3330153" y="1476375"/>
            <a:ext cx="1673970" cy="864096"/>
          </a:xfrm>
          <a:prstGeom prst="rect">
            <a:avLst/>
          </a:prstGeom>
        </p:spPr>
      </p:pic>
      <p:cxnSp>
        <p:nvCxnSpPr>
          <p:cNvPr id="13" name="Conector de Seta Reta 12">
            <a:extLst>
              <a:ext uri="{FF2B5EF4-FFF2-40B4-BE49-F238E27FC236}">
                <a16:creationId xmlns:a16="http://schemas.microsoft.com/office/drawing/2014/main" id="{EC0DC619-DA96-4A22-996D-3661B9590E62}"/>
              </a:ext>
            </a:extLst>
          </p:cNvPr>
          <p:cNvCxnSpPr>
            <a:cxnSpLocks/>
          </p:cNvCxnSpPr>
          <p:nvPr/>
        </p:nvCxnSpPr>
        <p:spPr>
          <a:xfrm flipV="1">
            <a:off x="3618185" y="1836415"/>
            <a:ext cx="144016" cy="324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tângulo 13">
            <a:extLst>
              <a:ext uri="{FF2B5EF4-FFF2-40B4-BE49-F238E27FC236}">
                <a16:creationId xmlns:a16="http://schemas.microsoft.com/office/drawing/2014/main" id="{FB051948-5720-469F-8E40-0098A79E75D9}"/>
              </a:ext>
            </a:extLst>
          </p:cNvPr>
          <p:cNvSpPr/>
          <p:nvPr/>
        </p:nvSpPr>
        <p:spPr>
          <a:xfrm>
            <a:off x="3114129" y="2052439"/>
            <a:ext cx="936104"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Abraçadeira</a:t>
            </a:r>
          </a:p>
        </p:txBody>
      </p:sp>
      <p:sp>
        <p:nvSpPr>
          <p:cNvPr id="15" name="Retângulo 14">
            <a:extLst>
              <a:ext uri="{FF2B5EF4-FFF2-40B4-BE49-F238E27FC236}">
                <a16:creationId xmlns:a16="http://schemas.microsoft.com/office/drawing/2014/main" id="{939BCE76-D0BF-4AA4-88A2-F0D2D18283C7}"/>
              </a:ext>
            </a:extLst>
          </p:cNvPr>
          <p:cNvSpPr/>
          <p:nvPr/>
        </p:nvSpPr>
        <p:spPr>
          <a:xfrm>
            <a:off x="4335576" y="2052439"/>
            <a:ext cx="936104" cy="36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Passagem de oxigênio</a:t>
            </a:r>
          </a:p>
        </p:txBody>
      </p:sp>
      <p:cxnSp>
        <p:nvCxnSpPr>
          <p:cNvPr id="16" name="Conector de Seta Reta 15">
            <a:extLst>
              <a:ext uri="{FF2B5EF4-FFF2-40B4-BE49-F238E27FC236}">
                <a16:creationId xmlns:a16="http://schemas.microsoft.com/office/drawing/2014/main" id="{381907CE-D1B3-4375-A388-F0FDA046C2D5}"/>
              </a:ext>
            </a:extLst>
          </p:cNvPr>
          <p:cNvCxnSpPr>
            <a:cxnSpLocks/>
          </p:cNvCxnSpPr>
          <p:nvPr/>
        </p:nvCxnSpPr>
        <p:spPr>
          <a:xfrm flipH="1" flipV="1">
            <a:off x="4767412" y="1872439"/>
            <a:ext cx="36216" cy="180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tângulo 7">
            <a:extLst>
              <a:ext uri="{FF2B5EF4-FFF2-40B4-BE49-F238E27FC236}">
                <a16:creationId xmlns:a16="http://schemas.microsoft.com/office/drawing/2014/main" id="{376A7AC1-B59F-4A6A-A1F2-C4BE97AAE8E3}"/>
              </a:ext>
            </a:extLst>
          </p:cNvPr>
          <p:cNvSpPr/>
          <p:nvPr/>
        </p:nvSpPr>
        <p:spPr>
          <a:xfrm>
            <a:off x="162081" y="234449"/>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5. Análise e resoluções de problemas</a:t>
            </a:r>
          </a:p>
        </p:txBody>
      </p:sp>
      <p:sp>
        <p:nvSpPr>
          <p:cNvPr id="9" name="CaixaDeTexto 8">
            <a:extLst>
              <a:ext uri="{FF2B5EF4-FFF2-40B4-BE49-F238E27FC236}">
                <a16:creationId xmlns:a16="http://schemas.microsoft.com/office/drawing/2014/main" id="{6403405A-A2CC-4953-9985-E13AE3EDF234}"/>
              </a:ext>
            </a:extLst>
          </p:cNvPr>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11</a:t>
            </a:r>
          </a:p>
        </p:txBody>
      </p:sp>
    </p:spTree>
    <p:extLst>
      <p:ext uri="{BB962C8B-B14F-4D97-AF65-F5344CB8AC3E}">
        <p14:creationId xmlns:p14="http://schemas.microsoft.com/office/powerpoint/2010/main" val="269578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aixaDeTexto 18"/>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12</a:t>
            </a:r>
          </a:p>
        </p:txBody>
      </p:sp>
      <p:sp>
        <p:nvSpPr>
          <p:cNvPr id="9" name="Retângulo 8">
            <a:extLst>
              <a:ext uri="{FF2B5EF4-FFF2-40B4-BE49-F238E27FC236}">
                <a16:creationId xmlns:a16="http://schemas.microsoft.com/office/drawing/2014/main" id="{5CBA6821-580D-4008-AF06-6A2ECFE38545}"/>
              </a:ext>
            </a:extLst>
          </p:cNvPr>
          <p:cNvSpPr/>
          <p:nvPr/>
        </p:nvSpPr>
        <p:spPr>
          <a:xfrm>
            <a:off x="162081" y="234449"/>
            <a:ext cx="5040000" cy="252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6. TERMO DE GARANTIA</a:t>
            </a:r>
          </a:p>
        </p:txBody>
      </p:sp>
      <p:sp>
        <p:nvSpPr>
          <p:cNvPr id="6" name="CaixaDeTexto 5">
            <a:extLst>
              <a:ext uri="{FF2B5EF4-FFF2-40B4-BE49-F238E27FC236}">
                <a16:creationId xmlns:a16="http://schemas.microsoft.com/office/drawing/2014/main" id="{EB151972-0BE7-4E2D-B86C-A00DD9934729}"/>
              </a:ext>
            </a:extLst>
          </p:cNvPr>
          <p:cNvSpPr txBox="1"/>
          <p:nvPr/>
        </p:nvSpPr>
        <p:spPr>
          <a:xfrm>
            <a:off x="129136" y="612279"/>
            <a:ext cx="5040000" cy="5940088"/>
          </a:xfrm>
          <a:prstGeom prst="rect">
            <a:avLst/>
          </a:prstGeom>
          <a:noFill/>
        </p:spPr>
        <p:txBody>
          <a:bodyPr wrap="square" rtlCol="0">
            <a:spAutoFit/>
          </a:bodyPr>
          <a:lstStyle/>
          <a:p>
            <a:pPr algn="just"/>
            <a:r>
              <a:rPr lang="pt-BR" sz="1000" dirty="0">
                <a:latin typeface="+mj-lt"/>
                <a:cs typeface="Arial" panose="020B0604020202020204" pitchFamily="34" charset="0"/>
              </a:rPr>
              <a:t>Oferece garantia aos equipamentos fabricados conforme está especificado abaixo:</a:t>
            </a:r>
          </a:p>
          <a:p>
            <a:pPr marL="171450" indent="-171450" algn="just">
              <a:buFont typeface="Arial" panose="020B0604020202020204" pitchFamily="34" charset="0"/>
              <a:buChar char="•"/>
            </a:pPr>
            <a:r>
              <a:rPr lang="pt-BR" sz="1000" dirty="0">
                <a:latin typeface="+mj-lt"/>
                <a:cs typeface="Arial" panose="020B0604020202020204" pitchFamily="34" charset="0"/>
              </a:rPr>
              <a:t>Todo o vício/defeito de fabricação alegado deverá ser analisado somente pela assistência técnica autorizada da marca. Quando comprovado eventual vício/defeito de fabricação, a reparação será sem custos.</a:t>
            </a:r>
          </a:p>
          <a:p>
            <a:pPr marL="171450" indent="-171450" algn="just">
              <a:buFont typeface="Arial" panose="020B0604020202020204" pitchFamily="34" charset="0"/>
              <a:buChar char="•"/>
            </a:pPr>
            <a:r>
              <a:rPr lang="pt-BR" sz="1000" dirty="0">
                <a:latin typeface="+mj-lt"/>
                <a:cs typeface="Arial" panose="020B0604020202020204" pitchFamily="34" charset="0"/>
              </a:rPr>
              <a:t>Os equipamentos reparados sem a autorização da fábrica ou que forem alterados, desmontados e /ou utilizados em desacordo com as indicações presentes nos manuais respectivos, não serão cobertos por esta garantia.</a:t>
            </a:r>
          </a:p>
          <a:p>
            <a:pPr marL="171450" indent="-171450" algn="just">
              <a:buFont typeface="Arial" panose="020B0604020202020204" pitchFamily="34" charset="0"/>
              <a:buChar char="•"/>
            </a:pPr>
            <a:r>
              <a:rPr lang="pt-BR" sz="1000" dirty="0">
                <a:latin typeface="+mj-lt"/>
                <a:cs typeface="Arial" panose="020B0604020202020204" pitchFamily="34" charset="0"/>
              </a:rPr>
              <a:t>A garantia se refere somente ao uso normal do equipamento, considerando o atendimento das recomendações e instruções constantes no manual que acompanha o produto. Para tanto , a marca concede a garantia legal de 3 (três ) meses, a contar a data de emissão da nota fiscal de compra sendo obrigatória a sua apresentação para os atendimentos previstos neste de garantia.</a:t>
            </a:r>
          </a:p>
          <a:p>
            <a:pPr marL="171450" indent="-171450" algn="just">
              <a:buFont typeface="Arial" panose="020B0604020202020204" pitchFamily="34" charset="0"/>
              <a:buChar char="•"/>
            </a:pPr>
            <a:r>
              <a:rPr lang="pt-BR" sz="1000" dirty="0">
                <a:latin typeface="+mj-lt"/>
                <a:cs typeface="Arial" panose="020B0604020202020204" pitchFamily="34" charset="0"/>
              </a:rPr>
              <a:t>Importante considerar que os vidros, lâmpadas, resistências, contadores, fusíveis, relés, solenoides ,controladores digitais e termostatos , não são cobertos por esta garantia.</a:t>
            </a:r>
          </a:p>
          <a:p>
            <a:pPr marL="171450" indent="-171450" algn="just">
              <a:buFont typeface="Arial" panose="020B0604020202020204" pitchFamily="34" charset="0"/>
              <a:buChar char="•"/>
            </a:pPr>
            <a:r>
              <a:rPr lang="pt-BR" sz="1000" dirty="0">
                <a:latin typeface="+mj-lt"/>
                <a:cs typeface="Arial" panose="020B0604020202020204" pitchFamily="34" charset="0"/>
              </a:rPr>
              <a:t>No caso de motores elétricos, por serem de fabricação de terceiros, quando defeituosos, deverão ser enviados para a assistência técnica autorizada dos mesmos.</a:t>
            </a:r>
          </a:p>
          <a:p>
            <a:pPr marL="171450" indent="-171450" algn="just">
              <a:buFont typeface="Arial" panose="020B0604020202020204" pitchFamily="34" charset="0"/>
              <a:buChar char="•"/>
            </a:pPr>
            <a:r>
              <a:rPr lang="pt-BR" sz="1000" dirty="0">
                <a:latin typeface="+mj-lt"/>
                <a:cs typeface="Arial" panose="020B0604020202020204" pitchFamily="34" charset="0"/>
              </a:rPr>
              <a:t>Esta garantia se refere somente às peças e componentes fabricados pela empresa, cobrindo, também os custos de mão de obra em tais consertos .</a:t>
            </a:r>
          </a:p>
          <a:p>
            <a:pPr marL="171450" indent="-171450" algn="just">
              <a:buFont typeface="Arial" panose="020B0604020202020204" pitchFamily="34" charset="0"/>
              <a:buChar char="•"/>
            </a:pPr>
            <a:r>
              <a:rPr lang="pt-BR" sz="1000" dirty="0">
                <a:latin typeface="+mj-lt"/>
                <a:cs typeface="Arial" panose="020B0604020202020204" pitchFamily="34" charset="0"/>
              </a:rPr>
              <a:t>É responsabilidade do cliente o comunicado de eventual constatação de vício/defeito de fabricação do produto à SÓ AÇO ,através do setor de pós-vendas ,pelo telefone (86)</a:t>
            </a:r>
          </a:p>
          <a:p>
            <a:pPr marL="171450" indent="-171450" algn="just">
              <a:buFont typeface="Arial" panose="020B0604020202020204" pitchFamily="34" charset="0"/>
              <a:buChar char="•"/>
            </a:pPr>
            <a:r>
              <a:rPr lang="pt-BR" sz="1000" dirty="0">
                <a:latin typeface="+mj-lt"/>
                <a:cs typeface="Arial" panose="020B0604020202020204" pitchFamily="34" charset="0"/>
              </a:rPr>
              <a:t>O cliente deverá, por conta própria, encaminhá-los à assistência técnica autorizado da marca.</a:t>
            </a:r>
          </a:p>
          <a:p>
            <a:pPr marL="171450" indent="-171450" algn="just">
              <a:buFont typeface="Arial" panose="020B0604020202020204" pitchFamily="34" charset="0"/>
              <a:buChar char="•"/>
            </a:pPr>
            <a:r>
              <a:rPr lang="pt-BR" sz="1000" dirty="0">
                <a:latin typeface="+mj-lt"/>
                <a:cs typeface="Arial" panose="020B0604020202020204" pitchFamily="34" charset="0"/>
              </a:rPr>
              <a:t>Defeitos na rede elétrica, instalação inadequada, danos no transporte realizado por terceiros ou intempéries invalidarão esta garantia.</a:t>
            </a:r>
          </a:p>
          <a:p>
            <a:pPr marL="171450" indent="-171450" algn="just">
              <a:buFont typeface="Arial" panose="020B0604020202020204" pitchFamily="34" charset="0"/>
              <a:buChar char="•"/>
            </a:pPr>
            <a:r>
              <a:rPr lang="pt-BR" sz="1000" b="1" dirty="0">
                <a:latin typeface="+mj-lt"/>
                <a:cs typeface="Arial" panose="020B0604020202020204" pitchFamily="34" charset="0"/>
              </a:rPr>
              <a:t>IMPORTANTE : </a:t>
            </a:r>
            <a:r>
              <a:rPr lang="pt-BR" sz="1000" dirty="0">
                <a:latin typeface="+mj-lt"/>
                <a:cs typeface="Arial" panose="020B0604020202020204" pitchFamily="34" charset="0"/>
              </a:rPr>
              <a:t>somente efetuar a montagem do produto com equipamentos de segurança (óculos de proteção ,luvas de pano, etc.) e ferramental adequada ao produto especifico . A SÓ AÇO não se responsabiliza por quaisquer danos físicos advindos da falta de atenção à tais cuidados, bem como pela utilização inadequada do equipamento, inclusive quando em funcionamento.</a:t>
            </a:r>
          </a:p>
          <a:p>
            <a:pPr marL="171450" indent="-171450" algn="just">
              <a:buFont typeface="Arial" panose="020B0604020202020204" pitchFamily="34" charset="0"/>
              <a:buChar char="•"/>
            </a:pPr>
            <a:endParaRPr lang="pt-BR" sz="1000" dirty="0">
              <a:latin typeface="+mj-lt"/>
              <a:cs typeface="Arial" panose="020B0604020202020204" pitchFamily="34" charset="0"/>
            </a:endParaRPr>
          </a:p>
          <a:p>
            <a:pPr algn="just"/>
            <a:r>
              <a:rPr lang="pt-BR" sz="1000" b="1" dirty="0">
                <a:latin typeface="Arial" panose="020B0604020202020204" pitchFamily="34" charset="0"/>
                <a:cs typeface="Arial" panose="020B0604020202020204" pitchFamily="34" charset="0"/>
              </a:rPr>
              <a:t>Extinção de garantia</a:t>
            </a:r>
          </a:p>
          <a:p>
            <a:pPr algn="just"/>
            <a:endParaRPr lang="pt-BR" sz="1000" b="1" dirty="0">
              <a:latin typeface="Arial" panose="020B0604020202020204" pitchFamily="34" charset="0"/>
              <a:cs typeface="Arial" panose="020B0604020202020204" pitchFamily="34" charset="0"/>
            </a:endParaRPr>
          </a:p>
          <a:p>
            <a:pPr algn="just"/>
            <a:r>
              <a:rPr lang="pt-BR" sz="1000" b="1" dirty="0">
                <a:latin typeface="Arial" panose="020B0604020202020204" pitchFamily="34" charset="0"/>
                <a:cs typeface="Arial" panose="020B0604020202020204" pitchFamily="34" charset="0"/>
              </a:rPr>
              <a:t>    </a:t>
            </a:r>
            <a:r>
              <a:rPr lang="pt-BR" sz="1000" dirty="0">
                <a:latin typeface="Arial" panose="020B0604020202020204" pitchFamily="34" charset="0"/>
                <a:cs typeface="Arial" panose="020B0604020202020204" pitchFamily="34" charset="0"/>
              </a:rPr>
              <a:t>Esta garantia perderá sua validade antes da expedição do seu prazo, se for constatado qualquer dano provocado por acidente, transporte, agentes da natureza , uso indevido, maus tratos, negligência, incêndio, instalação em rede elétrica impropria, ou ainda, no caso de apresentar sinais de haver sido violado, ajustado ou reparado por pessoa não credenciada pela SÓ AÇO INDUSTRIAL LTDA. </a:t>
            </a:r>
            <a:endParaRPr lang="pt-BR" sz="1000" b="1" dirty="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pt-BR" sz="1000" b="1" dirty="0">
              <a:latin typeface="+mj-lt"/>
              <a:cs typeface="Arial" panose="020B0604020202020204" pitchFamily="34" charset="0"/>
            </a:endParaRPr>
          </a:p>
        </p:txBody>
      </p:sp>
    </p:spTree>
    <p:extLst>
      <p:ext uri="{BB962C8B-B14F-4D97-AF65-F5344CB8AC3E}">
        <p14:creationId xmlns:p14="http://schemas.microsoft.com/office/powerpoint/2010/main" val="4165309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233809" y="252239"/>
            <a:ext cx="4896544" cy="5016758"/>
          </a:xfrm>
          <a:prstGeom prst="rect">
            <a:avLst/>
          </a:prstGeom>
          <a:noFill/>
        </p:spPr>
        <p:txBody>
          <a:bodyPr wrap="square" rtlCol="0">
            <a:spAutoFit/>
          </a:bodyPr>
          <a:lstStyle/>
          <a:p>
            <a:pPr marL="228600" indent="-228600">
              <a:buFont typeface="+mj-lt"/>
              <a:buAutoNum type="alphaLcParenR"/>
            </a:pPr>
            <a:r>
              <a:rPr lang="pt-BR" sz="100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228600" indent="-228600">
              <a:buFont typeface="+mj-lt"/>
              <a:buAutoNum type="alphaLcParenR"/>
            </a:pPr>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Para facilitar o atendimento no período e garantia, conserve a Nota Fiscal de compra junto com o manual de instrução.</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Data da compra: 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Nota Fiscal:_________________________________________________________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Revendedor:________________________________________________________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Endereço:___________________________________________________________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__________________________________Telefone:_________________________</a:t>
            </a:r>
          </a:p>
          <a:p>
            <a:endParaRPr lang="pt-BR" sz="1000" dirty="0">
              <a:latin typeface="Arial" panose="020B0604020202020204" pitchFamily="34" charset="0"/>
              <a:cs typeface="Arial" panose="020B0604020202020204" pitchFamily="34" charset="0"/>
            </a:endParaRPr>
          </a:p>
          <a:p>
            <a:r>
              <a:rPr lang="pt-BR" sz="1000" dirty="0">
                <a:latin typeface="Arial" panose="020B0604020202020204" pitchFamily="34" charset="0"/>
                <a:cs typeface="Arial" panose="020B0604020202020204" pitchFamily="34" charset="0"/>
              </a:rPr>
              <a:t>Cidade:_____________________________Estado:__________________________</a:t>
            </a:r>
          </a:p>
          <a:p>
            <a:endParaRPr lang="pt-BR" sz="1000" dirty="0">
              <a:latin typeface="Arial" panose="020B0604020202020204" pitchFamily="34" charset="0"/>
              <a:cs typeface="Arial" panose="020B0604020202020204" pitchFamily="34" charset="0"/>
            </a:endParaRPr>
          </a:p>
          <a:p>
            <a:r>
              <a:rPr lang="pt-BR" sz="1000" b="1" dirty="0">
                <a:latin typeface="Arial" panose="020B0604020202020204" pitchFamily="34" charset="0"/>
                <a:cs typeface="Arial" panose="020B0604020202020204" pitchFamily="34" charset="0"/>
              </a:rPr>
              <a:t>Aviso</a:t>
            </a:r>
            <a:r>
              <a:rPr lang="pt-BR" sz="1000" dirty="0">
                <a:latin typeface="Arial" panose="020B0604020202020204" pitchFamily="34" charset="0"/>
                <a:cs typeface="Arial" panose="020B0604020202020204" pitchFamily="34" charset="0"/>
              </a:rPr>
              <a:t>:</a:t>
            </a:r>
          </a:p>
          <a:p>
            <a:endParaRPr lang="pt-BR" sz="1000" dirty="0">
              <a:latin typeface="Arial" panose="020B0604020202020204" pitchFamily="34" charset="0"/>
              <a:cs typeface="Arial" panose="020B0604020202020204" pitchFamily="34" charset="0"/>
            </a:endParaRPr>
          </a:p>
          <a:p>
            <a:r>
              <a:rPr lang="pt-BR" sz="1000" i="1" dirty="0">
                <a:latin typeface="Arial" panose="020B0604020202020204" pitchFamily="34" charset="0"/>
                <a:cs typeface="Arial" panose="020B0604020202020204" pitchFamily="34" charset="0"/>
              </a:rPr>
              <a:t>No intuito de manter seus produtos sempre atualizados, a SÓ AÇO INDUSTRIAL se reserva ao direito de alterar as especificações e características de seu produto sem aviso prévio.</a:t>
            </a:r>
          </a:p>
          <a:p>
            <a:endParaRPr lang="pt-BR" sz="1000" dirty="0">
              <a:latin typeface="Arial" panose="020B0604020202020204" pitchFamily="34" charset="0"/>
              <a:cs typeface="Arial" panose="020B0604020202020204" pitchFamily="34" charset="0"/>
            </a:endParaRPr>
          </a:p>
          <a:p>
            <a:endParaRPr lang="pt-BR" sz="1000" dirty="0">
              <a:latin typeface="Arial" panose="020B0604020202020204" pitchFamily="34" charset="0"/>
              <a:cs typeface="Arial" panose="020B0604020202020204" pitchFamily="34" charset="0"/>
            </a:endParaRPr>
          </a:p>
          <a:p>
            <a:endParaRPr lang="pt-BR" sz="1000" dirty="0">
              <a:latin typeface="Arial" panose="020B0604020202020204" pitchFamily="34" charset="0"/>
              <a:cs typeface="Arial" panose="020B0604020202020204" pitchFamily="34" charset="0"/>
            </a:endParaRPr>
          </a:p>
          <a:p>
            <a:pPr algn="ctr"/>
            <a:r>
              <a:rPr lang="pt-BR" sz="1000" b="1" dirty="0">
                <a:latin typeface="Arial" panose="020B0604020202020204" pitchFamily="34" charset="0"/>
                <a:cs typeface="Arial" panose="020B0604020202020204" pitchFamily="34" charset="0"/>
              </a:rPr>
              <a:t>ASSISTÊNCIA TÉCNICA</a:t>
            </a:r>
          </a:p>
          <a:p>
            <a:pPr algn="ctr"/>
            <a:endParaRPr lang="pt-BR" sz="1000" b="1" dirty="0">
              <a:latin typeface="Arial" panose="020B0604020202020204" pitchFamily="34" charset="0"/>
              <a:cs typeface="Arial" panose="020B0604020202020204" pitchFamily="34" charset="0"/>
            </a:endParaRPr>
          </a:p>
          <a:p>
            <a:pPr algn="ctr"/>
            <a:r>
              <a:rPr lang="pt-BR" sz="1000" dirty="0">
                <a:latin typeface="Arial" panose="020B0604020202020204" pitchFamily="34" charset="0"/>
                <a:cs typeface="Arial" panose="020B0604020202020204" pitchFamily="34" charset="0"/>
              </a:rPr>
              <a:t>SAC – Serviço de Assistência ao Cliente – Só Aço </a:t>
            </a:r>
          </a:p>
          <a:p>
            <a:pPr algn="ctr"/>
            <a:r>
              <a:rPr lang="pt-BR" sz="1000" dirty="0">
                <a:latin typeface="Arial" panose="020B0604020202020204" pitchFamily="34" charset="0"/>
                <a:cs typeface="Arial" panose="020B0604020202020204" pitchFamily="34" charset="0"/>
              </a:rPr>
              <a:t>Fone (86) 3219-1200/1300/1454</a:t>
            </a:r>
          </a:p>
          <a:p>
            <a:pPr algn="ctr"/>
            <a:r>
              <a:rPr lang="pt-BR" sz="1000" dirty="0" err="1">
                <a:latin typeface="Arial" panose="020B0604020202020204" pitchFamily="34" charset="0"/>
                <a:cs typeface="Arial" panose="020B0604020202020204" pitchFamily="34" charset="0"/>
              </a:rPr>
              <a:t>E-mail:sac@soacoindustrial.com.br</a:t>
            </a:r>
            <a:endParaRPr lang="pt-BR" sz="1000" dirty="0">
              <a:latin typeface="Arial" panose="020B0604020202020204" pitchFamily="34" charset="0"/>
              <a:cs typeface="Arial" panose="020B0604020202020204" pitchFamily="34" charset="0"/>
            </a:endParaRPr>
          </a:p>
          <a:p>
            <a:pPr algn="ctr"/>
            <a:r>
              <a:rPr lang="pt-BR" sz="1000" dirty="0" err="1">
                <a:latin typeface="Arial" panose="020B0604020202020204" pitchFamily="34" charset="0"/>
                <a:cs typeface="Arial" panose="020B0604020202020204" pitchFamily="34" charset="0"/>
              </a:rPr>
              <a:t>Site:www.soacoindustrial.com.br</a:t>
            </a:r>
            <a:endParaRPr lang="pt-BR" sz="1000" dirty="0">
              <a:latin typeface="Arial" panose="020B0604020202020204" pitchFamily="34" charset="0"/>
              <a:cs typeface="Arial" panose="020B0604020202020204" pitchFamily="34" charset="0"/>
            </a:endParaRPr>
          </a:p>
        </p:txBody>
      </p:sp>
      <p:sp>
        <p:nvSpPr>
          <p:cNvPr id="3" name="CaixaDeTexto 2"/>
          <p:cNvSpPr txBox="1"/>
          <p:nvPr/>
        </p:nvSpPr>
        <p:spPr>
          <a:xfrm>
            <a:off x="5004123" y="7330431"/>
            <a:ext cx="360040" cy="230832"/>
          </a:xfrm>
          <a:prstGeom prst="rect">
            <a:avLst/>
          </a:prstGeom>
          <a:solidFill>
            <a:schemeClr val="bg1">
              <a:lumMod val="85000"/>
            </a:schemeClr>
          </a:solidFill>
        </p:spPr>
        <p:txBody>
          <a:bodyPr wrap="square" rtlCol="0">
            <a:spAutoFit/>
          </a:bodyPr>
          <a:lstStyle/>
          <a:p>
            <a:r>
              <a:rPr lang="pt-BR" sz="900" dirty="0"/>
              <a:t>13</a:t>
            </a:r>
          </a:p>
        </p:txBody>
      </p:sp>
    </p:spTree>
    <p:extLst>
      <p:ext uri="{BB962C8B-B14F-4D97-AF65-F5344CB8AC3E}">
        <p14:creationId xmlns:p14="http://schemas.microsoft.com/office/powerpoint/2010/main" val="610482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Imagem 117">
            <a:extLst>
              <a:ext uri="{FF2B5EF4-FFF2-40B4-BE49-F238E27FC236}">
                <a16:creationId xmlns:a16="http://schemas.microsoft.com/office/drawing/2014/main" id="{5AC629B7-AFCA-40F1-ACC0-BA2BD9E54531}"/>
              </a:ext>
            </a:extLst>
          </p:cNvPr>
          <p:cNvPicPr/>
          <p:nvPr/>
        </p:nvPicPr>
        <p:blipFill>
          <a:blip r:embed="rId3">
            <a:extLst>
              <a:ext uri="{28A0092B-C50C-407E-A947-70E740481C1C}">
                <a14:useLocalDpi xmlns:a14="http://schemas.microsoft.com/office/drawing/2010/main" val="0"/>
              </a:ext>
            </a:extLst>
          </a:blip>
          <a:stretch>
            <a:fillRect/>
          </a:stretch>
        </p:blipFill>
        <p:spPr>
          <a:xfrm>
            <a:off x="0" y="540832"/>
            <a:ext cx="871830" cy="469240"/>
          </a:xfrm>
          <a:prstGeom prst="rect">
            <a:avLst/>
          </a:prstGeom>
        </p:spPr>
      </p:pic>
      <p:pic>
        <p:nvPicPr>
          <p:cNvPr id="119" name="Imagem 118">
            <a:extLst>
              <a:ext uri="{FF2B5EF4-FFF2-40B4-BE49-F238E27FC236}">
                <a16:creationId xmlns:a16="http://schemas.microsoft.com/office/drawing/2014/main" id="{C267EDF4-EE41-41F6-AC5B-BBC20007467E}"/>
              </a:ext>
            </a:extLst>
          </p:cNvPr>
          <p:cNvPicPr/>
          <p:nvPr/>
        </p:nvPicPr>
        <p:blipFill>
          <a:blip r:embed="rId3">
            <a:extLst>
              <a:ext uri="{28A0092B-C50C-407E-A947-70E740481C1C}">
                <a14:useLocalDpi xmlns:a14="http://schemas.microsoft.com/office/drawing/2010/main" val="0"/>
              </a:ext>
            </a:extLst>
          </a:blip>
          <a:stretch>
            <a:fillRect/>
          </a:stretch>
        </p:blipFill>
        <p:spPr>
          <a:xfrm>
            <a:off x="847656" y="543067"/>
            <a:ext cx="845783" cy="469240"/>
          </a:xfrm>
          <a:prstGeom prst="rect">
            <a:avLst/>
          </a:prstGeom>
        </p:spPr>
      </p:pic>
      <p:pic>
        <p:nvPicPr>
          <p:cNvPr id="120" name="Imagem 119">
            <a:extLst>
              <a:ext uri="{FF2B5EF4-FFF2-40B4-BE49-F238E27FC236}">
                <a16:creationId xmlns:a16="http://schemas.microsoft.com/office/drawing/2014/main" id="{016082EF-7437-41D2-9735-CBFC1817C2D5}"/>
              </a:ext>
            </a:extLst>
          </p:cNvPr>
          <p:cNvPicPr/>
          <p:nvPr/>
        </p:nvPicPr>
        <p:blipFill>
          <a:blip r:embed="rId3">
            <a:extLst>
              <a:ext uri="{28A0092B-C50C-407E-A947-70E740481C1C}">
                <a14:useLocalDpi xmlns:a14="http://schemas.microsoft.com/office/drawing/2010/main" val="0"/>
              </a:ext>
            </a:extLst>
          </a:blip>
          <a:stretch>
            <a:fillRect/>
          </a:stretch>
        </p:blipFill>
        <p:spPr>
          <a:xfrm>
            <a:off x="1748440" y="540271"/>
            <a:ext cx="845783" cy="469240"/>
          </a:xfrm>
          <a:prstGeom prst="rect">
            <a:avLst/>
          </a:prstGeom>
        </p:spPr>
      </p:pic>
      <p:pic>
        <p:nvPicPr>
          <p:cNvPr id="121" name="Imagem 120">
            <a:extLst>
              <a:ext uri="{FF2B5EF4-FFF2-40B4-BE49-F238E27FC236}">
                <a16:creationId xmlns:a16="http://schemas.microsoft.com/office/drawing/2014/main" id="{3D5C1204-FA89-4E9A-A487-ECD41FA8FCEE}"/>
              </a:ext>
            </a:extLst>
          </p:cNvPr>
          <p:cNvPicPr/>
          <p:nvPr/>
        </p:nvPicPr>
        <p:blipFill>
          <a:blip r:embed="rId3">
            <a:extLst>
              <a:ext uri="{28A0092B-C50C-407E-A947-70E740481C1C}">
                <a14:useLocalDpi xmlns:a14="http://schemas.microsoft.com/office/drawing/2010/main" val="0"/>
              </a:ext>
            </a:extLst>
          </a:blip>
          <a:stretch>
            <a:fillRect/>
          </a:stretch>
        </p:blipFill>
        <p:spPr>
          <a:xfrm>
            <a:off x="2672102" y="551365"/>
            <a:ext cx="881801" cy="469207"/>
          </a:xfrm>
          <a:prstGeom prst="rect">
            <a:avLst/>
          </a:prstGeom>
        </p:spPr>
      </p:pic>
      <p:pic>
        <p:nvPicPr>
          <p:cNvPr id="149" name="Imagem 148">
            <a:extLst>
              <a:ext uri="{FF2B5EF4-FFF2-40B4-BE49-F238E27FC236}">
                <a16:creationId xmlns:a16="http://schemas.microsoft.com/office/drawing/2014/main" id="{D5398C39-B104-4AEC-ABE4-E988D13DDF12}"/>
              </a:ext>
            </a:extLst>
          </p:cNvPr>
          <p:cNvPicPr/>
          <p:nvPr/>
        </p:nvPicPr>
        <p:blipFill>
          <a:blip r:embed="rId3">
            <a:extLst>
              <a:ext uri="{28A0092B-C50C-407E-A947-70E740481C1C}">
                <a14:useLocalDpi xmlns:a14="http://schemas.microsoft.com/office/drawing/2010/main" val="0"/>
              </a:ext>
            </a:extLst>
          </a:blip>
          <a:stretch>
            <a:fillRect/>
          </a:stretch>
        </p:blipFill>
        <p:spPr>
          <a:xfrm>
            <a:off x="3631782" y="550558"/>
            <a:ext cx="882167" cy="469207"/>
          </a:xfrm>
          <a:prstGeom prst="rect">
            <a:avLst/>
          </a:prstGeom>
        </p:spPr>
      </p:pic>
      <p:pic>
        <p:nvPicPr>
          <p:cNvPr id="150" name="Imagem 149">
            <a:extLst>
              <a:ext uri="{FF2B5EF4-FFF2-40B4-BE49-F238E27FC236}">
                <a16:creationId xmlns:a16="http://schemas.microsoft.com/office/drawing/2014/main" id="{411823D1-D713-43AC-A152-F798959859AE}"/>
              </a:ext>
            </a:extLst>
          </p:cNvPr>
          <p:cNvPicPr/>
          <p:nvPr/>
        </p:nvPicPr>
        <p:blipFill>
          <a:blip r:embed="rId3">
            <a:extLst>
              <a:ext uri="{28A0092B-C50C-407E-A947-70E740481C1C}">
                <a14:useLocalDpi xmlns:a14="http://schemas.microsoft.com/office/drawing/2010/main" val="0"/>
              </a:ext>
            </a:extLst>
          </a:blip>
          <a:stretch>
            <a:fillRect/>
          </a:stretch>
        </p:blipFill>
        <p:spPr>
          <a:xfrm>
            <a:off x="4553301" y="550558"/>
            <a:ext cx="810862" cy="469207"/>
          </a:xfrm>
          <a:prstGeom prst="rect">
            <a:avLst/>
          </a:prstGeom>
        </p:spPr>
      </p:pic>
      <p:pic>
        <p:nvPicPr>
          <p:cNvPr id="151" name="Imagem 150">
            <a:extLst>
              <a:ext uri="{FF2B5EF4-FFF2-40B4-BE49-F238E27FC236}">
                <a16:creationId xmlns:a16="http://schemas.microsoft.com/office/drawing/2014/main" id="{4F36D515-CEBA-40E8-BEB6-0CC377183DE9}"/>
              </a:ext>
            </a:extLst>
          </p:cNvPr>
          <p:cNvPicPr/>
          <p:nvPr/>
        </p:nvPicPr>
        <p:blipFill>
          <a:blip r:embed="rId3">
            <a:extLst>
              <a:ext uri="{28A0092B-C50C-407E-A947-70E740481C1C}">
                <a14:useLocalDpi xmlns:a14="http://schemas.microsoft.com/office/drawing/2010/main" val="0"/>
              </a:ext>
            </a:extLst>
          </a:blip>
          <a:stretch>
            <a:fillRect/>
          </a:stretch>
        </p:blipFill>
        <p:spPr>
          <a:xfrm>
            <a:off x="0" y="1020325"/>
            <a:ext cx="871830" cy="469240"/>
          </a:xfrm>
          <a:prstGeom prst="rect">
            <a:avLst/>
          </a:prstGeom>
        </p:spPr>
      </p:pic>
      <p:pic>
        <p:nvPicPr>
          <p:cNvPr id="152" name="Imagem 151">
            <a:extLst>
              <a:ext uri="{FF2B5EF4-FFF2-40B4-BE49-F238E27FC236}">
                <a16:creationId xmlns:a16="http://schemas.microsoft.com/office/drawing/2014/main" id="{D552C6FB-2CDF-476E-8015-5CE5CFF67B0E}"/>
              </a:ext>
            </a:extLst>
          </p:cNvPr>
          <p:cNvPicPr/>
          <p:nvPr/>
        </p:nvPicPr>
        <p:blipFill>
          <a:blip r:embed="rId3">
            <a:extLst>
              <a:ext uri="{28A0092B-C50C-407E-A947-70E740481C1C}">
                <a14:useLocalDpi xmlns:a14="http://schemas.microsoft.com/office/drawing/2010/main" val="0"/>
              </a:ext>
            </a:extLst>
          </a:blip>
          <a:stretch>
            <a:fillRect/>
          </a:stretch>
        </p:blipFill>
        <p:spPr>
          <a:xfrm>
            <a:off x="847656" y="1022560"/>
            <a:ext cx="845783" cy="469240"/>
          </a:xfrm>
          <a:prstGeom prst="rect">
            <a:avLst/>
          </a:prstGeom>
        </p:spPr>
      </p:pic>
      <p:pic>
        <p:nvPicPr>
          <p:cNvPr id="153" name="Imagem 152">
            <a:extLst>
              <a:ext uri="{FF2B5EF4-FFF2-40B4-BE49-F238E27FC236}">
                <a16:creationId xmlns:a16="http://schemas.microsoft.com/office/drawing/2014/main" id="{93FFA48C-C78F-4A6A-950D-F62C30E8D3F9}"/>
              </a:ext>
            </a:extLst>
          </p:cNvPr>
          <p:cNvPicPr/>
          <p:nvPr/>
        </p:nvPicPr>
        <p:blipFill>
          <a:blip r:embed="rId3">
            <a:extLst>
              <a:ext uri="{28A0092B-C50C-407E-A947-70E740481C1C}">
                <a14:useLocalDpi xmlns:a14="http://schemas.microsoft.com/office/drawing/2010/main" val="0"/>
              </a:ext>
            </a:extLst>
          </a:blip>
          <a:stretch>
            <a:fillRect/>
          </a:stretch>
        </p:blipFill>
        <p:spPr>
          <a:xfrm>
            <a:off x="1748440" y="1019764"/>
            <a:ext cx="845783" cy="469240"/>
          </a:xfrm>
          <a:prstGeom prst="rect">
            <a:avLst/>
          </a:prstGeom>
        </p:spPr>
      </p:pic>
      <p:pic>
        <p:nvPicPr>
          <p:cNvPr id="154" name="Imagem 153">
            <a:extLst>
              <a:ext uri="{FF2B5EF4-FFF2-40B4-BE49-F238E27FC236}">
                <a16:creationId xmlns:a16="http://schemas.microsoft.com/office/drawing/2014/main" id="{53925895-6664-406B-94DC-2EB0ACE86C92}"/>
              </a:ext>
            </a:extLst>
          </p:cNvPr>
          <p:cNvPicPr/>
          <p:nvPr/>
        </p:nvPicPr>
        <p:blipFill>
          <a:blip r:embed="rId3">
            <a:extLst>
              <a:ext uri="{28A0092B-C50C-407E-A947-70E740481C1C}">
                <a14:useLocalDpi xmlns:a14="http://schemas.microsoft.com/office/drawing/2010/main" val="0"/>
              </a:ext>
            </a:extLst>
          </a:blip>
          <a:stretch>
            <a:fillRect/>
          </a:stretch>
        </p:blipFill>
        <p:spPr>
          <a:xfrm>
            <a:off x="2672102" y="1030858"/>
            <a:ext cx="881801" cy="469207"/>
          </a:xfrm>
          <a:prstGeom prst="rect">
            <a:avLst/>
          </a:prstGeom>
        </p:spPr>
      </p:pic>
      <p:pic>
        <p:nvPicPr>
          <p:cNvPr id="155" name="Imagem 154">
            <a:extLst>
              <a:ext uri="{FF2B5EF4-FFF2-40B4-BE49-F238E27FC236}">
                <a16:creationId xmlns:a16="http://schemas.microsoft.com/office/drawing/2014/main" id="{88048BAB-EA57-49C9-9E46-0201CB81359A}"/>
              </a:ext>
            </a:extLst>
          </p:cNvPr>
          <p:cNvPicPr/>
          <p:nvPr/>
        </p:nvPicPr>
        <p:blipFill>
          <a:blip r:embed="rId3">
            <a:extLst>
              <a:ext uri="{28A0092B-C50C-407E-A947-70E740481C1C}">
                <a14:useLocalDpi xmlns:a14="http://schemas.microsoft.com/office/drawing/2010/main" val="0"/>
              </a:ext>
            </a:extLst>
          </a:blip>
          <a:stretch>
            <a:fillRect/>
          </a:stretch>
        </p:blipFill>
        <p:spPr>
          <a:xfrm>
            <a:off x="3631782" y="1030051"/>
            <a:ext cx="882167" cy="469207"/>
          </a:xfrm>
          <a:prstGeom prst="rect">
            <a:avLst/>
          </a:prstGeom>
        </p:spPr>
      </p:pic>
      <p:pic>
        <p:nvPicPr>
          <p:cNvPr id="156" name="Imagem 155">
            <a:extLst>
              <a:ext uri="{FF2B5EF4-FFF2-40B4-BE49-F238E27FC236}">
                <a16:creationId xmlns:a16="http://schemas.microsoft.com/office/drawing/2014/main" id="{80F3D9DD-EC8B-43B5-9A43-783E3099CE5A}"/>
              </a:ext>
            </a:extLst>
          </p:cNvPr>
          <p:cNvPicPr/>
          <p:nvPr/>
        </p:nvPicPr>
        <p:blipFill>
          <a:blip r:embed="rId3">
            <a:extLst>
              <a:ext uri="{28A0092B-C50C-407E-A947-70E740481C1C}">
                <a14:useLocalDpi xmlns:a14="http://schemas.microsoft.com/office/drawing/2010/main" val="0"/>
              </a:ext>
            </a:extLst>
          </a:blip>
          <a:stretch>
            <a:fillRect/>
          </a:stretch>
        </p:blipFill>
        <p:spPr>
          <a:xfrm>
            <a:off x="4553301" y="1030051"/>
            <a:ext cx="810862" cy="469207"/>
          </a:xfrm>
          <a:prstGeom prst="rect">
            <a:avLst/>
          </a:prstGeom>
        </p:spPr>
      </p:pic>
      <p:pic>
        <p:nvPicPr>
          <p:cNvPr id="170" name="Imagem 169">
            <a:extLst>
              <a:ext uri="{FF2B5EF4-FFF2-40B4-BE49-F238E27FC236}">
                <a16:creationId xmlns:a16="http://schemas.microsoft.com/office/drawing/2014/main" id="{C772224B-ADA4-40E3-A471-8C3651567D7D}"/>
              </a:ext>
            </a:extLst>
          </p:cNvPr>
          <p:cNvPicPr/>
          <p:nvPr/>
        </p:nvPicPr>
        <p:blipFill>
          <a:blip r:embed="rId3">
            <a:extLst>
              <a:ext uri="{28A0092B-C50C-407E-A947-70E740481C1C}">
                <a14:useLocalDpi xmlns:a14="http://schemas.microsoft.com/office/drawing/2010/main" val="0"/>
              </a:ext>
            </a:extLst>
          </a:blip>
          <a:stretch>
            <a:fillRect/>
          </a:stretch>
        </p:blipFill>
        <p:spPr>
          <a:xfrm>
            <a:off x="0" y="1496974"/>
            <a:ext cx="871830" cy="469240"/>
          </a:xfrm>
          <a:prstGeom prst="rect">
            <a:avLst/>
          </a:prstGeom>
        </p:spPr>
      </p:pic>
      <p:pic>
        <p:nvPicPr>
          <p:cNvPr id="171" name="Imagem 170">
            <a:extLst>
              <a:ext uri="{FF2B5EF4-FFF2-40B4-BE49-F238E27FC236}">
                <a16:creationId xmlns:a16="http://schemas.microsoft.com/office/drawing/2014/main" id="{93375444-7DC0-4D7B-8B4C-FF815E8BFA2A}"/>
              </a:ext>
            </a:extLst>
          </p:cNvPr>
          <p:cNvPicPr/>
          <p:nvPr/>
        </p:nvPicPr>
        <p:blipFill>
          <a:blip r:embed="rId3">
            <a:extLst>
              <a:ext uri="{28A0092B-C50C-407E-A947-70E740481C1C}">
                <a14:useLocalDpi xmlns:a14="http://schemas.microsoft.com/office/drawing/2010/main" val="0"/>
              </a:ext>
            </a:extLst>
          </a:blip>
          <a:stretch>
            <a:fillRect/>
          </a:stretch>
        </p:blipFill>
        <p:spPr>
          <a:xfrm>
            <a:off x="847656" y="1499209"/>
            <a:ext cx="845783" cy="469240"/>
          </a:xfrm>
          <a:prstGeom prst="rect">
            <a:avLst/>
          </a:prstGeom>
        </p:spPr>
      </p:pic>
      <p:pic>
        <p:nvPicPr>
          <p:cNvPr id="172" name="Imagem 171">
            <a:extLst>
              <a:ext uri="{FF2B5EF4-FFF2-40B4-BE49-F238E27FC236}">
                <a16:creationId xmlns:a16="http://schemas.microsoft.com/office/drawing/2014/main" id="{05C88A9F-C71C-4264-AA42-C3D2C99452A9}"/>
              </a:ext>
            </a:extLst>
          </p:cNvPr>
          <p:cNvPicPr/>
          <p:nvPr/>
        </p:nvPicPr>
        <p:blipFill>
          <a:blip r:embed="rId3">
            <a:extLst>
              <a:ext uri="{28A0092B-C50C-407E-A947-70E740481C1C}">
                <a14:useLocalDpi xmlns:a14="http://schemas.microsoft.com/office/drawing/2010/main" val="0"/>
              </a:ext>
            </a:extLst>
          </a:blip>
          <a:stretch>
            <a:fillRect/>
          </a:stretch>
        </p:blipFill>
        <p:spPr>
          <a:xfrm>
            <a:off x="1748440" y="1496413"/>
            <a:ext cx="845783" cy="469240"/>
          </a:xfrm>
          <a:prstGeom prst="rect">
            <a:avLst/>
          </a:prstGeom>
        </p:spPr>
      </p:pic>
      <p:pic>
        <p:nvPicPr>
          <p:cNvPr id="173" name="Imagem 172">
            <a:extLst>
              <a:ext uri="{FF2B5EF4-FFF2-40B4-BE49-F238E27FC236}">
                <a16:creationId xmlns:a16="http://schemas.microsoft.com/office/drawing/2014/main" id="{C5A3997C-FD33-4726-AFD2-9A2F948C42C2}"/>
              </a:ext>
            </a:extLst>
          </p:cNvPr>
          <p:cNvPicPr/>
          <p:nvPr/>
        </p:nvPicPr>
        <p:blipFill>
          <a:blip r:embed="rId3">
            <a:extLst>
              <a:ext uri="{28A0092B-C50C-407E-A947-70E740481C1C}">
                <a14:useLocalDpi xmlns:a14="http://schemas.microsoft.com/office/drawing/2010/main" val="0"/>
              </a:ext>
            </a:extLst>
          </a:blip>
          <a:stretch>
            <a:fillRect/>
          </a:stretch>
        </p:blipFill>
        <p:spPr>
          <a:xfrm>
            <a:off x="2672102" y="1507508"/>
            <a:ext cx="881801" cy="469207"/>
          </a:xfrm>
          <a:prstGeom prst="rect">
            <a:avLst/>
          </a:prstGeom>
        </p:spPr>
      </p:pic>
      <p:pic>
        <p:nvPicPr>
          <p:cNvPr id="174" name="Imagem 173">
            <a:extLst>
              <a:ext uri="{FF2B5EF4-FFF2-40B4-BE49-F238E27FC236}">
                <a16:creationId xmlns:a16="http://schemas.microsoft.com/office/drawing/2014/main" id="{722EF49B-1178-49E5-AB1E-5E214279EA61}"/>
              </a:ext>
            </a:extLst>
          </p:cNvPr>
          <p:cNvPicPr/>
          <p:nvPr/>
        </p:nvPicPr>
        <p:blipFill>
          <a:blip r:embed="rId3">
            <a:extLst>
              <a:ext uri="{28A0092B-C50C-407E-A947-70E740481C1C}">
                <a14:useLocalDpi xmlns:a14="http://schemas.microsoft.com/office/drawing/2010/main" val="0"/>
              </a:ext>
            </a:extLst>
          </a:blip>
          <a:stretch>
            <a:fillRect/>
          </a:stretch>
        </p:blipFill>
        <p:spPr>
          <a:xfrm>
            <a:off x="3631782" y="1506700"/>
            <a:ext cx="882167" cy="469207"/>
          </a:xfrm>
          <a:prstGeom prst="rect">
            <a:avLst/>
          </a:prstGeom>
        </p:spPr>
      </p:pic>
      <p:pic>
        <p:nvPicPr>
          <p:cNvPr id="175" name="Imagem 174">
            <a:extLst>
              <a:ext uri="{FF2B5EF4-FFF2-40B4-BE49-F238E27FC236}">
                <a16:creationId xmlns:a16="http://schemas.microsoft.com/office/drawing/2014/main" id="{95E390A4-A530-4167-A1E8-FCFE728E7F65}"/>
              </a:ext>
            </a:extLst>
          </p:cNvPr>
          <p:cNvPicPr/>
          <p:nvPr/>
        </p:nvPicPr>
        <p:blipFill>
          <a:blip r:embed="rId3">
            <a:extLst>
              <a:ext uri="{28A0092B-C50C-407E-A947-70E740481C1C}">
                <a14:useLocalDpi xmlns:a14="http://schemas.microsoft.com/office/drawing/2010/main" val="0"/>
              </a:ext>
            </a:extLst>
          </a:blip>
          <a:stretch>
            <a:fillRect/>
          </a:stretch>
        </p:blipFill>
        <p:spPr>
          <a:xfrm>
            <a:off x="4553301" y="1506700"/>
            <a:ext cx="810862" cy="469207"/>
          </a:xfrm>
          <a:prstGeom prst="rect">
            <a:avLst/>
          </a:prstGeom>
        </p:spPr>
      </p:pic>
      <p:pic>
        <p:nvPicPr>
          <p:cNvPr id="176" name="Imagem 175">
            <a:extLst>
              <a:ext uri="{FF2B5EF4-FFF2-40B4-BE49-F238E27FC236}">
                <a16:creationId xmlns:a16="http://schemas.microsoft.com/office/drawing/2014/main" id="{4AD8EB53-9EA1-41D5-9E47-F15387628EC7}"/>
              </a:ext>
            </a:extLst>
          </p:cNvPr>
          <p:cNvPicPr/>
          <p:nvPr/>
        </p:nvPicPr>
        <p:blipFill>
          <a:blip r:embed="rId3">
            <a:extLst>
              <a:ext uri="{28A0092B-C50C-407E-A947-70E740481C1C}">
                <a14:useLocalDpi xmlns:a14="http://schemas.microsoft.com/office/drawing/2010/main" val="0"/>
              </a:ext>
            </a:extLst>
          </a:blip>
          <a:stretch>
            <a:fillRect/>
          </a:stretch>
        </p:blipFill>
        <p:spPr>
          <a:xfrm>
            <a:off x="0" y="1976467"/>
            <a:ext cx="871830" cy="469240"/>
          </a:xfrm>
          <a:prstGeom prst="rect">
            <a:avLst/>
          </a:prstGeom>
        </p:spPr>
      </p:pic>
      <p:pic>
        <p:nvPicPr>
          <p:cNvPr id="177" name="Imagem 176">
            <a:extLst>
              <a:ext uri="{FF2B5EF4-FFF2-40B4-BE49-F238E27FC236}">
                <a16:creationId xmlns:a16="http://schemas.microsoft.com/office/drawing/2014/main" id="{6972FFEC-AA61-4F84-81F4-C31451FE3AF6}"/>
              </a:ext>
            </a:extLst>
          </p:cNvPr>
          <p:cNvPicPr/>
          <p:nvPr/>
        </p:nvPicPr>
        <p:blipFill>
          <a:blip r:embed="rId3">
            <a:extLst>
              <a:ext uri="{28A0092B-C50C-407E-A947-70E740481C1C}">
                <a14:useLocalDpi xmlns:a14="http://schemas.microsoft.com/office/drawing/2010/main" val="0"/>
              </a:ext>
            </a:extLst>
          </a:blip>
          <a:stretch>
            <a:fillRect/>
          </a:stretch>
        </p:blipFill>
        <p:spPr>
          <a:xfrm>
            <a:off x="847656" y="1978702"/>
            <a:ext cx="845783" cy="469240"/>
          </a:xfrm>
          <a:prstGeom prst="rect">
            <a:avLst/>
          </a:prstGeom>
        </p:spPr>
      </p:pic>
      <p:pic>
        <p:nvPicPr>
          <p:cNvPr id="178" name="Imagem 177">
            <a:extLst>
              <a:ext uri="{FF2B5EF4-FFF2-40B4-BE49-F238E27FC236}">
                <a16:creationId xmlns:a16="http://schemas.microsoft.com/office/drawing/2014/main" id="{30A59A14-E794-4A61-8CB3-C215F38997FB}"/>
              </a:ext>
            </a:extLst>
          </p:cNvPr>
          <p:cNvPicPr/>
          <p:nvPr/>
        </p:nvPicPr>
        <p:blipFill>
          <a:blip r:embed="rId3">
            <a:extLst>
              <a:ext uri="{28A0092B-C50C-407E-A947-70E740481C1C}">
                <a14:useLocalDpi xmlns:a14="http://schemas.microsoft.com/office/drawing/2010/main" val="0"/>
              </a:ext>
            </a:extLst>
          </a:blip>
          <a:stretch>
            <a:fillRect/>
          </a:stretch>
        </p:blipFill>
        <p:spPr>
          <a:xfrm>
            <a:off x="1748440" y="1975906"/>
            <a:ext cx="845783" cy="469240"/>
          </a:xfrm>
          <a:prstGeom prst="rect">
            <a:avLst/>
          </a:prstGeom>
        </p:spPr>
      </p:pic>
      <p:pic>
        <p:nvPicPr>
          <p:cNvPr id="179" name="Imagem 178">
            <a:extLst>
              <a:ext uri="{FF2B5EF4-FFF2-40B4-BE49-F238E27FC236}">
                <a16:creationId xmlns:a16="http://schemas.microsoft.com/office/drawing/2014/main" id="{63DD8F9D-5ABD-4075-8EA8-3FBFDF0FE816}"/>
              </a:ext>
            </a:extLst>
          </p:cNvPr>
          <p:cNvPicPr/>
          <p:nvPr/>
        </p:nvPicPr>
        <p:blipFill>
          <a:blip r:embed="rId3">
            <a:extLst>
              <a:ext uri="{28A0092B-C50C-407E-A947-70E740481C1C}">
                <a14:useLocalDpi xmlns:a14="http://schemas.microsoft.com/office/drawing/2010/main" val="0"/>
              </a:ext>
            </a:extLst>
          </a:blip>
          <a:stretch>
            <a:fillRect/>
          </a:stretch>
        </p:blipFill>
        <p:spPr>
          <a:xfrm>
            <a:off x="2672102" y="1987001"/>
            <a:ext cx="881801" cy="469207"/>
          </a:xfrm>
          <a:prstGeom prst="rect">
            <a:avLst/>
          </a:prstGeom>
        </p:spPr>
      </p:pic>
      <p:pic>
        <p:nvPicPr>
          <p:cNvPr id="180" name="Imagem 179">
            <a:extLst>
              <a:ext uri="{FF2B5EF4-FFF2-40B4-BE49-F238E27FC236}">
                <a16:creationId xmlns:a16="http://schemas.microsoft.com/office/drawing/2014/main" id="{BF3FD009-5FAC-4CAE-9078-C98CA1F51847}"/>
              </a:ext>
            </a:extLst>
          </p:cNvPr>
          <p:cNvPicPr/>
          <p:nvPr/>
        </p:nvPicPr>
        <p:blipFill>
          <a:blip r:embed="rId3">
            <a:extLst>
              <a:ext uri="{28A0092B-C50C-407E-A947-70E740481C1C}">
                <a14:useLocalDpi xmlns:a14="http://schemas.microsoft.com/office/drawing/2010/main" val="0"/>
              </a:ext>
            </a:extLst>
          </a:blip>
          <a:stretch>
            <a:fillRect/>
          </a:stretch>
        </p:blipFill>
        <p:spPr>
          <a:xfrm>
            <a:off x="3631782" y="1986193"/>
            <a:ext cx="882167" cy="469207"/>
          </a:xfrm>
          <a:prstGeom prst="rect">
            <a:avLst/>
          </a:prstGeom>
        </p:spPr>
      </p:pic>
      <p:pic>
        <p:nvPicPr>
          <p:cNvPr id="181" name="Imagem 180">
            <a:extLst>
              <a:ext uri="{FF2B5EF4-FFF2-40B4-BE49-F238E27FC236}">
                <a16:creationId xmlns:a16="http://schemas.microsoft.com/office/drawing/2014/main" id="{802C5D3B-C4E0-4F09-A8FD-8B00816C7EBC}"/>
              </a:ext>
            </a:extLst>
          </p:cNvPr>
          <p:cNvPicPr/>
          <p:nvPr/>
        </p:nvPicPr>
        <p:blipFill>
          <a:blip r:embed="rId3">
            <a:extLst>
              <a:ext uri="{28A0092B-C50C-407E-A947-70E740481C1C}">
                <a14:useLocalDpi xmlns:a14="http://schemas.microsoft.com/office/drawing/2010/main" val="0"/>
              </a:ext>
            </a:extLst>
          </a:blip>
          <a:stretch>
            <a:fillRect/>
          </a:stretch>
        </p:blipFill>
        <p:spPr>
          <a:xfrm>
            <a:off x="4553301" y="1986193"/>
            <a:ext cx="810862" cy="469207"/>
          </a:xfrm>
          <a:prstGeom prst="rect">
            <a:avLst/>
          </a:prstGeom>
        </p:spPr>
      </p:pic>
      <p:pic>
        <p:nvPicPr>
          <p:cNvPr id="182" name="Imagem 181">
            <a:extLst>
              <a:ext uri="{FF2B5EF4-FFF2-40B4-BE49-F238E27FC236}">
                <a16:creationId xmlns:a16="http://schemas.microsoft.com/office/drawing/2014/main" id="{FEE97F4F-CFDA-4C02-80FF-2F81AB8BA392}"/>
              </a:ext>
            </a:extLst>
          </p:cNvPr>
          <p:cNvPicPr/>
          <p:nvPr/>
        </p:nvPicPr>
        <p:blipFill>
          <a:blip r:embed="rId3">
            <a:extLst>
              <a:ext uri="{28A0092B-C50C-407E-A947-70E740481C1C}">
                <a14:useLocalDpi xmlns:a14="http://schemas.microsoft.com/office/drawing/2010/main" val="0"/>
              </a:ext>
            </a:extLst>
          </a:blip>
          <a:stretch>
            <a:fillRect/>
          </a:stretch>
        </p:blipFill>
        <p:spPr>
          <a:xfrm>
            <a:off x="0" y="2442330"/>
            <a:ext cx="871830" cy="469240"/>
          </a:xfrm>
          <a:prstGeom prst="rect">
            <a:avLst/>
          </a:prstGeom>
        </p:spPr>
      </p:pic>
      <p:pic>
        <p:nvPicPr>
          <p:cNvPr id="183" name="Imagem 182">
            <a:extLst>
              <a:ext uri="{FF2B5EF4-FFF2-40B4-BE49-F238E27FC236}">
                <a16:creationId xmlns:a16="http://schemas.microsoft.com/office/drawing/2014/main" id="{2FE058B4-0D7F-45C4-BB35-28D428BECE1C}"/>
              </a:ext>
            </a:extLst>
          </p:cNvPr>
          <p:cNvPicPr/>
          <p:nvPr/>
        </p:nvPicPr>
        <p:blipFill>
          <a:blip r:embed="rId3">
            <a:extLst>
              <a:ext uri="{28A0092B-C50C-407E-A947-70E740481C1C}">
                <a14:useLocalDpi xmlns:a14="http://schemas.microsoft.com/office/drawing/2010/main" val="0"/>
              </a:ext>
            </a:extLst>
          </a:blip>
          <a:stretch>
            <a:fillRect/>
          </a:stretch>
        </p:blipFill>
        <p:spPr>
          <a:xfrm>
            <a:off x="847656" y="2444565"/>
            <a:ext cx="845783" cy="469240"/>
          </a:xfrm>
          <a:prstGeom prst="rect">
            <a:avLst/>
          </a:prstGeom>
        </p:spPr>
      </p:pic>
      <p:pic>
        <p:nvPicPr>
          <p:cNvPr id="184" name="Imagem 183">
            <a:extLst>
              <a:ext uri="{FF2B5EF4-FFF2-40B4-BE49-F238E27FC236}">
                <a16:creationId xmlns:a16="http://schemas.microsoft.com/office/drawing/2014/main" id="{A432E581-8E99-4308-81DE-6BB98A0F3B4B}"/>
              </a:ext>
            </a:extLst>
          </p:cNvPr>
          <p:cNvPicPr/>
          <p:nvPr/>
        </p:nvPicPr>
        <p:blipFill>
          <a:blip r:embed="rId3">
            <a:extLst>
              <a:ext uri="{28A0092B-C50C-407E-A947-70E740481C1C}">
                <a14:useLocalDpi xmlns:a14="http://schemas.microsoft.com/office/drawing/2010/main" val="0"/>
              </a:ext>
            </a:extLst>
          </a:blip>
          <a:stretch>
            <a:fillRect/>
          </a:stretch>
        </p:blipFill>
        <p:spPr>
          <a:xfrm>
            <a:off x="1748440" y="2441770"/>
            <a:ext cx="845783" cy="469240"/>
          </a:xfrm>
          <a:prstGeom prst="rect">
            <a:avLst/>
          </a:prstGeom>
        </p:spPr>
      </p:pic>
      <p:pic>
        <p:nvPicPr>
          <p:cNvPr id="185" name="Imagem 184">
            <a:extLst>
              <a:ext uri="{FF2B5EF4-FFF2-40B4-BE49-F238E27FC236}">
                <a16:creationId xmlns:a16="http://schemas.microsoft.com/office/drawing/2014/main" id="{C40910E6-DA42-4C5C-8293-41208777F140}"/>
              </a:ext>
            </a:extLst>
          </p:cNvPr>
          <p:cNvPicPr/>
          <p:nvPr/>
        </p:nvPicPr>
        <p:blipFill>
          <a:blip r:embed="rId3">
            <a:extLst>
              <a:ext uri="{28A0092B-C50C-407E-A947-70E740481C1C}">
                <a14:useLocalDpi xmlns:a14="http://schemas.microsoft.com/office/drawing/2010/main" val="0"/>
              </a:ext>
            </a:extLst>
          </a:blip>
          <a:stretch>
            <a:fillRect/>
          </a:stretch>
        </p:blipFill>
        <p:spPr>
          <a:xfrm>
            <a:off x="2672102" y="2452864"/>
            <a:ext cx="881801" cy="469207"/>
          </a:xfrm>
          <a:prstGeom prst="rect">
            <a:avLst/>
          </a:prstGeom>
        </p:spPr>
      </p:pic>
      <p:pic>
        <p:nvPicPr>
          <p:cNvPr id="186" name="Imagem 185">
            <a:extLst>
              <a:ext uri="{FF2B5EF4-FFF2-40B4-BE49-F238E27FC236}">
                <a16:creationId xmlns:a16="http://schemas.microsoft.com/office/drawing/2014/main" id="{50803AF4-F854-43B9-9378-82F51A4016B9}"/>
              </a:ext>
            </a:extLst>
          </p:cNvPr>
          <p:cNvPicPr/>
          <p:nvPr/>
        </p:nvPicPr>
        <p:blipFill>
          <a:blip r:embed="rId3">
            <a:extLst>
              <a:ext uri="{28A0092B-C50C-407E-A947-70E740481C1C}">
                <a14:useLocalDpi xmlns:a14="http://schemas.microsoft.com/office/drawing/2010/main" val="0"/>
              </a:ext>
            </a:extLst>
          </a:blip>
          <a:stretch>
            <a:fillRect/>
          </a:stretch>
        </p:blipFill>
        <p:spPr>
          <a:xfrm>
            <a:off x="3631782" y="2452057"/>
            <a:ext cx="882167" cy="469207"/>
          </a:xfrm>
          <a:prstGeom prst="rect">
            <a:avLst/>
          </a:prstGeom>
        </p:spPr>
      </p:pic>
      <p:pic>
        <p:nvPicPr>
          <p:cNvPr id="187" name="Imagem 186">
            <a:extLst>
              <a:ext uri="{FF2B5EF4-FFF2-40B4-BE49-F238E27FC236}">
                <a16:creationId xmlns:a16="http://schemas.microsoft.com/office/drawing/2014/main" id="{1D45F13B-5F2F-4DA0-B86E-E5C1A69407C3}"/>
              </a:ext>
            </a:extLst>
          </p:cNvPr>
          <p:cNvPicPr/>
          <p:nvPr/>
        </p:nvPicPr>
        <p:blipFill>
          <a:blip r:embed="rId3">
            <a:extLst>
              <a:ext uri="{28A0092B-C50C-407E-A947-70E740481C1C}">
                <a14:useLocalDpi xmlns:a14="http://schemas.microsoft.com/office/drawing/2010/main" val="0"/>
              </a:ext>
            </a:extLst>
          </a:blip>
          <a:stretch>
            <a:fillRect/>
          </a:stretch>
        </p:blipFill>
        <p:spPr>
          <a:xfrm>
            <a:off x="4553301" y="2452057"/>
            <a:ext cx="810862" cy="469207"/>
          </a:xfrm>
          <a:prstGeom prst="rect">
            <a:avLst/>
          </a:prstGeom>
        </p:spPr>
      </p:pic>
      <p:pic>
        <p:nvPicPr>
          <p:cNvPr id="188" name="Imagem 187">
            <a:extLst>
              <a:ext uri="{FF2B5EF4-FFF2-40B4-BE49-F238E27FC236}">
                <a16:creationId xmlns:a16="http://schemas.microsoft.com/office/drawing/2014/main" id="{01AEB3F9-B71B-4FA6-B09D-9C1037666F5C}"/>
              </a:ext>
            </a:extLst>
          </p:cNvPr>
          <p:cNvPicPr/>
          <p:nvPr/>
        </p:nvPicPr>
        <p:blipFill>
          <a:blip r:embed="rId3">
            <a:extLst>
              <a:ext uri="{28A0092B-C50C-407E-A947-70E740481C1C}">
                <a14:useLocalDpi xmlns:a14="http://schemas.microsoft.com/office/drawing/2010/main" val="0"/>
              </a:ext>
            </a:extLst>
          </a:blip>
          <a:stretch>
            <a:fillRect/>
          </a:stretch>
        </p:blipFill>
        <p:spPr>
          <a:xfrm>
            <a:off x="0" y="2921823"/>
            <a:ext cx="871830" cy="469240"/>
          </a:xfrm>
          <a:prstGeom prst="rect">
            <a:avLst/>
          </a:prstGeom>
        </p:spPr>
      </p:pic>
      <p:pic>
        <p:nvPicPr>
          <p:cNvPr id="189" name="Imagem 188">
            <a:extLst>
              <a:ext uri="{FF2B5EF4-FFF2-40B4-BE49-F238E27FC236}">
                <a16:creationId xmlns:a16="http://schemas.microsoft.com/office/drawing/2014/main" id="{17BE768A-9F03-46F7-9389-26A5C2C8D23B}"/>
              </a:ext>
            </a:extLst>
          </p:cNvPr>
          <p:cNvPicPr/>
          <p:nvPr/>
        </p:nvPicPr>
        <p:blipFill>
          <a:blip r:embed="rId3">
            <a:extLst>
              <a:ext uri="{28A0092B-C50C-407E-A947-70E740481C1C}">
                <a14:useLocalDpi xmlns:a14="http://schemas.microsoft.com/office/drawing/2010/main" val="0"/>
              </a:ext>
            </a:extLst>
          </a:blip>
          <a:stretch>
            <a:fillRect/>
          </a:stretch>
        </p:blipFill>
        <p:spPr>
          <a:xfrm>
            <a:off x="847656" y="2924058"/>
            <a:ext cx="845783" cy="469240"/>
          </a:xfrm>
          <a:prstGeom prst="rect">
            <a:avLst/>
          </a:prstGeom>
        </p:spPr>
      </p:pic>
      <p:pic>
        <p:nvPicPr>
          <p:cNvPr id="190" name="Imagem 189">
            <a:extLst>
              <a:ext uri="{FF2B5EF4-FFF2-40B4-BE49-F238E27FC236}">
                <a16:creationId xmlns:a16="http://schemas.microsoft.com/office/drawing/2014/main" id="{48ADF9D0-FC1D-4D17-A85B-38E9C93B8D00}"/>
              </a:ext>
            </a:extLst>
          </p:cNvPr>
          <p:cNvPicPr/>
          <p:nvPr/>
        </p:nvPicPr>
        <p:blipFill>
          <a:blip r:embed="rId3">
            <a:extLst>
              <a:ext uri="{28A0092B-C50C-407E-A947-70E740481C1C}">
                <a14:useLocalDpi xmlns:a14="http://schemas.microsoft.com/office/drawing/2010/main" val="0"/>
              </a:ext>
            </a:extLst>
          </a:blip>
          <a:stretch>
            <a:fillRect/>
          </a:stretch>
        </p:blipFill>
        <p:spPr>
          <a:xfrm>
            <a:off x="1748440" y="2921263"/>
            <a:ext cx="845783" cy="469240"/>
          </a:xfrm>
          <a:prstGeom prst="rect">
            <a:avLst/>
          </a:prstGeom>
        </p:spPr>
      </p:pic>
      <p:pic>
        <p:nvPicPr>
          <p:cNvPr id="191" name="Imagem 190">
            <a:extLst>
              <a:ext uri="{FF2B5EF4-FFF2-40B4-BE49-F238E27FC236}">
                <a16:creationId xmlns:a16="http://schemas.microsoft.com/office/drawing/2014/main" id="{CC2073ED-4DB4-4D06-8F0A-F6946C21AB7A}"/>
              </a:ext>
            </a:extLst>
          </p:cNvPr>
          <p:cNvPicPr/>
          <p:nvPr/>
        </p:nvPicPr>
        <p:blipFill>
          <a:blip r:embed="rId3">
            <a:extLst>
              <a:ext uri="{28A0092B-C50C-407E-A947-70E740481C1C}">
                <a14:useLocalDpi xmlns:a14="http://schemas.microsoft.com/office/drawing/2010/main" val="0"/>
              </a:ext>
            </a:extLst>
          </a:blip>
          <a:stretch>
            <a:fillRect/>
          </a:stretch>
        </p:blipFill>
        <p:spPr>
          <a:xfrm>
            <a:off x="2672102" y="2932357"/>
            <a:ext cx="881801" cy="469207"/>
          </a:xfrm>
          <a:prstGeom prst="rect">
            <a:avLst/>
          </a:prstGeom>
        </p:spPr>
      </p:pic>
      <p:pic>
        <p:nvPicPr>
          <p:cNvPr id="192" name="Imagem 191">
            <a:extLst>
              <a:ext uri="{FF2B5EF4-FFF2-40B4-BE49-F238E27FC236}">
                <a16:creationId xmlns:a16="http://schemas.microsoft.com/office/drawing/2014/main" id="{1F8CC9A1-5785-4B64-9D47-86A60073CF0C}"/>
              </a:ext>
            </a:extLst>
          </p:cNvPr>
          <p:cNvPicPr/>
          <p:nvPr/>
        </p:nvPicPr>
        <p:blipFill>
          <a:blip r:embed="rId3">
            <a:extLst>
              <a:ext uri="{28A0092B-C50C-407E-A947-70E740481C1C}">
                <a14:useLocalDpi xmlns:a14="http://schemas.microsoft.com/office/drawing/2010/main" val="0"/>
              </a:ext>
            </a:extLst>
          </a:blip>
          <a:stretch>
            <a:fillRect/>
          </a:stretch>
        </p:blipFill>
        <p:spPr>
          <a:xfrm>
            <a:off x="3631782" y="2931550"/>
            <a:ext cx="882167" cy="469207"/>
          </a:xfrm>
          <a:prstGeom prst="rect">
            <a:avLst/>
          </a:prstGeom>
        </p:spPr>
      </p:pic>
      <p:pic>
        <p:nvPicPr>
          <p:cNvPr id="193" name="Imagem 192">
            <a:extLst>
              <a:ext uri="{FF2B5EF4-FFF2-40B4-BE49-F238E27FC236}">
                <a16:creationId xmlns:a16="http://schemas.microsoft.com/office/drawing/2014/main" id="{36618FDA-28BA-4B56-A633-7BC8133D7158}"/>
              </a:ext>
            </a:extLst>
          </p:cNvPr>
          <p:cNvPicPr/>
          <p:nvPr/>
        </p:nvPicPr>
        <p:blipFill>
          <a:blip r:embed="rId3">
            <a:extLst>
              <a:ext uri="{28A0092B-C50C-407E-A947-70E740481C1C}">
                <a14:useLocalDpi xmlns:a14="http://schemas.microsoft.com/office/drawing/2010/main" val="0"/>
              </a:ext>
            </a:extLst>
          </a:blip>
          <a:stretch>
            <a:fillRect/>
          </a:stretch>
        </p:blipFill>
        <p:spPr>
          <a:xfrm>
            <a:off x="4553301" y="2931550"/>
            <a:ext cx="810862" cy="469207"/>
          </a:xfrm>
          <a:prstGeom prst="rect">
            <a:avLst/>
          </a:prstGeom>
        </p:spPr>
      </p:pic>
      <p:pic>
        <p:nvPicPr>
          <p:cNvPr id="194" name="Imagem 193">
            <a:extLst>
              <a:ext uri="{FF2B5EF4-FFF2-40B4-BE49-F238E27FC236}">
                <a16:creationId xmlns:a16="http://schemas.microsoft.com/office/drawing/2014/main" id="{9EAA8629-9130-470E-A5A9-2E373936C956}"/>
              </a:ext>
            </a:extLst>
          </p:cNvPr>
          <p:cNvPicPr/>
          <p:nvPr/>
        </p:nvPicPr>
        <p:blipFill>
          <a:blip r:embed="rId3">
            <a:extLst>
              <a:ext uri="{28A0092B-C50C-407E-A947-70E740481C1C}">
                <a14:useLocalDpi xmlns:a14="http://schemas.microsoft.com/office/drawing/2010/main" val="0"/>
              </a:ext>
            </a:extLst>
          </a:blip>
          <a:stretch>
            <a:fillRect/>
          </a:stretch>
        </p:blipFill>
        <p:spPr>
          <a:xfrm>
            <a:off x="0" y="3390162"/>
            <a:ext cx="871830" cy="469240"/>
          </a:xfrm>
          <a:prstGeom prst="rect">
            <a:avLst/>
          </a:prstGeom>
        </p:spPr>
      </p:pic>
      <p:pic>
        <p:nvPicPr>
          <p:cNvPr id="195" name="Imagem 194">
            <a:extLst>
              <a:ext uri="{FF2B5EF4-FFF2-40B4-BE49-F238E27FC236}">
                <a16:creationId xmlns:a16="http://schemas.microsoft.com/office/drawing/2014/main" id="{0CC289C0-BD88-4E37-BC61-B27AA5E15776}"/>
              </a:ext>
            </a:extLst>
          </p:cNvPr>
          <p:cNvPicPr/>
          <p:nvPr/>
        </p:nvPicPr>
        <p:blipFill>
          <a:blip r:embed="rId3">
            <a:extLst>
              <a:ext uri="{28A0092B-C50C-407E-A947-70E740481C1C}">
                <a14:useLocalDpi xmlns:a14="http://schemas.microsoft.com/office/drawing/2010/main" val="0"/>
              </a:ext>
            </a:extLst>
          </a:blip>
          <a:stretch>
            <a:fillRect/>
          </a:stretch>
        </p:blipFill>
        <p:spPr>
          <a:xfrm>
            <a:off x="847656" y="3392397"/>
            <a:ext cx="845783" cy="469240"/>
          </a:xfrm>
          <a:prstGeom prst="rect">
            <a:avLst/>
          </a:prstGeom>
        </p:spPr>
      </p:pic>
      <p:pic>
        <p:nvPicPr>
          <p:cNvPr id="196" name="Imagem 195">
            <a:extLst>
              <a:ext uri="{FF2B5EF4-FFF2-40B4-BE49-F238E27FC236}">
                <a16:creationId xmlns:a16="http://schemas.microsoft.com/office/drawing/2014/main" id="{30C544C7-AAD0-4159-853C-C425074B6928}"/>
              </a:ext>
            </a:extLst>
          </p:cNvPr>
          <p:cNvPicPr/>
          <p:nvPr/>
        </p:nvPicPr>
        <p:blipFill>
          <a:blip r:embed="rId3">
            <a:extLst>
              <a:ext uri="{28A0092B-C50C-407E-A947-70E740481C1C}">
                <a14:useLocalDpi xmlns:a14="http://schemas.microsoft.com/office/drawing/2010/main" val="0"/>
              </a:ext>
            </a:extLst>
          </a:blip>
          <a:stretch>
            <a:fillRect/>
          </a:stretch>
        </p:blipFill>
        <p:spPr>
          <a:xfrm>
            <a:off x="1748440" y="3389601"/>
            <a:ext cx="845783" cy="469240"/>
          </a:xfrm>
          <a:prstGeom prst="rect">
            <a:avLst/>
          </a:prstGeom>
        </p:spPr>
      </p:pic>
      <p:pic>
        <p:nvPicPr>
          <p:cNvPr id="197" name="Imagem 196">
            <a:extLst>
              <a:ext uri="{FF2B5EF4-FFF2-40B4-BE49-F238E27FC236}">
                <a16:creationId xmlns:a16="http://schemas.microsoft.com/office/drawing/2014/main" id="{4C4023F0-39D8-4592-9A41-A6E5362F4718}"/>
              </a:ext>
            </a:extLst>
          </p:cNvPr>
          <p:cNvPicPr/>
          <p:nvPr/>
        </p:nvPicPr>
        <p:blipFill>
          <a:blip r:embed="rId3">
            <a:extLst>
              <a:ext uri="{28A0092B-C50C-407E-A947-70E740481C1C}">
                <a14:useLocalDpi xmlns:a14="http://schemas.microsoft.com/office/drawing/2010/main" val="0"/>
              </a:ext>
            </a:extLst>
          </a:blip>
          <a:stretch>
            <a:fillRect/>
          </a:stretch>
        </p:blipFill>
        <p:spPr>
          <a:xfrm>
            <a:off x="2672102" y="3400696"/>
            <a:ext cx="881801" cy="469207"/>
          </a:xfrm>
          <a:prstGeom prst="rect">
            <a:avLst/>
          </a:prstGeom>
        </p:spPr>
      </p:pic>
      <p:pic>
        <p:nvPicPr>
          <p:cNvPr id="198" name="Imagem 197">
            <a:extLst>
              <a:ext uri="{FF2B5EF4-FFF2-40B4-BE49-F238E27FC236}">
                <a16:creationId xmlns:a16="http://schemas.microsoft.com/office/drawing/2014/main" id="{44246A8D-5C63-419C-AF40-783947A000A2}"/>
              </a:ext>
            </a:extLst>
          </p:cNvPr>
          <p:cNvPicPr/>
          <p:nvPr/>
        </p:nvPicPr>
        <p:blipFill>
          <a:blip r:embed="rId3">
            <a:extLst>
              <a:ext uri="{28A0092B-C50C-407E-A947-70E740481C1C}">
                <a14:useLocalDpi xmlns:a14="http://schemas.microsoft.com/office/drawing/2010/main" val="0"/>
              </a:ext>
            </a:extLst>
          </a:blip>
          <a:stretch>
            <a:fillRect/>
          </a:stretch>
        </p:blipFill>
        <p:spPr>
          <a:xfrm>
            <a:off x="3631782" y="3399888"/>
            <a:ext cx="882167" cy="469207"/>
          </a:xfrm>
          <a:prstGeom prst="rect">
            <a:avLst/>
          </a:prstGeom>
        </p:spPr>
      </p:pic>
      <p:pic>
        <p:nvPicPr>
          <p:cNvPr id="199" name="Imagem 198">
            <a:extLst>
              <a:ext uri="{FF2B5EF4-FFF2-40B4-BE49-F238E27FC236}">
                <a16:creationId xmlns:a16="http://schemas.microsoft.com/office/drawing/2014/main" id="{1AAEC3D2-4405-427C-A3A0-989DB1A0C794}"/>
              </a:ext>
            </a:extLst>
          </p:cNvPr>
          <p:cNvPicPr/>
          <p:nvPr/>
        </p:nvPicPr>
        <p:blipFill>
          <a:blip r:embed="rId3">
            <a:extLst>
              <a:ext uri="{28A0092B-C50C-407E-A947-70E740481C1C}">
                <a14:useLocalDpi xmlns:a14="http://schemas.microsoft.com/office/drawing/2010/main" val="0"/>
              </a:ext>
            </a:extLst>
          </a:blip>
          <a:stretch>
            <a:fillRect/>
          </a:stretch>
        </p:blipFill>
        <p:spPr>
          <a:xfrm>
            <a:off x="4553301" y="3399888"/>
            <a:ext cx="810862" cy="469207"/>
          </a:xfrm>
          <a:prstGeom prst="rect">
            <a:avLst/>
          </a:prstGeom>
        </p:spPr>
      </p:pic>
      <p:pic>
        <p:nvPicPr>
          <p:cNvPr id="200" name="Imagem 199">
            <a:extLst>
              <a:ext uri="{FF2B5EF4-FFF2-40B4-BE49-F238E27FC236}">
                <a16:creationId xmlns:a16="http://schemas.microsoft.com/office/drawing/2014/main" id="{D213AAE2-BE28-4DC8-A73F-E22E026E40E0}"/>
              </a:ext>
            </a:extLst>
          </p:cNvPr>
          <p:cNvPicPr/>
          <p:nvPr/>
        </p:nvPicPr>
        <p:blipFill>
          <a:blip r:embed="rId3">
            <a:extLst>
              <a:ext uri="{28A0092B-C50C-407E-A947-70E740481C1C}">
                <a14:useLocalDpi xmlns:a14="http://schemas.microsoft.com/office/drawing/2010/main" val="0"/>
              </a:ext>
            </a:extLst>
          </a:blip>
          <a:stretch>
            <a:fillRect/>
          </a:stretch>
        </p:blipFill>
        <p:spPr>
          <a:xfrm>
            <a:off x="0" y="3869655"/>
            <a:ext cx="871830" cy="469240"/>
          </a:xfrm>
          <a:prstGeom prst="rect">
            <a:avLst/>
          </a:prstGeom>
        </p:spPr>
      </p:pic>
      <p:pic>
        <p:nvPicPr>
          <p:cNvPr id="201" name="Imagem 200">
            <a:extLst>
              <a:ext uri="{FF2B5EF4-FFF2-40B4-BE49-F238E27FC236}">
                <a16:creationId xmlns:a16="http://schemas.microsoft.com/office/drawing/2014/main" id="{A3F090E5-A917-46EB-B642-FF7856103084}"/>
              </a:ext>
            </a:extLst>
          </p:cNvPr>
          <p:cNvPicPr/>
          <p:nvPr/>
        </p:nvPicPr>
        <p:blipFill>
          <a:blip r:embed="rId3">
            <a:extLst>
              <a:ext uri="{28A0092B-C50C-407E-A947-70E740481C1C}">
                <a14:useLocalDpi xmlns:a14="http://schemas.microsoft.com/office/drawing/2010/main" val="0"/>
              </a:ext>
            </a:extLst>
          </a:blip>
          <a:stretch>
            <a:fillRect/>
          </a:stretch>
        </p:blipFill>
        <p:spPr>
          <a:xfrm>
            <a:off x="847656" y="3871890"/>
            <a:ext cx="845783" cy="469240"/>
          </a:xfrm>
          <a:prstGeom prst="rect">
            <a:avLst/>
          </a:prstGeom>
        </p:spPr>
      </p:pic>
      <p:pic>
        <p:nvPicPr>
          <p:cNvPr id="202" name="Imagem 201">
            <a:extLst>
              <a:ext uri="{FF2B5EF4-FFF2-40B4-BE49-F238E27FC236}">
                <a16:creationId xmlns:a16="http://schemas.microsoft.com/office/drawing/2014/main" id="{3A8C3CCE-2A75-4AE5-A67A-A4821ABEC866}"/>
              </a:ext>
            </a:extLst>
          </p:cNvPr>
          <p:cNvPicPr/>
          <p:nvPr/>
        </p:nvPicPr>
        <p:blipFill>
          <a:blip r:embed="rId3">
            <a:extLst>
              <a:ext uri="{28A0092B-C50C-407E-A947-70E740481C1C}">
                <a14:useLocalDpi xmlns:a14="http://schemas.microsoft.com/office/drawing/2010/main" val="0"/>
              </a:ext>
            </a:extLst>
          </a:blip>
          <a:stretch>
            <a:fillRect/>
          </a:stretch>
        </p:blipFill>
        <p:spPr>
          <a:xfrm>
            <a:off x="1748440" y="3869094"/>
            <a:ext cx="845783" cy="469240"/>
          </a:xfrm>
          <a:prstGeom prst="rect">
            <a:avLst/>
          </a:prstGeom>
        </p:spPr>
      </p:pic>
      <p:pic>
        <p:nvPicPr>
          <p:cNvPr id="203" name="Imagem 202">
            <a:extLst>
              <a:ext uri="{FF2B5EF4-FFF2-40B4-BE49-F238E27FC236}">
                <a16:creationId xmlns:a16="http://schemas.microsoft.com/office/drawing/2014/main" id="{23F21539-83FE-4DEE-96B7-97D81730C40B}"/>
              </a:ext>
            </a:extLst>
          </p:cNvPr>
          <p:cNvPicPr/>
          <p:nvPr/>
        </p:nvPicPr>
        <p:blipFill>
          <a:blip r:embed="rId3">
            <a:extLst>
              <a:ext uri="{28A0092B-C50C-407E-A947-70E740481C1C}">
                <a14:useLocalDpi xmlns:a14="http://schemas.microsoft.com/office/drawing/2010/main" val="0"/>
              </a:ext>
            </a:extLst>
          </a:blip>
          <a:stretch>
            <a:fillRect/>
          </a:stretch>
        </p:blipFill>
        <p:spPr>
          <a:xfrm>
            <a:off x="2672102" y="3880189"/>
            <a:ext cx="881801" cy="469207"/>
          </a:xfrm>
          <a:prstGeom prst="rect">
            <a:avLst/>
          </a:prstGeom>
        </p:spPr>
      </p:pic>
      <p:pic>
        <p:nvPicPr>
          <p:cNvPr id="204" name="Imagem 203">
            <a:extLst>
              <a:ext uri="{FF2B5EF4-FFF2-40B4-BE49-F238E27FC236}">
                <a16:creationId xmlns:a16="http://schemas.microsoft.com/office/drawing/2014/main" id="{25A03821-03D6-4FE3-8C65-24CE0FF2FE96}"/>
              </a:ext>
            </a:extLst>
          </p:cNvPr>
          <p:cNvPicPr/>
          <p:nvPr/>
        </p:nvPicPr>
        <p:blipFill>
          <a:blip r:embed="rId3">
            <a:extLst>
              <a:ext uri="{28A0092B-C50C-407E-A947-70E740481C1C}">
                <a14:useLocalDpi xmlns:a14="http://schemas.microsoft.com/office/drawing/2010/main" val="0"/>
              </a:ext>
            </a:extLst>
          </a:blip>
          <a:stretch>
            <a:fillRect/>
          </a:stretch>
        </p:blipFill>
        <p:spPr>
          <a:xfrm>
            <a:off x="3631782" y="3879381"/>
            <a:ext cx="882167" cy="469207"/>
          </a:xfrm>
          <a:prstGeom prst="rect">
            <a:avLst/>
          </a:prstGeom>
        </p:spPr>
      </p:pic>
      <p:pic>
        <p:nvPicPr>
          <p:cNvPr id="205" name="Imagem 204">
            <a:extLst>
              <a:ext uri="{FF2B5EF4-FFF2-40B4-BE49-F238E27FC236}">
                <a16:creationId xmlns:a16="http://schemas.microsoft.com/office/drawing/2014/main" id="{37786F34-8C07-4BA1-B9FE-2FEE0BBC5327}"/>
              </a:ext>
            </a:extLst>
          </p:cNvPr>
          <p:cNvPicPr/>
          <p:nvPr/>
        </p:nvPicPr>
        <p:blipFill>
          <a:blip r:embed="rId3">
            <a:extLst>
              <a:ext uri="{28A0092B-C50C-407E-A947-70E740481C1C}">
                <a14:useLocalDpi xmlns:a14="http://schemas.microsoft.com/office/drawing/2010/main" val="0"/>
              </a:ext>
            </a:extLst>
          </a:blip>
          <a:stretch>
            <a:fillRect/>
          </a:stretch>
        </p:blipFill>
        <p:spPr>
          <a:xfrm>
            <a:off x="4553301" y="3879381"/>
            <a:ext cx="810862" cy="469207"/>
          </a:xfrm>
          <a:prstGeom prst="rect">
            <a:avLst/>
          </a:prstGeom>
        </p:spPr>
      </p:pic>
      <p:pic>
        <p:nvPicPr>
          <p:cNvPr id="206" name="Imagem 205">
            <a:extLst>
              <a:ext uri="{FF2B5EF4-FFF2-40B4-BE49-F238E27FC236}">
                <a16:creationId xmlns:a16="http://schemas.microsoft.com/office/drawing/2014/main" id="{29D39C6F-957D-4E1E-B951-BBCAED1316BD}"/>
              </a:ext>
            </a:extLst>
          </p:cNvPr>
          <p:cNvPicPr/>
          <p:nvPr/>
        </p:nvPicPr>
        <p:blipFill>
          <a:blip r:embed="rId3">
            <a:extLst>
              <a:ext uri="{28A0092B-C50C-407E-A947-70E740481C1C}">
                <a14:useLocalDpi xmlns:a14="http://schemas.microsoft.com/office/drawing/2010/main" val="0"/>
              </a:ext>
            </a:extLst>
          </a:blip>
          <a:stretch>
            <a:fillRect/>
          </a:stretch>
        </p:blipFill>
        <p:spPr>
          <a:xfrm>
            <a:off x="0" y="4346444"/>
            <a:ext cx="871830" cy="469240"/>
          </a:xfrm>
          <a:prstGeom prst="rect">
            <a:avLst/>
          </a:prstGeom>
        </p:spPr>
      </p:pic>
      <p:pic>
        <p:nvPicPr>
          <p:cNvPr id="207" name="Imagem 206">
            <a:extLst>
              <a:ext uri="{FF2B5EF4-FFF2-40B4-BE49-F238E27FC236}">
                <a16:creationId xmlns:a16="http://schemas.microsoft.com/office/drawing/2014/main" id="{654C78C8-C14A-4959-9DD2-74DE7FB75D5D}"/>
              </a:ext>
            </a:extLst>
          </p:cNvPr>
          <p:cNvPicPr/>
          <p:nvPr/>
        </p:nvPicPr>
        <p:blipFill>
          <a:blip r:embed="rId3">
            <a:extLst>
              <a:ext uri="{28A0092B-C50C-407E-A947-70E740481C1C}">
                <a14:useLocalDpi xmlns:a14="http://schemas.microsoft.com/office/drawing/2010/main" val="0"/>
              </a:ext>
            </a:extLst>
          </a:blip>
          <a:stretch>
            <a:fillRect/>
          </a:stretch>
        </p:blipFill>
        <p:spPr>
          <a:xfrm>
            <a:off x="847656" y="4348679"/>
            <a:ext cx="845783" cy="469240"/>
          </a:xfrm>
          <a:prstGeom prst="rect">
            <a:avLst/>
          </a:prstGeom>
        </p:spPr>
      </p:pic>
      <p:pic>
        <p:nvPicPr>
          <p:cNvPr id="208" name="Imagem 207">
            <a:extLst>
              <a:ext uri="{FF2B5EF4-FFF2-40B4-BE49-F238E27FC236}">
                <a16:creationId xmlns:a16="http://schemas.microsoft.com/office/drawing/2014/main" id="{F79605F3-5820-4FB6-8B93-A57C227D3568}"/>
              </a:ext>
            </a:extLst>
          </p:cNvPr>
          <p:cNvPicPr/>
          <p:nvPr/>
        </p:nvPicPr>
        <p:blipFill>
          <a:blip r:embed="rId3">
            <a:extLst>
              <a:ext uri="{28A0092B-C50C-407E-A947-70E740481C1C}">
                <a14:useLocalDpi xmlns:a14="http://schemas.microsoft.com/office/drawing/2010/main" val="0"/>
              </a:ext>
            </a:extLst>
          </a:blip>
          <a:stretch>
            <a:fillRect/>
          </a:stretch>
        </p:blipFill>
        <p:spPr>
          <a:xfrm>
            <a:off x="1748440" y="4345884"/>
            <a:ext cx="845783" cy="469240"/>
          </a:xfrm>
          <a:prstGeom prst="rect">
            <a:avLst/>
          </a:prstGeom>
        </p:spPr>
      </p:pic>
      <p:pic>
        <p:nvPicPr>
          <p:cNvPr id="209" name="Imagem 208">
            <a:extLst>
              <a:ext uri="{FF2B5EF4-FFF2-40B4-BE49-F238E27FC236}">
                <a16:creationId xmlns:a16="http://schemas.microsoft.com/office/drawing/2014/main" id="{80F6878D-F2C5-41FA-B553-E404AF8A4E5C}"/>
              </a:ext>
            </a:extLst>
          </p:cNvPr>
          <p:cNvPicPr/>
          <p:nvPr/>
        </p:nvPicPr>
        <p:blipFill>
          <a:blip r:embed="rId3">
            <a:extLst>
              <a:ext uri="{28A0092B-C50C-407E-A947-70E740481C1C}">
                <a14:useLocalDpi xmlns:a14="http://schemas.microsoft.com/office/drawing/2010/main" val="0"/>
              </a:ext>
            </a:extLst>
          </a:blip>
          <a:stretch>
            <a:fillRect/>
          </a:stretch>
        </p:blipFill>
        <p:spPr>
          <a:xfrm>
            <a:off x="2672102" y="4356978"/>
            <a:ext cx="881801" cy="469207"/>
          </a:xfrm>
          <a:prstGeom prst="rect">
            <a:avLst/>
          </a:prstGeom>
        </p:spPr>
      </p:pic>
      <p:pic>
        <p:nvPicPr>
          <p:cNvPr id="210" name="Imagem 209">
            <a:extLst>
              <a:ext uri="{FF2B5EF4-FFF2-40B4-BE49-F238E27FC236}">
                <a16:creationId xmlns:a16="http://schemas.microsoft.com/office/drawing/2014/main" id="{DD024D08-898C-45FF-94EC-07E98F548B1C}"/>
              </a:ext>
            </a:extLst>
          </p:cNvPr>
          <p:cNvPicPr/>
          <p:nvPr/>
        </p:nvPicPr>
        <p:blipFill>
          <a:blip r:embed="rId3">
            <a:extLst>
              <a:ext uri="{28A0092B-C50C-407E-A947-70E740481C1C}">
                <a14:useLocalDpi xmlns:a14="http://schemas.microsoft.com/office/drawing/2010/main" val="0"/>
              </a:ext>
            </a:extLst>
          </a:blip>
          <a:stretch>
            <a:fillRect/>
          </a:stretch>
        </p:blipFill>
        <p:spPr>
          <a:xfrm>
            <a:off x="3631782" y="4356171"/>
            <a:ext cx="882167" cy="469207"/>
          </a:xfrm>
          <a:prstGeom prst="rect">
            <a:avLst/>
          </a:prstGeom>
        </p:spPr>
      </p:pic>
      <p:pic>
        <p:nvPicPr>
          <p:cNvPr id="211" name="Imagem 210">
            <a:extLst>
              <a:ext uri="{FF2B5EF4-FFF2-40B4-BE49-F238E27FC236}">
                <a16:creationId xmlns:a16="http://schemas.microsoft.com/office/drawing/2014/main" id="{C82CEBAA-3465-472C-8D52-A529A90FC28C}"/>
              </a:ext>
            </a:extLst>
          </p:cNvPr>
          <p:cNvPicPr/>
          <p:nvPr/>
        </p:nvPicPr>
        <p:blipFill>
          <a:blip r:embed="rId3">
            <a:extLst>
              <a:ext uri="{28A0092B-C50C-407E-A947-70E740481C1C}">
                <a14:useLocalDpi xmlns:a14="http://schemas.microsoft.com/office/drawing/2010/main" val="0"/>
              </a:ext>
            </a:extLst>
          </a:blip>
          <a:stretch>
            <a:fillRect/>
          </a:stretch>
        </p:blipFill>
        <p:spPr>
          <a:xfrm>
            <a:off x="4553301" y="4356171"/>
            <a:ext cx="810862" cy="469207"/>
          </a:xfrm>
          <a:prstGeom prst="rect">
            <a:avLst/>
          </a:prstGeom>
        </p:spPr>
      </p:pic>
      <p:pic>
        <p:nvPicPr>
          <p:cNvPr id="212" name="Imagem 211">
            <a:extLst>
              <a:ext uri="{FF2B5EF4-FFF2-40B4-BE49-F238E27FC236}">
                <a16:creationId xmlns:a16="http://schemas.microsoft.com/office/drawing/2014/main" id="{8627152D-E3D1-4CF4-B69A-1C316CDCE024}"/>
              </a:ext>
            </a:extLst>
          </p:cNvPr>
          <p:cNvPicPr/>
          <p:nvPr/>
        </p:nvPicPr>
        <p:blipFill>
          <a:blip r:embed="rId3">
            <a:extLst>
              <a:ext uri="{28A0092B-C50C-407E-A947-70E740481C1C}">
                <a14:useLocalDpi xmlns:a14="http://schemas.microsoft.com/office/drawing/2010/main" val="0"/>
              </a:ext>
            </a:extLst>
          </a:blip>
          <a:stretch>
            <a:fillRect/>
          </a:stretch>
        </p:blipFill>
        <p:spPr>
          <a:xfrm>
            <a:off x="0" y="4825937"/>
            <a:ext cx="871830" cy="469240"/>
          </a:xfrm>
          <a:prstGeom prst="rect">
            <a:avLst/>
          </a:prstGeom>
        </p:spPr>
      </p:pic>
      <p:pic>
        <p:nvPicPr>
          <p:cNvPr id="213" name="Imagem 212">
            <a:extLst>
              <a:ext uri="{FF2B5EF4-FFF2-40B4-BE49-F238E27FC236}">
                <a16:creationId xmlns:a16="http://schemas.microsoft.com/office/drawing/2014/main" id="{D15406D7-D2F6-4775-81B2-3E5DD81B7F4F}"/>
              </a:ext>
            </a:extLst>
          </p:cNvPr>
          <p:cNvPicPr/>
          <p:nvPr/>
        </p:nvPicPr>
        <p:blipFill>
          <a:blip r:embed="rId3">
            <a:extLst>
              <a:ext uri="{28A0092B-C50C-407E-A947-70E740481C1C}">
                <a14:useLocalDpi xmlns:a14="http://schemas.microsoft.com/office/drawing/2010/main" val="0"/>
              </a:ext>
            </a:extLst>
          </a:blip>
          <a:stretch>
            <a:fillRect/>
          </a:stretch>
        </p:blipFill>
        <p:spPr>
          <a:xfrm>
            <a:off x="847656" y="4828172"/>
            <a:ext cx="845783" cy="469240"/>
          </a:xfrm>
          <a:prstGeom prst="rect">
            <a:avLst/>
          </a:prstGeom>
        </p:spPr>
      </p:pic>
      <p:pic>
        <p:nvPicPr>
          <p:cNvPr id="214" name="Imagem 213">
            <a:extLst>
              <a:ext uri="{FF2B5EF4-FFF2-40B4-BE49-F238E27FC236}">
                <a16:creationId xmlns:a16="http://schemas.microsoft.com/office/drawing/2014/main" id="{AEB83B10-0054-43A8-A31B-837C95A40148}"/>
              </a:ext>
            </a:extLst>
          </p:cNvPr>
          <p:cNvPicPr/>
          <p:nvPr/>
        </p:nvPicPr>
        <p:blipFill>
          <a:blip r:embed="rId3">
            <a:extLst>
              <a:ext uri="{28A0092B-C50C-407E-A947-70E740481C1C}">
                <a14:useLocalDpi xmlns:a14="http://schemas.microsoft.com/office/drawing/2010/main" val="0"/>
              </a:ext>
            </a:extLst>
          </a:blip>
          <a:stretch>
            <a:fillRect/>
          </a:stretch>
        </p:blipFill>
        <p:spPr>
          <a:xfrm>
            <a:off x="1748440" y="4825377"/>
            <a:ext cx="845783" cy="469240"/>
          </a:xfrm>
          <a:prstGeom prst="rect">
            <a:avLst/>
          </a:prstGeom>
        </p:spPr>
      </p:pic>
      <p:pic>
        <p:nvPicPr>
          <p:cNvPr id="215" name="Imagem 214">
            <a:extLst>
              <a:ext uri="{FF2B5EF4-FFF2-40B4-BE49-F238E27FC236}">
                <a16:creationId xmlns:a16="http://schemas.microsoft.com/office/drawing/2014/main" id="{DE362761-2A50-45E3-B751-455E6083F91E}"/>
              </a:ext>
            </a:extLst>
          </p:cNvPr>
          <p:cNvPicPr/>
          <p:nvPr/>
        </p:nvPicPr>
        <p:blipFill>
          <a:blip r:embed="rId3">
            <a:extLst>
              <a:ext uri="{28A0092B-C50C-407E-A947-70E740481C1C}">
                <a14:useLocalDpi xmlns:a14="http://schemas.microsoft.com/office/drawing/2010/main" val="0"/>
              </a:ext>
            </a:extLst>
          </a:blip>
          <a:stretch>
            <a:fillRect/>
          </a:stretch>
        </p:blipFill>
        <p:spPr>
          <a:xfrm>
            <a:off x="2672102" y="4836471"/>
            <a:ext cx="881801" cy="469207"/>
          </a:xfrm>
          <a:prstGeom prst="rect">
            <a:avLst/>
          </a:prstGeom>
        </p:spPr>
      </p:pic>
      <p:pic>
        <p:nvPicPr>
          <p:cNvPr id="216" name="Imagem 215">
            <a:extLst>
              <a:ext uri="{FF2B5EF4-FFF2-40B4-BE49-F238E27FC236}">
                <a16:creationId xmlns:a16="http://schemas.microsoft.com/office/drawing/2014/main" id="{7DD58B09-1E14-4C84-837F-2939A010DD7A}"/>
              </a:ext>
            </a:extLst>
          </p:cNvPr>
          <p:cNvPicPr/>
          <p:nvPr/>
        </p:nvPicPr>
        <p:blipFill>
          <a:blip r:embed="rId3">
            <a:extLst>
              <a:ext uri="{28A0092B-C50C-407E-A947-70E740481C1C}">
                <a14:useLocalDpi xmlns:a14="http://schemas.microsoft.com/office/drawing/2010/main" val="0"/>
              </a:ext>
            </a:extLst>
          </a:blip>
          <a:stretch>
            <a:fillRect/>
          </a:stretch>
        </p:blipFill>
        <p:spPr>
          <a:xfrm>
            <a:off x="3631782" y="4835664"/>
            <a:ext cx="882167" cy="469207"/>
          </a:xfrm>
          <a:prstGeom prst="rect">
            <a:avLst/>
          </a:prstGeom>
        </p:spPr>
      </p:pic>
      <p:pic>
        <p:nvPicPr>
          <p:cNvPr id="217" name="Imagem 216">
            <a:extLst>
              <a:ext uri="{FF2B5EF4-FFF2-40B4-BE49-F238E27FC236}">
                <a16:creationId xmlns:a16="http://schemas.microsoft.com/office/drawing/2014/main" id="{221D2BE6-78DD-4B0B-BC0D-AE73F5C0E00F}"/>
              </a:ext>
            </a:extLst>
          </p:cNvPr>
          <p:cNvPicPr/>
          <p:nvPr/>
        </p:nvPicPr>
        <p:blipFill>
          <a:blip r:embed="rId3">
            <a:extLst>
              <a:ext uri="{28A0092B-C50C-407E-A947-70E740481C1C}">
                <a14:useLocalDpi xmlns:a14="http://schemas.microsoft.com/office/drawing/2010/main" val="0"/>
              </a:ext>
            </a:extLst>
          </a:blip>
          <a:stretch>
            <a:fillRect/>
          </a:stretch>
        </p:blipFill>
        <p:spPr>
          <a:xfrm>
            <a:off x="4553301" y="4835664"/>
            <a:ext cx="810862" cy="469207"/>
          </a:xfrm>
          <a:prstGeom prst="rect">
            <a:avLst/>
          </a:prstGeom>
        </p:spPr>
      </p:pic>
      <p:pic>
        <p:nvPicPr>
          <p:cNvPr id="218" name="Imagem 217">
            <a:extLst>
              <a:ext uri="{FF2B5EF4-FFF2-40B4-BE49-F238E27FC236}">
                <a16:creationId xmlns:a16="http://schemas.microsoft.com/office/drawing/2014/main" id="{C34092F8-CF4A-47E6-B188-D0E84054C92A}"/>
              </a:ext>
            </a:extLst>
          </p:cNvPr>
          <p:cNvPicPr/>
          <p:nvPr/>
        </p:nvPicPr>
        <p:blipFill>
          <a:blip r:embed="rId3">
            <a:extLst>
              <a:ext uri="{28A0092B-C50C-407E-A947-70E740481C1C}">
                <a14:useLocalDpi xmlns:a14="http://schemas.microsoft.com/office/drawing/2010/main" val="0"/>
              </a:ext>
            </a:extLst>
          </a:blip>
          <a:stretch>
            <a:fillRect/>
          </a:stretch>
        </p:blipFill>
        <p:spPr>
          <a:xfrm>
            <a:off x="0" y="5276220"/>
            <a:ext cx="871830" cy="469240"/>
          </a:xfrm>
          <a:prstGeom prst="rect">
            <a:avLst/>
          </a:prstGeom>
        </p:spPr>
      </p:pic>
      <p:pic>
        <p:nvPicPr>
          <p:cNvPr id="219" name="Imagem 218">
            <a:extLst>
              <a:ext uri="{FF2B5EF4-FFF2-40B4-BE49-F238E27FC236}">
                <a16:creationId xmlns:a16="http://schemas.microsoft.com/office/drawing/2014/main" id="{9A4627F9-2E30-4CF1-870B-F2FAB374CC99}"/>
              </a:ext>
            </a:extLst>
          </p:cNvPr>
          <p:cNvPicPr/>
          <p:nvPr/>
        </p:nvPicPr>
        <p:blipFill>
          <a:blip r:embed="rId3">
            <a:extLst>
              <a:ext uri="{28A0092B-C50C-407E-A947-70E740481C1C}">
                <a14:useLocalDpi xmlns:a14="http://schemas.microsoft.com/office/drawing/2010/main" val="0"/>
              </a:ext>
            </a:extLst>
          </a:blip>
          <a:stretch>
            <a:fillRect/>
          </a:stretch>
        </p:blipFill>
        <p:spPr>
          <a:xfrm>
            <a:off x="847656" y="5278455"/>
            <a:ext cx="845783" cy="469240"/>
          </a:xfrm>
          <a:prstGeom prst="rect">
            <a:avLst/>
          </a:prstGeom>
        </p:spPr>
      </p:pic>
      <p:pic>
        <p:nvPicPr>
          <p:cNvPr id="220" name="Imagem 219">
            <a:extLst>
              <a:ext uri="{FF2B5EF4-FFF2-40B4-BE49-F238E27FC236}">
                <a16:creationId xmlns:a16="http://schemas.microsoft.com/office/drawing/2014/main" id="{2E4146F3-E839-4443-B394-B6D79451ABC9}"/>
              </a:ext>
            </a:extLst>
          </p:cNvPr>
          <p:cNvPicPr/>
          <p:nvPr/>
        </p:nvPicPr>
        <p:blipFill>
          <a:blip r:embed="rId3">
            <a:extLst>
              <a:ext uri="{28A0092B-C50C-407E-A947-70E740481C1C}">
                <a14:useLocalDpi xmlns:a14="http://schemas.microsoft.com/office/drawing/2010/main" val="0"/>
              </a:ext>
            </a:extLst>
          </a:blip>
          <a:stretch>
            <a:fillRect/>
          </a:stretch>
        </p:blipFill>
        <p:spPr>
          <a:xfrm>
            <a:off x="1748440" y="5275659"/>
            <a:ext cx="845783" cy="469240"/>
          </a:xfrm>
          <a:prstGeom prst="rect">
            <a:avLst/>
          </a:prstGeom>
        </p:spPr>
      </p:pic>
      <p:pic>
        <p:nvPicPr>
          <p:cNvPr id="221" name="Imagem 220">
            <a:extLst>
              <a:ext uri="{FF2B5EF4-FFF2-40B4-BE49-F238E27FC236}">
                <a16:creationId xmlns:a16="http://schemas.microsoft.com/office/drawing/2014/main" id="{07223122-9123-4969-BFB8-9DF97D4B7D37}"/>
              </a:ext>
            </a:extLst>
          </p:cNvPr>
          <p:cNvPicPr/>
          <p:nvPr/>
        </p:nvPicPr>
        <p:blipFill>
          <a:blip r:embed="rId3">
            <a:extLst>
              <a:ext uri="{28A0092B-C50C-407E-A947-70E740481C1C}">
                <a14:useLocalDpi xmlns:a14="http://schemas.microsoft.com/office/drawing/2010/main" val="0"/>
              </a:ext>
            </a:extLst>
          </a:blip>
          <a:stretch>
            <a:fillRect/>
          </a:stretch>
        </p:blipFill>
        <p:spPr>
          <a:xfrm>
            <a:off x="2672102" y="5286754"/>
            <a:ext cx="881801" cy="469207"/>
          </a:xfrm>
          <a:prstGeom prst="rect">
            <a:avLst/>
          </a:prstGeom>
        </p:spPr>
      </p:pic>
      <p:pic>
        <p:nvPicPr>
          <p:cNvPr id="222" name="Imagem 221">
            <a:extLst>
              <a:ext uri="{FF2B5EF4-FFF2-40B4-BE49-F238E27FC236}">
                <a16:creationId xmlns:a16="http://schemas.microsoft.com/office/drawing/2014/main" id="{78F39507-A959-4F83-BB40-4A9ECCE56355}"/>
              </a:ext>
            </a:extLst>
          </p:cNvPr>
          <p:cNvPicPr/>
          <p:nvPr/>
        </p:nvPicPr>
        <p:blipFill>
          <a:blip r:embed="rId3">
            <a:extLst>
              <a:ext uri="{28A0092B-C50C-407E-A947-70E740481C1C}">
                <a14:useLocalDpi xmlns:a14="http://schemas.microsoft.com/office/drawing/2010/main" val="0"/>
              </a:ext>
            </a:extLst>
          </a:blip>
          <a:stretch>
            <a:fillRect/>
          </a:stretch>
        </p:blipFill>
        <p:spPr>
          <a:xfrm>
            <a:off x="3631782" y="5285946"/>
            <a:ext cx="882167" cy="469207"/>
          </a:xfrm>
          <a:prstGeom prst="rect">
            <a:avLst/>
          </a:prstGeom>
        </p:spPr>
      </p:pic>
      <p:pic>
        <p:nvPicPr>
          <p:cNvPr id="223" name="Imagem 222">
            <a:extLst>
              <a:ext uri="{FF2B5EF4-FFF2-40B4-BE49-F238E27FC236}">
                <a16:creationId xmlns:a16="http://schemas.microsoft.com/office/drawing/2014/main" id="{25A10D2A-CDBC-4B54-8520-ED71957EA496}"/>
              </a:ext>
            </a:extLst>
          </p:cNvPr>
          <p:cNvPicPr/>
          <p:nvPr/>
        </p:nvPicPr>
        <p:blipFill>
          <a:blip r:embed="rId3">
            <a:extLst>
              <a:ext uri="{28A0092B-C50C-407E-A947-70E740481C1C}">
                <a14:useLocalDpi xmlns:a14="http://schemas.microsoft.com/office/drawing/2010/main" val="0"/>
              </a:ext>
            </a:extLst>
          </a:blip>
          <a:stretch>
            <a:fillRect/>
          </a:stretch>
        </p:blipFill>
        <p:spPr>
          <a:xfrm>
            <a:off x="4553301" y="5285946"/>
            <a:ext cx="810862" cy="469207"/>
          </a:xfrm>
          <a:prstGeom prst="rect">
            <a:avLst/>
          </a:prstGeom>
        </p:spPr>
      </p:pic>
      <p:pic>
        <p:nvPicPr>
          <p:cNvPr id="224" name="Imagem 223">
            <a:extLst>
              <a:ext uri="{FF2B5EF4-FFF2-40B4-BE49-F238E27FC236}">
                <a16:creationId xmlns:a16="http://schemas.microsoft.com/office/drawing/2014/main" id="{262EA75F-CF5D-43BF-99CB-833D0668605E}"/>
              </a:ext>
            </a:extLst>
          </p:cNvPr>
          <p:cNvPicPr/>
          <p:nvPr/>
        </p:nvPicPr>
        <p:blipFill>
          <a:blip r:embed="rId3">
            <a:extLst>
              <a:ext uri="{28A0092B-C50C-407E-A947-70E740481C1C}">
                <a14:useLocalDpi xmlns:a14="http://schemas.microsoft.com/office/drawing/2010/main" val="0"/>
              </a:ext>
            </a:extLst>
          </a:blip>
          <a:stretch>
            <a:fillRect/>
          </a:stretch>
        </p:blipFill>
        <p:spPr>
          <a:xfrm>
            <a:off x="0" y="5755713"/>
            <a:ext cx="871830" cy="469240"/>
          </a:xfrm>
          <a:prstGeom prst="rect">
            <a:avLst/>
          </a:prstGeom>
        </p:spPr>
      </p:pic>
      <p:pic>
        <p:nvPicPr>
          <p:cNvPr id="225" name="Imagem 224">
            <a:extLst>
              <a:ext uri="{FF2B5EF4-FFF2-40B4-BE49-F238E27FC236}">
                <a16:creationId xmlns:a16="http://schemas.microsoft.com/office/drawing/2014/main" id="{D5F36D40-8E2A-4135-8178-A19F05A11A3B}"/>
              </a:ext>
            </a:extLst>
          </p:cNvPr>
          <p:cNvPicPr/>
          <p:nvPr/>
        </p:nvPicPr>
        <p:blipFill>
          <a:blip r:embed="rId3">
            <a:extLst>
              <a:ext uri="{28A0092B-C50C-407E-A947-70E740481C1C}">
                <a14:useLocalDpi xmlns:a14="http://schemas.microsoft.com/office/drawing/2010/main" val="0"/>
              </a:ext>
            </a:extLst>
          </a:blip>
          <a:stretch>
            <a:fillRect/>
          </a:stretch>
        </p:blipFill>
        <p:spPr>
          <a:xfrm>
            <a:off x="847656" y="5757948"/>
            <a:ext cx="845783" cy="469240"/>
          </a:xfrm>
          <a:prstGeom prst="rect">
            <a:avLst/>
          </a:prstGeom>
        </p:spPr>
      </p:pic>
      <p:pic>
        <p:nvPicPr>
          <p:cNvPr id="226" name="Imagem 225">
            <a:extLst>
              <a:ext uri="{FF2B5EF4-FFF2-40B4-BE49-F238E27FC236}">
                <a16:creationId xmlns:a16="http://schemas.microsoft.com/office/drawing/2014/main" id="{6023B9A0-2FA3-4015-AF33-B33199560DE0}"/>
              </a:ext>
            </a:extLst>
          </p:cNvPr>
          <p:cNvPicPr/>
          <p:nvPr/>
        </p:nvPicPr>
        <p:blipFill>
          <a:blip r:embed="rId3">
            <a:extLst>
              <a:ext uri="{28A0092B-C50C-407E-A947-70E740481C1C}">
                <a14:useLocalDpi xmlns:a14="http://schemas.microsoft.com/office/drawing/2010/main" val="0"/>
              </a:ext>
            </a:extLst>
          </a:blip>
          <a:stretch>
            <a:fillRect/>
          </a:stretch>
        </p:blipFill>
        <p:spPr>
          <a:xfrm>
            <a:off x="1748440" y="5755152"/>
            <a:ext cx="845783" cy="469240"/>
          </a:xfrm>
          <a:prstGeom prst="rect">
            <a:avLst/>
          </a:prstGeom>
        </p:spPr>
      </p:pic>
      <p:pic>
        <p:nvPicPr>
          <p:cNvPr id="227" name="Imagem 226">
            <a:extLst>
              <a:ext uri="{FF2B5EF4-FFF2-40B4-BE49-F238E27FC236}">
                <a16:creationId xmlns:a16="http://schemas.microsoft.com/office/drawing/2014/main" id="{10EABF75-B872-4363-987E-DF3EDA57663B}"/>
              </a:ext>
            </a:extLst>
          </p:cNvPr>
          <p:cNvPicPr/>
          <p:nvPr/>
        </p:nvPicPr>
        <p:blipFill>
          <a:blip r:embed="rId3">
            <a:extLst>
              <a:ext uri="{28A0092B-C50C-407E-A947-70E740481C1C}">
                <a14:useLocalDpi xmlns:a14="http://schemas.microsoft.com/office/drawing/2010/main" val="0"/>
              </a:ext>
            </a:extLst>
          </a:blip>
          <a:stretch>
            <a:fillRect/>
          </a:stretch>
        </p:blipFill>
        <p:spPr>
          <a:xfrm>
            <a:off x="2672102" y="5766247"/>
            <a:ext cx="881801" cy="469207"/>
          </a:xfrm>
          <a:prstGeom prst="rect">
            <a:avLst/>
          </a:prstGeom>
        </p:spPr>
      </p:pic>
      <p:pic>
        <p:nvPicPr>
          <p:cNvPr id="228" name="Imagem 227">
            <a:extLst>
              <a:ext uri="{FF2B5EF4-FFF2-40B4-BE49-F238E27FC236}">
                <a16:creationId xmlns:a16="http://schemas.microsoft.com/office/drawing/2014/main" id="{88E88551-CEC8-4DA7-853F-92960EAF0C2D}"/>
              </a:ext>
            </a:extLst>
          </p:cNvPr>
          <p:cNvPicPr/>
          <p:nvPr/>
        </p:nvPicPr>
        <p:blipFill>
          <a:blip r:embed="rId3">
            <a:extLst>
              <a:ext uri="{28A0092B-C50C-407E-A947-70E740481C1C}">
                <a14:useLocalDpi xmlns:a14="http://schemas.microsoft.com/office/drawing/2010/main" val="0"/>
              </a:ext>
            </a:extLst>
          </a:blip>
          <a:stretch>
            <a:fillRect/>
          </a:stretch>
        </p:blipFill>
        <p:spPr>
          <a:xfrm>
            <a:off x="3631782" y="5765439"/>
            <a:ext cx="882167" cy="469207"/>
          </a:xfrm>
          <a:prstGeom prst="rect">
            <a:avLst/>
          </a:prstGeom>
        </p:spPr>
      </p:pic>
      <p:pic>
        <p:nvPicPr>
          <p:cNvPr id="229" name="Imagem 228">
            <a:extLst>
              <a:ext uri="{FF2B5EF4-FFF2-40B4-BE49-F238E27FC236}">
                <a16:creationId xmlns:a16="http://schemas.microsoft.com/office/drawing/2014/main" id="{6B6B7C49-2C13-4D4A-B659-6494B873371B}"/>
              </a:ext>
            </a:extLst>
          </p:cNvPr>
          <p:cNvPicPr/>
          <p:nvPr/>
        </p:nvPicPr>
        <p:blipFill>
          <a:blip r:embed="rId3">
            <a:extLst>
              <a:ext uri="{28A0092B-C50C-407E-A947-70E740481C1C}">
                <a14:useLocalDpi xmlns:a14="http://schemas.microsoft.com/office/drawing/2010/main" val="0"/>
              </a:ext>
            </a:extLst>
          </a:blip>
          <a:stretch>
            <a:fillRect/>
          </a:stretch>
        </p:blipFill>
        <p:spPr>
          <a:xfrm>
            <a:off x="4553301" y="5765439"/>
            <a:ext cx="810862" cy="469207"/>
          </a:xfrm>
          <a:prstGeom prst="rect">
            <a:avLst/>
          </a:prstGeom>
        </p:spPr>
      </p:pic>
      <p:pic>
        <p:nvPicPr>
          <p:cNvPr id="230" name="Imagem 229">
            <a:extLst>
              <a:ext uri="{FF2B5EF4-FFF2-40B4-BE49-F238E27FC236}">
                <a16:creationId xmlns:a16="http://schemas.microsoft.com/office/drawing/2014/main" id="{40261F8C-3006-47C5-AA17-30AD3A1545C5}"/>
              </a:ext>
            </a:extLst>
          </p:cNvPr>
          <p:cNvPicPr/>
          <p:nvPr/>
        </p:nvPicPr>
        <p:blipFill>
          <a:blip r:embed="rId3">
            <a:extLst>
              <a:ext uri="{28A0092B-C50C-407E-A947-70E740481C1C}">
                <a14:useLocalDpi xmlns:a14="http://schemas.microsoft.com/office/drawing/2010/main" val="0"/>
              </a:ext>
            </a:extLst>
          </a:blip>
          <a:stretch>
            <a:fillRect/>
          </a:stretch>
        </p:blipFill>
        <p:spPr>
          <a:xfrm>
            <a:off x="5147" y="6206579"/>
            <a:ext cx="871830" cy="469240"/>
          </a:xfrm>
          <a:prstGeom prst="rect">
            <a:avLst/>
          </a:prstGeom>
        </p:spPr>
      </p:pic>
      <p:pic>
        <p:nvPicPr>
          <p:cNvPr id="231" name="Imagem 230">
            <a:extLst>
              <a:ext uri="{FF2B5EF4-FFF2-40B4-BE49-F238E27FC236}">
                <a16:creationId xmlns:a16="http://schemas.microsoft.com/office/drawing/2014/main" id="{70BF73BA-AC10-44DA-AAEB-09084AF1B67C}"/>
              </a:ext>
            </a:extLst>
          </p:cNvPr>
          <p:cNvPicPr/>
          <p:nvPr/>
        </p:nvPicPr>
        <p:blipFill>
          <a:blip r:embed="rId3">
            <a:extLst>
              <a:ext uri="{28A0092B-C50C-407E-A947-70E740481C1C}">
                <a14:useLocalDpi xmlns:a14="http://schemas.microsoft.com/office/drawing/2010/main" val="0"/>
              </a:ext>
            </a:extLst>
          </a:blip>
          <a:stretch>
            <a:fillRect/>
          </a:stretch>
        </p:blipFill>
        <p:spPr>
          <a:xfrm>
            <a:off x="852803" y="6208814"/>
            <a:ext cx="845783" cy="469240"/>
          </a:xfrm>
          <a:prstGeom prst="rect">
            <a:avLst/>
          </a:prstGeom>
        </p:spPr>
      </p:pic>
      <p:pic>
        <p:nvPicPr>
          <p:cNvPr id="232" name="Imagem 231">
            <a:extLst>
              <a:ext uri="{FF2B5EF4-FFF2-40B4-BE49-F238E27FC236}">
                <a16:creationId xmlns:a16="http://schemas.microsoft.com/office/drawing/2014/main" id="{A4CFD51B-3E52-4C79-A4AB-C40630C57DA5}"/>
              </a:ext>
            </a:extLst>
          </p:cNvPr>
          <p:cNvPicPr/>
          <p:nvPr/>
        </p:nvPicPr>
        <p:blipFill>
          <a:blip r:embed="rId3">
            <a:extLst>
              <a:ext uri="{28A0092B-C50C-407E-A947-70E740481C1C}">
                <a14:useLocalDpi xmlns:a14="http://schemas.microsoft.com/office/drawing/2010/main" val="0"/>
              </a:ext>
            </a:extLst>
          </a:blip>
          <a:stretch>
            <a:fillRect/>
          </a:stretch>
        </p:blipFill>
        <p:spPr>
          <a:xfrm>
            <a:off x="1753587" y="6206018"/>
            <a:ext cx="845783" cy="469240"/>
          </a:xfrm>
          <a:prstGeom prst="rect">
            <a:avLst/>
          </a:prstGeom>
        </p:spPr>
      </p:pic>
      <p:pic>
        <p:nvPicPr>
          <p:cNvPr id="233" name="Imagem 232">
            <a:extLst>
              <a:ext uri="{FF2B5EF4-FFF2-40B4-BE49-F238E27FC236}">
                <a16:creationId xmlns:a16="http://schemas.microsoft.com/office/drawing/2014/main" id="{52B89B98-070B-42AA-8B24-6B1CDE8AC26A}"/>
              </a:ext>
            </a:extLst>
          </p:cNvPr>
          <p:cNvPicPr/>
          <p:nvPr/>
        </p:nvPicPr>
        <p:blipFill>
          <a:blip r:embed="rId3">
            <a:extLst>
              <a:ext uri="{28A0092B-C50C-407E-A947-70E740481C1C}">
                <a14:useLocalDpi xmlns:a14="http://schemas.microsoft.com/office/drawing/2010/main" val="0"/>
              </a:ext>
            </a:extLst>
          </a:blip>
          <a:stretch>
            <a:fillRect/>
          </a:stretch>
        </p:blipFill>
        <p:spPr>
          <a:xfrm>
            <a:off x="2677249" y="6217113"/>
            <a:ext cx="881801" cy="469207"/>
          </a:xfrm>
          <a:prstGeom prst="rect">
            <a:avLst/>
          </a:prstGeom>
        </p:spPr>
      </p:pic>
      <p:pic>
        <p:nvPicPr>
          <p:cNvPr id="234" name="Imagem 233">
            <a:extLst>
              <a:ext uri="{FF2B5EF4-FFF2-40B4-BE49-F238E27FC236}">
                <a16:creationId xmlns:a16="http://schemas.microsoft.com/office/drawing/2014/main" id="{F12EFDEC-1331-4D7E-BF5F-96D6632E5C8F}"/>
              </a:ext>
            </a:extLst>
          </p:cNvPr>
          <p:cNvPicPr/>
          <p:nvPr/>
        </p:nvPicPr>
        <p:blipFill>
          <a:blip r:embed="rId3">
            <a:extLst>
              <a:ext uri="{28A0092B-C50C-407E-A947-70E740481C1C}">
                <a14:useLocalDpi xmlns:a14="http://schemas.microsoft.com/office/drawing/2010/main" val="0"/>
              </a:ext>
            </a:extLst>
          </a:blip>
          <a:stretch>
            <a:fillRect/>
          </a:stretch>
        </p:blipFill>
        <p:spPr>
          <a:xfrm>
            <a:off x="3636929" y="6216305"/>
            <a:ext cx="882167" cy="469207"/>
          </a:xfrm>
          <a:prstGeom prst="rect">
            <a:avLst/>
          </a:prstGeom>
        </p:spPr>
      </p:pic>
      <p:pic>
        <p:nvPicPr>
          <p:cNvPr id="235" name="Imagem 234">
            <a:extLst>
              <a:ext uri="{FF2B5EF4-FFF2-40B4-BE49-F238E27FC236}">
                <a16:creationId xmlns:a16="http://schemas.microsoft.com/office/drawing/2014/main" id="{CF5F39A1-7083-4B0E-A2AC-BFBDA9F82B59}"/>
              </a:ext>
            </a:extLst>
          </p:cNvPr>
          <p:cNvPicPr/>
          <p:nvPr/>
        </p:nvPicPr>
        <p:blipFill>
          <a:blip r:embed="rId3">
            <a:extLst>
              <a:ext uri="{28A0092B-C50C-407E-A947-70E740481C1C}">
                <a14:useLocalDpi xmlns:a14="http://schemas.microsoft.com/office/drawing/2010/main" val="0"/>
              </a:ext>
            </a:extLst>
          </a:blip>
          <a:stretch>
            <a:fillRect/>
          </a:stretch>
        </p:blipFill>
        <p:spPr>
          <a:xfrm>
            <a:off x="4558449" y="6216305"/>
            <a:ext cx="810862" cy="469207"/>
          </a:xfrm>
          <a:prstGeom prst="rect">
            <a:avLst/>
          </a:prstGeom>
        </p:spPr>
      </p:pic>
      <p:pic>
        <p:nvPicPr>
          <p:cNvPr id="236" name="Imagem 235">
            <a:extLst>
              <a:ext uri="{FF2B5EF4-FFF2-40B4-BE49-F238E27FC236}">
                <a16:creationId xmlns:a16="http://schemas.microsoft.com/office/drawing/2014/main" id="{CB4BA489-05E5-4635-9C31-FE10A5C69939}"/>
              </a:ext>
            </a:extLst>
          </p:cNvPr>
          <p:cNvPicPr/>
          <p:nvPr/>
        </p:nvPicPr>
        <p:blipFill>
          <a:blip r:embed="rId3">
            <a:extLst>
              <a:ext uri="{28A0092B-C50C-407E-A947-70E740481C1C}">
                <a14:useLocalDpi xmlns:a14="http://schemas.microsoft.com/office/drawing/2010/main" val="0"/>
              </a:ext>
            </a:extLst>
          </a:blip>
          <a:stretch>
            <a:fillRect/>
          </a:stretch>
        </p:blipFill>
        <p:spPr>
          <a:xfrm>
            <a:off x="5147" y="6686072"/>
            <a:ext cx="871830" cy="469240"/>
          </a:xfrm>
          <a:prstGeom prst="rect">
            <a:avLst/>
          </a:prstGeom>
        </p:spPr>
      </p:pic>
      <p:pic>
        <p:nvPicPr>
          <p:cNvPr id="237" name="Imagem 236">
            <a:extLst>
              <a:ext uri="{FF2B5EF4-FFF2-40B4-BE49-F238E27FC236}">
                <a16:creationId xmlns:a16="http://schemas.microsoft.com/office/drawing/2014/main" id="{B4188981-F103-4D24-86D9-74BF5EA874A8}"/>
              </a:ext>
            </a:extLst>
          </p:cNvPr>
          <p:cNvPicPr/>
          <p:nvPr/>
        </p:nvPicPr>
        <p:blipFill>
          <a:blip r:embed="rId3">
            <a:extLst>
              <a:ext uri="{28A0092B-C50C-407E-A947-70E740481C1C}">
                <a14:useLocalDpi xmlns:a14="http://schemas.microsoft.com/office/drawing/2010/main" val="0"/>
              </a:ext>
            </a:extLst>
          </a:blip>
          <a:stretch>
            <a:fillRect/>
          </a:stretch>
        </p:blipFill>
        <p:spPr>
          <a:xfrm>
            <a:off x="852803" y="6688307"/>
            <a:ext cx="845783" cy="469240"/>
          </a:xfrm>
          <a:prstGeom prst="rect">
            <a:avLst/>
          </a:prstGeom>
        </p:spPr>
      </p:pic>
      <p:pic>
        <p:nvPicPr>
          <p:cNvPr id="238" name="Imagem 237">
            <a:extLst>
              <a:ext uri="{FF2B5EF4-FFF2-40B4-BE49-F238E27FC236}">
                <a16:creationId xmlns:a16="http://schemas.microsoft.com/office/drawing/2014/main" id="{91A5274F-A194-4336-A50D-AE42EDA21864}"/>
              </a:ext>
            </a:extLst>
          </p:cNvPr>
          <p:cNvPicPr/>
          <p:nvPr/>
        </p:nvPicPr>
        <p:blipFill>
          <a:blip r:embed="rId3">
            <a:extLst>
              <a:ext uri="{28A0092B-C50C-407E-A947-70E740481C1C}">
                <a14:useLocalDpi xmlns:a14="http://schemas.microsoft.com/office/drawing/2010/main" val="0"/>
              </a:ext>
            </a:extLst>
          </a:blip>
          <a:stretch>
            <a:fillRect/>
          </a:stretch>
        </p:blipFill>
        <p:spPr>
          <a:xfrm>
            <a:off x="1753587" y="6685511"/>
            <a:ext cx="845783" cy="469240"/>
          </a:xfrm>
          <a:prstGeom prst="rect">
            <a:avLst/>
          </a:prstGeom>
        </p:spPr>
      </p:pic>
      <p:pic>
        <p:nvPicPr>
          <p:cNvPr id="239" name="Imagem 238">
            <a:extLst>
              <a:ext uri="{FF2B5EF4-FFF2-40B4-BE49-F238E27FC236}">
                <a16:creationId xmlns:a16="http://schemas.microsoft.com/office/drawing/2014/main" id="{D3A71860-6204-4F04-8707-32DA9C2C4FCA}"/>
              </a:ext>
            </a:extLst>
          </p:cNvPr>
          <p:cNvPicPr/>
          <p:nvPr/>
        </p:nvPicPr>
        <p:blipFill>
          <a:blip r:embed="rId3">
            <a:extLst>
              <a:ext uri="{28A0092B-C50C-407E-A947-70E740481C1C}">
                <a14:useLocalDpi xmlns:a14="http://schemas.microsoft.com/office/drawing/2010/main" val="0"/>
              </a:ext>
            </a:extLst>
          </a:blip>
          <a:stretch>
            <a:fillRect/>
          </a:stretch>
        </p:blipFill>
        <p:spPr>
          <a:xfrm>
            <a:off x="2677249" y="6696606"/>
            <a:ext cx="881801" cy="469207"/>
          </a:xfrm>
          <a:prstGeom prst="rect">
            <a:avLst/>
          </a:prstGeom>
        </p:spPr>
      </p:pic>
      <p:pic>
        <p:nvPicPr>
          <p:cNvPr id="240" name="Imagem 239">
            <a:extLst>
              <a:ext uri="{FF2B5EF4-FFF2-40B4-BE49-F238E27FC236}">
                <a16:creationId xmlns:a16="http://schemas.microsoft.com/office/drawing/2014/main" id="{DC9C2185-346A-40CF-B8F4-15542CD2ADE4}"/>
              </a:ext>
            </a:extLst>
          </p:cNvPr>
          <p:cNvPicPr/>
          <p:nvPr/>
        </p:nvPicPr>
        <p:blipFill>
          <a:blip r:embed="rId3">
            <a:extLst>
              <a:ext uri="{28A0092B-C50C-407E-A947-70E740481C1C}">
                <a14:useLocalDpi xmlns:a14="http://schemas.microsoft.com/office/drawing/2010/main" val="0"/>
              </a:ext>
            </a:extLst>
          </a:blip>
          <a:stretch>
            <a:fillRect/>
          </a:stretch>
        </p:blipFill>
        <p:spPr>
          <a:xfrm>
            <a:off x="3636929" y="6695798"/>
            <a:ext cx="882167" cy="469207"/>
          </a:xfrm>
          <a:prstGeom prst="rect">
            <a:avLst/>
          </a:prstGeom>
        </p:spPr>
      </p:pic>
      <p:pic>
        <p:nvPicPr>
          <p:cNvPr id="241" name="Imagem 240">
            <a:extLst>
              <a:ext uri="{FF2B5EF4-FFF2-40B4-BE49-F238E27FC236}">
                <a16:creationId xmlns:a16="http://schemas.microsoft.com/office/drawing/2014/main" id="{633DAF51-269A-47D7-8CF9-42ADEEF2E098}"/>
              </a:ext>
            </a:extLst>
          </p:cNvPr>
          <p:cNvPicPr/>
          <p:nvPr/>
        </p:nvPicPr>
        <p:blipFill>
          <a:blip r:embed="rId3">
            <a:extLst>
              <a:ext uri="{28A0092B-C50C-407E-A947-70E740481C1C}">
                <a14:useLocalDpi xmlns:a14="http://schemas.microsoft.com/office/drawing/2010/main" val="0"/>
              </a:ext>
            </a:extLst>
          </a:blip>
          <a:stretch>
            <a:fillRect/>
          </a:stretch>
        </p:blipFill>
        <p:spPr>
          <a:xfrm>
            <a:off x="4558449" y="6695798"/>
            <a:ext cx="810862" cy="469207"/>
          </a:xfrm>
          <a:prstGeom prst="rect">
            <a:avLst/>
          </a:prstGeom>
        </p:spPr>
      </p:pic>
      <p:sp>
        <p:nvSpPr>
          <p:cNvPr id="14" name="CaixaDeTexto 13">
            <a:extLst>
              <a:ext uri="{FF2B5EF4-FFF2-40B4-BE49-F238E27FC236}">
                <a16:creationId xmlns:a16="http://schemas.microsoft.com/office/drawing/2014/main" id="{A13B8710-637F-49AF-8E6C-B8CD5541761E}"/>
              </a:ext>
            </a:extLst>
          </p:cNvPr>
          <p:cNvSpPr txBox="1"/>
          <p:nvPr/>
        </p:nvSpPr>
        <p:spPr>
          <a:xfrm>
            <a:off x="553117" y="5315124"/>
            <a:ext cx="4257929" cy="1402372"/>
          </a:xfrm>
          <a:prstGeom prst="rect">
            <a:avLst/>
          </a:prstGeom>
          <a:solidFill>
            <a:schemeClr val="bg1"/>
          </a:solidFill>
          <a:ln>
            <a:noFill/>
          </a:ln>
        </p:spPr>
        <p:txBody>
          <a:bodyPr wrap="square" rtlCol="0">
            <a:spAutoFit/>
          </a:bodyPr>
          <a:lstStyle/>
          <a:p>
            <a:pPr algn="ctr">
              <a:defRPr/>
            </a:pPr>
            <a:r>
              <a:rPr lang="pt-BR" sz="1703" dirty="0">
                <a:ln>
                  <a:solidFill>
                    <a:srgbClr val="002060"/>
                  </a:solidFill>
                </a:ln>
                <a:solidFill>
                  <a:srgbClr val="002060"/>
                </a:solidFill>
                <a:latin typeface="Arial Black" panose="020B0A04020102020204" pitchFamily="34" charset="0"/>
              </a:rPr>
              <a:t>Só Aço Industrial Ltda</a:t>
            </a:r>
          </a:p>
          <a:p>
            <a:pPr algn="ctr">
              <a:defRPr/>
            </a:pPr>
            <a:r>
              <a:rPr lang="pt-BR" sz="1135" dirty="0">
                <a:ln>
                  <a:solidFill>
                    <a:srgbClr val="002060"/>
                  </a:solidFill>
                </a:ln>
                <a:solidFill>
                  <a:srgbClr val="002060"/>
                </a:solidFill>
                <a:latin typeface="Calibri"/>
              </a:rPr>
              <a:t>Av. Coletora Secundária, nº 9519 Bairro Pedra Miúda</a:t>
            </a:r>
          </a:p>
          <a:p>
            <a:pPr algn="ctr">
              <a:defRPr/>
            </a:pPr>
            <a:r>
              <a:rPr lang="pt-BR" sz="1135" dirty="0">
                <a:ln>
                  <a:solidFill>
                    <a:srgbClr val="002060"/>
                  </a:solidFill>
                </a:ln>
                <a:solidFill>
                  <a:srgbClr val="002060"/>
                </a:solidFill>
                <a:latin typeface="Calibri"/>
              </a:rPr>
              <a:t>Telefones: (86) 3219 1200/1300</a:t>
            </a:r>
          </a:p>
          <a:p>
            <a:pPr algn="ctr">
              <a:defRPr/>
            </a:pPr>
            <a:r>
              <a:rPr lang="pt-BR" sz="1135" dirty="0">
                <a:ln>
                  <a:solidFill>
                    <a:srgbClr val="002060"/>
                  </a:solidFill>
                </a:ln>
                <a:solidFill>
                  <a:srgbClr val="002060"/>
                </a:solidFill>
                <a:latin typeface="Calibri"/>
              </a:rPr>
              <a:t>Teresina – Piauí</a:t>
            </a:r>
          </a:p>
          <a:p>
            <a:pPr algn="ctr">
              <a:defRPr/>
            </a:pPr>
            <a:r>
              <a:rPr lang="pt-BR" sz="1135" dirty="0">
                <a:ln>
                  <a:solidFill>
                    <a:srgbClr val="002060"/>
                  </a:solidFill>
                </a:ln>
                <a:solidFill>
                  <a:srgbClr val="002060"/>
                </a:solidFill>
                <a:latin typeface="Calibri"/>
              </a:rPr>
              <a:t>Site: </a:t>
            </a:r>
            <a:r>
              <a:rPr lang="pt-BR" sz="1135" dirty="0">
                <a:ln>
                  <a:solidFill>
                    <a:srgbClr val="002060"/>
                  </a:solidFill>
                </a:ln>
                <a:solidFill>
                  <a:srgbClr val="002060"/>
                </a:solidFill>
                <a:latin typeface="Calibri"/>
                <a:hlinkClick r:id="rId4"/>
              </a:rPr>
              <a:t>www.soacoindustrial.com.br</a:t>
            </a:r>
            <a:endParaRPr lang="pt-BR" sz="1135" dirty="0">
              <a:ln>
                <a:solidFill>
                  <a:srgbClr val="002060"/>
                </a:solidFill>
              </a:ln>
              <a:solidFill>
                <a:srgbClr val="002060"/>
              </a:solidFill>
              <a:latin typeface="Calibri"/>
            </a:endParaRPr>
          </a:p>
          <a:p>
            <a:pPr algn="ctr">
              <a:defRPr/>
            </a:pPr>
            <a:r>
              <a:rPr lang="pt-BR" sz="1135" dirty="0">
                <a:ln>
                  <a:solidFill>
                    <a:srgbClr val="002060"/>
                  </a:solidFill>
                </a:ln>
                <a:solidFill>
                  <a:srgbClr val="002060"/>
                </a:solidFill>
                <a:latin typeface="Calibri"/>
              </a:rPr>
              <a:t>Ouvidoria/SAC: </a:t>
            </a:r>
            <a:r>
              <a:rPr lang="pt-BR" sz="1135" dirty="0">
                <a:ln>
                  <a:solidFill>
                    <a:srgbClr val="002060"/>
                  </a:solidFill>
                </a:ln>
                <a:solidFill>
                  <a:srgbClr val="002060"/>
                </a:solidFill>
                <a:latin typeface="Calibri"/>
                <a:hlinkClick r:id="rId5"/>
              </a:rPr>
              <a:t>sac@soacoindustrial.com.br</a:t>
            </a:r>
            <a:endParaRPr lang="pt-BR" sz="852" dirty="0">
              <a:ln>
                <a:solidFill>
                  <a:srgbClr val="002060"/>
                </a:solidFill>
              </a:ln>
              <a:solidFill>
                <a:srgbClr val="FF0000"/>
              </a:solidFill>
              <a:latin typeface="Calibri"/>
            </a:endParaRPr>
          </a:p>
          <a:p>
            <a:pPr algn="ctr">
              <a:defRPr/>
            </a:pPr>
            <a:r>
              <a:rPr lang="pt-BR" sz="852">
                <a:ln>
                  <a:solidFill>
                    <a:srgbClr val="002060"/>
                  </a:solidFill>
                </a:ln>
                <a:solidFill>
                  <a:srgbClr val="FF0000"/>
                </a:solidFill>
                <a:latin typeface="Calibri"/>
              </a:rPr>
              <a:t>MP-SA-0016 </a:t>
            </a:r>
            <a:r>
              <a:rPr lang="pt-BR" sz="852" dirty="0">
                <a:ln>
                  <a:solidFill>
                    <a:srgbClr val="002060"/>
                  </a:solidFill>
                </a:ln>
                <a:solidFill>
                  <a:srgbClr val="FF0000"/>
                </a:solidFill>
                <a:latin typeface="Calibri"/>
              </a:rPr>
              <a:t>Rev.0</a:t>
            </a:r>
            <a:endParaRPr lang="pt-BR" sz="1135" dirty="0">
              <a:ln>
                <a:solidFill>
                  <a:srgbClr val="002060"/>
                </a:solidFill>
              </a:ln>
              <a:solidFill>
                <a:srgbClr val="002060"/>
              </a:solidFill>
              <a:latin typeface="Calibri"/>
            </a:endParaRPr>
          </a:p>
        </p:txBody>
      </p:sp>
      <p:cxnSp>
        <p:nvCxnSpPr>
          <p:cNvPr id="90" name="Conector reto 89">
            <a:extLst>
              <a:ext uri="{FF2B5EF4-FFF2-40B4-BE49-F238E27FC236}">
                <a16:creationId xmlns:a16="http://schemas.microsoft.com/office/drawing/2014/main" id="{6C371FB0-A547-4BD9-958D-0A5B83FEDF11}"/>
              </a:ext>
            </a:extLst>
          </p:cNvPr>
          <p:cNvCxnSpPr/>
          <p:nvPr/>
        </p:nvCxnSpPr>
        <p:spPr>
          <a:xfrm>
            <a:off x="36081" y="479750"/>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1" name="Conector reto 90">
            <a:extLst>
              <a:ext uri="{FF2B5EF4-FFF2-40B4-BE49-F238E27FC236}">
                <a16:creationId xmlns:a16="http://schemas.microsoft.com/office/drawing/2014/main" id="{A96DFF07-23F0-4223-AFC2-2005CE7600C0}"/>
              </a:ext>
            </a:extLst>
          </p:cNvPr>
          <p:cNvCxnSpPr/>
          <p:nvPr/>
        </p:nvCxnSpPr>
        <p:spPr>
          <a:xfrm>
            <a:off x="36081" y="149444"/>
            <a:ext cx="5292000"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92" name="CaixaDeTexto 91">
            <a:extLst>
              <a:ext uri="{FF2B5EF4-FFF2-40B4-BE49-F238E27FC236}">
                <a16:creationId xmlns:a16="http://schemas.microsoft.com/office/drawing/2014/main" id="{5A0F502B-3F2A-4579-9FC3-2DF612CA3E70}"/>
              </a:ext>
            </a:extLst>
          </p:cNvPr>
          <p:cNvSpPr txBox="1"/>
          <p:nvPr/>
        </p:nvSpPr>
        <p:spPr>
          <a:xfrm>
            <a:off x="162081" y="180231"/>
            <a:ext cx="5040000"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1400" noProof="0" dirty="0">
                <a:solidFill>
                  <a:prstClr val="black"/>
                </a:solidFill>
                <a:latin typeface="Arial Black" panose="020B0A04020102020204" pitchFamily="34" charset="0"/>
              </a:rPr>
              <a:t>FORNO PRP</a:t>
            </a:r>
            <a:endParaRPr kumimoji="0" lang="pt-BR" sz="1400" b="0" i="0" u="none" strike="noStrike" kern="1200" cap="none" spc="0" normalizeH="0" baseline="0" noProof="0" dirty="0">
              <a:ln>
                <a:noFill/>
              </a:ln>
              <a:solidFill>
                <a:prstClr val="black"/>
              </a:solidFill>
              <a:effectLst/>
              <a:uLnTx/>
              <a:uFillTx/>
              <a:latin typeface="Arial Black" panose="020B0A04020102020204" pitchFamily="34" charset="0"/>
              <a:ea typeface="+mn-ea"/>
              <a:cs typeface="+mn-cs"/>
            </a:endParaRPr>
          </a:p>
        </p:txBody>
      </p:sp>
      <p:pic>
        <p:nvPicPr>
          <p:cNvPr id="96" name="Imagem 95">
            <a:extLst>
              <a:ext uri="{FF2B5EF4-FFF2-40B4-BE49-F238E27FC236}">
                <a16:creationId xmlns:a16="http://schemas.microsoft.com/office/drawing/2014/main" id="{1E33FFC9-47FA-47F7-9055-35D2DE0A40FA}"/>
              </a:ext>
            </a:extLst>
          </p:cNvPr>
          <p:cNvPicPr/>
          <p:nvPr/>
        </p:nvPicPr>
        <p:blipFill>
          <a:blip r:embed="rId3">
            <a:extLst>
              <a:ext uri="{28A0092B-C50C-407E-A947-70E740481C1C}">
                <a14:useLocalDpi xmlns:a14="http://schemas.microsoft.com/office/drawing/2010/main" val="0"/>
              </a:ext>
            </a:extLst>
          </a:blip>
          <a:stretch>
            <a:fillRect/>
          </a:stretch>
        </p:blipFill>
        <p:spPr>
          <a:xfrm>
            <a:off x="57466" y="7138719"/>
            <a:ext cx="593151" cy="322819"/>
          </a:xfrm>
          <a:prstGeom prst="rect">
            <a:avLst/>
          </a:prstGeom>
        </p:spPr>
      </p:pic>
      <p:pic>
        <p:nvPicPr>
          <p:cNvPr id="97" name="Imagem 96">
            <a:extLst>
              <a:ext uri="{FF2B5EF4-FFF2-40B4-BE49-F238E27FC236}">
                <a16:creationId xmlns:a16="http://schemas.microsoft.com/office/drawing/2014/main" id="{FF5AFD06-BA70-4F85-9BA7-F1F8C9B296B5}"/>
              </a:ext>
            </a:extLst>
          </p:cNvPr>
          <p:cNvPicPr/>
          <p:nvPr/>
        </p:nvPicPr>
        <p:blipFill>
          <a:blip r:embed="rId3">
            <a:extLst>
              <a:ext uri="{28A0092B-C50C-407E-A947-70E740481C1C}">
                <a14:useLocalDpi xmlns:a14="http://schemas.microsoft.com/office/drawing/2010/main" val="0"/>
              </a:ext>
            </a:extLst>
          </a:blip>
          <a:stretch>
            <a:fillRect/>
          </a:stretch>
        </p:blipFill>
        <p:spPr>
          <a:xfrm>
            <a:off x="4775377" y="7142147"/>
            <a:ext cx="593151" cy="322819"/>
          </a:xfrm>
          <a:prstGeom prst="rect">
            <a:avLst/>
          </a:prstGeom>
        </p:spPr>
      </p:pic>
      <p:pic>
        <p:nvPicPr>
          <p:cNvPr id="98" name="Imagem 97">
            <a:extLst>
              <a:ext uri="{FF2B5EF4-FFF2-40B4-BE49-F238E27FC236}">
                <a16:creationId xmlns:a16="http://schemas.microsoft.com/office/drawing/2014/main" id="{C461E9F1-80E1-4242-AFA6-501922FE28D9}"/>
              </a:ext>
            </a:extLst>
          </p:cNvPr>
          <p:cNvPicPr/>
          <p:nvPr/>
        </p:nvPicPr>
        <p:blipFill>
          <a:blip r:embed="rId3">
            <a:extLst>
              <a:ext uri="{28A0092B-C50C-407E-A947-70E740481C1C}">
                <a14:useLocalDpi xmlns:a14="http://schemas.microsoft.com/office/drawing/2010/main" val="0"/>
              </a:ext>
            </a:extLst>
          </a:blip>
          <a:stretch>
            <a:fillRect/>
          </a:stretch>
        </p:blipFill>
        <p:spPr>
          <a:xfrm>
            <a:off x="640094" y="7143846"/>
            <a:ext cx="593151" cy="322819"/>
          </a:xfrm>
          <a:prstGeom prst="rect">
            <a:avLst/>
          </a:prstGeom>
        </p:spPr>
      </p:pic>
      <p:pic>
        <p:nvPicPr>
          <p:cNvPr id="99" name="Imagem 98">
            <a:extLst>
              <a:ext uri="{FF2B5EF4-FFF2-40B4-BE49-F238E27FC236}">
                <a16:creationId xmlns:a16="http://schemas.microsoft.com/office/drawing/2014/main" id="{12B4E3A0-2D7D-4692-8D14-1C7415CF2A18}"/>
              </a:ext>
            </a:extLst>
          </p:cNvPr>
          <p:cNvPicPr/>
          <p:nvPr/>
        </p:nvPicPr>
        <p:blipFill>
          <a:blip r:embed="rId3">
            <a:extLst>
              <a:ext uri="{28A0092B-C50C-407E-A947-70E740481C1C}">
                <a14:useLocalDpi xmlns:a14="http://schemas.microsoft.com/office/drawing/2010/main" val="0"/>
              </a:ext>
            </a:extLst>
          </a:blip>
          <a:stretch>
            <a:fillRect/>
          </a:stretch>
        </p:blipFill>
        <p:spPr>
          <a:xfrm>
            <a:off x="1233245" y="7143190"/>
            <a:ext cx="593151" cy="322818"/>
          </a:xfrm>
          <a:prstGeom prst="rect">
            <a:avLst/>
          </a:prstGeom>
        </p:spPr>
      </p:pic>
      <p:pic>
        <p:nvPicPr>
          <p:cNvPr id="100" name="Imagem 99">
            <a:extLst>
              <a:ext uri="{FF2B5EF4-FFF2-40B4-BE49-F238E27FC236}">
                <a16:creationId xmlns:a16="http://schemas.microsoft.com/office/drawing/2014/main" id="{A59206C1-4982-4DC9-931E-397CA6A6CD20}"/>
              </a:ext>
            </a:extLst>
          </p:cNvPr>
          <p:cNvPicPr/>
          <p:nvPr/>
        </p:nvPicPr>
        <p:blipFill>
          <a:blip r:embed="rId3">
            <a:extLst>
              <a:ext uri="{28A0092B-C50C-407E-A947-70E740481C1C}">
                <a14:useLocalDpi xmlns:a14="http://schemas.microsoft.com/office/drawing/2010/main" val="0"/>
              </a:ext>
            </a:extLst>
          </a:blip>
          <a:stretch>
            <a:fillRect/>
          </a:stretch>
        </p:blipFill>
        <p:spPr>
          <a:xfrm>
            <a:off x="1826396" y="7144913"/>
            <a:ext cx="593151" cy="322819"/>
          </a:xfrm>
          <a:prstGeom prst="rect">
            <a:avLst/>
          </a:prstGeom>
        </p:spPr>
      </p:pic>
      <p:pic>
        <p:nvPicPr>
          <p:cNvPr id="101" name="Imagem 100">
            <a:extLst>
              <a:ext uri="{FF2B5EF4-FFF2-40B4-BE49-F238E27FC236}">
                <a16:creationId xmlns:a16="http://schemas.microsoft.com/office/drawing/2014/main" id="{B0EB46F3-D17B-4D58-B206-69A3B2A504E5}"/>
              </a:ext>
            </a:extLst>
          </p:cNvPr>
          <p:cNvPicPr/>
          <p:nvPr/>
        </p:nvPicPr>
        <p:blipFill>
          <a:blip r:embed="rId3">
            <a:extLst>
              <a:ext uri="{28A0092B-C50C-407E-A947-70E740481C1C}">
                <a14:useLocalDpi xmlns:a14="http://schemas.microsoft.com/office/drawing/2010/main" val="0"/>
              </a:ext>
            </a:extLst>
          </a:blip>
          <a:stretch>
            <a:fillRect/>
          </a:stretch>
        </p:blipFill>
        <p:spPr>
          <a:xfrm>
            <a:off x="2419547" y="7144913"/>
            <a:ext cx="593151" cy="322819"/>
          </a:xfrm>
          <a:prstGeom prst="rect">
            <a:avLst/>
          </a:prstGeom>
        </p:spPr>
      </p:pic>
      <p:pic>
        <p:nvPicPr>
          <p:cNvPr id="102" name="Imagem 101">
            <a:extLst>
              <a:ext uri="{FF2B5EF4-FFF2-40B4-BE49-F238E27FC236}">
                <a16:creationId xmlns:a16="http://schemas.microsoft.com/office/drawing/2014/main" id="{ECEF04AF-2CD9-4E76-ABBA-83790100D61C}"/>
              </a:ext>
            </a:extLst>
          </p:cNvPr>
          <p:cNvPicPr/>
          <p:nvPr/>
        </p:nvPicPr>
        <p:blipFill>
          <a:blip r:embed="rId3">
            <a:extLst>
              <a:ext uri="{28A0092B-C50C-407E-A947-70E740481C1C}">
                <a14:useLocalDpi xmlns:a14="http://schemas.microsoft.com/office/drawing/2010/main" val="0"/>
              </a:ext>
            </a:extLst>
          </a:blip>
          <a:stretch>
            <a:fillRect/>
          </a:stretch>
        </p:blipFill>
        <p:spPr>
          <a:xfrm>
            <a:off x="3012698" y="7144537"/>
            <a:ext cx="593151" cy="322819"/>
          </a:xfrm>
          <a:prstGeom prst="rect">
            <a:avLst/>
          </a:prstGeom>
        </p:spPr>
      </p:pic>
      <p:pic>
        <p:nvPicPr>
          <p:cNvPr id="103" name="Imagem 102">
            <a:extLst>
              <a:ext uri="{FF2B5EF4-FFF2-40B4-BE49-F238E27FC236}">
                <a16:creationId xmlns:a16="http://schemas.microsoft.com/office/drawing/2014/main" id="{B7DAD468-19C0-4E78-9B98-53DA897FF075}"/>
              </a:ext>
            </a:extLst>
          </p:cNvPr>
          <p:cNvPicPr/>
          <p:nvPr/>
        </p:nvPicPr>
        <p:blipFill>
          <a:blip r:embed="rId3">
            <a:extLst>
              <a:ext uri="{28A0092B-C50C-407E-A947-70E740481C1C}">
                <a14:useLocalDpi xmlns:a14="http://schemas.microsoft.com/office/drawing/2010/main" val="0"/>
              </a:ext>
            </a:extLst>
          </a:blip>
          <a:stretch>
            <a:fillRect/>
          </a:stretch>
        </p:blipFill>
        <p:spPr>
          <a:xfrm>
            <a:off x="3605849" y="7154192"/>
            <a:ext cx="593151" cy="322819"/>
          </a:xfrm>
          <a:prstGeom prst="rect">
            <a:avLst/>
          </a:prstGeom>
        </p:spPr>
      </p:pic>
      <p:pic>
        <p:nvPicPr>
          <p:cNvPr id="104" name="Imagem 103">
            <a:extLst>
              <a:ext uri="{FF2B5EF4-FFF2-40B4-BE49-F238E27FC236}">
                <a16:creationId xmlns:a16="http://schemas.microsoft.com/office/drawing/2014/main" id="{79945578-D135-4348-AFCE-57D98E2DB361}"/>
              </a:ext>
            </a:extLst>
          </p:cNvPr>
          <p:cNvPicPr/>
          <p:nvPr/>
        </p:nvPicPr>
        <p:blipFill>
          <a:blip r:embed="rId3">
            <a:extLst>
              <a:ext uri="{28A0092B-C50C-407E-A947-70E740481C1C}">
                <a14:useLocalDpi xmlns:a14="http://schemas.microsoft.com/office/drawing/2010/main" val="0"/>
              </a:ext>
            </a:extLst>
          </a:blip>
          <a:stretch>
            <a:fillRect/>
          </a:stretch>
        </p:blipFill>
        <p:spPr>
          <a:xfrm>
            <a:off x="4199000" y="7153776"/>
            <a:ext cx="593151" cy="322819"/>
          </a:xfrm>
          <a:prstGeom prst="rect">
            <a:avLst/>
          </a:prstGeom>
        </p:spPr>
      </p:pic>
      <p:cxnSp>
        <p:nvCxnSpPr>
          <p:cNvPr id="105" name="Conector reto 104">
            <a:extLst>
              <a:ext uri="{FF2B5EF4-FFF2-40B4-BE49-F238E27FC236}">
                <a16:creationId xmlns:a16="http://schemas.microsoft.com/office/drawing/2014/main" id="{539F6623-81C4-43D1-AF44-0B2A76028F6A}"/>
              </a:ext>
            </a:extLst>
          </p:cNvPr>
          <p:cNvCxnSpPr>
            <a:cxnSpLocks/>
          </p:cNvCxnSpPr>
          <p:nvPr/>
        </p:nvCxnSpPr>
        <p:spPr>
          <a:xfrm>
            <a:off x="36081" y="7120138"/>
            <a:ext cx="5292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6" name="Conector reto 105">
            <a:extLst>
              <a:ext uri="{FF2B5EF4-FFF2-40B4-BE49-F238E27FC236}">
                <a16:creationId xmlns:a16="http://schemas.microsoft.com/office/drawing/2014/main" id="{53F9E93B-F80F-44BA-925D-11A7C90AF7BA}"/>
              </a:ext>
            </a:extLst>
          </p:cNvPr>
          <p:cNvCxnSpPr>
            <a:cxnSpLocks/>
          </p:cNvCxnSpPr>
          <p:nvPr/>
        </p:nvCxnSpPr>
        <p:spPr>
          <a:xfrm>
            <a:off x="36081" y="7453039"/>
            <a:ext cx="5292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102905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9362</TotalTime>
  <Words>3209</Words>
  <Application>Microsoft Office PowerPoint</Application>
  <PresentationFormat>Personalizar</PresentationFormat>
  <Paragraphs>336</Paragraphs>
  <Slides>16</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16</vt:i4>
      </vt:variant>
    </vt:vector>
  </HeadingPairs>
  <TitlesOfParts>
    <vt:vector size="21" baseType="lpstr">
      <vt:lpstr>Arial</vt:lpstr>
      <vt:lpstr>Arial Black</vt:lpstr>
      <vt:lpstr>Calibri</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producaosoaco</dc:creator>
  <cp:lastModifiedBy>Eliel Lima</cp:lastModifiedBy>
  <cp:revision>802</cp:revision>
  <cp:lastPrinted>2020-05-26T10:41:04Z</cp:lastPrinted>
  <dcterms:created xsi:type="dcterms:W3CDTF">2018-12-03T13:41:48Z</dcterms:created>
  <dcterms:modified xsi:type="dcterms:W3CDTF">2021-05-12T13:55:16Z</dcterms:modified>
</cp:coreProperties>
</file>