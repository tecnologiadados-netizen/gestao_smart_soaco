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2" r:id="rId2"/>
    <p:sldId id="258" r:id="rId3"/>
    <p:sldId id="259" r:id="rId4"/>
    <p:sldId id="260" r:id="rId5"/>
    <p:sldId id="261" r:id="rId6"/>
  </p:sldIdLst>
  <p:sldSz cx="10693400" cy="7561263"/>
  <p:notesSz cx="6888163" cy="10020300"/>
  <p:defaultTex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49" autoAdjust="0"/>
  </p:normalViewPr>
  <p:slideViewPr>
    <p:cSldViewPr showGuides="1">
      <p:cViewPr>
        <p:scale>
          <a:sx n="100" d="100"/>
          <a:sy n="100" d="100"/>
        </p:scale>
        <p:origin x="72" y="-2016"/>
      </p:cViewPr>
      <p:guideLst>
        <p:guide orient="horz" pos="2381"/>
        <p:guide pos="3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F8708E1B-B372-4B56-981F-95506720EE2D}" type="datetimeFigureOut">
              <a:rPr lang="pt-BR" smtClean="0"/>
              <a:t>03/07/2018</a:t>
            </a:fld>
            <a:endParaRPr lang="pt-BR"/>
          </a:p>
        </p:txBody>
      </p:sp>
      <p:sp>
        <p:nvSpPr>
          <p:cNvPr id="4" name="Espaço Reservado para Imagem de Slide 3"/>
          <p:cNvSpPr>
            <a:spLocks noGrp="1" noRot="1" noChangeAspect="1"/>
          </p:cNvSpPr>
          <p:nvPr>
            <p:ph type="sldImg" idx="2"/>
          </p:nvPr>
        </p:nvSpPr>
        <p:spPr>
          <a:xfrm>
            <a:off x="787400" y="750888"/>
            <a:ext cx="5313363" cy="37576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8975" y="4759327"/>
            <a:ext cx="5510213" cy="4510088"/>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DAD5CC9F-21B8-43E0-9ED1-B2EDFE01E557}" type="slidenum">
              <a:rPr lang="pt-BR" smtClean="0"/>
              <a:t>‹nº›</a:t>
            </a:fld>
            <a:endParaRPr lang="pt-BR"/>
          </a:p>
        </p:txBody>
      </p:sp>
    </p:spTree>
    <p:extLst>
      <p:ext uri="{BB962C8B-B14F-4D97-AF65-F5344CB8AC3E}">
        <p14:creationId xmlns:p14="http://schemas.microsoft.com/office/powerpoint/2010/main" val="19051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1</a:t>
            </a:fld>
            <a:endParaRPr lang="pt-BR"/>
          </a:p>
        </p:txBody>
      </p:sp>
    </p:spTree>
    <p:extLst>
      <p:ext uri="{BB962C8B-B14F-4D97-AF65-F5344CB8AC3E}">
        <p14:creationId xmlns:p14="http://schemas.microsoft.com/office/powerpoint/2010/main" val="182441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2</a:t>
            </a:fld>
            <a:endParaRPr lang="pt-BR"/>
          </a:p>
        </p:txBody>
      </p:sp>
    </p:spTree>
    <p:extLst>
      <p:ext uri="{BB962C8B-B14F-4D97-AF65-F5344CB8AC3E}">
        <p14:creationId xmlns:p14="http://schemas.microsoft.com/office/powerpoint/2010/main" val="181967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3</a:t>
            </a:fld>
            <a:endParaRPr lang="pt-BR"/>
          </a:p>
        </p:txBody>
      </p:sp>
    </p:spTree>
    <p:extLst>
      <p:ext uri="{BB962C8B-B14F-4D97-AF65-F5344CB8AC3E}">
        <p14:creationId xmlns:p14="http://schemas.microsoft.com/office/powerpoint/2010/main" val="2186413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4</a:t>
            </a:fld>
            <a:endParaRPr lang="pt-BR"/>
          </a:p>
        </p:txBody>
      </p:sp>
    </p:spTree>
    <p:extLst>
      <p:ext uri="{BB962C8B-B14F-4D97-AF65-F5344CB8AC3E}">
        <p14:creationId xmlns:p14="http://schemas.microsoft.com/office/powerpoint/2010/main" val="3888940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DAD5CC9F-21B8-43E0-9ED1-B2EDFE01E557}" type="slidenum">
              <a:rPr lang="pt-BR" smtClean="0"/>
              <a:t>5</a:t>
            </a:fld>
            <a:endParaRPr lang="pt-BR"/>
          </a:p>
        </p:txBody>
      </p:sp>
    </p:spTree>
    <p:extLst>
      <p:ext uri="{BB962C8B-B14F-4D97-AF65-F5344CB8AC3E}">
        <p14:creationId xmlns:p14="http://schemas.microsoft.com/office/powerpoint/2010/main" val="2485459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802005" y="2348893"/>
            <a:ext cx="9089390" cy="1620771"/>
          </a:xfrm>
        </p:spPr>
        <p:txBody>
          <a:bodyPr/>
          <a:lstStyle/>
          <a:p>
            <a:r>
              <a:rPr lang="pt-BR"/>
              <a:t>Clique para editar o título mestre</a:t>
            </a:r>
          </a:p>
        </p:txBody>
      </p:sp>
      <p:sp>
        <p:nvSpPr>
          <p:cNvPr id="3" name="Subtítulo 2"/>
          <p:cNvSpPr>
            <a:spLocks noGrp="1"/>
          </p:cNvSpPr>
          <p:nvPr>
            <p:ph type="subTitle" idx="1"/>
          </p:nvPr>
        </p:nvSpPr>
        <p:spPr>
          <a:xfrm>
            <a:off x="1604010" y="4284716"/>
            <a:ext cx="7485380" cy="1932323"/>
          </a:xfrm>
        </p:spPr>
        <p:txBody>
          <a:bodyPr/>
          <a:lstStyle>
            <a:lvl1pPr marL="0" indent="0" algn="ctr">
              <a:buNone/>
              <a:defRPr>
                <a:solidFill>
                  <a:schemeClr val="tx1">
                    <a:tint val="75000"/>
                  </a:schemeClr>
                </a:solidFill>
              </a:defRPr>
            </a:lvl1pPr>
            <a:lvl2pPr marL="521528" indent="0" algn="ctr">
              <a:buNone/>
              <a:defRPr>
                <a:solidFill>
                  <a:schemeClr val="tx1">
                    <a:tint val="75000"/>
                  </a:schemeClr>
                </a:solidFill>
              </a:defRPr>
            </a:lvl2pPr>
            <a:lvl3pPr marL="1043056" indent="0" algn="ctr">
              <a:buNone/>
              <a:defRPr>
                <a:solidFill>
                  <a:schemeClr val="tx1">
                    <a:tint val="75000"/>
                  </a:schemeClr>
                </a:solidFill>
              </a:defRPr>
            </a:lvl3pPr>
            <a:lvl4pPr marL="1564584" indent="0" algn="ctr">
              <a:buNone/>
              <a:defRPr>
                <a:solidFill>
                  <a:schemeClr val="tx1">
                    <a:tint val="75000"/>
                  </a:schemeClr>
                </a:solidFill>
              </a:defRPr>
            </a:lvl4pPr>
            <a:lvl5pPr marL="2086112" indent="0" algn="ctr">
              <a:buNone/>
              <a:defRPr>
                <a:solidFill>
                  <a:schemeClr val="tx1">
                    <a:tint val="75000"/>
                  </a:schemeClr>
                </a:solidFill>
              </a:defRPr>
            </a:lvl5pPr>
            <a:lvl6pPr marL="2607640" indent="0" algn="ctr">
              <a:buNone/>
              <a:defRPr>
                <a:solidFill>
                  <a:schemeClr val="tx1">
                    <a:tint val="75000"/>
                  </a:schemeClr>
                </a:solidFill>
              </a:defRPr>
            </a:lvl6pPr>
            <a:lvl7pPr marL="3129168" indent="0" algn="ctr">
              <a:buNone/>
              <a:defRPr>
                <a:solidFill>
                  <a:schemeClr val="tx1">
                    <a:tint val="75000"/>
                  </a:schemeClr>
                </a:solidFill>
              </a:defRPr>
            </a:lvl7pPr>
            <a:lvl8pPr marL="3650696" indent="0" algn="ctr">
              <a:buNone/>
              <a:defRPr>
                <a:solidFill>
                  <a:schemeClr val="tx1">
                    <a:tint val="75000"/>
                  </a:schemeClr>
                </a:solidFill>
              </a:defRPr>
            </a:lvl8pPr>
            <a:lvl9pPr marL="4172224"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73783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50766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44705" y="4858812"/>
            <a:ext cx="9089390" cy="1501751"/>
          </a:xfrm>
        </p:spPr>
        <p:txBody>
          <a:bodyPr anchor="t"/>
          <a:lstStyle>
            <a:lvl1pPr algn="l">
              <a:defRPr sz="4600" b="1" cap="all"/>
            </a:lvl1pPr>
          </a:lstStyle>
          <a:p>
            <a:r>
              <a:rPr lang="pt-BR"/>
              <a:t>Clique para editar o título mestre</a:t>
            </a:r>
          </a:p>
        </p:txBody>
      </p:sp>
      <p:sp>
        <p:nvSpPr>
          <p:cNvPr id="3" name="Espaço Reservado para Texto 2"/>
          <p:cNvSpPr>
            <a:spLocks noGrp="1"/>
          </p:cNvSpPr>
          <p:nvPr>
            <p:ph type="body" idx="1"/>
          </p:nvPr>
        </p:nvSpPr>
        <p:spPr>
          <a:xfrm>
            <a:off x="844705" y="3204786"/>
            <a:ext cx="9089390" cy="1654026"/>
          </a:xfrm>
        </p:spPr>
        <p:txBody>
          <a:bodyPr anchor="b"/>
          <a:lstStyle>
            <a:lvl1pPr marL="0" indent="0">
              <a:buNone/>
              <a:defRPr sz="2300">
                <a:solidFill>
                  <a:schemeClr val="tx1">
                    <a:tint val="75000"/>
                  </a:schemeClr>
                </a:solidFill>
              </a:defRPr>
            </a:lvl1pPr>
            <a:lvl2pPr marL="521528" indent="0">
              <a:buNone/>
              <a:defRPr sz="2100">
                <a:solidFill>
                  <a:schemeClr val="tx1">
                    <a:tint val="75000"/>
                  </a:schemeClr>
                </a:solidFill>
              </a:defRPr>
            </a:lvl2pPr>
            <a:lvl3pPr marL="1043056" indent="0">
              <a:buNone/>
              <a:defRPr sz="1800">
                <a:solidFill>
                  <a:schemeClr val="tx1">
                    <a:tint val="75000"/>
                  </a:schemeClr>
                </a:solidFill>
              </a:defRPr>
            </a:lvl3pPr>
            <a:lvl4pPr marL="1564584" indent="0">
              <a:buNone/>
              <a:defRPr sz="1600">
                <a:solidFill>
                  <a:schemeClr val="tx1">
                    <a:tint val="75000"/>
                  </a:schemeClr>
                </a:solidFill>
              </a:defRPr>
            </a:lvl4pPr>
            <a:lvl5pPr marL="2086112" indent="0">
              <a:buNone/>
              <a:defRPr sz="1600">
                <a:solidFill>
                  <a:schemeClr val="tx1">
                    <a:tint val="75000"/>
                  </a:schemeClr>
                </a:solidFill>
              </a:defRPr>
            </a:lvl5pPr>
            <a:lvl6pPr marL="2607640" indent="0">
              <a:buNone/>
              <a:defRPr sz="1600">
                <a:solidFill>
                  <a:schemeClr val="tx1">
                    <a:tint val="75000"/>
                  </a:schemeClr>
                </a:solidFill>
              </a:defRPr>
            </a:lvl6pPr>
            <a:lvl7pPr marL="3129168" indent="0">
              <a:buNone/>
              <a:defRPr sz="1600">
                <a:solidFill>
                  <a:schemeClr val="tx1">
                    <a:tint val="75000"/>
                  </a:schemeClr>
                </a:solidFill>
              </a:defRPr>
            </a:lvl7pPr>
            <a:lvl8pPr marL="3650696" indent="0">
              <a:buNone/>
              <a:defRPr sz="1600">
                <a:solidFill>
                  <a:schemeClr val="tx1">
                    <a:tint val="75000"/>
                  </a:schemeClr>
                </a:solidFill>
              </a:defRPr>
            </a:lvl8pPr>
            <a:lvl9pPr marL="4172224" indent="0">
              <a:buNone/>
              <a:defRPr sz="1600">
                <a:solidFill>
                  <a:schemeClr val="tx1">
                    <a:tint val="75000"/>
                  </a:schemeClr>
                </a:solidFill>
              </a:defRPr>
            </a:lvl9pPr>
          </a:lstStyle>
          <a:p>
            <a:pPr lvl="0"/>
            <a:r>
              <a:rPr lang="pt-BR"/>
              <a:t>Clique para editar o texto mestre</a:t>
            </a:r>
          </a:p>
        </p:txBody>
      </p:sp>
      <p:sp>
        <p:nvSpPr>
          <p:cNvPr id="4" name="Espaço Reservado para Data 3"/>
          <p:cNvSpPr>
            <a:spLocks noGrp="1"/>
          </p:cNvSpPr>
          <p:nvPr>
            <p:ph type="dt" sz="half" idx="10"/>
          </p:nvPr>
        </p:nvSpPr>
        <p:spPr/>
        <p:txBody>
          <a:body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94044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sz="half" idx="1"/>
          </p:nvPr>
        </p:nvSpPr>
        <p:spPr>
          <a:xfrm>
            <a:off x="534670" y="1764295"/>
            <a:ext cx="4722918" cy="499008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5435812" y="1764295"/>
            <a:ext cx="4722918" cy="4990084"/>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4AD7A122-14BC-4870-B74C-82AB71BD4EFB}" type="datetimeFigureOut">
              <a:rPr lang="pt-BR" smtClean="0"/>
              <a:t>03/07/2018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650570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p>
        </p:txBody>
      </p:sp>
      <p:sp>
        <p:nvSpPr>
          <p:cNvPr id="3" name="Espaço Reservado para Texto 2"/>
          <p:cNvSpPr>
            <a:spLocks noGrp="1"/>
          </p:cNvSpPr>
          <p:nvPr>
            <p:ph type="body" idx="1"/>
          </p:nvPr>
        </p:nvSpPr>
        <p:spPr>
          <a:xfrm>
            <a:off x="534670" y="1692533"/>
            <a:ext cx="4724775" cy="705367"/>
          </a:xfrm>
        </p:spPr>
        <p:txBody>
          <a:bodyPr anchor="b"/>
          <a:lstStyle>
            <a:lvl1pPr marL="0" indent="0">
              <a:buNone/>
              <a:defRPr sz="2700" b="1"/>
            </a:lvl1pPr>
            <a:lvl2pPr marL="521528" indent="0">
              <a:buNone/>
              <a:defRPr sz="2300" b="1"/>
            </a:lvl2pPr>
            <a:lvl3pPr marL="1043056" indent="0">
              <a:buNone/>
              <a:defRPr sz="2100" b="1"/>
            </a:lvl3pPr>
            <a:lvl4pPr marL="1564584" indent="0">
              <a:buNone/>
              <a:defRPr sz="1800" b="1"/>
            </a:lvl4pPr>
            <a:lvl5pPr marL="2086112" indent="0">
              <a:buNone/>
              <a:defRPr sz="1800" b="1"/>
            </a:lvl5pPr>
            <a:lvl6pPr marL="2607640" indent="0">
              <a:buNone/>
              <a:defRPr sz="1800" b="1"/>
            </a:lvl6pPr>
            <a:lvl7pPr marL="3129168" indent="0">
              <a:buNone/>
              <a:defRPr sz="1800" b="1"/>
            </a:lvl7pPr>
            <a:lvl8pPr marL="3650696" indent="0">
              <a:buNone/>
              <a:defRPr sz="1800" b="1"/>
            </a:lvl8pPr>
            <a:lvl9pPr marL="4172224" indent="0">
              <a:buNone/>
              <a:defRPr sz="1800" b="1"/>
            </a:lvl9pPr>
          </a:lstStyle>
          <a:p>
            <a:pPr lvl="0"/>
            <a:r>
              <a:rPr lang="pt-BR"/>
              <a:t>Clique para editar o texto mestre</a:t>
            </a:r>
          </a:p>
        </p:txBody>
      </p:sp>
      <p:sp>
        <p:nvSpPr>
          <p:cNvPr id="4" name="Espaço Reservado para Conteúdo 3"/>
          <p:cNvSpPr>
            <a:spLocks noGrp="1"/>
          </p:cNvSpPr>
          <p:nvPr>
            <p:ph sz="half" idx="2"/>
          </p:nvPr>
        </p:nvSpPr>
        <p:spPr>
          <a:xfrm>
            <a:off x="534670" y="2397901"/>
            <a:ext cx="4724775" cy="4356478"/>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5432099" y="1692533"/>
            <a:ext cx="4726631" cy="705367"/>
          </a:xfrm>
        </p:spPr>
        <p:txBody>
          <a:bodyPr anchor="b"/>
          <a:lstStyle>
            <a:lvl1pPr marL="0" indent="0">
              <a:buNone/>
              <a:defRPr sz="2700" b="1"/>
            </a:lvl1pPr>
            <a:lvl2pPr marL="521528" indent="0">
              <a:buNone/>
              <a:defRPr sz="2300" b="1"/>
            </a:lvl2pPr>
            <a:lvl3pPr marL="1043056" indent="0">
              <a:buNone/>
              <a:defRPr sz="2100" b="1"/>
            </a:lvl3pPr>
            <a:lvl4pPr marL="1564584" indent="0">
              <a:buNone/>
              <a:defRPr sz="1800" b="1"/>
            </a:lvl4pPr>
            <a:lvl5pPr marL="2086112" indent="0">
              <a:buNone/>
              <a:defRPr sz="1800" b="1"/>
            </a:lvl5pPr>
            <a:lvl6pPr marL="2607640" indent="0">
              <a:buNone/>
              <a:defRPr sz="1800" b="1"/>
            </a:lvl6pPr>
            <a:lvl7pPr marL="3129168" indent="0">
              <a:buNone/>
              <a:defRPr sz="1800" b="1"/>
            </a:lvl7pPr>
            <a:lvl8pPr marL="3650696" indent="0">
              <a:buNone/>
              <a:defRPr sz="1800" b="1"/>
            </a:lvl8pPr>
            <a:lvl9pPr marL="4172224" indent="0">
              <a:buNone/>
              <a:defRPr sz="1800" b="1"/>
            </a:lvl9pPr>
          </a:lstStyle>
          <a:p>
            <a:pPr lvl="0"/>
            <a:r>
              <a:rPr lang="pt-BR"/>
              <a:t>Clique para editar o texto mestre</a:t>
            </a:r>
          </a:p>
        </p:txBody>
      </p:sp>
      <p:sp>
        <p:nvSpPr>
          <p:cNvPr id="6" name="Espaço Reservado para Conteúdo 5"/>
          <p:cNvSpPr>
            <a:spLocks noGrp="1"/>
          </p:cNvSpPr>
          <p:nvPr>
            <p:ph sz="quarter" idx="4"/>
          </p:nvPr>
        </p:nvSpPr>
        <p:spPr>
          <a:xfrm>
            <a:off x="5432099" y="2397901"/>
            <a:ext cx="4726631" cy="4356478"/>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4AD7A122-14BC-4870-B74C-82AB71BD4EFB}" type="datetimeFigureOut">
              <a:rPr lang="pt-BR" smtClean="0"/>
              <a:t>03/07/2018</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48275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Data 2"/>
          <p:cNvSpPr>
            <a:spLocks noGrp="1"/>
          </p:cNvSpPr>
          <p:nvPr>
            <p:ph type="dt" sz="half" idx="10"/>
          </p:nvPr>
        </p:nvSpPr>
        <p:spPr/>
        <p:txBody>
          <a:bodyPr/>
          <a:lstStyle/>
          <a:p>
            <a:fld id="{4AD7A122-14BC-4870-B74C-82AB71BD4EFB}" type="datetimeFigureOut">
              <a:rPr lang="pt-BR" smtClean="0"/>
              <a:t>03/07/2018</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214178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AD7A122-14BC-4870-B74C-82AB71BD4EFB}" type="datetimeFigureOut">
              <a:rPr lang="pt-BR" smtClean="0"/>
              <a:t>03/07/2018</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161867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34671" y="301050"/>
            <a:ext cx="3518055" cy="1281214"/>
          </a:xfrm>
        </p:spPr>
        <p:txBody>
          <a:bodyPr anchor="b"/>
          <a:lstStyle>
            <a:lvl1pPr algn="l">
              <a:defRPr sz="2300" b="1"/>
            </a:lvl1pPr>
          </a:lstStyle>
          <a:p>
            <a:r>
              <a:rPr lang="pt-BR"/>
              <a:t>Clique para editar o título mestre</a:t>
            </a:r>
          </a:p>
        </p:txBody>
      </p:sp>
      <p:sp>
        <p:nvSpPr>
          <p:cNvPr id="3" name="Espaço Reservado para Conteúdo 2"/>
          <p:cNvSpPr>
            <a:spLocks noGrp="1"/>
          </p:cNvSpPr>
          <p:nvPr>
            <p:ph idx="1"/>
          </p:nvPr>
        </p:nvSpPr>
        <p:spPr>
          <a:xfrm>
            <a:off x="4180822" y="301051"/>
            <a:ext cx="5977908" cy="6453328"/>
          </a:xfrm>
        </p:spPr>
        <p:txBody>
          <a:bodyPr/>
          <a:lstStyle>
            <a:lvl1pPr>
              <a:defRPr sz="37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534671" y="1582265"/>
            <a:ext cx="3518055" cy="5172114"/>
          </a:xfrm>
        </p:spPr>
        <p:txBody>
          <a:bodyPr/>
          <a:lstStyle>
            <a:lvl1pPr marL="0" indent="0">
              <a:buNone/>
              <a:defRPr sz="1600"/>
            </a:lvl1pPr>
            <a:lvl2pPr marL="521528" indent="0">
              <a:buNone/>
              <a:defRPr sz="1400"/>
            </a:lvl2pPr>
            <a:lvl3pPr marL="1043056" indent="0">
              <a:buNone/>
              <a:defRPr sz="1100"/>
            </a:lvl3pPr>
            <a:lvl4pPr marL="1564584" indent="0">
              <a:buNone/>
              <a:defRPr sz="1000"/>
            </a:lvl4pPr>
            <a:lvl5pPr marL="2086112" indent="0">
              <a:buNone/>
              <a:defRPr sz="1000"/>
            </a:lvl5pPr>
            <a:lvl6pPr marL="2607640" indent="0">
              <a:buNone/>
              <a:defRPr sz="1000"/>
            </a:lvl6pPr>
            <a:lvl7pPr marL="3129168" indent="0">
              <a:buNone/>
              <a:defRPr sz="1000"/>
            </a:lvl7pPr>
            <a:lvl8pPr marL="3650696" indent="0">
              <a:buNone/>
              <a:defRPr sz="1000"/>
            </a:lvl8pPr>
            <a:lvl9pPr marL="4172224"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03/07/2018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85429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095981" y="5292884"/>
            <a:ext cx="6416040" cy="624855"/>
          </a:xfrm>
        </p:spPr>
        <p:txBody>
          <a:bodyPr anchor="b"/>
          <a:lstStyle>
            <a:lvl1pPr algn="l">
              <a:defRPr sz="2300" b="1"/>
            </a:lvl1pPr>
          </a:lstStyle>
          <a:p>
            <a:r>
              <a:rPr lang="pt-BR"/>
              <a:t>Clique para editar o título mestre</a:t>
            </a:r>
          </a:p>
        </p:txBody>
      </p:sp>
      <p:sp>
        <p:nvSpPr>
          <p:cNvPr id="3" name="Espaço Reservado para Imagem 2"/>
          <p:cNvSpPr>
            <a:spLocks noGrp="1"/>
          </p:cNvSpPr>
          <p:nvPr>
            <p:ph type="pic" idx="1"/>
          </p:nvPr>
        </p:nvSpPr>
        <p:spPr>
          <a:xfrm>
            <a:off x="2095981" y="675613"/>
            <a:ext cx="6416040" cy="4536758"/>
          </a:xfrm>
        </p:spPr>
        <p:txBody>
          <a:bodyPr/>
          <a:lstStyle>
            <a:lvl1pPr marL="0" indent="0">
              <a:buNone/>
              <a:defRPr sz="3700"/>
            </a:lvl1pPr>
            <a:lvl2pPr marL="521528" indent="0">
              <a:buNone/>
              <a:defRPr sz="3200"/>
            </a:lvl2pPr>
            <a:lvl3pPr marL="1043056" indent="0">
              <a:buNone/>
              <a:defRPr sz="2700"/>
            </a:lvl3pPr>
            <a:lvl4pPr marL="1564584" indent="0">
              <a:buNone/>
              <a:defRPr sz="2300"/>
            </a:lvl4pPr>
            <a:lvl5pPr marL="2086112" indent="0">
              <a:buNone/>
              <a:defRPr sz="2300"/>
            </a:lvl5pPr>
            <a:lvl6pPr marL="2607640" indent="0">
              <a:buNone/>
              <a:defRPr sz="2300"/>
            </a:lvl6pPr>
            <a:lvl7pPr marL="3129168" indent="0">
              <a:buNone/>
              <a:defRPr sz="2300"/>
            </a:lvl7pPr>
            <a:lvl8pPr marL="3650696" indent="0">
              <a:buNone/>
              <a:defRPr sz="2300"/>
            </a:lvl8pPr>
            <a:lvl9pPr marL="4172224" indent="0">
              <a:buNone/>
              <a:defRPr sz="2300"/>
            </a:lvl9pPr>
          </a:lstStyle>
          <a:p>
            <a:endParaRPr lang="pt-BR"/>
          </a:p>
        </p:txBody>
      </p:sp>
      <p:sp>
        <p:nvSpPr>
          <p:cNvPr id="4" name="Espaço Reservado para Texto 3"/>
          <p:cNvSpPr>
            <a:spLocks noGrp="1"/>
          </p:cNvSpPr>
          <p:nvPr>
            <p:ph type="body" sz="half" idx="2"/>
          </p:nvPr>
        </p:nvSpPr>
        <p:spPr>
          <a:xfrm>
            <a:off x="2095981" y="5917739"/>
            <a:ext cx="6416040" cy="887398"/>
          </a:xfrm>
        </p:spPr>
        <p:txBody>
          <a:bodyPr/>
          <a:lstStyle>
            <a:lvl1pPr marL="0" indent="0">
              <a:buNone/>
              <a:defRPr sz="1600"/>
            </a:lvl1pPr>
            <a:lvl2pPr marL="521528" indent="0">
              <a:buNone/>
              <a:defRPr sz="1400"/>
            </a:lvl2pPr>
            <a:lvl3pPr marL="1043056" indent="0">
              <a:buNone/>
              <a:defRPr sz="1100"/>
            </a:lvl3pPr>
            <a:lvl4pPr marL="1564584" indent="0">
              <a:buNone/>
              <a:defRPr sz="1000"/>
            </a:lvl4pPr>
            <a:lvl5pPr marL="2086112" indent="0">
              <a:buNone/>
              <a:defRPr sz="1000"/>
            </a:lvl5pPr>
            <a:lvl6pPr marL="2607640" indent="0">
              <a:buNone/>
              <a:defRPr sz="1000"/>
            </a:lvl6pPr>
            <a:lvl7pPr marL="3129168" indent="0">
              <a:buNone/>
              <a:defRPr sz="1000"/>
            </a:lvl7pPr>
            <a:lvl8pPr marL="3650696" indent="0">
              <a:buNone/>
              <a:defRPr sz="1000"/>
            </a:lvl8pPr>
            <a:lvl9pPr marL="4172224" indent="0">
              <a:buNone/>
              <a:defRPr sz="1000"/>
            </a:lvl9pPr>
          </a:lstStyle>
          <a:p>
            <a:pPr lvl="0"/>
            <a:r>
              <a:rPr lang="pt-BR"/>
              <a:t>Clique para editar o texto mestre</a:t>
            </a:r>
          </a:p>
        </p:txBody>
      </p:sp>
      <p:sp>
        <p:nvSpPr>
          <p:cNvPr id="5" name="Espaço Reservado para Data 4"/>
          <p:cNvSpPr>
            <a:spLocks noGrp="1"/>
          </p:cNvSpPr>
          <p:nvPr>
            <p:ph type="dt" sz="half" idx="10"/>
          </p:nvPr>
        </p:nvSpPr>
        <p:spPr/>
        <p:txBody>
          <a:bodyPr/>
          <a:lstStyle/>
          <a:p>
            <a:fld id="{4AD7A122-14BC-4870-B74C-82AB71BD4EFB}" type="datetimeFigureOut">
              <a:rPr lang="pt-BR" smtClean="0"/>
              <a:t>03/07/2018</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792426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2314701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752715" y="302802"/>
            <a:ext cx="2406015" cy="6451578"/>
          </a:xfrm>
        </p:spPr>
        <p:txBody>
          <a:bodyPr vert="eaVert"/>
          <a:lstStyle/>
          <a:p>
            <a:r>
              <a:rPr lang="pt-BR"/>
              <a:t>Clique para editar o título mestre</a:t>
            </a:r>
          </a:p>
        </p:txBody>
      </p:sp>
      <p:sp>
        <p:nvSpPr>
          <p:cNvPr id="3" name="Espaço Reservado para Texto Vertical 2"/>
          <p:cNvSpPr>
            <a:spLocks noGrp="1"/>
          </p:cNvSpPr>
          <p:nvPr>
            <p:ph type="body" orient="vert" idx="1"/>
          </p:nvPr>
        </p:nvSpPr>
        <p:spPr>
          <a:xfrm>
            <a:off x="534670" y="302802"/>
            <a:ext cx="7039822" cy="6451578"/>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8443C3AA-155B-424C-A795-F84970B6BA25}" type="slidenum">
              <a:rPr lang="pt-BR" smtClean="0"/>
              <a:t>‹nº›</a:t>
            </a:fld>
            <a:endParaRPr lang="pt-BR"/>
          </a:p>
        </p:txBody>
      </p:sp>
    </p:spTree>
    <p:extLst>
      <p:ext uri="{BB962C8B-B14F-4D97-AF65-F5344CB8AC3E}">
        <p14:creationId xmlns:p14="http://schemas.microsoft.com/office/powerpoint/2010/main" val="3364156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34670" y="302801"/>
            <a:ext cx="9624060" cy="1260211"/>
          </a:xfrm>
          <a:prstGeom prst="rect">
            <a:avLst/>
          </a:prstGeom>
        </p:spPr>
        <p:txBody>
          <a:bodyPr vert="horz" lIns="104306" tIns="52153" rIns="104306" bIns="52153" rtlCol="0" anchor="ctr">
            <a:normAutofit/>
          </a:bodyPr>
          <a:lstStyle/>
          <a:p>
            <a:r>
              <a:rPr lang="pt-BR"/>
              <a:t>Clique para editar o título mestre</a:t>
            </a:r>
          </a:p>
        </p:txBody>
      </p:sp>
      <p:sp>
        <p:nvSpPr>
          <p:cNvPr id="3" name="Espaço Reservado para Texto 2"/>
          <p:cNvSpPr>
            <a:spLocks noGrp="1"/>
          </p:cNvSpPr>
          <p:nvPr>
            <p:ph type="body" idx="1"/>
          </p:nvPr>
        </p:nvSpPr>
        <p:spPr>
          <a:xfrm>
            <a:off x="534670" y="1764295"/>
            <a:ext cx="9624060" cy="4990084"/>
          </a:xfrm>
          <a:prstGeom prst="rect">
            <a:avLst/>
          </a:prstGeom>
        </p:spPr>
        <p:txBody>
          <a:bodyPr vert="horz" lIns="104306" tIns="52153" rIns="104306" bIns="52153"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534670" y="7008171"/>
            <a:ext cx="2495127" cy="402567"/>
          </a:xfrm>
          <a:prstGeom prst="rect">
            <a:avLst/>
          </a:prstGeom>
        </p:spPr>
        <p:txBody>
          <a:bodyPr vert="horz" lIns="104306" tIns="52153" rIns="104306" bIns="52153" rtlCol="0" anchor="ctr"/>
          <a:lstStyle>
            <a:lvl1pPr algn="l">
              <a:defRPr sz="1400">
                <a:solidFill>
                  <a:schemeClr val="tx1">
                    <a:tint val="75000"/>
                  </a:schemeClr>
                </a:solidFill>
              </a:defRPr>
            </a:lvl1pPr>
          </a:lstStyle>
          <a:p>
            <a:fld id="{4AD7A122-14BC-4870-B74C-82AB71BD4EFB}" type="datetimeFigureOut">
              <a:rPr lang="pt-BR" smtClean="0"/>
              <a:t>03/07/2018</a:t>
            </a:fld>
            <a:endParaRPr lang="pt-BR"/>
          </a:p>
        </p:txBody>
      </p:sp>
      <p:sp>
        <p:nvSpPr>
          <p:cNvPr id="5" name="Espaço Reservado para Rodapé 4"/>
          <p:cNvSpPr>
            <a:spLocks noGrp="1"/>
          </p:cNvSpPr>
          <p:nvPr>
            <p:ph type="ftr" sz="quarter" idx="3"/>
          </p:nvPr>
        </p:nvSpPr>
        <p:spPr>
          <a:xfrm>
            <a:off x="3653579" y="7008171"/>
            <a:ext cx="3386243" cy="402567"/>
          </a:xfrm>
          <a:prstGeom prst="rect">
            <a:avLst/>
          </a:prstGeom>
        </p:spPr>
        <p:txBody>
          <a:bodyPr vert="horz" lIns="104306" tIns="52153" rIns="104306" bIns="52153" rtlCol="0" anchor="ctr"/>
          <a:lstStyle>
            <a:lvl1pPr algn="ctr">
              <a:defRPr sz="14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7663603" y="7008171"/>
            <a:ext cx="2495127" cy="402567"/>
          </a:xfrm>
          <a:prstGeom prst="rect">
            <a:avLst/>
          </a:prstGeom>
        </p:spPr>
        <p:txBody>
          <a:bodyPr vert="horz" lIns="104306" tIns="52153" rIns="104306" bIns="52153" rtlCol="0" anchor="ctr"/>
          <a:lstStyle>
            <a:lvl1pPr algn="r">
              <a:defRPr sz="1400">
                <a:solidFill>
                  <a:schemeClr val="tx1">
                    <a:tint val="75000"/>
                  </a:schemeClr>
                </a:solidFill>
              </a:defRPr>
            </a:lvl1pPr>
          </a:lstStyle>
          <a:p>
            <a:fld id="{8443C3AA-155B-424C-A795-F84970B6BA25}" type="slidenum">
              <a:rPr lang="pt-BR" smtClean="0"/>
              <a:t>‹nº›</a:t>
            </a:fld>
            <a:endParaRPr lang="pt-BR"/>
          </a:p>
        </p:txBody>
      </p:sp>
    </p:spTree>
    <p:extLst>
      <p:ext uri="{BB962C8B-B14F-4D97-AF65-F5344CB8AC3E}">
        <p14:creationId xmlns:p14="http://schemas.microsoft.com/office/powerpoint/2010/main" val="2105156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43056" rtl="0" eaLnBrk="1" latinLnBrk="0" hangingPunct="1">
        <a:spcBef>
          <a:spcPct val="0"/>
        </a:spcBef>
        <a:buNone/>
        <a:defRPr sz="5000" kern="1200">
          <a:solidFill>
            <a:schemeClr val="tx1"/>
          </a:solidFill>
          <a:latin typeface="+mj-lt"/>
          <a:ea typeface="+mj-ea"/>
          <a:cs typeface="+mj-cs"/>
        </a:defRPr>
      </a:lvl1pPr>
    </p:titleStyle>
    <p:bodyStyle>
      <a:lvl1pPr marL="391146" indent="-391146" algn="l" defTabSz="1043056"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1pPr>
      <a:lvl2pPr marL="847483" indent="-325955" algn="l" defTabSz="1043056"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303820" indent="-260764" algn="l" defTabSz="1043056"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825348"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4pPr>
      <a:lvl5pPr marL="2346876"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5pPr>
      <a:lvl6pPr marL="2868404"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89932"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11460"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32988" indent="-260764" algn="l" defTabSz="1043056"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sac@soacoindustrial.com.br" TargetMode="External"/><Relationship Id="rId5" Type="http://schemas.openxmlformats.org/officeDocument/2006/relationships/hyperlink" Target="http://www.soacoindustrial.com.br/"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2.tmp"/><Relationship Id="rId3" Type="http://schemas.openxmlformats.org/officeDocument/2006/relationships/image" Target="../media/image8.tmp"/><Relationship Id="rId7" Type="http://schemas.openxmlformats.org/officeDocument/2006/relationships/image" Target="../media/image11.tm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5.wdp"/><Relationship Id="rId5" Type="http://schemas.openxmlformats.org/officeDocument/2006/relationships/image" Target="../media/image10.png"/><Relationship Id="rId10" Type="http://schemas.openxmlformats.org/officeDocument/2006/relationships/image" Target="../media/image14.tmp"/><Relationship Id="rId4" Type="http://schemas.openxmlformats.org/officeDocument/2006/relationships/image" Target="../media/image9.tmp"/><Relationship Id="rId9" Type="http://schemas.openxmlformats.org/officeDocument/2006/relationships/image" Target="../media/image13.tmp"/></Relationships>
</file>

<file path=ppt/slides/_rels/slide5.xml.rels><?xml version="1.0" encoding="UTF-8" standalone="yes"?>
<Relationships xmlns="http://schemas.openxmlformats.org/package/2006/relationships"><Relationship Id="rId8" Type="http://schemas.openxmlformats.org/officeDocument/2006/relationships/image" Target="../media/image18.jpeg"/><Relationship Id="rId13" Type="http://schemas.microsoft.com/office/2007/relationships/hdphoto" Target="../media/hdphoto9.wdp"/><Relationship Id="rId18" Type="http://schemas.openxmlformats.org/officeDocument/2006/relationships/image" Target="../media/image24.png"/><Relationship Id="rId3" Type="http://schemas.openxmlformats.org/officeDocument/2006/relationships/image" Target="../media/image15.tmp"/><Relationship Id="rId7" Type="http://schemas.microsoft.com/office/2007/relationships/hdphoto" Target="../media/hdphoto7.wdp"/><Relationship Id="rId12" Type="http://schemas.openxmlformats.org/officeDocument/2006/relationships/image" Target="../media/image21.png"/><Relationship Id="rId17" Type="http://schemas.microsoft.com/office/2007/relationships/hdphoto" Target="../media/hdphoto11.wdp"/><Relationship Id="rId2" Type="http://schemas.openxmlformats.org/officeDocument/2006/relationships/notesSlide" Target="../notesSlides/notesSlide5.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7.png"/><Relationship Id="rId11" Type="http://schemas.microsoft.com/office/2007/relationships/hdphoto" Target="../media/hdphoto8.wdp"/><Relationship Id="rId5" Type="http://schemas.microsoft.com/office/2007/relationships/hdphoto" Target="../media/hdphoto6.wdp"/><Relationship Id="rId15" Type="http://schemas.microsoft.com/office/2007/relationships/hdphoto" Target="../media/hdphoto10.wdp"/><Relationship Id="rId10" Type="http://schemas.openxmlformats.org/officeDocument/2006/relationships/image" Target="../media/image20.png"/><Relationship Id="rId19" Type="http://schemas.microsoft.com/office/2007/relationships/hdphoto" Target="../media/hdphoto12.wdp"/><Relationship Id="rId4" Type="http://schemas.openxmlformats.org/officeDocument/2006/relationships/image" Target="../media/image16.png"/><Relationship Id="rId9" Type="http://schemas.openxmlformats.org/officeDocument/2006/relationships/image" Target="../media/image19.jpeg"/><Relationship Id="rId1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1FBAD648-6CE4-4F2D-AF2C-B272B7D57C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0326" y="3034200"/>
            <a:ext cx="2064380" cy="2528762"/>
          </a:xfrm>
          <a:prstGeom prst="rect">
            <a:avLst/>
          </a:prstGeom>
        </p:spPr>
      </p:pic>
      <p:pic>
        <p:nvPicPr>
          <p:cNvPr id="66" name="Imagem 65">
            <a:extLst>
              <a:ext uri="{FF2B5EF4-FFF2-40B4-BE49-F238E27FC236}">
                <a16:creationId xmlns:a16="http://schemas.microsoft.com/office/drawing/2014/main" id="{5678E57C-395B-4C5F-82EF-48B87A72B2FC}"/>
              </a:ext>
            </a:extLst>
          </p:cNvPr>
          <p:cNvPicPr/>
          <p:nvPr/>
        </p:nvPicPr>
        <p:blipFill>
          <a:blip r:embed="rId4">
            <a:extLst>
              <a:ext uri="{28A0092B-C50C-407E-A947-70E740481C1C}">
                <a14:useLocalDpi xmlns:a14="http://schemas.microsoft.com/office/drawing/2010/main" val="0"/>
              </a:ext>
            </a:extLst>
          </a:blip>
          <a:stretch>
            <a:fillRect/>
          </a:stretch>
        </p:blipFill>
        <p:spPr>
          <a:xfrm>
            <a:off x="10075729" y="7125179"/>
            <a:ext cx="593151" cy="322819"/>
          </a:xfrm>
          <a:prstGeom prst="rect">
            <a:avLst/>
          </a:prstGeom>
        </p:spPr>
      </p:pic>
      <p:sp>
        <p:nvSpPr>
          <p:cNvPr id="141" name="CaixaDeTexto 140"/>
          <p:cNvSpPr txBox="1"/>
          <p:nvPr/>
        </p:nvSpPr>
        <p:spPr>
          <a:xfrm>
            <a:off x="5578393" y="211018"/>
            <a:ext cx="4752528" cy="307777"/>
          </a:xfrm>
          <a:prstGeom prst="rect">
            <a:avLst/>
          </a:prstGeom>
          <a:noFill/>
        </p:spPr>
        <p:txBody>
          <a:bodyPr wrap="square" rtlCol="0">
            <a:spAutoFit/>
            <a:scene3d>
              <a:camera prst="orthographicFront"/>
              <a:lightRig rig="threePt" dir="t"/>
            </a:scene3d>
            <a:sp3d extrusionH="57150">
              <a:bevelT w="38100" h="38100"/>
            </a:sp3d>
          </a:bodyPr>
          <a:lstStyle>
            <a:defPPr>
              <a:defRPr lang="pt-BR"/>
            </a:defPPr>
            <a:lvl1pPr algn="ctr">
              <a:defRPr sz="2000">
                <a:latin typeface="Bookman Old Style" panose="02050604050505020204" pitchFamily="18" charset="0"/>
              </a:defRPr>
            </a:lvl1pPr>
          </a:lstStyle>
          <a:p>
            <a:r>
              <a:rPr lang="pt-BR" sz="1400" dirty="0">
                <a:latin typeface="Arial Black" panose="020B0A04020102020204" pitchFamily="34" charset="0"/>
              </a:rPr>
              <a:t>BALCÃO AR FORÇADO</a:t>
            </a:r>
          </a:p>
        </p:txBody>
      </p:sp>
      <p:sp>
        <p:nvSpPr>
          <p:cNvPr id="148" name="CaixaDeTexto 147"/>
          <p:cNvSpPr txBox="1"/>
          <p:nvPr/>
        </p:nvSpPr>
        <p:spPr>
          <a:xfrm>
            <a:off x="6408150" y="1312085"/>
            <a:ext cx="3214031" cy="1169551"/>
          </a:xfrm>
          <a:prstGeom prst="rect">
            <a:avLst/>
          </a:prstGeom>
          <a:noFill/>
        </p:spPr>
        <p:txBody>
          <a:bodyPr wrap="square" rtlCol="0">
            <a:spAutoFit/>
          </a:bodyPr>
          <a:lstStyle/>
          <a:p>
            <a:pPr algn="ctr"/>
            <a:r>
              <a:rPr lang="pt-BR" sz="3500" dirty="0">
                <a:ln w="19050">
                  <a:solidFill>
                    <a:srgbClr val="002060"/>
                  </a:solidFill>
                </a:ln>
                <a:solidFill>
                  <a:schemeClr val="bg1"/>
                </a:solidFill>
                <a:effectLst>
                  <a:outerShdw blurRad="50800" dist="38100" dir="5400000" algn="t" rotWithShape="0">
                    <a:prstClr val="black">
                      <a:alpha val="40000"/>
                    </a:prstClr>
                  </a:outerShdw>
                </a:effectLst>
                <a:latin typeface="Arial Black" panose="020B0A04020102020204" pitchFamily="34" charset="0"/>
              </a:rPr>
              <a:t>Manual</a:t>
            </a:r>
            <a:r>
              <a:rPr lang="pt-BR" sz="3500" dirty="0">
                <a:ln w="19050">
                  <a:solidFill>
                    <a:srgbClr val="002060"/>
                  </a:solidFill>
                </a:ln>
                <a:solidFill>
                  <a:schemeClr val="bg1"/>
                </a:solidFill>
                <a:effectLst>
                  <a:outerShdw blurRad="50800" dist="38100" dir="5400000" algn="t" rotWithShape="0">
                    <a:prstClr val="black">
                      <a:alpha val="40000"/>
                    </a:prstClr>
                  </a:outerShdw>
                </a:effectLst>
              </a:rPr>
              <a:t> </a:t>
            </a:r>
          </a:p>
          <a:p>
            <a:pPr algn="ctr"/>
            <a:r>
              <a:rPr lang="pt-BR" sz="3500" dirty="0">
                <a:ln w="19050">
                  <a:solidFill>
                    <a:srgbClr val="002060"/>
                  </a:solidFill>
                </a:ln>
                <a:solidFill>
                  <a:schemeClr val="bg1"/>
                </a:solidFill>
                <a:effectLst>
                  <a:outerShdw blurRad="50800" dist="38100" dir="5400000" algn="t" rotWithShape="0">
                    <a:prstClr val="black">
                      <a:alpha val="40000"/>
                    </a:prstClr>
                  </a:outerShdw>
                </a:effectLst>
                <a:latin typeface="Arial Black" panose="020B0A04020102020204" pitchFamily="34" charset="0"/>
              </a:rPr>
              <a:t>do usuário</a:t>
            </a:r>
          </a:p>
        </p:txBody>
      </p:sp>
      <p:cxnSp>
        <p:nvCxnSpPr>
          <p:cNvPr id="3" name="Conector reto 2">
            <a:extLst>
              <a:ext uri="{FF2B5EF4-FFF2-40B4-BE49-F238E27FC236}">
                <a16:creationId xmlns:a16="http://schemas.microsoft.com/office/drawing/2014/main" id="{028337A0-0653-400B-861B-19331BCEEE53}"/>
              </a:ext>
            </a:extLst>
          </p:cNvPr>
          <p:cNvCxnSpPr/>
          <p:nvPr/>
        </p:nvCxnSpPr>
        <p:spPr>
          <a:xfrm>
            <a:off x="5557888" y="180231"/>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Conector reto 15">
            <a:extLst>
              <a:ext uri="{FF2B5EF4-FFF2-40B4-BE49-F238E27FC236}">
                <a16:creationId xmlns:a16="http://schemas.microsoft.com/office/drawing/2014/main" id="{707B80EA-132C-48DA-9439-9B0D2C6FE035}"/>
              </a:ext>
            </a:extLst>
          </p:cNvPr>
          <p:cNvCxnSpPr/>
          <p:nvPr/>
        </p:nvCxnSpPr>
        <p:spPr>
          <a:xfrm>
            <a:off x="5557888" y="510537"/>
            <a:ext cx="4845977"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Lua 10">
            <a:extLst>
              <a:ext uri="{FF2B5EF4-FFF2-40B4-BE49-F238E27FC236}">
                <a16:creationId xmlns:a16="http://schemas.microsoft.com/office/drawing/2014/main" id="{47C342CB-C4E2-4BC8-9374-950C0DB94BA6}"/>
              </a:ext>
            </a:extLst>
          </p:cNvPr>
          <p:cNvSpPr/>
          <p:nvPr/>
        </p:nvSpPr>
        <p:spPr>
          <a:xfrm flipH="1">
            <a:off x="7583143" y="1152713"/>
            <a:ext cx="3085737" cy="1944217"/>
          </a:xfrm>
          <a:prstGeom prst="moon">
            <a:avLst>
              <a:gd name="adj" fmla="val 18505"/>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scene3d>
              <a:camera prst="orthographicFront"/>
              <a:lightRig rig="threePt" dir="t"/>
            </a:scene3d>
            <a:sp3d extrusionH="57150">
              <a:bevelT w="38100" h="38100" prst="slope"/>
            </a:sp3d>
          </a:bodyPr>
          <a:lstStyle/>
          <a:p>
            <a:pPr algn="ctr"/>
            <a:endParaRPr lang="pt-BR"/>
          </a:p>
        </p:txBody>
      </p:sp>
      <p:sp>
        <p:nvSpPr>
          <p:cNvPr id="13" name="Lua 12">
            <a:extLst>
              <a:ext uri="{FF2B5EF4-FFF2-40B4-BE49-F238E27FC236}">
                <a16:creationId xmlns:a16="http://schemas.microsoft.com/office/drawing/2014/main" id="{572E7D4B-AA72-4CC2-B674-0F07B6DC2A2B}"/>
              </a:ext>
            </a:extLst>
          </p:cNvPr>
          <p:cNvSpPr/>
          <p:nvPr/>
        </p:nvSpPr>
        <p:spPr>
          <a:xfrm>
            <a:off x="5606800" y="810058"/>
            <a:ext cx="3085736" cy="1944218"/>
          </a:xfrm>
          <a:prstGeom prst="moon">
            <a:avLst>
              <a:gd name="adj" fmla="val 18505"/>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w="38100" h="38100" prst="slope"/>
            </a:sp3d>
          </a:bodyPr>
          <a:lstStyle/>
          <a:p>
            <a:pPr algn="ctr"/>
            <a:endParaRPr lang="pt-BR"/>
          </a:p>
        </p:txBody>
      </p:sp>
      <p:pic>
        <p:nvPicPr>
          <p:cNvPr id="73" name="Imagem 72">
            <a:extLst>
              <a:ext uri="{FF2B5EF4-FFF2-40B4-BE49-F238E27FC236}">
                <a16:creationId xmlns:a16="http://schemas.microsoft.com/office/drawing/2014/main" id="{D7168DAD-7CB7-41C1-9E60-3C7DE3754D7A}"/>
              </a:ext>
            </a:extLst>
          </p:cNvPr>
          <p:cNvPicPr/>
          <p:nvPr/>
        </p:nvPicPr>
        <p:blipFill>
          <a:blip r:embed="rId4">
            <a:extLst>
              <a:ext uri="{28A0092B-C50C-407E-A947-70E740481C1C}">
                <a14:useLocalDpi xmlns:a14="http://schemas.microsoft.com/office/drawing/2010/main" val="0"/>
              </a:ext>
            </a:extLst>
          </a:blip>
          <a:stretch>
            <a:fillRect/>
          </a:stretch>
        </p:blipFill>
        <p:spPr>
          <a:xfrm>
            <a:off x="46511" y="6853156"/>
            <a:ext cx="1525498" cy="720000"/>
          </a:xfrm>
          <a:prstGeom prst="rect">
            <a:avLst/>
          </a:prstGeom>
        </p:spPr>
      </p:pic>
      <p:pic>
        <p:nvPicPr>
          <p:cNvPr id="74" name="Imagem 73">
            <a:extLst>
              <a:ext uri="{FF2B5EF4-FFF2-40B4-BE49-F238E27FC236}">
                <a16:creationId xmlns:a16="http://schemas.microsoft.com/office/drawing/2014/main" id="{18C89EB0-ECA8-4E66-8AD9-3E9073D87D18}"/>
              </a:ext>
            </a:extLst>
          </p:cNvPr>
          <p:cNvPicPr/>
          <p:nvPr/>
        </p:nvPicPr>
        <p:blipFill>
          <a:blip r:embed="rId4">
            <a:extLst>
              <a:ext uri="{28A0092B-C50C-407E-A947-70E740481C1C}">
                <a14:useLocalDpi xmlns:a14="http://schemas.microsoft.com/office/drawing/2010/main" val="0"/>
              </a:ext>
            </a:extLst>
          </a:blip>
          <a:stretch>
            <a:fillRect/>
          </a:stretch>
        </p:blipFill>
        <p:spPr>
          <a:xfrm>
            <a:off x="1527196" y="6850952"/>
            <a:ext cx="1287893" cy="720000"/>
          </a:xfrm>
          <a:prstGeom prst="rect">
            <a:avLst/>
          </a:prstGeom>
        </p:spPr>
      </p:pic>
      <p:pic>
        <p:nvPicPr>
          <p:cNvPr id="75" name="Imagem 74">
            <a:extLst>
              <a:ext uri="{FF2B5EF4-FFF2-40B4-BE49-F238E27FC236}">
                <a16:creationId xmlns:a16="http://schemas.microsoft.com/office/drawing/2014/main" id="{86292A3B-6113-4F5B-9A3A-067E27521DB1}"/>
              </a:ext>
            </a:extLst>
          </p:cNvPr>
          <p:cNvPicPr/>
          <p:nvPr/>
        </p:nvPicPr>
        <p:blipFill>
          <a:blip r:embed="rId4">
            <a:extLst>
              <a:ext uri="{28A0092B-C50C-407E-A947-70E740481C1C}">
                <a14:useLocalDpi xmlns:a14="http://schemas.microsoft.com/office/drawing/2010/main" val="0"/>
              </a:ext>
            </a:extLst>
          </a:blip>
          <a:stretch>
            <a:fillRect/>
          </a:stretch>
        </p:blipFill>
        <p:spPr>
          <a:xfrm>
            <a:off x="2809003" y="6851445"/>
            <a:ext cx="1287893" cy="720000"/>
          </a:xfrm>
          <a:prstGeom prst="rect">
            <a:avLst/>
          </a:prstGeom>
        </p:spPr>
      </p:pic>
      <p:pic>
        <p:nvPicPr>
          <p:cNvPr id="76" name="Imagem 75">
            <a:extLst>
              <a:ext uri="{FF2B5EF4-FFF2-40B4-BE49-F238E27FC236}">
                <a16:creationId xmlns:a16="http://schemas.microsoft.com/office/drawing/2014/main" id="{2ADE0704-0CCD-4E35-BA05-C3E6074CFC5A}"/>
              </a:ext>
            </a:extLst>
          </p:cNvPr>
          <p:cNvPicPr/>
          <p:nvPr/>
        </p:nvPicPr>
        <p:blipFill>
          <a:blip r:embed="rId4">
            <a:extLst>
              <a:ext uri="{28A0092B-C50C-407E-A947-70E740481C1C}">
                <a14:useLocalDpi xmlns:a14="http://schemas.microsoft.com/office/drawing/2010/main" val="0"/>
              </a:ext>
            </a:extLst>
          </a:blip>
          <a:stretch>
            <a:fillRect/>
          </a:stretch>
        </p:blipFill>
        <p:spPr>
          <a:xfrm>
            <a:off x="4061239" y="6850952"/>
            <a:ext cx="1287894" cy="720000"/>
          </a:xfrm>
          <a:prstGeom prst="rect">
            <a:avLst/>
          </a:prstGeom>
        </p:spPr>
      </p:pic>
      <p:pic>
        <p:nvPicPr>
          <p:cNvPr id="77" name="Imagem 76">
            <a:extLst>
              <a:ext uri="{FF2B5EF4-FFF2-40B4-BE49-F238E27FC236}">
                <a16:creationId xmlns:a16="http://schemas.microsoft.com/office/drawing/2014/main" id="{B71754B6-0BDA-4C95-8A22-A96A935D9E1C}"/>
              </a:ext>
            </a:extLst>
          </p:cNvPr>
          <p:cNvPicPr/>
          <p:nvPr/>
        </p:nvPicPr>
        <p:blipFill>
          <a:blip r:embed="rId4">
            <a:extLst>
              <a:ext uri="{28A0092B-C50C-407E-A947-70E740481C1C}">
                <a14:useLocalDpi xmlns:a14="http://schemas.microsoft.com/office/drawing/2010/main" val="0"/>
              </a:ext>
            </a:extLst>
          </a:blip>
          <a:stretch>
            <a:fillRect/>
          </a:stretch>
        </p:blipFill>
        <p:spPr>
          <a:xfrm>
            <a:off x="44280" y="6145882"/>
            <a:ext cx="1525498" cy="720000"/>
          </a:xfrm>
          <a:prstGeom prst="rect">
            <a:avLst/>
          </a:prstGeom>
        </p:spPr>
      </p:pic>
      <p:pic>
        <p:nvPicPr>
          <p:cNvPr id="78" name="Imagem 77">
            <a:extLst>
              <a:ext uri="{FF2B5EF4-FFF2-40B4-BE49-F238E27FC236}">
                <a16:creationId xmlns:a16="http://schemas.microsoft.com/office/drawing/2014/main" id="{F43A4DCA-4916-4127-8162-657A53DA924D}"/>
              </a:ext>
            </a:extLst>
          </p:cNvPr>
          <p:cNvPicPr/>
          <p:nvPr/>
        </p:nvPicPr>
        <p:blipFill>
          <a:blip r:embed="rId4">
            <a:extLst>
              <a:ext uri="{28A0092B-C50C-407E-A947-70E740481C1C}">
                <a14:useLocalDpi xmlns:a14="http://schemas.microsoft.com/office/drawing/2010/main" val="0"/>
              </a:ext>
            </a:extLst>
          </a:blip>
          <a:stretch>
            <a:fillRect/>
          </a:stretch>
        </p:blipFill>
        <p:spPr>
          <a:xfrm>
            <a:off x="1524965" y="6143678"/>
            <a:ext cx="1287893" cy="720000"/>
          </a:xfrm>
          <a:prstGeom prst="rect">
            <a:avLst/>
          </a:prstGeom>
        </p:spPr>
      </p:pic>
      <p:pic>
        <p:nvPicPr>
          <p:cNvPr id="79" name="Imagem 78">
            <a:extLst>
              <a:ext uri="{FF2B5EF4-FFF2-40B4-BE49-F238E27FC236}">
                <a16:creationId xmlns:a16="http://schemas.microsoft.com/office/drawing/2014/main" id="{B0D13181-49A2-44EE-A084-1B6E521ABEC5}"/>
              </a:ext>
            </a:extLst>
          </p:cNvPr>
          <p:cNvPicPr/>
          <p:nvPr/>
        </p:nvPicPr>
        <p:blipFill>
          <a:blip r:embed="rId4">
            <a:extLst>
              <a:ext uri="{28A0092B-C50C-407E-A947-70E740481C1C}">
                <a14:useLocalDpi xmlns:a14="http://schemas.microsoft.com/office/drawing/2010/main" val="0"/>
              </a:ext>
            </a:extLst>
          </a:blip>
          <a:stretch>
            <a:fillRect/>
          </a:stretch>
        </p:blipFill>
        <p:spPr>
          <a:xfrm>
            <a:off x="2806772" y="6144171"/>
            <a:ext cx="1287893" cy="720000"/>
          </a:xfrm>
          <a:prstGeom prst="rect">
            <a:avLst/>
          </a:prstGeom>
        </p:spPr>
      </p:pic>
      <p:pic>
        <p:nvPicPr>
          <p:cNvPr id="80" name="Imagem 79">
            <a:extLst>
              <a:ext uri="{FF2B5EF4-FFF2-40B4-BE49-F238E27FC236}">
                <a16:creationId xmlns:a16="http://schemas.microsoft.com/office/drawing/2014/main" id="{55860522-325E-4AF1-872D-55EBA4E37261}"/>
              </a:ext>
            </a:extLst>
          </p:cNvPr>
          <p:cNvPicPr/>
          <p:nvPr/>
        </p:nvPicPr>
        <p:blipFill>
          <a:blip r:embed="rId4">
            <a:extLst>
              <a:ext uri="{28A0092B-C50C-407E-A947-70E740481C1C}">
                <a14:useLocalDpi xmlns:a14="http://schemas.microsoft.com/office/drawing/2010/main" val="0"/>
              </a:ext>
            </a:extLst>
          </a:blip>
          <a:stretch>
            <a:fillRect/>
          </a:stretch>
        </p:blipFill>
        <p:spPr>
          <a:xfrm>
            <a:off x="4059008" y="6143678"/>
            <a:ext cx="1287894" cy="720000"/>
          </a:xfrm>
          <a:prstGeom prst="rect">
            <a:avLst/>
          </a:prstGeom>
        </p:spPr>
      </p:pic>
      <p:pic>
        <p:nvPicPr>
          <p:cNvPr id="90" name="Imagem 89">
            <a:extLst>
              <a:ext uri="{FF2B5EF4-FFF2-40B4-BE49-F238E27FC236}">
                <a16:creationId xmlns:a16="http://schemas.microsoft.com/office/drawing/2014/main" id="{6BA64C04-3981-42E9-9097-4CA7F734ED12}"/>
              </a:ext>
            </a:extLst>
          </p:cNvPr>
          <p:cNvPicPr/>
          <p:nvPr/>
        </p:nvPicPr>
        <p:blipFill>
          <a:blip r:embed="rId4">
            <a:extLst>
              <a:ext uri="{28A0092B-C50C-407E-A947-70E740481C1C}">
                <a14:useLocalDpi xmlns:a14="http://schemas.microsoft.com/office/drawing/2010/main" val="0"/>
              </a:ext>
            </a:extLst>
          </a:blip>
          <a:stretch>
            <a:fillRect/>
          </a:stretch>
        </p:blipFill>
        <p:spPr>
          <a:xfrm>
            <a:off x="46511" y="5438608"/>
            <a:ext cx="1525498" cy="720000"/>
          </a:xfrm>
          <a:prstGeom prst="rect">
            <a:avLst/>
          </a:prstGeom>
        </p:spPr>
      </p:pic>
      <p:pic>
        <p:nvPicPr>
          <p:cNvPr id="91" name="Imagem 90">
            <a:extLst>
              <a:ext uri="{FF2B5EF4-FFF2-40B4-BE49-F238E27FC236}">
                <a16:creationId xmlns:a16="http://schemas.microsoft.com/office/drawing/2014/main" id="{A85CCEFA-5CE6-4F10-BC41-A57D5223FAE9}"/>
              </a:ext>
            </a:extLst>
          </p:cNvPr>
          <p:cNvPicPr/>
          <p:nvPr/>
        </p:nvPicPr>
        <p:blipFill>
          <a:blip r:embed="rId4">
            <a:extLst>
              <a:ext uri="{28A0092B-C50C-407E-A947-70E740481C1C}">
                <a14:useLocalDpi xmlns:a14="http://schemas.microsoft.com/office/drawing/2010/main" val="0"/>
              </a:ext>
            </a:extLst>
          </a:blip>
          <a:stretch>
            <a:fillRect/>
          </a:stretch>
        </p:blipFill>
        <p:spPr>
          <a:xfrm>
            <a:off x="1527196" y="5436404"/>
            <a:ext cx="1287893" cy="720000"/>
          </a:xfrm>
          <a:prstGeom prst="rect">
            <a:avLst/>
          </a:prstGeom>
        </p:spPr>
      </p:pic>
      <p:pic>
        <p:nvPicPr>
          <p:cNvPr id="92" name="Imagem 91">
            <a:extLst>
              <a:ext uri="{FF2B5EF4-FFF2-40B4-BE49-F238E27FC236}">
                <a16:creationId xmlns:a16="http://schemas.microsoft.com/office/drawing/2014/main" id="{FBEAD7E5-E941-4E5D-9F9C-D7BEAA8BD876}"/>
              </a:ext>
            </a:extLst>
          </p:cNvPr>
          <p:cNvPicPr/>
          <p:nvPr/>
        </p:nvPicPr>
        <p:blipFill>
          <a:blip r:embed="rId4">
            <a:extLst>
              <a:ext uri="{28A0092B-C50C-407E-A947-70E740481C1C}">
                <a14:useLocalDpi xmlns:a14="http://schemas.microsoft.com/office/drawing/2010/main" val="0"/>
              </a:ext>
            </a:extLst>
          </a:blip>
          <a:stretch>
            <a:fillRect/>
          </a:stretch>
        </p:blipFill>
        <p:spPr>
          <a:xfrm>
            <a:off x="2809003" y="5436897"/>
            <a:ext cx="1287893" cy="720000"/>
          </a:xfrm>
          <a:prstGeom prst="rect">
            <a:avLst/>
          </a:prstGeom>
        </p:spPr>
      </p:pic>
      <p:pic>
        <p:nvPicPr>
          <p:cNvPr id="93" name="Imagem 92">
            <a:extLst>
              <a:ext uri="{FF2B5EF4-FFF2-40B4-BE49-F238E27FC236}">
                <a16:creationId xmlns:a16="http://schemas.microsoft.com/office/drawing/2014/main" id="{FF4C6F13-7F0E-46D3-AC73-1A5416A37097}"/>
              </a:ext>
            </a:extLst>
          </p:cNvPr>
          <p:cNvPicPr/>
          <p:nvPr/>
        </p:nvPicPr>
        <p:blipFill>
          <a:blip r:embed="rId4">
            <a:extLst>
              <a:ext uri="{28A0092B-C50C-407E-A947-70E740481C1C}">
                <a14:useLocalDpi xmlns:a14="http://schemas.microsoft.com/office/drawing/2010/main" val="0"/>
              </a:ext>
            </a:extLst>
          </a:blip>
          <a:stretch>
            <a:fillRect/>
          </a:stretch>
        </p:blipFill>
        <p:spPr>
          <a:xfrm>
            <a:off x="4061239" y="5436404"/>
            <a:ext cx="1287894" cy="720000"/>
          </a:xfrm>
          <a:prstGeom prst="rect">
            <a:avLst/>
          </a:prstGeom>
        </p:spPr>
      </p:pic>
      <p:pic>
        <p:nvPicPr>
          <p:cNvPr id="94" name="Imagem 93">
            <a:extLst>
              <a:ext uri="{FF2B5EF4-FFF2-40B4-BE49-F238E27FC236}">
                <a16:creationId xmlns:a16="http://schemas.microsoft.com/office/drawing/2014/main" id="{C4F64A8E-7FC6-44BA-944B-0622CD0FAD1A}"/>
              </a:ext>
            </a:extLst>
          </p:cNvPr>
          <p:cNvPicPr/>
          <p:nvPr/>
        </p:nvPicPr>
        <p:blipFill>
          <a:blip r:embed="rId4">
            <a:extLst>
              <a:ext uri="{28A0092B-C50C-407E-A947-70E740481C1C}">
                <a14:useLocalDpi xmlns:a14="http://schemas.microsoft.com/office/drawing/2010/main" val="0"/>
              </a:ext>
            </a:extLst>
          </a:blip>
          <a:stretch>
            <a:fillRect/>
          </a:stretch>
        </p:blipFill>
        <p:spPr>
          <a:xfrm>
            <a:off x="44280" y="4731334"/>
            <a:ext cx="1525498" cy="720000"/>
          </a:xfrm>
          <a:prstGeom prst="rect">
            <a:avLst/>
          </a:prstGeom>
        </p:spPr>
      </p:pic>
      <p:pic>
        <p:nvPicPr>
          <p:cNvPr id="95" name="Imagem 94">
            <a:extLst>
              <a:ext uri="{FF2B5EF4-FFF2-40B4-BE49-F238E27FC236}">
                <a16:creationId xmlns:a16="http://schemas.microsoft.com/office/drawing/2014/main" id="{7E519CC2-0D61-45FE-8DD7-C6F36A14AC89}"/>
              </a:ext>
            </a:extLst>
          </p:cNvPr>
          <p:cNvPicPr/>
          <p:nvPr/>
        </p:nvPicPr>
        <p:blipFill>
          <a:blip r:embed="rId4">
            <a:extLst>
              <a:ext uri="{28A0092B-C50C-407E-A947-70E740481C1C}">
                <a14:useLocalDpi xmlns:a14="http://schemas.microsoft.com/office/drawing/2010/main" val="0"/>
              </a:ext>
            </a:extLst>
          </a:blip>
          <a:stretch>
            <a:fillRect/>
          </a:stretch>
        </p:blipFill>
        <p:spPr>
          <a:xfrm>
            <a:off x="1524965" y="4729130"/>
            <a:ext cx="1287893" cy="720000"/>
          </a:xfrm>
          <a:prstGeom prst="rect">
            <a:avLst/>
          </a:prstGeom>
        </p:spPr>
      </p:pic>
      <p:pic>
        <p:nvPicPr>
          <p:cNvPr id="96" name="Imagem 95">
            <a:extLst>
              <a:ext uri="{FF2B5EF4-FFF2-40B4-BE49-F238E27FC236}">
                <a16:creationId xmlns:a16="http://schemas.microsoft.com/office/drawing/2014/main" id="{4AAFA154-8901-48DD-827A-3B4688DA64DD}"/>
              </a:ext>
            </a:extLst>
          </p:cNvPr>
          <p:cNvPicPr/>
          <p:nvPr/>
        </p:nvPicPr>
        <p:blipFill>
          <a:blip r:embed="rId4">
            <a:extLst>
              <a:ext uri="{28A0092B-C50C-407E-A947-70E740481C1C}">
                <a14:useLocalDpi xmlns:a14="http://schemas.microsoft.com/office/drawing/2010/main" val="0"/>
              </a:ext>
            </a:extLst>
          </a:blip>
          <a:stretch>
            <a:fillRect/>
          </a:stretch>
        </p:blipFill>
        <p:spPr>
          <a:xfrm>
            <a:off x="2806772" y="4729623"/>
            <a:ext cx="1287893" cy="720000"/>
          </a:xfrm>
          <a:prstGeom prst="rect">
            <a:avLst/>
          </a:prstGeom>
        </p:spPr>
      </p:pic>
      <p:pic>
        <p:nvPicPr>
          <p:cNvPr id="97" name="Imagem 96">
            <a:extLst>
              <a:ext uri="{FF2B5EF4-FFF2-40B4-BE49-F238E27FC236}">
                <a16:creationId xmlns:a16="http://schemas.microsoft.com/office/drawing/2014/main" id="{B903531A-4B89-47C0-8E67-F73224A1343E}"/>
              </a:ext>
            </a:extLst>
          </p:cNvPr>
          <p:cNvPicPr/>
          <p:nvPr/>
        </p:nvPicPr>
        <p:blipFill>
          <a:blip r:embed="rId4">
            <a:extLst>
              <a:ext uri="{28A0092B-C50C-407E-A947-70E740481C1C}">
                <a14:useLocalDpi xmlns:a14="http://schemas.microsoft.com/office/drawing/2010/main" val="0"/>
              </a:ext>
            </a:extLst>
          </a:blip>
          <a:stretch>
            <a:fillRect/>
          </a:stretch>
        </p:blipFill>
        <p:spPr>
          <a:xfrm>
            <a:off x="4059008" y="4729130"/>
            <a:ext cx="1287894" cy="720000"/>
          </a:xfrm>
          <a:prstGeom prst="rect">
            <a:avLst/>
          </a:prstGeom>
        </p:spPr>
      </p:pic>
      <p:pic>
        <p:nvPicPr>
          <p:cNvPr id="98" name="Imagem 97">
            <a:extLst>
              <a:ext uri="{FF2B5EF4-FFF2-40B4-BE49-F238E27FC236}">
                <a16:creationId xmlns:a16="http://schemas.microsoft.com/office/drawing/2014/main" id="{449EC945-7C3C-4D81-A58F-CEAB779A0F24}"/>
              </a:ext>
            </a:extLst>
          </p:cNvPr>
          <p:cNvPicPr/>
          <p:nvPr/>
        </p:nvPicPr>
        <p:blipFill>
          <a:blip r:embed="rId4">
            <a:extLst>
              <a:ext uri="{28A0092B-C50C-407E-A947-70E740481C1C}">
                <a14:useLocalDpi xmlns:a14="http://schemas.microsoft.com/office/drawing/2010/main" val="0"/>
              </a:ext>
            </a:extLst>
          </a:blip>
          <a:stretch>
            <a:fillRect/>
          </a:stretch>
        </p:blipFill>
        <p:spPr>
          <a:xfrm>
            <a:off x="37767" y="4020887"/>
            <a:ext cx="1525498" cy="720000"/>
          </a:xfrm>
          <a:prstGeom prst="rect">
            <a:avLst/>
          </a:prstGeom>
        </p:spPr>
      </p:pic>
      <p:pic>
        <p:nvPicPr>
          <p:cNvPr id="99" name="Imagem 98">
            <a:extLst>
              <a:ext uri="{FF2B5EF4-FFF2-40B4-BE49-F238E27FC236}">
                <a16:creationId xmlns:a16="http://schemas.microsoft.com/office/drawing/2014/main" id="{6A47E058-151D-4320-A3A0-608CC1E8598B}"/>
              </a:ext>
            </a:extLst>
          </p:cNvPr>
          <p:cNvPicPr/>
          <p:nvPr/>
        </p:nvPicPr>
        <p:blipFill>
          <a:blip r:embed="rId4">
            <a:extLst>
              <a:ext uri="{28A0092B-C50C-407E-A947-70E740481C1C}">
                <a14:useLocalDpi xmlns:a14="http://schemas.microsoft.com/office/drawing/2010/main" val="0"/>
              </a:ext>
            </a:extLst>
          </a:blip>
          <a:stretch>
            <a:fillRect/>
          </a:stretch>
        </p:blipFill>
        <p:spPr>
          <a:xfrm>
            <a:off x="1518452" y="4018683"/>
            <a:ext cx="1287893" cy="720000"/>
          </a:xfrm>
          <a:prstGeom prst="rect">
            <a:avLst/>
          </a:prstGeom>
        </p:spPr>
      </p:pic>
      <p:pic>
        <p:nvPicPr>
          <p:cNvPr id="100" name="Imagem 99">
            <a:extLst>
              <a:ext uri="{FF2B5EF4-FFF2-40B4-BE49-F238E27FC236}">
                <a16:creationId xmlns:a16="http://schemas.microsoft.com/office/drawing/2014/main" id="{63859B05-FEB8-4505-BDC8-BA9C3D5AE391}"/>
              </a:ext>
            </a:extLst>
          </p:cNvPr>
          <p:cNvPicPr/>
          <p:nvPr/>
        </p:nvPicPr>
        <p:blipFill>
          <a:blip r:embed="rId4">
            <a:extLst>
              <a:ext uri="{28A0092B-C50C-407E-A947-70E740481C1C}">
                <a14:useLocalDpi xmlns:a14="http://schemas.microsoft.com/office/drawing/2010/main" val="0"/>
              </a:ext>
            </a:extLst>
          </a:blip>
          <a:stretch>
            <a:fillRect/>
          </a:stretch>
        </p:blipFill>
        <p:spPr>
          <a:xfrm>
            <a:off x="2800259" y="4019176"/>
            <a:ext cx="1287893" cy="720000"/>
          </a:xfrm>
          <a:prstGeom prst="rect">
            <a:avLst/>
          </a:prstGeom>
        </p:spPr>
      </p:pic>
      <p:pic>
        <p:nvPicPr>
          <p:cNvPr id="101" name="Imagem 100">
            <a:extLst>
              <a:ext uri="{FF2B5EF4-FFF2-40B4-BE49-F238E27FC236}">
                <a16:creationId xmlns:a16="http://schemas.microsoft.com/office/drawing/2014/main" id="{87347CF7-9122-4146-9089-50388324081E}"/>
              </a:ext>
            </a:extLst>
          </p:cNvPr>
          <p:cNvPicPr/>
          <p:nvPr/>
        </p:nvPicPr>
        <p:blipFill>
          <a:blip r:embed="rId4">
            <a:extLst>
              <a:ext uri="{28A0092B-C50C-407E-A947-70E740481C1C}">
                <a14:useLocalDpi xmlns:a14="http://schemas.microsoft.com/office/drawing/2010/main" val="0"/>
              </a:ext>
            </a:extLst>
          </a:blip>
          <a:stretch>
            <a:fillRect/>
          </a:stretch>
        </p:blipFill>
        <p:spPr>
          <a:xfrm>
            <a:off x="4052495" y="4018683"/>
            <a:ext cx="1287894" cy="720000"/>
          </a:xfrm>
          <a:prstGeom prst="rect">
            <a:avLst/>
          </a:prstGeom>
        </p:spPr>
      </p:pic>
      <p:pic>
        <p:nvPicPr>
          <p:cNvPr id="102" name="Imagem 101">
            <a:extLst>
              <a:ext uri="{FF2B5EF4-FFF2-40B4-BE49-F238E27FC236}">
                <a16:creationId xmlns:a16="http://schemas.microsoft.com/office/drawing/2014/main" id="{D38288B8-80AF-457C-866E-F979669C8739}"/>
              </a:ext>
            </a:extLst>
          </p:cNvPr>
          <p:cNvPicPr/>
          <p:nvPr/>
        </p:nvPicPr>
        <p:blipFill>
          <a:blip r:embed="rId4">
            <a:extLst>
              <a:ext uri="{28A0092B-C50C-407E-A947-70E740481C1C}">
                <a14:useLocalDpi xmlns:a14="http://schemas.microsoft.com/office/drawing/2010/main" val="0"/>
              </a:ext>
            </a:extLst>
          </a:blip>
          <a:stretch>
            <a:fillRect/>
          </a:stretch>
        </p:blipFill>
        <p:spPr>
          <a:xfrm>
            <a:off x="35536" y="3313613"/>
            <a:ext cx="1525498" cy="720000"/>
          </a:xfrm>
          <a:prstGeom prst="rect">
            <a:avLst/>
          </a:prstGeom>
        </p:spPr>
      </p:pic>
      <p:pic>
        <p:nvPicPr>
          <p:cNvPr id="103" name="Imagem 102">
            <a:extLst>
              <a:ext uri="{FF2B5EF4-FFF2-40B4-BE49-F238E27FC236}">
                <a16:creationId xmlns:a16="http://schemas.microsoft.com/office/drawing/2014/main" id="{373BB1D7-BF96-4C33-B892-F46DAD08EB0E}"/>
              </a:ext>
            </a:extLst>
          </p:cNvPr>
          <p:cNvPicPr/>
          <p:nvPr/>
        </p:nvPicPr>
        <p:blipFill>
          <a:blip r:embed="rId4">
            <a:extLst>
              <a:ext uri="{28A0092B-C50C-407E-A947-70E740481C1C}">
                <a14:useLocalDpi xmlns:a14="http://schemas.microsoft.com/office/drawing/2010/main" val="0"/>
              </a:ext>
            </a:extLst>
          </a:blip>
          <a:stretch>
            <a:fillRect/>
          </a:stretch>
        </p:blipFill>
        <p:spPr>
          <a:xfrm>
            <a:off x="1516221" y="3311409"/>
            <a:ext cx="1287893" cy="720000"/>
          </a:xfrm>
          <a:prstGeom prst="rect">
            <a:avLst/>
          </a:prstGeom>
        </p:spPr>
      </p:pic>
      <p:pic>
        <p:nvPicPr>
          <p:cNvPr id="104" name="Imagem 103">
            <a:extLst>
              <a:ext uri="{FF2B5EF4-FFF2-40B4-BE49-F238E27FC236}">
                <a16:creationId xmlns:a16="http://schemas.microsoft.com/office/drawing/2014/main" id="{7FCDFA30-2C7A-44AD-AAF7-BE15EF03240E}"/>
              </a:ext>
            </a:extLst>
          </p:cNvPr>
          <p:cNvPicPr/>
          <p:nvPr/>
        </p:nvPicPr>
        <p:blipFill>
          <a:blip r:embed="rId4">
            <a:extLst>
              <a:ext uri="{28A0092B-C50C-407E-A947-70E740481C1C}">
                <a14:useLocalDpi xmlns:a14="http://schemas.microsoft.com/office/drawing/2010/main" val="0"/>
              </a:ext>
            </a:extLst>
          </a:blip>
          <a:stretch>
            <a:fillRect/>
          </a:stretch>
        </p:blipFill>
        <p:spPr>
          <a:xfrm>
            <a:off x="2798028" y="3311902"/>
            <a:ext cx="1287893" cy="720000"/>
          </a:xfrm>
          <a:prstGeom prst="rect">
            <a:avLst/>
          </a:prstGeom>
        </p:spPr>
      </p:pic>
      <p:pic>
        <p:nvPicPr>
          <p:cNvPr id="105" name="Imagem 104">
            <a:extLst>
              <a:ext uri="{FF2B5EF4-FFF2-40B4-BE49-F238E27FC236}">
                <a16:creationId xmlns:a16="http://schemas.microsoft.com/office/drawing/2014/main" id="{4A09A46D-9183-48D8-8AE8-09C73D08AC1A}"/>
              </a:ext>
            </a:extLst>
          </p:cNvPr>
          <p:cNvPicPr/>
          <p:nvPr/>
        </p:nvPicPr>
        <p:blipFill>
          <a:blip r:embed="rId4">
            <a:extLst>
              <a:ext uri="{28A0092B-C50C-407E-A947-70E740481C1C}">
                <a14:useLocalDpi xmlns:a14="http://schemas.microsoft.com/office/drawing/2010/main" val="0"/>
              </a:ext>
            </a:extLst>
          </a:blip>
          <a:stretch>
            <a:fillRect/>
          </a:stretch>
        </p:blipFill>
        <p:spPr>
          <a:xfrm>
            <a:off x="4050264" y="3311409"/>
            <a:ext cx="1287894" cy="720000"/>
          </a:xfrm>
          <a:prstGeom prst="rect">
            <a:avLst/>
          </a:prstGeom>
        </p:spPr>
      </p:pic>
      <p:pic>
        <p:nvPicPr>
          <p:cNvPr id="106" name="Imagem 105">
            <a:extLst>
              <a:ext uri="{FF2B5EF4-FFF2-40B4-BE49-F238E27FC236}">
                <a16:creationId xmlns:a16="http://schemas.microsoft.com/office/drawing/2014/main" id="{79D83DA4-2698-47F0-92F9-6F8BF7534BB8}"/>
              </a:ext>
            </a:extLst>
          </p:cNvPr>
          <p:cNvPicPr/>
          <p:nvPr/>
        </p:nvPicPr>
        <p:blipFill>
          <a:blip r:embed="rId4">
            <a:extLst>
              <a:ext uri="{28A0092B-C50C-407E-A947-70E740481C1C}">
                <a14:useLocalDpi xmlns:a14="http://schemas.microsoft.com/office/drawing/2010/main" val="0"/>
              </a:ext>
            </a:extLst>
          </a:blip>
          <a:stretch>
            <a:fillRect/>
          </a:stretch>
        </p:blipFill>
        <p:spPr>
          <a:xfrm>
            <a:off x="37767" y="2606339"/>
            <a:ext cx="1525498" cy="720000"/>
          </a:xfrm>
          <a:prstGeom prst="rect">
            <a:avLst/>
          </a:prstGeom>
        </p:spPr>
      </p:pic>
      <p:pic>
        <p:nvPicPr>
          <p:cNvPr id="107" name="Imagem 106">
            <a:extLst>
              <a:ext uri="{FF2B5EF4-FFF2-40B4-BE49-F238E27FC236}">
                <a16:creationId xmlns:a16="http://schemas.microsoft.com/office/drawing/2014/main" id="{F0BC0DFE-C536-40F2-8D2B-201E13BA530E}"/>
              </a:ext>
            </a:extLst>
          </p:cNvPr>
          <p:cNvPicPr/>
          <p:nvPr/>
        </p:nvPicPr>
        <p:blipFill>
          <a:blip r:embed="rId4">
            <a:extLst>
              <a:ext uri="{28A0092B-C50C-407E-A947-70E740481C1C}">
                <a14:useLocalDpi xmlns:a14="http://schemas.microsoft.com/office/drawing/2010/main" val="0"/>
              </a:ext>
            </a:extLst>
          </a:blip>
          <a:stretch>
            <a:fillRect/>
          </a:stretch>
        </p:blipFill>
        <p:spPr>
          <a:xfrm>
            <a:off x="1518452" y="2604135"/>
            <a:ext cx="1287893" cy="720000"/>
          </a:xfrm>
          <a:prstGeom prst="rect">
            <a:avLst/>
          </a:prstGeom>
        </p:spPr>
      </p:pic>
      <p:pic>
        <p:nvPicPr>
          <p:cNvPr id="108" name="Imagem 107">
            <a:extLst>
              <a:ext uri="{FF2B5EF4-FFF2-40B4-BE49-F238E27FC236}">
                <a16:creationId xmlns:a16="http://schemas.microsoft.com/office/drawing/2014/main" id="{4582DD30-BAC6-4649-9AC0-8D116794D197}"/>
              </a:ext>
            </a:extLst>
          </p:cNvPr>
          <p:cNvPicPr/>
          <p:nvPr/>
        </p:nvPicPr>
        <p:blipFill>
          <a:blip r:embed="rId4">
            <a:extLst>
              <a:ext uri="{28A0092B-C50C-407E-A947-70E740481C1C}">
                <a14:useLocalDpi xmlns:a14="http://schemas.microsoft.com/office/drawing/2010/main" val="0"/>
              </a:ext>
            </a:extLst>
          </a:blip>
          <a:stretch>
            <a:fillRect/>
          </a:stretch>
        </p:blipFill>
        <p:spPr>
          <a:xfrm>
            <a:off x="2800259" y="2604628"/>
            <a:ext cx="1287893" cy="720000"/>
          </a:xfrm>
          <a:prstGeom prst="rect">
            <a:avLst/>
          </a:prstGeom>
        </p:spPr>
      </p:pic>
      <p:pic>
        <p:nvPicPr>
          <p:cNvPr id="109" name="Imagem 108">
            <a:extLst>
              <a:ext uri="{FF2B5EF4-FFF2-40B4-BE49-F238E27FC236}">
                <a16:creationId xmlns:a16="http://schemas.microsoft.com/office/drawing/2014/main" id="{18ED52B0-CBF0-40A6-BE50-30F659D4C526}"/>
              </a:ext>
            </a:extLst>
          </p:cNvPr>
          <p:cNvPicPr/>
          <p:nvPr/>
        </p:nvPicPr>
        <p:blipFill>
          <a:blip r:embed="rId4">
            <a:extLst>
              <a:ext uri="{28A0092B-C50C-407E-A947-70E740481C1C}">
                <a14:useLocalDpi xmlns:a14="http://schemas.microsoft.com/office/drawing/2010/main" val="0"/>
              </a:ext>
            </a:extLst>
          </a:blip>
          <a:stretch>
            <a:fillRect/>
          </a:stretch>
        </p:blipFill>
        <p:spPr>
          <a:xfrm>
            <a:off x="4052495" y="2604135"/>
            <a:ext cx="1287894" cy="720000"/>
          </a:xfrm>
          <a:prstGeom prst="rect">
            <a:avLst/>
          </a:prstGeom>
        </p:spPr>
      </p:pic>
      <p:pic>
        <p:nvPicPr>
          <p:cNvPr id="110" name="Imagem 109">
            <a:extLst>
              <a:ext uri="{FF2B5EF4-FFF2-40B4-BE49-F238E27FC236}">
                <a16:creationId xmlns:a16="http://schemas.microsoft.com/office/drawing/2014/main" id="{245680BA-594E-4E4F-9088-51D3B6D8D8B0}"/>
              </a:ext>
            </a:extLst>
          </p:cNvPr>
          <p:cNvPicPr/>
          <p:nvPr/>
        </p:nvPicPr>
        <p:blipFill>
          <a:blip r:embed="rId4">
            <a:extLst>
              <a:ext uri="{28A0092B-C50C-407E-A947-70E740481C1C}">
                <a14:useLocalDpi xmlns:a14="http://schemas.microsoft.com/office/drawing/2010/main" val="0"/>
              </a:ext>
            </a:extLst>
          </a:blip>
          <a:stretch>
            <a:fillRect/>
          </a:stretch>
        </p:blipFill>
        <p:spPr>
          <a:xfrm>
            <a:off x="35536" y="1899065"/>
            <a:ext cx="1525498" cy="720000"/>
          </a:xfrm>
          <a:prstGeom prst="rect">
            <a:avLst/>
          </a:prstGeom>
        </p:spPr>
      </p:pic>
      <p:pic>
        <p:nvPicPr>
          <p:cNvPr id="111" name="Imagem 110">
            <a:extLst>
              <a:ext uri="{FF2B5EF4-FFF2-40B4-BE49-F238E27FC236}">
                <a16:creationId xmlns:a16="http://schemas.microsoft.com/office/drawing/2014/main" id="{7EB66150-8F48-4682-962B-161CC6766D32}"/>
              </a:ext>
            </a:extLst>
          </p:cNvPr>
          <p:cNvPicPr/>
          <p:nvPr/>
        </p:nvPicPr>
        <p:blipFill>
          <a:blip r:embed="rId4">
            <a:extLst>
              <a:ext uri="{28A0092B-C50C-407E-A947-70E740481C1C}">
                <a14:useLocalDpi xmlns:a14="http://schemas.microsoft.com/office/drawing/2010/main" val="0"/>
              </a:ext>
            </a:extLst>
          </a:blip>
          <a:stretch>
            <a:fillRect/>
          </a:stretch>
        </p:blipFill>
        <p:spPr>
          <a:xfrm>
            <a:off x="1516221" y="1896861"/>
            <a:ext cx="1287893" cy="720000"/>
          </a:xfrm>
          <a:prstGeom prst="rect">
            <a:avLst/>
          </a:prstGeom>
        </p:spPr>
      </p:pic>
      <p:pic>
        <p:nvPicPr>
          <p:cNvPr id="112" name="Imagem 111">
            <a:extLst>
              <a:ext uri="{FF2B5EF4-FFF2-40B4-BE49-F238E27FC236}">
                <a16:creationId xmlns:a16="http://schemas.microsoft.com/office/drawing/2014/main" id="{A49D8BBC-16BA-4BC0-951A-DC7052A8D5BF}"/>
              </a:ext>
            </a:extLst>
          </p:cNvPr>
          <p:cNvPicPr/>
          <p:nvPr/>
        </p:nvPicPr>
        <p:blipFill>
          <a:blip r:embed="rId4">
            <a:extLst>
              <a:ext uri="{28A0092B-C50C-407E-A947-70E740481C1C}">
                <a14:useLocalDpi xmlns:a14="http://schemas.microsoft.com/office/drawing/2010/main" val="0"/>
              </a:ext>
            </a:extLst>
          </a:blip>
          <a:stretch>
            <a:fillRect/>
          </a:stretch>
        </p:blipFill>
        <p:spPr>
          <a:xfrm>
            <a:off x="2798028" y="1897354"/>
            <a:ext cx="1287893" cy="720000"/>
          </a:xfrm>
          <a:prstGeom prst="rect">
            <a:avLst/>
          </a:prstGeom>
        </p:spPr>
      </p:pic>
      <p:pic>
        <p:nvPicPr>
          <p:cNvPr id="113" name="Imagem 112">
            <a:extLst>
              <a:ext uri="{FF2B5EF4-FFF2-40B4-BE49-F238E27FC236}">
                <a16:creationId xmlns:a16="http://schemas.microsoft.com/office/drawing/2014/main" id="{5AA464F0-7525-4DA6-97D2-92A1DDE79501}"/>
              </a:ext>
            </a:extLst>
          </p:cNvPr>
          <p:cNvPicPr/>
          <p:nvPr/>
        </p:nvPicPr>
        <p:blipFill>
          <a:blip r:embed="rId4">
            <a:extLst>
              <a:ext uri="{28A0092B-C50C-407E-A947-70E740481C1C}">
                <a14:useLocalDpi xmlns:a14="http://schemas.microsoft.com/office/drawing/2010/main" val="0"/>
              </a:ext>
            </a:extLst>
          </a:blip>
          <a:stretch>
            <a:fillRect/>
          </a:stretch>
        </p:blipFill>
        <p:spPr>
          <a:xfrm>
            <a:off x="4050264" y="1896861"/>
            <a:ext cx="1287894" cy="720000"/>
          </a:xfrm>
          <a:prstGeom prst="rect">
            <a:avLst/>
          </a:prstGeom>
        </p:spPr>
      </p:pic>
      <p:pic>
        <p:nvPicPr>
          <p:cNvPr id="114" name="Imagem 113">
            <a:extLst>
              <a:ext uri="{FF2B5EF4-FFF2-40B4-BE49-F238E27FC236}">
                <a16:creationId xmlns:a16="http://schemas.microsoft.com/office/drawing/2014/main" id="{1BBEF17A-4C51-45CF-8526-29A0015B7402}"/>
              </a:ext>
            </a:extLst>
          </p:cNvPr>
          <p:cNvPicPr/>
          <p:nvPr/>
        </p:nvPicPr>
        <p:blipFill>
          <a:blip r:embed="rId4">
            <a:extLst>
              <a:ext uri="{28A0092B-C50C-407E-A947-70E740481C1C}">
                <a14:useLocalDpi xmlns:a14="http://schemas.microsoft.com/office/drawing/2010/main" val="0"/>
              </a:ext>
            </a:extLst>
          </a:blip>
          <a:stretch>
            <a:fillRect/>
          </a:stretch>
        </p:blipFill>
        <p:spPr>
          <a:xfrm>
            <a:off x="44280" y="1220015"/>
            <a:ext cx="1525498" cy="720000"/>
          </a:xfrm>
          <a:prstGeom prst="rect">
            <a:avLst/>
          </a:prstGeom>
        </p:spPr>
      </p:pic>
      <p:pic>
        <p:nvPicPr>
          <p:cNvPr id="115" name="Imagem 114">
            <a:extLst>
              <a:ext uri="{FF2B5EF4-FFF2-40B4-BE49-F238E27FC236}">
                <a16:creationId xmlns:a16="http://schemas.microsoft.com/office/drawing/2014/main" id="{A0F53765-492D-4CB4-B4CA-8CC164262451}"/>
              </a:ext>
            </a:extLst>
          </p:cNvPr>
          <p:cNvPicPr/>
          <p:nvPr/>
        </p:nvPicPr>
        <p:blipFill>
          <a:blip r:embed="rId4">
            <a:extLst>
              <a:ext uri="{28A0092B-C50C-407E-A947-70E740481C1C}">
                <a14:useLocalDpi xmlns:a14="http://schemas.microsoft.com/office/drawing/2010/main" val="0"/>
              </a:ext>
            </a:extLst>
          </a:blip>
          <a:stretch>
            <a:fillRect/>
          </a:stretch>
        </p:blipFill>
        <p:spPr>
          <a:xfrm>
            <a:off x="1524965" y="1217811"/>
            <a:ext cx="1287893" cy="720000"/>
          </a:xfrm>
          <a:prstGeom prst="rect">
            <a:avLst/>
          </a:prstGeom>
        </p:spPr>
      </p:pic>
      <p:pic>
        <p:nvPicPr>
          <p:cNvPr id="116" name="Imagem 115">
            <a:extLst>
              <a:ext uri="{FF2B5EF4-FFF2-40B4-BE49-F238E27FC236}">
                <a16:creationId xmlns:a16="http://schemas.microsoft.com/office/drawing/2014/main" id="{BE7EB3DD-E71C-4543-9054-6DE0946DD4EE}"/>
              </a:ext>
            </a:extLst>
          </p:cNvPr>
          <p:cNvPicPr/>
          <p:nvPr/>
        </p:nvPicPr>
        <p:blipFill>
          <a:blip r:embed="rId4">
            <a:extLst>
              <a:ext uri="{28A0092B-C50C-407E-A947-70E740481C1C}">
                <a14:useLocalDpi xmlns:a14="http://schemas.microsoft.com/office/drawing/2010/main" val="0"/>
              </a:ext>
            </a:extLst>
          </a:blip>
          <a:stretch>
            <a:fillRect/>
          </a:stretch>
        </p:blipFill>
        <p:spPr>
          <a:xfrm>
            <a:off x="2806772" y="1218304"/>
            <a:ext cx="1287893" cy="720000"/>
          </a:xfrm>
          <a:prstGeom prst="rect">
            <a:avLst/>
          </a:prstGeom>
        </p:spPr>
      </p:pic>
      <p:pic>
        <p:nvPicPr>
          <p:cNvPr id="117" name="Imagem 116">
            <a:extLst>
              <a:ext uri="{FF2B5EF4-FFF2-40B4-BE49-F238E27FC236}">
                <a16:creationId xmlns:a16="http://schemas.microsoft.com/office/drawing/2014/main" id="{2CEE893C-D707-4685-90BB-7B09A21F669F}"/>
              </a:ext>
            </a:extLst>
          </p:cNvPr>
          <p:cNvPicPr/>
          <p:nvPr/>
        </p:nvPicPr>
        <p:blipFill>
          <a:blip r:embed="rId4">
            <a:extLst>
              <a:ext uri="{28A0092B-C50C-407E-A947-70E740481C1C}">
                <a14:useLocalDpi xmlns:a14="http://schemas.microsoft.com/office/drawing/2010/main" val="0"/>
              </a:ext>
            </a:extLst>
          </a:blip>
          <a:stretch>
            <a:fillRect/>
          </a:stretch>
        </p:blipFill>
        <p:spPr>
          <a:xfrm>
            <a:off x="4059008" y="1217811"/>
            <a:ext cx="1287894" cy="720000"/>
          </a:xfrm>
          <a:prstGeom prst="rect">
            <a:avLst/>
          </a:prstGeom>
        </p:spPr>
      </p:pic>
      <p:pic>
        <p:nvPicPr>
          <p:cNvPr id="118" name="Imagem 117">
            <a:extLst>
              <a:ext uri="{FF2B5EF4-FFF2-40B4-BE49-F238E27FC236}">
                <a16:creationId xmlns:a16="http://schemas.microsoft.com/office/drawing/2014/main" id="{5AC629B7-AFCA-40F1-ACC0-BA2BD9E54531}"/>
              </a:ext>
            </a:extLst>
          </p:cNvPr>
          <p:cNvPicPr/>
          <p:nvPr/>
        </p:nvPicPr>
        <p:blipFill>
          <a:blip r:embed="rId4">
            <a:extLst>
              <a:ext uri="{28A0092B-C50C-407E-A947-70E740481C1C}">
                <a14:useLocalDpi xmlns:a14="http://schemas.microsoft.com/office/drawing/2010/main" val="0"/>
              </a:ext>
            </a:extLst>
          </a:blip>
          <a:stretch>
            <a:fillRect/>
          </a:stretch>
        </p:blipFill>
        <p:spPr>
          <a:xfrm>
            <a:off x="42049" y="512741"/>
            <a:ext cx="1525498" cy="720000"/>
          </a:xfrm>
          <a:prstGeom prst="rect">
            <a:avLst/>
          </a:prstGeom>
        </p:spPr>
      </p:pic>
      <p:pic>
        <p:nvPicPr>
          <p:cNvPr id="119" name="Imagem 118">
            <a:extLst>
              <a:ext uri="{FF2B5EF4-FFF2-40B4-BE49-F238E27FC236}">
                <a16:creationId xmlns:a16="http://schemas.microsoft.com/office/drawing/2014/main" id="{C267EDF4-EE41-41F6-AC5B-BBC20007467E}"/>
              </a:ext>
            </a:extLst>
          </p:cNvPr>
          <p:cNvPicPr/>
          <p:nvPr/>
        </p:nvPicPr>
        <p:blipFill>
          <a:blip r:embed="rId4">
            <a:extLst>
              <a:ext uri="{28A0092B-C50C-407E-A947-70E740481C1C}">
                <a14:useLocalDpi xmlns:a14="http://schemas.microsoft.com/office/drawing/2010/main" val="0"/>
              </a:ext>
            </a:extLst>
          </a:blip>
          <a:stretch>
            <a:fillRect/>
          </a:stretch>
        </p:blipFill>
        <p:spPr>
          <a:xfrm>
            <a:off x="1522734" y="510537"/>
            <a:ext cx="1287893" cy="720000"/>
          </a:xfrm>
          <a:prstGeom prst="rect">
            <a:avLst/>
          </a:prstGeom>
        </p:spPr>
      </p:pic>
      <p:pic>
        <p:nvPicPr>
          <p:cNvPr id="120" name="Imagem 119">
            <a:extLst>
              <a:ext uri="{FF2B5EF4-FFF2-40B4-BE49-F238E27FC236}">
                <a16:creationId xmlns:a16="http://schemas.microsoft.com/office/drawing/2014/main" id="{016082EF-7437-41D2-9735-CBFC1817C2D5}"/>
              </a:ext>
            </a:extLst>
          </p:cNvPr>
          <p:cNvPicPr/>
          <p:nvPr/>
        </p:nvPicPr>
        <p:blipFill>
          <a:blip r:embed="rId4">
            <a:extLst>
              <a:ext uri="{28A0092B-C50C-407E-A947-70E740481C1C}">
                <a14:useLocalDpi xmlns:a14="http://schemas.microsoft.com/office/drawing/2010/main" val="0"/>
              </a:ext>
            </a:extLst>
          </a:blip>
          <a:stretch>
            <a:fillRect/>
          </a:stretch>
        </p:blipFill>
        <p:spPr>
          <a:xfrm>
            <a:off x="2804541" y="511030"/>
            <a:ext cx="1287893" cy="720000"/>
          </a:xfrm>
          <a:prstGeom prst="rect">
            <a:avLst/>
          </a:prstGeom>
        </p:spPr>
      </p:pic>
      <p:pic>
        <p:nvPicPr>
          <p:cNvPr id="121" name="Imagem 120">
            <a:extLst>
              <a:ext uri="{FF2B5EF4-FFF2-40B4-BE49-F238E27FC236}">
                <a16:creationId xmlns:a16="http://schemas.microsoft.com/office/drawing/2014/main" id="{3D5C1204-FA89-4E9A-A487-ECD41FA8FCEE}"/>
              </a:ext>
            </a:extLst>
          </p:cNvPr>
          <p:cNvPicPr/>
          <p:nvPr/>
        </p:nvPicPr>
        <p:blipFill>
          <a:blip r:embed="rId4">
            <a:extLst>
              <a:ext uri="{28A0092B-C50C-407E-A947-70E740481C1C}">
                <a14:useLocalDpi xmlns:a14="http://schemas.microsoft.com/office/drawing/2010/main" val="0"/>
              </a:ext>
            </a:extLst>
          </a:blip>
          <a:stretch>
            <a:fillRect/>
          </a:stretch>
        </p:blipFill>
        <p:spPr>
          <a:xfrm>
            <a:off x="4056777" y="510537"/>
            <a:ext cx="1287894" cy="720000"/>
          </a:xfrm>
          <a:prstGeom prst="rect">
            <a:avLst/>
          </a:prstGeom>
        </p:spPr>
      </p:pic>
      <p:sp>
        <p:nvSpPr>
          <p:cNvPr id="14" name="CaixaDeTexto 13">
            <a:extLst>
              <a:ext uri="{FF2B5EF4-FFF2-40B4-BE49-F238E27FC236}">
                <a16:creationId xmlns:a16="http://schemas.microsoft.com/office/drawing/2014/main" id="{A13B8710-637F-49AF-8E6C-B8CD5541761E}"/>
              </a:ext>
            </a:extLst>
          </p:cNvPr>
          <p:cNvSpPr txBox="1"/>
          <p:nvPr/>
        </p:nvSpPr>
        <p:spPr>
          <a:xfrm>
            <a:off x="293018" y="5834585"/>
            <a:ext cx="4752528" cy="1477328"/>
          </a:xfrm>
          <a:prstGeom prst="rect">
            <a:avLst/>
          </a:prstGeom>
          <a:solidFill>
            <a:schemeClr val="bg1"/>
          </a:solidFill>
          <a:ln>
            <a:solidFill>
              <a:srgbClr val="002060"/>
            </a:solidFill>
          </a:ln>
        </p:spPr>
        <p:txBody>
          <a:bodyPr wrap="square" rtlCol="0">
            <a:spAutoFit/>
          </a:bodyPr>
          <a:lstStyle/>
          <a:p>
            <a:pPr algn="ctr"/>
            <a:r>
              <a:rPr lang="pt-BR" sz="1800" dirty="0">
                <a:ln>
                  <a:solidFill>
                    <a:srgbClr val="002060"/>
                  </a:solidFill>
                </a:ln>
                <a:solidFill>
                  <a:srgbClr val="002060"/>
                </a:solidFill>
                <a:latin typeface="Arial Black" panose="020B0A04020102020204" pitchFamily="34" charset="0"/>
              </a:rPr>
              <a:t>Só Aço Industrial Ltda</a:t>
            </a:r>
          </a:p>
          <a:p>
            <a:pPr algn="ctr"/>
            <a:r>
              <a:rPr lang="pt-BR" sz="1200" dirty="0">
                <a:ln>
                  <a:solidFill>
                    <a:srgbClr val="002060"/>
                  </a:solidFill>
                </a:ln>
                <a:solidFill>
                  <a:srgbClr val="002060"/>
                </a:solidFill>
              </a:rPr>
              <a:t>Av. Coletora Secundária, S/N Polo empresarial Sul  </a:t>
            </a:r>
          </a:p>
          <a:p>
            <a:pPr algn="ctr"/>
            <a:r>
              <a:rPr lang="pt-BR" sz="1200" dirty="0">
                <a:ln>
                  <a:solidFill>
                    <a:srgbClr val="002060"/>
                  </a:solidFill>
                </a:ln>
                <a:solidFill>
                  <a:srgbClr val="002060"/>
                </a:solidFill>
              </a:rPr>
              <a:t>Telefones: (86) 3219 1200/1300</a:t>
            </a:r>
          </a:p>
          <a:p>
            <a:pPr algn="ctr"/>
            <a:r>
              <a:rPr lang="pt-BR" sz="1200" dirty="0">
                <a:ln>
                  <a:solidFill>
                    <a:srgbClr val="002060"/>
                  </a:solidFill>
                </a:ln>
                <a:solidFill>
                  <a:srgbClr val="002060"/>
                </a:solidFill>
              </a:rPr>
              <a:t>Teresina – Piauí</a:t>
            </a:r>
          </a:p>
          <a:p>
            <a:pPr algn="ctr"/>
            <a:r>
              <a:rPr lang="pt-BR" sz="1200" dirty="0">
                <a:ln>
                  <a:solidFill>
                    <a:srgbClr val="002060"/>
                  </a:solidFill>
                </a:ln>
                <a:solidFill>
                  <a:srgbClr val="002060"/>
                </a:solidFill>
              </a:rPr>
              <a:t>Site: </a:t>
            </a:r>
            <a:r>
              <a:rPr lang="pt-BR" sz="1200" dirty="0">
                <a:ln>
                  <a:solidFill>
                    <a:srgbClr val="002060"/>
                  </a:solidFill>
                </a:ln>
                <a:solidFill>
                  <a:srgbClr val="002060"/>
                </a:solidFill>
                <a:hlinkClick r:id="rId5"/>
              </a:rPr>
              <a:t>www.soacoindustrial.com.br</a:t>
            </a:r>
            <a:endParaRPr lang="pt-BR" sz="1200" dirty="0">
              <a:ln>
                <a:solidFill>
                  <a:srgbClr val="002060"/>
                </a:solidFill>
              </a:ln>
              <a:solidFill>
                <a:srgbClr val="002060"/>
              </a:solidFill>
            </a:endParaRPr>
          </a:p>
          <a:p>
            <a:pPr algn="ctr"/>
            <a:r>
              <a:rPr lang="pt-BR" sz="1200" dirty="0">
                <a:ln>
                  <a:solidFill>
                    <a:srgbClr val="002060"/>
                  </a:solidFill>
                </a:ln>
                <a:solidFill>
                  <a:srgbClr val="002060"/>
                </a:solidFill>
              </a:rPr>
              <a:t>Ouvidoria/SAC: </a:t>
            </a:r>
            <a:r>
              <a:rPr lang="pt-BR" sz="1200" dirty="0">
                <a:ln>
                  <a:solidFill>
                    <a:srgbClr val="002060"/>
                  </a:solidFill>
                </a:ln>
                <a:solidFill>
                  <a:srgbClr val="002060"/>
                </a:solidFill>
                <a:hlinkClick r:id="rId6"/>
              </a:rPr>
              <a:t>sac@soacoindustrial.com.br</a:t>
            </a:r>
            <a:endParaRPr lang="pt-BR" sz="1200" dirty="0">
              <a:ln>
                <a:solidFill>
                  <a:srgbClr val="002060"/>
                </a:solidFill>
              </a:ln>
              <a:solidFill>
                <a:srgbClr val="002060"/>
              </a:solidFill>
            </a:endParaRPr>
          </a:p>
          <a:p>
            <a:pPr algn="ctr"/>
            <a:r>
              <a:rPr lang="pt-BR" sz="1000" dirty="0">
                <a:ln>
                  <a:solidFill>
                    <a:srgbClr val="002060"/>
                  </a:solidFill>
                </a:ln>
                <a:solidFill>
                  <a:srgbClr val="002060"/>
                </a:solidFill>
              </a:rPr>
              <a:t>MP-SA-0001.Rev. </a:t>
            </a:r>
            <a:r>
              <a:rPr lang="pt-BR" sz="1000">
                <a:ln>
                  <a:solidFill>
                    <a:srgbClr val="002060"/>
                  </a:solidFill>
                </a:ln>
                <a:solidFill>
                  <a:srgbClr val="002060"/>
                </a:solidFill>
              </a:rPr>
              <a:t>2 </a:t>
            </a:r>
            <a:endParaRPr lang="pt-BR" sz="1000" dirty="0">
              <a:ln>
                <a:solidFill>
                  <a:srgbClr val="002060"/>
                </a:solidFill>
              </a:ln>
              <a:solidFill>
                <a:srgbClr val="002060"/>
              </a:solidFill>
            </a:endParaRPr>
          </a:p>
        </p:txBody>
      </p:sp>
      <p:sp>
        <p:nvSpPr>
          <p:cNvPr id="5" name="CaixaDeTexto 4">
            <a:extLst>
              <a:ext uri="{FF2B5EF4-FFF2-40B4-BE49-F238E27FC236}">
                <a16:creationId xmlns:a16="http://schemas.microsoft.com/office/drawing/2014/main" id="{1A6FB963-CC61-4B50-85F2-FDE336ACBEB4}"/>
              </a:ext>
            </a:extLst>
          </p:cNvPr>
          <p:cNvSpPr txBox="1"/>
          <p:nvPr/>
        </p:nvSpPr>
        <p:spPr>
          <a:xfrm>
            <a:off x="8259586" y="3683391"/>
            <a:ext cx="3957059" cy="1061829"/>
          </a:xfrm>
          <a:prstGeom prst="rect">
            <a:avLst/>
          </a:prstGeom>
          <a:noFill/>
        </p:spPr>
        <p:txBody>
          <a:bodyPr wrap="square" rtlCol="0">
            <a:spAutoFit/>
          </a:bodyPr>
          <a:lstStyle/>
          <a:p>
            <a:pPr marL="342900" indent="-342900">
              <a:buFont typeface="Wingdings" panose="05000000000000000000" pitchFamily="2" charset="2"/>
              <a:buChar char="ü"/>
            </a:pPr>
            <a:r>
              <a:rPr lang="pt-BR" b="1" dirty="0">
                <a:latin typeface="Arial" panose="020B0604020202020204" pitchFamily="34" charset="0"/>
                <a:cs typeface="Arial" panose="020B0604020202020204" pitchFamily="34" charset="0"/>
              </a:rPr>
              <a:t>Instruções</a:t>
            </a:r>
          </a:p>
          <a:p>
            <a:pPr marL="342900" indent="-342900">
              <a:buFont typeface="Wingdings" panose="05000000000000000000" pitchFamily="2" charset="2"/>
              <a:buChar char="ü"/>
            </a:pPr>
            <a:r>
              <a:rPr lang="pt-BR" b="1" dirty="0">
                <a:latin typeface="Arial" panose="020B0604020202020204" pitchFamily="34" charset="0"/>
                <a:cs typeface="Arial" panose="020B0604020202020204" pitchFamily="34" charset="0"/>
              </a:rPr>
              <a:t>Especificações</a:t>
            </a:r>
          </a:p>
          <a:p>
            <a:pPr marL="342900" indent="-342900">
              <a:buFont typeface="Wingdings" panose="05000000000000000000" pitchFamily="2" charset="2"/>
              <a:buChar char="ü"/>
            </a:pPr>
            <a:r>
              <a:rPr lang="pt-BR" b="1" dirty="0">
                <a:latin typeface="Arial" panose="020B0604020202020204" pitchFamily="34" charset="0"/>
                <a:cs typeface="Arial" panose="020B0604020202020204" pitchFamily="34" charset="0"/>
              </a:rPr>
              <a:t>Garantia</a:t>
            </a:r>
          </a:p>
        </p:txBody>
      </p:sp>
      <p:cxnSp>
        <p:nvCxnSpPr>
          <p:cNvPr id="122" name="Conector reto 121">
            <a:extLst>
              <a:ext uri="{FF2B5EF4-FFF2-40B4-BE49-F238E27FC236}">
                <a16:creationId xmlns:a16="http://schemas.microsoft.com/office/drawing/2014/main" id="{D34B3D24-7D88-4841-AC23-59BD38D69587}"/>
              </a:ext>
            </a:extLst>
          </p:cNvPr>
          <p:cNvCxnSpPr>
            <a:cxnSpLocks/>
          </p:cNvCxnSpPr>
          <p:nvPr/>
        </p:nvCxnSpPr>
        <p:spPr>
          <a:xfrm>
            <a:off x="99199" y="180231"/>
            <a:ext cx="513224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3" name="Conector reto 122">
            <a:extLst>
              <a:ext uri="{FF2B5EF4-FFF2-40B4-BE49-F238E27FC236}">
                <a16:creationId xmlns:a16="http://schemas.microsoft.com/office/drawing/2014/main" id="{503821E8-B148-4A59-8FA8-0104027F0535}"/>
              </a:ext>
            </a:extLst>
          </p:cNvPr>
          <p:cNvCxnSpPr>
            <a:cxnSpLocks/>
          </p:cNvCxnSpPr>
          <p:nvPr/>
        </p:nvCxnSpPr>
        <p:spPr>
          <a:xfrm>
            <a:off x="99199" y="434016"/>
            <a:ext cx="5132242"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8B23AE31-2CF5-42B0-B471-4E605880B343}"/>
              </a:ext>
            </a:extLst>
          </p:cNvPr>
          <p:cNvPicPr/>
          <p:nvPr/>
        </p:nvPicPr>
        <p:blipFill>
          <a:blip r:embed="rId4">
            <a:extLst>
              <a:ext uri="{28A0092B-C50C-407E-A947-70E740481C1C}">
                <a14:useLocalDpi xmlns:a14="http://schemas.microsoft.com/office/drawing/2010/main" val="0"/>
              </a:ext>
            </a:extLst>
          </a:blip>
          <a:stretch>
            <a:fillRect/>
          </a:stretch>
        </p:blipFill>
        <p:spPr>
          <a:xfrm>
            <a:off x="5346700" y="7135876"/>
            <a:ext cx="593151" cy="322819"/>
          </a:xfrm>
          <a:prstGeom prst="rect">
            <a:avLst/>
          </a:prstGeom>
        </p:spPr>
      </p:pic>
      <p:pic>
        <p:nvPicPr>
          <p:cNvPr id="55" name="Imagem 54">
            <a:extLst>
              <a:ext uri="{FF2B5EF4-FFF2-40B4-BE49-F238E27FC236}">
                <a16:creationId xmlns:a16="http://schemas.microsoft.com/office/drawing/2014/main" id="{4983D896-AD51-41D5-B78B-98039952FE67}"/>
              </a:ext>
            </a:extLst>
          </p:cNvPr>
          <p:cNvPicPr/>
          <p:nvPr/>
        </p:nvPicPr>
        <p:blipFill>
          <a:blip r:embed="rId4">
            <a:extLst>
              <a:ext uri="{28A0092B-C50C-407E-A947-70E740481C1C}">
                <a14:useLocalDpi xmlns:a14="http://schemas.microsoft.com/office/drawing/2010/main" val="0"/>
              </a:ext>
            </a:extLst>
          </a:blip>
          <a:stretch>
            <a:fillRect/>
          </a:stretch>
        </p:blipFill>
        <p:spPr>
          <a:xfrm>
            <a:off x="5940446" y="7136533"/>
            <a:ext cx="593151" cy="322819"/>
          </a:xfrm>
          <a:prstGeom prst="rect">
            <a:avLst/>
          </a:prstGeom>
        </p:spPr>
      </p:pic>
      <p:pic>
        <p:nvPicPr>
          <p:cNvPr id="56" name="Imagem 55">
            <a:extLst>
              <a:ext uri="{FF2B5EF4-FFF2-40B4-BE49-F238E27FC236}">
                <a16:creationId xmlns:a16="http://schemas.microsoft.com/office/drawing/2014/main" id="{92E854B3-C2A4-4FFC-8ECA-B03B3BE29E20}"/>
              </a:ext>
            </a:extLst>
          </p:cNvPr>
          <p:cNvPicPr/>
          <p:nvPr/>
        </p:nvPicPr>
        <p:blipFill>
          <a:blip r:embed="rId4">
            <a:extLst>
              <a:ext uri="{28A0092B-C50C-407E-A947-70E740481C1C}">
                <a14:useLocalDpi xmlns:a14="http://schemas.microsoft.com/office/drawing/2010/main" val="0"/>
              </a:ext>
            </a:extLst>
          </a:blip>
          <a:stretch>
            <a:fillRect/>
          </a:stretch>
        </p:blipFill>
        <p:spPr>
          <a:xfrm>
            <a:off x="6533597" y="7135877"/>
            <a:ext cx="593151" cy="322818"/>
          </a:xfrm>
          <a:prstGeom prst="rect">
            <a:avLst/>
          </a:prstGeom>
        </p:spPr>
      </p:pic>
      <p:pic>
        <p:nvPicPr>
          <p:cNvPr id="57" name="Imagem 56">
            <a:extLst>
              <a:ext uri="{FF2B5EF4-FFF2-40B4-BE49-F238E27FC236}">
                <a16:creationId xmlns:a16="http://schemas.microsoft.com/office/drawing/2014/main" id="{1D82BEF3-4448-4929-9F3B-965D8FE0A651}"/>
              </a:ext>
            </a:extLst>
          </p:cNvPr>
          <p:cNvPicPr/>
          <p:nvPr/>
        </p:nvPicPr>
        <p:blipFill>
          <a:blip r:embed="rId4">
            <a:extLst>
              <a:ext uri="{28A0092B-C50C-407E-A947-70E740481C1C}">
                <a14:useLocalDpi xmlns:a14="http://schemas.microsoft.com/office/drawing/2010/main" val="0"/>
              </a:ext>
            </a:extLst>
          </a:blip>
          <a:stretch>
            <a:fillRect/>
          </a:stretch>
        </p:blipFill>
        <p:spPr>
          <a:xfrm>
            <a:off x="7126748" y="7137600"/>
            <a:ext cx="593151" cy="322819"/>
          </a:xfrm>
          <a:prstGeom prst="rect">
            <a:avLst/>
          </a:prstGeom>
        </p:spPr>
      </p:pic>
      <p:pic>
        <p:nvPicPr>
          <p:cNvPr id="58" name="Imagem 57">
            <a:extLst>
              <a:ext uri="{FF2B5EF4-FFF2-40B4-BE49-F238E27FC236}">
                <a16:creationId xmlns:a16="http://schemas.microsoft.com/office/drawing/2014/main" id="{EC6B9D43-DB2A-4984-BE9D-651B31275B76}"/>
              </a:ext>
            </a:extLst>
          </p:cNvPr>
          <p:cNvPicPr/>
          <p:nvPr/>
        </p:nvPicPr>
        <p:blipFill>
          <a:blip r:embed="rId4">
            <a:extLst>
              <a:ext uri="{28A0092B-C50C-407E-A947-70E740481C1C}">
                <a14:useLocalDpi xmlns:a14="http://schemas.microsoft.com/office/drawing/2010/main" val="0"/>
              </a:ext>
            </a:extLst>
          </a:blip>
          <a:stretch>
            <a:fillRect/>
          </a:stretch>
        </p:blipFill>
        <p:spPr>
          <a:xfrm>
            <a:off x="7719899" y="7137600"/>
            <a:ext cx="593151" cy="322819"/>
          </a:xfrm>
          <a:prstGeom prst="rect">
            <a:avLst/>
          </a:prstGeom>
        </p:spPr>
      </p:pic>
      <p:pic>
        <p:nvPicPr>
          <p:cNvPr id="59" name="Imagem 58">
            <a:extLst>
              <a:ext uri="{FF2B5EF4-FFF2-40B4-BE49-F238E27FC236}">
                <a16:creationId xmlns:a16="http://schemas.microsoft.com/office/drawing/2014/main" id="{8AFECE61-7183-4B4A-BC0D-D62453B3673C}"/>
              </a:ext>
            </a:extLst>
          </p:cNvPr>
          <p:cNvPicPr/>
          <p:nvPr/>
        </p:nvPicPr>
        <p:blipFill>
          <a:blip r:embed="rId4">
            <a:extLst>
              <a:ext uri="{28A0092B-C50C-407E-A947-70E740481C1C}">
                <a14:useLocalDpi xmlns:a14="http://schemas.microsoft.com/office/drawing/2010/main" val="0"/>
              </a:ext>
            </a:extLst>
          </a:blip>
          <a:stretch>
            <a:fillRect/>
          </a:stretch>
        </p:blipFill>
        <p:spPr>
          <a:xfrm>
            <a:off x="8313050" y="7137224"/>
            <a:ext cx="593151" cy="322819"/>
          </a:xfrm>
          <a:prstGeom prst="rect">
            <a:avLst/>
          </a:prstGeom>
        </p:spPr>
      </p:pic>
      <p:pic>
        <p:nvPicPr>
          <p:cNvPr id="60" name="Imagem 59">
            <a:extLst>
              <a:ext uri="{FF2B5EF4-FFF2-40B4-BE49-F238E27FC236}">
                <a16:creationId xmlns:a16="http://schemas.microsoft.com/office/drawing/2014/main" id="{95C9E876-55D3-4FF2-85D5-DE2455549DCD}"/>
              </a:ext>
            </a:extLst>
          </p:cNvPr>
          <p:cNvPicPr/>
          <p:nvPr/>
        </p:nvPicPr>
        <p:blipFill>
          <a:blip r:embed="rId4">
            <a:extLst>
              <a:ext uri="{28A0092B-C50C-407E-A947-70E740481C1C}">
                <a14:useLocalDpi xmlns:a14="http://schemas.microsoft.com/office/drawing/2010/main" val="0"/>
              </a:ext>
            </a:extLst>
          </a:blip>
          <a:stretch>
            <a:fillRect/>
          </a:stretch>
        </p:blipFill>
        <p:spPr>
          <a:xfrm>
            <a:off x="8906201" y="7137224"/>
            <a:ext cx="593151" cy="322819"/>
          </a:xfrm>
          <a:prstGeom prst="rect">
            <a:avLst/>
          </a:prstGeom>
        </p:spPr>
      </p:pic>
      <p:pic>
        <p:nvPicPr>
          <p:cNvPr id="61" name="Imagem 60">
            <a:extLst>
              <a:ext uri="{FF2B5EF4-FFF2-40B4-BE49-F238E27FC236}">
                <a16:creationId xmlns:a16="http://schemas.microsoft.com/office/drawing/2014/main" id="{79CED02A-AC1B-4D25-991E-51A856C13A71}"/>
              </a:ext>
            </a:extLst>
          </p:cNvPr>
          <p:cNvPicPr/>
          <p:nvPr/>
        </p:nvPicPr>
        <p:blipFill>
          <a:blip r:embed="rId4">
            <a:extLst>
              <a:ext uri="{28A0092B-C50C-407E-A947-70E740481C1C}">
                <a14:useLocalDpi xmlns:a14="http://schemas.microsoft.com/office/drawing/2010/main" val="0"/>
              </a:ext>
            </a:extLst>
          </a:blip>
          <a:stretch>
            <a:fillRect/>
          </a:stretch>
        </p:blipFill>
        <p:spPr>
          <a:xfrm>
            <a:off x="9499352" y="7136808"/>
            <a:ext cx="593151" cy="322819"/>
          </a:xfrm>
          <a:prstGeom prst="rect">
            <a:avLst/>
          </a:prstGeom>
        </p:spPr>
      </p:pic>
      <p:cxnSp>
        <p:nvCxnSpPr>
          <p:cNvPr id="62" name="Conector reto 61">
            <a:extLst>
              <a:ext uri="{FF2B5EF4-FFF2-40B4-BE49-F238E27FC236}">
                <a16:creationId xmlns:a16="http://schemas.microsoft.com/office/drawing/2014/main" id="{E4EC445A-7A7F-4A99-821C-370A70C4C94C}"/>
              </a:ext>
            </a:extLst>
          </p:cNvPr>
          <p:cNvCxnSpPr>
            <a:cxnSpLocks/>
          </p:cNvCxnSpPr>
          <p:nvPr/>
        </p:nvCxnSpPr>
        <p:spPr>
          <a:xfrm>
            <a:off x="5344671" y="7120138"/>
            <a:ext cx="5324209"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3" name="Conector reto 62">
            <a:extLst>
              <a:ext uri="{FF2B5EF4-FFF2-40B4-BE49-F238E27FC236}">
                <a16:creationId xmlns:a16="http://schemas.microsoft.com/office/drawing/2014/main" id="{C998D1FA-B843-43EC-8E70-EF066069FAC3}"/>
              </a:ext>
            </a:extLst>
          </p:cNvPr>
          <p:cNvCxnSpPr>
            <a:cxnSpLocks/>
          </p:cNvCxnSpPr>
          <p:nvPr/>
        </p:nvCxnSpPr>
        <p:spPr>
          <a:xfrm>
            <a:off x="5338158" y="7453039"/>
            <a:ext cx="5308731"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CaixaDeTexto 9">
            <a:extLst>
              <a:ext uri="{FF2B5EF4-FFF2-40B4-BE49-F238E27FC236}">
                <a16:creationId xmlns:a16="http://schemas.microsoft.com/office/drawing/2014/main" id="{08BD28C7-0136-4FB6-A272-FCC325C6A0B4}"/>
              </a:ext>
            </a:extLst>
          </p:cNvPr>
          <p:cNvSpPr txBox="1"/>
          <p:nvPr/>
        </p:nvSpPr>
        <p:spPr>
          <a:xfrm>
            <a:off x="5569248" y="3993679"/>
            <a:ext cx="299859" cy="974238"/>
          </a:xfrm>
          <a:custGeom>
            <a:avLst/>
            <a:gdLst>
              <a:gd name="connsiteX0" fmla="*/ 0 w 276999"/>
              <a:gd name="connsiteY0" fmla="*/ 0 h 958998"/>
              <a:gd name="connsiteX1" fmla="*/ 276999 w 276999"/>
              <a:gd name="connsiteY1" fmla="*/ 0 h 958998"/>
              <a:gd name="connsiteX2" fmla="*/ 276999 w 276999"/>
              <a:gd name="connsiteY2" fmla="*/ 958998 h 958998"/>
              <a:gd name="connsiteX3" fmla="*/ 0 w 276999"/>
              <a:gd name="connsiteY3" fmla="*/ 958998 h 958998"/>
              <a:gd name="connsiteX4" fmla="*/ 0 w 276999"/>
              <a:gd name="connsiteY4" fmla="*/ 0 h 958998"/>
              <a:gd name="connsiteX0" fmla="*/ 0 w 299859"/>
              <a:gd name="connsiteY0" fmla="*/ 0 h 958998"/>
              <a:gd name="connsiteX1" fmla="*/ 27699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58998"/>
              <a:gd name="connsiteX1" fmla="*/ 177939 w 299859"/>
              <a:gd name="connsiteY1" fmla="*/ 0 h 958998"/>
              <a:gd name="connsiteX2" fmla="*/ 299859 w 299859"/>
              <a:gd name="connsiteY2" fmla="*/ 958998 h 958998"/>
              <a:gd name="connsiteX3" fmla="*/ 0 w 299859"/>
              <a:gd name="connsiteY3" fmla="*/ 958998 h 958998"/>
              <a:gd name="connsiteX4" fmla="*/ 0 w 299859"/>
              <a:gd name="connsiteY4" fmla="*/ 0 h 958998"/>
              <a:gd name="connsiteX0" fmla="*/ 0 w 299859"/>
              <a:gd name="connsiteY0" fmla="*/ 0 h 974238"/>
              <a:gd name="connsiteX1" fmla="*/ 177939 w 299859"/>
              <a:gd name="connsiteY1" fmla="*/ 0 h 974238"/>
              <a:gd name="connsiteX2" fmla="*/ 299859 w 299859"/>
              <a:gd name="connsiteY2" fmla="*/ 958998 h 974238"/>
              <a:gd name="connsiteX3" fmla="*/ 114300 w 299859"/>
              <a:gd name="connsiteY3" fmla="*/ 974238 h 974238"/>
              <a:gd name="connsiteX4" fmla="*/ 0 w 299859"/>
              <a:gd name="connsiteY4" fmla="*/ 0 h 97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859" h="974238">
                <a:moveTo>
                  <a:pt x="0" y="0"/>
                </a:moveTo>
                <a:lnTo>
                  <a:pt x="177939" y="0"/>
                </a:lnTo>
                <a:lnTo>
                  <a:pt x="299859" y="958998"/>
                </a:lnTo>
                <a:lnTo>
                  <a:pt x="114300" y="974238"/>
                </a:lnTo>
                <a:lnTo>
                  <a:pt x="0" y="0"/>
                </a:lnTo>
                <a:close/>
              </a:path>
            </a:pathLst>
          </a:custGeom>
          <a:noFill/>
        </p:spPr>
        <p:txBody>
          <a:bodyPr vert="vert270" wrap="square" rtlCol="0">
            <a:spAutoFit/>
          </a:bodyPr>
          <a:lstStyle/>
          <a:p>
            <a:r>
              <a:rPr lang="pt-BR" sz="600" dirty="0">
                <a:latin typeface="Arial" panose="020B0604020202020204" pitchFamily="34" charset="0"/>
                <a:cs typeface="Arial" panose="020B0604020202020204" pitchFamily="34" charset="0"/>
              </a:rPr>
              <a:t>Modelo: BASAF-4PFI</a:t>
            </a:r>
          </a:p>
        </p:txBody>
      </p:sp>
      <p:sp>
        <p:nvSpPr>
          <p:cNvPr id="12" name="CaixaDeTexto 11">
            <a:extLst>
              <a:ext uri="{FF2B5EF4-FFF2-40B4-BE49-F238E27FC236}">
                <a16:creationId xmlns:a16="http://schemas.microsoft.com/office/drawing/2014/main" id="{041A7CB0-8B4D-427E-A547-A67EB8EF1759}"/>
              </a:ext>
            </a:extLst>
          </p:cNvPr>
          <p:cNvSpPr txBox="1"/>
          <p:nvPr/>
        </p:nvSpPr>
        <p:spPr>
          <a:xfrm>
            <a:off x="8010996" y="5876163"/>
            <a:ext cx="2635893" cy="1015663"/>
          </a:xfrm>
          <a:prstGeom prst="rect">
            <a:avLst/>
          </a:prstGeom>
          <a:noFill/>
        </p:spPr>
        <p:txBody>
          <a:bodyPr wrap="square" rtlCol="0">
            <a:spAutoFit/>
          </a:bodyPr>
          <a:lstStyle/>
          <a:p>
            <a:pPr algn="just"/>
            <a:r>
              <a:rPr lang="pt-BR" sz="1200" i="1" dirty="0">
                <a:latin typeface="Arial" panose="020B0604020202020204" pitchFamily="34" charset="0"/>
                <a:cs typeface="Arial" panose="020B0604020202020204" pitchFamily="34" charset="0"/>
              </a:rPr>
              <a:t>Parabéns pela sua nova aquisição! Para obter o máximo desempenho e garantir o perfeito funcionamento do seu produto, leia atentamente este manual. </a:t>
            </a:r>
          </a:p>
        </p:txBody>
      </p:sp>
      <p:pic>
        <p:nvPicPr>
          <p:cNvPr id="1026" name="Picture 2" descr="https://www.ecointeligencia.com/wp-content/uploads/2013/04/apara-elec.jpg">
            <a:extLst>
              <a:ext uri="{FF2B5EF4-FFF2-40B4-BE49-F238E27FC236}">
                <a16:creationId xmlns:a16="http://schemas.microsoft.com/office/drawing/2014/main" id="{4E47B810-A6AB-4B0D-9512-E1711B0047E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68298" y="6408397"/>
            <a:ext cx="679156" cy="52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702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7" name="CaixaDeTexto 26">
            <a:extLst>
              <a:ext uri="{FF2B5EF4-FFF2-40B4-BE49-F238E27FC236}">
                <a16:creationId xmlns:a16="http://schemas.microsoft.com/office/drawing/2014/main" id="{C47DC73F-EAB2-4ABD-9DD9-FBA3408EDD79}"/>
              </a:ext>
            </a:extLst>
          </p:cNvPr>
          <p:cNvSpPr txBox="1"/>
          <p:nvPr/>
        </p:nvSpPr>
        <p:spPr>
          <a:xfrm>
            <a:off x="5349627" y="607463"/>
            <a:ext cx="5040560" cy="1446550"/>
          </a:xfrm>
          <a:prstGeom prst="rect">
            <a:avLst/>
          </a:prstGeom>
          <a:noFill/>
        </p:spPr>
        <p:txBody>
          <a:bodyPr wrap="square" rtlCol="0">
            <a:spAutoFit/>
          </a:bodyPr>
          <a:lstStyle/>
          <a:p>
            <a:pPr algn="just"/>
            <a:r>
              <a:rPr lang="pt-BR" sz="1000" dirty="0"/>
              <a:t>Gostaríamos de parabeniza-lo(a)  pela aquisição de seu novo produto “Balcão refrigerado” fabricado pela </a:t>
            </a:r>
            <a:r>
              <a:rPr lang="pt-BR" sz="1000" i="1" dirty="0"/>
              <a:t>Só Aço Industrial LTDA</a:t>
            </a:r>
            <a:r>
              <a:rPr lang="pt-BR" sz="1000" dirty="0"/>
              <a:t>. Buscando a melhor análise de custo/beneficio pelo cliente, a Só Aço Industrial sempre busca inovar em seus processos, aumentar a eficiência com que atende o cliente e inserir no mercado produtos de alta qualidade.</a:t>
            </a:r>
          </a:p>
          <a:p>
            <a:pPr algn="just"/>
            <a:r>
              <a:rPr lang="pt-BR" sz="1000" dirty="0"/>
              <a:t>Portanto, sugerimos a leitura  deste manual de maneira minuciosa e qualquer dúvida ficaremos satisfeitos em saná-las.</a:t>
            </a:r>
          </a:p>
          <a:p>
            <a:pPr algn="just"/>
            <a:endParaRPr lang="pt-BR" sz="1000" dirty="0"/>
          </a:p>
          <a:p>
            <a:pPr algn="r"/>
            <a:r>
              <a:rPr lang="pt-BR" sz="1000" b="1" dirty="0"/>
              <a:t>Só Aço Industrial LTDA</a:t>
            </a:r>
            <a:r>
              <a:rPr lang="pt-BR" sz="1000" dirty="0"/>
              <a:t> </a:t>
            </a:r>
          </a:p>
          <a:p>
            <a:pPr algn="just"/>
            <a:r>
              <a:rPr lang="pt-BR" sz="800" dirty="0"/>
              <a:t> </a:t>
            </a:r>
          </a:p>
        </p:txBody>
      </p:sp>
      <p:sp>
        <p:nvSpPr>
          <p:cNvPr id="28" name="Retângulo 27">
            <a:extLst>
              <a:ext uri="{FF2B5EF4-FFF2-40B4-BE49-F238E27FC236}">
                <a16:creationId xmlns:a16="http://schemas.microsoft.com/office/drawing/2014/main" id="{6C3675BD-0A4B-4F8A-B07C-05C26C2E740B}"/>
              </a:ext>
            </a:extLst>
          </p:cNvPr>
          <p:cNvSpPr/>
          <p:nvPr/>
        </p:nvSpPr>
        <p:spPr>
          <a:xfrm>
            <a:off x="5439347" y="178601"/>
            <a:ext cx="5040560" cy="369332"/>
          </a:xfrm>
          <a:prstGeom prst="rect">
            <a:avLst/>
          </a:prstGeom>
          <a:solidFill>
            <a:schemeClr val="bg1">
              <a:lumMod val="85000"/>
            </a:schemeClr>
          </a:solidFill>
        </p:spPr>
        <p:txBody>
          <a:bodyPr wrap="square" rtlCol="0" anchor="ctr">
            <a:spAutoFit/>
          </a:bodyPr>
          <a:lstStyle/>
          <a:p>
            <a:r>
              <a:rPr lang="pt-BR" sz="1800" dirty="0">
                <a:solidFill>
                  <a:schemeClr val="tx1"/>
                </a:solidFill>
                <a:latin typeface="Arial Rounded MT Bold" panose="020F0704030504030204" pitchFamily="34" charset="0"/>
              </a:rPr>
              <a:t>APRESENTAÇÃO</a:t>
            </a:r>
          </a:p>
        </p:txBody>
      </p:sp>
      <p:sp>
        <p:nvSpPr>
          <p:cNvPr id="29" name="CaixaDeTexto 28">
            <a:extLst>
              <a:ext uri="{FF2B5EF4-FFF2-40B4-BE49-F238E27FC236}">
                <a16:creationId xmlns:a16="http://schemas.microsoft.com/office/drawing/2014/main" id="{5A37447A-4EA1-40C3-ABB3-37FC22A82C8A}"/>
              </a:ext>
            </a:extLst>
          </p:cNvPr>
          <p:cNvSpPr txBox="1"/>
          <p:nvPr/>
        </p:nvSpPr>
        <p:spPr>
          <a:xfrm>
            <a:off x="5349627" y="2054013"/>
            <a:ext cx="5040560" cy="715581"/>
          </a:xfrm>
          <a:prstGeom prst="rect">
            <a:avLst/>
          </a:prstGeom>
          <a:noFill/>
        </p:spPr>
        <p:txBody>
          <a:bodyPr wrap="square" rtlCol="0">
            <a:spAutoFit/>
          </a:bodyPr>
          <a:lstStyle/>
          <a:p>
            <a:pPr algn="just"/>
            <a:r>
              <a:rPr lang="pt-BR" sz="1050" b="1" dirty="0"/>
              <a:t>NOTA: </a:t>
            </a:r>
            <a:r>
              <a:rPr lang="pt-BR" sz="1000" i="1" dirty="0"/>
              <a:t>Guarde a </a:t>
            </a:r>
            <a:r>
              <a:rPr lang="pt-BR" sz="1000" i="1" u="sng" dirty="0"/>
              <a:t>nota fiscal </a:t>
            </a:r>
            <a:r>
              <a:rPr lang="pt-BR" sz="1000" i="1" dirty="0"/>
              <a:t>de compra; ela será necessária caso precise utilizar os serviços da Assistência Técnica Só Aço no período de garantia. Também não remova a etiqueta de identificação do produto. Nela constam informações imprescindíveis em caso de necessidade de reparos. </a:t>
            </a:r>
          </a:p>
        </p:txBody>
      </p:sp>
      <p:sp>
        <p:nvSpPr>
          <p:cNvPr id="30" name="Retângulo 29">
            <a:extLst>
              <a:ext uri="{FF2B5EF4-FFF2-40B4-BE49-F238E27FC236}">
                <a16:creationId xmlns:a16="http://schemas.microsoft.com/office/drawing/2014/main" id="{483AA354-AA73-4F5F-A2F0-71E39D5FD229}"/>
              </a:ext>
            </a:extLst>
          </p:cNvPr>
          <p:cNvSpPr/>
          <p:nvPr/>
        </p:nvSpPr>
        <p:spPr>
          <a:xfrm>
            <a:off x="5439347" y="2905189"/>
            <a:ext cx="5040560" cy="173839"/>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Índice</a:t>
            </a:r>
          </a:p>
        </p:txBody>
      </p:sp>
      <p:graphicFrame>
        <p:nvGraphicFramePr>
          <p:cNvPr id="31" name="Tabela 30">
            <a:extLst>
              <a:ext uri="{FF2B5EF4-FFF2-40B4-BE49-F238E27FC236}">
                <a16:creationId xmlns:a16="http://schemas.microsoft.com/office/drawing/2014/main" id="{2DD0B194-3B62-47CC-96D9-77D6418075FE}"/>
              </a:ext>
            </a:extLst>
          </p:cNvPr>
          <p:cNvGraphicFramePr>
            <a:graphicFrameLocks noGrp="1"/>
          </p:cNvGraphicFramePr>
          <p:nvPr>
            <p:extLst>
              <p:ext uri="{D42A27DB-BD31-4B8C-83A1-F6EECF244321}">
                <p14:modId xmlns:p14="http://schemas.microsoft.com/office/powerpoint/2010/main" val="3751847016"/>
              </p:ext>
            </p:extLst>
          </p:nvPr>
        </p:nvGraphicFramePr>
        <p:xfrm>
          <a:off x="5436420" y="3315751"/>
          <a:ext cx="5040560" cy="3575685"/>
        </p:xfrm>
        <a:graphic>
          <a:graphicData uri="http://schemas.openxmlformats.org/drawingml/2006/table">
            <a:tbl>
              <a:tblPr>
                <a:tableStyleId>{5C22544A-7EE6-4342-B048-85BDC9FD1C3A}</a:tableStyleId>
              </a:tblPr>
              <a:tblGrid>
                <a:gridCol w="4530793">
                  <a:extLst>
                    <a:ext uri="{9D8B030D-6E8A-4147-A177-3AD203B41FA5}">
                      <a16:colId xmlns:a16="http://schemas.microsoft.com/office/drawing/2014/main" val="1649317139"/>
                    </a:ext>
                  </a:extLst>
                </a:gridCol>
                <a:gridCol w="509767">
                  <a:extLst>
                    <a:ext uri="{9D8B030D-6E8A-4147-A177-3AD203B41FA5}">
                      <a16:colId xmlns:a16="http://schemas.microsoft.com/office/drawing/2014/main" val="3475215270"/>
                    </a:ext>
                  </a:extLst>
                </a:gridCol>
              </a:tblGrid>
              <a:tr h="190500">
                <a:tc>
                  <a:txBody>
                    <a:bodyPr/>
                    <a:lstStyle/>
                    <a:p>
                      <a:pPr algn="l" fontAlgn="b"/>
                      <a:r>
                        <a:rPr lang="pt-BR" sz="900" u="none" strike="noStrike" dirty="0">
                          <a:effectLst/>
                          <a:latin typeface="Arial" panose="020B0604020202020204" pitchFamily="34" charset="0"/>
                          <a:cs typeface="Arial" panose="020B0604020202020204" pitchFamily="34" charset="0"/>
                        </a:rPr>
                        <a:t>Apresentação ......................................................................................................................</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1</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741572"/>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Para sua segurança.............................................................................................................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4642009"/>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Instalação.............................................................................................................................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84776"/>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Utilização..............................................................................................................................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2</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739741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Controlador digital................................................................................................................</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2197369"/>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Temperatura.........................................................................................................................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5433261"/>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Ajuste do Set Point - Temperatura desejada.......................................................................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3</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4024342"/>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Mensagens de alertas..........................................................................................................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010104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Evaporador...........................................................................................................................</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47855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Nivelamento grades/prateleiras............................................................................................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23102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Porta de Vidro.......................................................................................................................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4</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204806"/>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Iluminação............................................................................................................................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389243"/>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Troca da lâmpada.................................................................................................................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5</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17531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Degelo..................................................................................................................................</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7221405"/>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Limpeza................................................................................................................................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4648284"/>
                  </a:ext>
                </a:extLst>
              </a:tr>
              <a:tr h="145648">
                <a:tc>
                  <a:txBody>
                    <a:bodyPr/>
                    <a:lstStyle/>
                    <a:p>
                      <a:pPr algn="l" fontAlgn="b"/>
                      <a:r>
                        <a:rPr lang="pt-BR" sz="900" u="none" strike="noStrike" dirty="0">
                          <a:effectLst/>
                          <a:latin typeface="Arial" panose="020B0604020202020204" pitchFamily="34" charset="0"/>
                          <a:cs typeface="Arial" panose="020B0604020202020204" pitchFamily="34" charset="0"/>
                        </a:rPr>
                        <a:t>Recomendações...................................................................................................................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6493560"/>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Características gerais...........................................................................................................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6</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3518565"/>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Ocorrências de Defeitos.......................................................................................................</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7</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6489344"/>
                  </a:ext>
                </a:extLst>
              </a:tr>
              <a:tr h="190500">
                <a:tc>
                  <a:txBody>
                    <a:bodyPr/>
                    <a:lstStyle/>
                    <a:p>
                      <a:pPr algn="l" fontAlgn="b"/>
                      <a:r>
                        <a:rPr lang="pt-BR" sz="900" u="none" strike="noStrike" dirty="0">
                          <a:effectLst/>
                          <a:latin typeface="Arial" panose="020B0604020202020204" pitchFamily="34" charset="0"/>
                          <a:cs typeface="Arial" panose="020B0604020202020204" pitchFamily="34" charset="0"/>
                        </a:rPr>
                        <a:t>Termos de Garantia..............................................................................................................</a:t>
                      </a:r>
                      <a:endParaRPr lang="pt-BR" sz="9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pt-BR" sz="900" b="0" i="0" u="none" strike="noStrike" dirty="0">
                          <a:solidFill>
                            <a:srgbClr val="000000"/>
                          </a:solidFill>
                          <a:effectLst/>
                          <a:latin typeface="Arial" panose="020B0604020202020204" pitchFamily="34" charset="0"/>
                          <a:cs typeface="Arial" panose="020B0604020202020204" pitchFamily="34" charset="0"/>
                        </a:rPr>
                        <a:t>8</a:t>
                      </a: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349956"/>
                  </a:ext>
                </a:extLst>
              </a:tr>
            </a:tbl>
          </a:graphicData>
        </a:graphic>
      </p:graphicFrame>
      <p:sp>
        <p:nvSpPr>
          <p:cNvPr id="32" name="CaixaDeTexto 31">
            <a:extLst>
              <a:ext uri="{FF2B5EF4-FFF2-40B4-BE49-F238E27FC236}">
                <a16:creationId xmlns:a16="http://schemas.microsoft.com/office/drawing/2014/main" id="{751BA0EF-D1EA-484A-81EE-F1E37B8AD519}"/>
              </a:ext>
            </a:extLst>
          </p:cNvPr>
          <p:cNvSpPr txBox="1"/>
          <p:nvPr/>
        </p:nvSpPr>
        <p:spPr>
          <a:xfrm>
            <a:off x="7680833" y="7294215"/>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01</a:t>
            </a:r>
          </a:p>
        </p:txBody>
      </p:sp>
      <p:sp>
        <p:nvSpPr>
          <p:cNvPr id="33" name="Retângulo 32">
            <a:extLst>
              <a:ext uri="{FF2B5EF4-FFF2-40B4-BE49-F238E27FC236}">
                <a16:creationId xmlns:a16="http://schemas.microsoft.com/office/drawing/2014/main" id="{EC1D199C-CD64-4EEB-AB00-9FBED92BF405}"/>
              </a:ext>
            </a:extLst>
          </p:cNvPr>
          <p:cNvSpPr/>
          <p:nvPr/>
        </p:nvSpPr>
        <p:spPr>
          <a:xfrm>
            <a:off x="126084" y="55212"/>
            <a:ext cx="5130280" cy="307777"/>
          </a:xfrm>
          <a:prstGeom prst="rect">
            <a:avLst/>
          </a:prstGeom>
          <a:solidFill>
            <a:schemeClr val="bg1">
              <a:lumMod val="85000"/>
            </a:schemeClr>
          </a:solidFill>
        </p:spPr>
        <p:txBody>
          <a:bodyPr wrap="square" rtlCol="0" anchor="ctr">
            <a:spAutoFit/>
          </a:bodyPr>
          <a:lstStyle/>
          <a:p>
            <a:pPr algn="ctr"/>
            <a:r>
              <a:rPr lang="pt-BR" sz="1400" b="1" dirty="0">
                <a:solidFill>
                  <a:schemeClr val="tx1"/>
                </a:solidFill>
                <a:latin typeface="Arial" panose="020B0604020202020204" pitchFamily="34" charset="0"/>
                <a:cs typeface="Arial" panose="020B0604020202020204" pitchFamily="34" charset="0"/>
              </a:rPr>
              <a:t>TERMO DE GARANTIA</a:t>
            </a:r>
          </a:p>
        </p:txBody>
      </p:sp>
      <p:sp>
        <p:nvSpPr>
          <p:cNvPr id="34" name="CaixaDeTexto 33">
            <a:extLst>
              <a:ext uri="{FF2B5EF4-FFF2-40B4-BE49-F238E27FC236}">
                <a16:creationId xmlns:a16="http://schemas.microsoft.com/office/drawing/2014/main" id="{03DFD4BF-5FC1-4934-8C4D-B1A09E3702BA}"/>
              </a:ext>
            </a:extLst>
          </p:cNvPr>
          <p:cNvSpPr txBox="1"/>
          <p:nvPr/>
        </p:nvSpPr>
        <p:spPr>
          <a:xfrm>
            <a:off x="131637" y="385983"/>
            <a:ext cx="5077671" cy="5386090"/>
          </a:xfrm>
          <a:prstGeom prst="rect">
            <a:avLst/>
          </a:prstGeom>
          <a:noFill/>
        </p:spPr>
        <p:txBody>
          <a:bodyPr wrap="square" rtlCol="0">
            <a:spAutoFit/>
          </a:bodyPr>
          <a:lstStyle/>
          <a:p>
            <a:pPr algn="just"/>
            <a:r>
              <a:rPr lang="pt-BR" sz="900" dirty="0">
                <a:latin typeface="Arial" panose="020B0604020202020204" pitchFamily="34" charset="0"/>
                <a:cs typeface="Arial" panose="020B0604020202020204" pitchFamily="34" charset="0"/>
              </a:rPr>
              <a:t>Os produtos Só Aço são garantidos pela Só Aço, na forma estabelecida:</a:t>
            </a:r>
          </a:p>
          <a:p>
            <a:pPr algn="just"/>
            <a:endParaRPr lang="pt-BR" sz="900" dirty="0">
              <a:latin typeface="Arial" panose="020B0604020202020204" pitchFamily="34" charset="0"/>
              <a:cs typeface="Arial" panose="020B0604020202020204" pitchFamily="34" charset="0"/>
            </a:endParaRPr>
          </a:p>
          <a:p>
            <a:pPr marL="228600" indent="-228600" algn="just">
              <a:buAutoNum type="arabicPeriod"/>
            </a:pPr>
            <a:r>
              <a:rPr lang="pt-BR" sz="900" dirty="0">
                <a:latin typeface="Arial" panose="020B0604020202020204" pitchFamily="34" charset="0"/>
                <a:cs typeface="Arial" panose="020B0604020202020204" pitchFamily="34" charset="0"/>
              </a:rPr>
              <a:t>Condições gerais de garantia:</a:t>
            </a:r>
          </a:p>
          <a:p>
            <a:pPr marL="228600" indent="-228600" algn="just">
              <a:buAutoNum type="alphaLcParenR"/>
            </a:pPr>
            <a:r>
              <a:rPr lang="pt-BR" sz="900" dirty="0">
                <a:latin typeface="Arial" panose="020B0604020202020204" pitchFamily="34" charset="0"/>
                <a:cs typeface="Arial" panose="020B0604020202020204" pitchFamily="34" charset="0"/>
              </a:rPr>
              <a:t>Os produtos Só Aço tem garantia de 06 (seis) meses contra defeitos de fabricação, a partir da data de emissão da Nota Fiscal de compra do primeiro comprador, desde que sejam observados as instruções de uso e instalação contidas neste manual.</a:t>
            </a:r>
          </a:p>
          <a:p>
            <a:pPr marL="228600" indent="-228600" algn="just">
              <a:buAutoNum type="alphaLcParenR"/>
            </a:pPr>
            <a:r>
              <a:rPr lang="pt-BR" sz="9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228600" indent="-228600" algn="just">
              <a:buAutoNum type="alphaLcParenR"/>
            </a:pPr>
            <a:r>
              <a:rPr lang="pt-BR" sz="9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mediante apresentação da Nota Fiscal de compra.</a:t>
            </a:r>
          </a:p>
          <a:p>
            <a:pPr algn="just"/>
            <a:r>
              <a:rPr lang="pt-BR" sz="900" b="1" dirty="0">
                <a:latin typeface="Arial" panose="020B0604020202020204" pitchFamily="34" charset="0"/>
                <a:cs typeface="Arial" panose="020B0604020202020204" pitchFamily="34" charset="0"/>
              </a:rPr>
              <a:t>Observação: </a:t>
            </a:r>
            <a:r>
              <a:rPr lang="pt-BR" sz="900" dirty="0">
                <a:latin typeface="Arial" panose="020B0604020202020204" pitchFamily="34" charset="0"/>
                <a:cs typeface="Arial" panose="020B0604020202020204" pitchFamily="34" charset="0"/>
              </a:rPr>
              <a:t>Esta garantia não se aplica a componentes elétricos, materiais plásticos, arranhões, amassaduras e defeitos originados pelo desgaste natural de uso.</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2. Serviços de Garantia</a:t>
            </a:r>
          </a:p>
          <a:p>
            <a:pPr algn="just"/>
            <a:r>
              <a:rPr lang="pt-BR" sz="9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900" dirty="0">
                <a:latin typeface="Arial" panose="020B0604020202020204" pitchFamily="34" charset="0"/>
                <a:cs typeface="Arial" panose="020B0604020202020204" pitchFamily="34" charset="0"/>
              </a:rPr>
              <a:t>A Só Aço Industrial obriga- se dentro do período de garantia, a prestar visita gratuita a aparelhos instalados dentro do perímetro urbano onde mantiver Serviços Autorizados Só Aço. 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900" dirty="0">
              <a:latin typeface="Arial" panose="020B0604020202020204" pitchFamily="34" charset="0"/>
              <a:cs typeface="Arial" panose="020B0604020202020204" pitchFamily="34" charset="0"/>
            </a:endParaRPr>
          </a:p>
          <a:p>
            <a:pPr algn="just"/>
            <a:r>
              <a:rPr lang="pt-BR" sz="900" dirty="0">
                <a:latin typeface="Arial" panose="020B0604020202020204" pitchFamily="34" charset="0"/>
                <a:cs typeface="Arial" panose="020B0604020202020204" pitchFamily="34" charset="0"/>
              </a:rPr>
              <a:t>3. Extinção da garantia</a:t>
            </a:r>
          </a:p>
          <a:p>
            <a:pPr algn="just"/>
            <a:r>
              <a:rPr lang="pt-BR" sz="9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endParaRPr lang="pt-BR" sz="1000" dirty="0">
              <a:latin typeface="Arial" panose="020B0604020202020204" pitchFamily="34" charset="0"/>
              <a:cs typeface="Arial" panose="020B0604020202020204" pitchFamily="34" charset="0"/>
            </a:endParaRPr>
          </a:p>
          <a:p>
            <a:pPr algn="just"/>
            <a:r>
              <a:rPr lang="pt-BR" sz="1000" dirty="0">
                <a:latin typeface="Arial" panose="020B0604020202020204" pitchFamily="34" charset="0"/>
                <a:cs typeface="Arial" panose="020B0604020202020204" pitchFamily="34" charset="0"/>
              </a:rPr>
              <a:t>ATENÇÃO</a:t>
            </a:r>
          </a:p>
          <a:p>
            <a:pPr marL="228600" indent="-228600" algn="just">
              <a:buAutoNum type="alphaLcParenR"/>
            </a:pPr>
            <a:r>
              <a:rPr lang="pt-BR" sz="9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28600" indent="-228600" algn="just">
              <a:buAutoNum type="alphaLcParenR"/>
            </a:pPr>
            <a:r>
              <a:rPr lang="pt-BR" sz="9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a:t>
            </a:r>
          </a:p>
          <a:p>
            <a:pPr marL="228600" indent="-228600" algn="just">
              <a:buAutoNum type="alphaLcParenR"/>
            </a:pPr>
            <a:r>
              <a:rPr lang="pt-BR" sz="90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35" name="Tabela 34">
            <a:extLst>
              <a:ext uri="{FF2B5EF4-FFF2-40B4-BE49-F238E27FC236}">
                <a16:creationId xmlns:a16="http://schemas.microsoft.com/office/drawing/2014/main" id="{B1DC8CBD-04DE-4AE1-B45E-2C8274E510F4}"/>
              </a:ext>
            </a:extLst>
          </p:cNvPr>
          <p:cNvGraphicFramePr>
            <a:graphicFrameLocks noGrp="1"/>
          </p:cNvGraphicFramePr>
          <p:nvPr>
            <p:extLst>
              <p:ext uri="{D42A27DB-BD31-4B8C-83A1-F6EECF244321}">
                <p14:modId xmlns:p14="http://schemas.microsoft.com/office/powerpoint/2010/main" val="3212638661"/>
              </p:ext>
            </p:extLst>
          </p:nvPr>
        </p:nvGraphicFramePr>
        <p:xfrm>
          <a:off x="186771" y="5767460"/>
          <a:ext cx="5001042" cy="1249680"/>
        </p:xfrm>
        <a:graphic>
          <a:graphicData uri="http://schemas.openxmlformats.org/drawingml/2006/table">
            <a:tbl>
              <a:tblPr firstRow="1" bandRow="1">
                <a:tableStyleId>{2D5ABB26-0587-4C30-8999-92F81FD0307C}</a:tableStyleId>
              </a:tblPr>
              <a:tblGrid>
                <a:gridCol w="966760">
                  <a:extLst>
                    <a:ext uri="{9D8B030D-6E8A-4147-A177-3AD203B41FA5}">
                      <a16:colId xmlns:a16="http://schemas.microsoft.com/office/drawing/2014/main" val="1713468828"/>
                    </a:ext>
                  </a:extLst>
                </a:gridCol>
                <a:gridCol w="2088231">
                  <a:extLst>
                    <a:ext uri="{9D8B030D-6E8A-4147-A177-3AD203B41FA5}">
                      <a16:colId xmlns:a16="http://schemas.microsoft.com/office/drawing/2014/main" val="2269615378"/>
                    </a:ext>
                  </a:extLst>
                </a:gridCol>
                <a:gridCol w="1008112">
                  <a:extLst>
                    <a:ext uri="{9D8B030D-6E8A-4147-A177-3AD203B41FA5}">
                      <a16:colId xmlns:a16="http://schemas.microsoft.com/office/drawing/2014/main" val="3517463195"/>
                    </a:ext>
                  </a:extLst>
                </a:gridCol>
                <a:gridCol w="937939">
                  <a:extLst>
                    <a:ext uri="{9D8B030D-6E8A-4147-A177-3AD203B41FA5}">
                      <a16:colId xmlns:a16="http://schemas.microsoft.com/office/drawing/2014/main" val="3012284916"/>
                    </a:ext>
                  </a:extLst>
                </a:gridCol>
              </a:tblGrid>
              <a:tr h="204977">
                <a:tc gridSpan="4">
                  <a:txBody>
                    <a:bodyPr/>
                    <a:lstStyle/>
                    <a:p>
                      <a:pPr algn="ctr"/>
                      <a:r>
                        <a:rPr lang="pt-BR" sz="900" b="1" dirty="0">
                          <a:latin typeface="Arial" panose="020B0604020202020204" pitchFamily="34" charset="0"/>
                          <a:cs typeface="Arial" panose="020B0604020202020204" pitchFamily="34" charset="0"/>
                        </a:rPr>
                        <a:t>Informações do seu Produto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796499"/>
                  </a:ext>
                </a:extLst>
              </a:tr>
              <a:tr h="204977">
                <a:tc>
                  <a:txBody>
                    <a:bodyPr/>
                    <a:lstStyle/>
                    <a:p>
                      <a:r>
                        <a:rPr lang="pt-BR" sz="800" dirty="0">
                          <a:latin typeface="Arial" panose="020B0604020202020204" pitchFamily="34" charset="0"/>
                          <a:cs typeface="Arial" panose="020B0604020202020204" pitchFamily="34" charset="0"/>
                        </a:rPr>
                        <a:t>Data de Compra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Nº da Nota Fiscal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204977">
                <a:tc>
                  <a:txBody>
                    <a:bodyPr/>
                    <a:lstStyle/>
                    <a:p>
                      <a:r>
                        <a:rPr lang="pt-BR" sz="800" dirty="0">
                          <a:latin typeface="Arial" panose="020B0604020202020204" pitchFamily="34" charset="0"/>
                          <a:cs typeface="Arial" panose="020B0604020202020204" pitchFamily="34" charset="0"/>
                        </a:rPr>
                        <a:t>Nota Fiscal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00" dirty="0">
                          <a:latin typeface="Arial" panose="020B0604020202020204" pitchFamily="34" charset="0"/>
                          <a:cs typeface="Arial" panose="020B0604020202020204" pitchFamily="34" charset="0"/>
                        </a:rPr>
                        <a:t>Revendedor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214115">
                <a:tc>
                  <a:txBody>
                    <a:bodyPr/>
                    <a:lstStyle/>
                    <a:p>
                      <a:r>
                        <a:rPr lang="pt-BR" sz="800" dirty="0">
                          <a:latin typeface="Arial" panose="020B0604020202020204" pitchFamily="34" charset="0"/>
                          <a:cs typeface="Arial" panose="020B0604020202020204" pitchFamily="34" charset="0"/>
                        </a:rPr>
                        <a:t>Endereço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Telefone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r h="214115">
                <a:tc>
                  <a:txBody>
                    <a:bodyPr/>
                    <a:lstStyle/>
                    <a:p>
                      <a:r>
                        <a:rPr lang="pt-BR" sz="800" dirty="0">
                          <a:latin typeface="Arial" panose="020B0604020202020204" pitchFamily="34" charset="0"/>
                          <a:cs typeface="Arial" panose="020B0604020202020204" pitchFamily="34" charset="0"/>
                        </a:rPr>
                        <a:t>Cidade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800" dirty="0">
                          <a:latin typeface="Arial" panose="020B0604020202020204" pitchFamily="34" charset="0"/>
                          <a:cs typeface="Arial" panose="020B0604020202020204" pitchFamily="34" charset="0"/>
                        </a:rPr>
                        <a:t>Estado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9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188622"/>
                  </a:ext>
                </a:extLst>
              </a:tr>
            </a:tbl>
          </a:graphicData>
        </a:graphic>
      </p:graphicFrame>
      <p:sp>
        <p:nvSpPr>
          <p:cNvPr id="36" name="CaixaDeTexto 35">
            <a:extLst>
              <a:ext uri="{FF2B5EF4-FFF2-40B4-BE49-F238E27FC236}">
                <a16:creationId xmlns:a16="http://schemas.microsoft.com/office/drawing/2014/main" id="{9734F5F1-EE4F-403A-A03A-4CBBE35490AF}"/>
              </a:ext>
            </a:extLst>
          </p:cNvPr>
          <p:cNvSpPr txBox="1"/>
          <p:nvPr/>
        </p:nvSpPr>
        <p:spPr>
          <a:xfrm>
            <a:off x="2629705" y="7251147"/>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08</a:t>
            </a:r>
          </a:p>
        </p:txBody>
      </p:sp>
    </p:spTree>
    <p:extLst>
      <p:ext uri="{BB962C8B-B14F-4D97-AF65-F5344CB8AC3E}">
        <p14:creationId xmlns:p14="http://schemas.microsoft.com/office/powerpoint/2010/main" val="677898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 name="Retângulo 3">
            <a:extLst>
              <a:ext uri="{FF2B5EF4-FFF2-40B4-BE49-F238E27FC236}">
                <a16:creationId xmlns:a16="http://schemas.microsoft.com/office/drawing/2014/main" id="{B3F48E0F-C38D-4585-AA94-F9115E218F40}"/>
              </a:ext>
            </a:extLst>
          </p:cNvPr>
          <p:cNvSpPr/>
          <p:nvPr/>
        </p:nvSpPr>
        <p:spPr>
          <a:xfrm>
            <a:off x="162895" y="21061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 Para sua segurança</a:t>
            </a:r>
          </a:p>
        </p:txBody>
      </p:sp>
      <p:sp>
        <p:nvSpPr>
          <p:cNvPr id="5" name="CaixaDeTexto 4">
            <a:extLst>
              <a:ext uri="{FF2B5EF4-FFF2-40B4-BE49-F238E27FC236}">
                <a16:creationId xmlns:a16="http://schemas.microsoft.com/office/drawing/2014/main" id="{7AC7562C-AF13-4EE8-A7FC-4498637FF6CA}"/>
              </a:ext>
            </a:extLst>
          </p:cNvPr>
          <p:cNvSpPr txBox="1"/>
          <p:nvPr/>
        </p:nvSpPr>
        <p:spPr>
          <a:xfrm>
            <a:off x="109885" y="396255"/>
            <a:ext cx="4372090" cy="2092881"/>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 Não instale o balcão próximo a fontes de calor ou produtos inflamáveis</a:t>
            </a:r>
          </a:p>
          <a:p>
            <a:pPr algn="just"/>
            <a:r>
              <a:rPr lang="pt-BR" sz="1000" dirty="0">
                <a:latin typeface="Arial" panose="020B0604020202020204" pitchFamily="34" charset="0"/>
                <a:cs typeface="Arial" panose="020B0604020202020204" pitchFamily="34" charset="0"/>
              </a:rPr>
              <a:t>1.2 Utilize uma tomada exclusiva para a ligação do balcão, não faça o uso de extensões ou conectores</a:t>
            </a:r>
          </a:p>
          <a:p>
            <a:pPr algn="just"/>
            <a:r>
              <a:rPr lang="pt-BR" sz="1000" dirty="0">
                <a:latin typeface="Arial" panose="020B0604020202020204" pitchFamily="34" charset="0"/>
                <a:cs typeface="Arial" panose="020B0604020202020204" pitchFamily="34" charset="0"/>
              </a:rPr>
              <a:t>1.3 Não desligue o balcão puxando pelo cabo elétrico. O manuseio deve ser realizado através do plug do cabo.</a:t>
            </a:r>
          </a:p>
          <a:p>
            <a:pPr algn="just"/>
            <a:r>
              <a:rPr lang="pt-BR" sz="1000" dirty="0">
                <a:latin typeface="Arial" panose="020B0604020202020204" pitchFamily="34" charset="0"/>
                <a:cs typeface="Arial" panose="020B0604020202020204" pitchFamily="34" charset="0"/>
              </a:rPr>
              <a:t>1.4 Desligue o balcão da tomada sempre que fizer limpeza ou manutenção. </a:t>
            </a:r>
          </a:p>
          <a:p>
            <a:pPr algn="just"/>
            <a:r>
              <a:rPr lang="pt-BR" sz="1000" dirty="0">
                <a:latin typeface="Arial" panose="020B0604020202020204" pitchFamily="34" charset="0"/>
                <a:cs typeface="Arial" panose="020B0604020202020204" pitchFamily="34" charset="0"/>
              </a:rPr>
              <a:t>1.5 O usuário contribui para prevenir as potenciais consequências negativas para o ambiente e para a saúde se assegurar o descarte apropriado deste produto. Siga as normativas locais para a eliminação dos resíduos. O símbolo no produto, ou na documentação que o acompanha, indica que este produto não deve receber um tratamento semelhante ao de um resíduo doméstico.</a:t>
            </a:r>
          </a:p>
        </p:txBody>
      </p:sp>
      <p:pic>
        <p:nvPicPr>
          <p:cNvPr id="6" name="Imagem 5">
            <a:extLst>
              <a:ext uri="{FF2B5EF4-FFF2-40B4-BE49-F238E27FC236}">
                <a16:creationId xmlns:a16="http://schemas.microsoft.com/office/drawing/2014/main" id="{7E700F04-F9E0-425B-A792-CBACD3662961}"/>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rot="5400000">
            <a:off x="4483796" y="536919"/>
            <a:ext cx="939805" cy="654157"/>
          </a:xfrm>
          <a:prstGeom prst="rect">
            <a:avLst/>
          </a:prstGeom>
        </p:spPr>
      </p:pic>
      <p:pic>
        <p:nvPicPr>
          <p:cNvPr id="7" name="Imagem 6">
            <a:extLst>
              <a:ext uri="{FF2B5EF4-FFF2-40B4-BE49-F238E27FC236}">
                <a16:creationId xmlns:a16="http://schemas.microsoft.com/office/drawing/2014/main" id="{C0D7C79A-D4BF-47F3-95DA-BE56EB55B428}"/>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rot="16200000">
            <a:off x="4476307" y="1417665"/>
            <a:ext cx="1003407" cy="630653"/>
          </a:xfrm>
          <a:prstGeom prst="rect">
            <a:avLst/>
          </a:prstGeom>
        </p:spPr>
      </p:pic>
      <p:pic>
        <p:nvPicPr>
          <p:cNvPr id="8" name="Imagem 7">
            <a:extLst>
              <a:ext uri="{FF2B5EF4-FFF2-40B4-BE49-F238E27FC236}">
                <a16:creationId xmlns:a16="http://schemas.microsoft.com/office/drawing/2014/main" id="{1CADA12E-3D51-4B1A-8EEF-C2D1D34330FD}"/>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r="51692"/>
          <a:stretch/>
        </p:blipFill>
        <p:spPr>
          <a:xfrm>
            <a:off x="4573270" y="251571"/>
            <a:ext cx="455880" cy="429386"/>
          </a:xfrm>
          <a:prstGeom prst="rect">
            <a:avLst/>
          </a:prstGeom>
        </p:spPr>
      </p:pic>
      <p:sp>
        <p:nvSpPr>
          <p:cNvPr id="11" name="Retângulo 10">
            <a:extLst>
              <a:ext uri="{FF2B5EF4-FFF2-40B4-BE49-F238E27FC236}">
                <a16:creationId xmlns:a16="http://schemas.microsoft.com/office/drawing/2014/main" id="{776D51B3-0C00-4861-87E7-BC51711F8F02}"/>
              </a:ext>
            </a:extLst>
          </p:cNvPr>
          <p:cNvSpPr/>
          <p:nvPr/>
        </p:nvSpPr>
        <p:spPr>
          <a:xfrm>
            <a:off x="162895" y="248448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2. Instalação</a:t>
            </a:r>
          </a:p>
        </p:txBody>
      </p:sp>
      <p:sp>
        <p:nvSpPr>
          <p:cNvPr id="12" name="CaixaDeTexto 11">
            <a:extLst>
              <a:ext uri="{FF2B5EF4-FFF2-40B4-BE49-F238E27FC236}">
                <a16:creationId xmlns:a16="http://schemas.microsoft.com/office/drawing/2014/main" id="{EA0A30D7-34C5-4A0E-81E3-071AA6F0F5BA}"/>
              </a:ext>
            </a:extLst>
          </p:cNvPr>
          <p:cNvSpPr txBox="1"/>
          <p:nvPr/>
        </p:nvSpPr>
        <p:spPr>
          <a:xfrm>
            <a:off x="123379" y="2726644"/>
            <a:ext cx="5017317" cy="3016210"/>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2.1 Escolha um local seco, arejado, plano e principalmente, longe da exposição de fontes de calor</a:t>
            </a:r>
          </a:p>
          <a:p>
            <a:pPr algn="just"/>
            <a:r>
              <a:rPr lang="pt-BR" sz="1000" dirty="0">
                <a:latin typeface="Arial" panose="020B0604020202020204" pitchFamily="34" charset="0"/>
                <a:cs typeface="Arial" panose="020B0604020202020204" pitchFamily="34" charset="0"/>
              </a:rPr>
              <a:t>2.2 A unidade de refrigeração do balcão deve ter a entrada e saída de ar livres, sem bloqueio de paredes ou objetos.</a:t>
            </a:r>
          </a:p>
          <a:p>
            <a:pPr algn="just"/>
            <a:r>
              <a:rPr lang="pt-BR" sz="1000" dirty="0">
                <a:latin typeface="Arial" panose="020B0604020202020204" pitchFamily="34" charset="0"/>
                <a:cs typeface="Arial" panose="020B0604020202020204" pitchFamily="34" charset="0"/>
              </a:rPr>
              <a:t>2.3 Providenciar tomada exclusiva de energia elétrica com aterramento, voltagem e potência equivalente ao do balcão. Se a tensão da rede local apresentar variações muito bruscas, torna-se necessário a utilização de um estabilizador de tensão, com capacidade compatível com o consumo em Watt. A variação na tensão não pode ser superior a 10%, para mais ou para menos.</a:t>
            </a:r>
          </a:p>
          <a:p>
            <a:pPr algn="just"/>
            <a:r>
              <a:rPr lang="pt-BR" sz="1000" dirty="0">
                <a:latin typeface="Arial" panose="020B0604020202020204" pitchFamily="34" charset="0"/>
                <a:cs typeface="Arial" panose="020B0604020202020204" pitchFamily="34" charset="0"/>
              </a:rPr>
              <a:t>2.4 Retire a embalagem e as películas de proteção das chapas metálicas. Caso haja peças em aço inox é muito importante retirar a película azul de proteção para evitar manchas.</a:t>
            </a:r>
          </a:p>
          <a:p>
            <a:pPr algn="just"/>
            <a:r>
              <a:rPr lang="pt-BR" sz="1000" dirty="0">
                <a:latin typeface="Arial" panose="020B0604020202020204" pitchFamily="34" charset="0"/>
                <a:cs typeface="Arial" panose="020B0604020202020204" pitchFamily="34" charset="0"/>
              </a:rPr>
              <a:t>2.5 Inserir o plug na tomada exclusiva para o produto. O pino central do plugue do cordão de alimentação elétrica do balcão, corresponde a ligação do fio terra, seguindo a norma padrão de aterramento. O aterramento é necessário independente da voltagem da rede elétrica e </a:t>
            </a:r>
            <a:r>
              <a:rPr lang="pt-BR" sz="1000" b="1" dirty="0">
                <a:latin typeface="Arial" panose="020B0604020202020204" pitchFamily="34" charset="0"/>
                <a:cs typeface="Arial" panose="020B0604020202020204" pitchFamily="34" charset="0"/>
              </a:rPr>
              <a:t>NÃO</a:t>
            </a:r>
            <a:r>
              <a:rPr lang="pt-BR" sz="1000" dirty="0">
                <a:latin typeface="Arial" panose="020B0604020202020204" pitchFamily="34" charset="0"/>
                <a:cs typeface="Arial" panose="020B0604020202020204" pitchFamily="34" charset="0"/>
              </a:rPr>
              <a:t> deve ser feita ao fio neutro da rede elétrica, da água de gás ou torneiras. Para fazer um aterramento correto siga as normas da ABNT.</a:t>
            </a:r>
          </a:p>
          <a:p>
            <a:pPr algn="just"/>
            <a:r>
              <a:rPr lang="pt-BR" sz="1000" b="1" dirty="0">
                <a:latin typeface="Arial" panose="020B0604020202020204" pitchFamily="34" charset="0"/>
                <a:cs typeface="Arial" panose="020B0604020202020204" pitchFamily="34" charset="0"/>
              </a:rPr>
              <a:t>NOTA: </a:t>
            </a:r>
            <a:r>
              <a:rPr lang="pt-BR" sz="1000" dirty="0">
                <a:latin typeface="Arial" panose="020B0604020202020204" pitchFamily="34" charset="0"/>
                <a:cs typeface="Arial" panose="020B0604020202020204" pitchFamily="34" charset="0"/>
              </a:rPr>
              <a:t>Se o cordão de alimentação for rompido ou danificado, deverá ser substituído pelo fabricante ou técnico autorizado ou pessoa qualificada, a fim de evitar riscos.</a:t>
            </a:r>
          </a:p>
        </p:txBody>
      </p:sp>
      <p:sp>
        <p:nvSpPr>
          <p:cNvPr id="13" name="Retângulo 12">
            <a:extLst>
              <a:ext uri="{FF2B5EF4-FFF2-40B4-BE49-F238E27FC236}">
                <a16:creationId xmlns:a16="http://schemas.microsoft.com/office/drawing/2014/main" id="{861FF68A-480D-42EA-B6C3-A7400C9F525D}"/>
              </a:ext>
            </a:extLst>
          </p:cNvPr>
          <p:cNvSpPr/>
          <p:nvPr/>
        </p:nvSpPr>
        <p:spPr>
          <a:xfrm>
            <a:off x="131516" y="5757324"/>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Utilização</a:t>
            </a:r>
          </a:p>
        </p:txBody>
      </p:sp>
      <p:sp>
        <p:nvSpPr>
          <p:cNvPr id="14" name="CaixaDeTexto 13">
            <a:extLst>
              <a:ext uri="{FF2B5EF4-FFF2-40B4-BE49-F238E27FC236}">
                <a16:creationId xmlns:a16="http://schemas.microsoft.com/office/drawing/2014/main" id="{6A48D7C3-A2B5-4992-B1E9-CAB4BA0423B1}"/>
              </a:ext>
            </a:extLst>
          </p:cNvPr>
          <p:cNvSpPr txBox="1"/>
          <p:nvPr/>
        </p:nvSpPr>
        <p:spPr>
          <a:xfrm>
            <a:off x="123378" y="5986715"/>
            <a:ext cx="5017317" cy="1477328"/>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3.1 Antes de utilizar o balcão pela primeira vez, deixe-o funcionando vazio por um período mínimo de 2 horas para que atinja a temperatura ideal para seu perfeito funcionamento. </a:t>
            </a:r>
          </a:p>
          <a:p>
            <a:pPr algn="just"/>
            <a:r>
              <a:rPr lang="pt-BR" sz="1000" dirty="0">
                <a:latin typeface="Arial" panose="020B0604020202020204" pitchFamily="34" charset="0"/>
                <a:cs typeface="Arial" panose="020B0604020202020204" pitchFamily="34" charset="0"/>
              </a:rPr>
              <a:t>3.2 O balcão é destinado à refrigeração e exposição de frios, laticínios e bebidas em geral que requeiram temperatura na faixa de 0 à +5°C.</a:t>
            </a:r>
          </a:p>
          <a:p>
            <a:pPr algn="just"/>
            <a:r>
              <a:rPr lang="pt-BR" sz="1000" dirty="0">
                <a:latin typeface="Arial" panose="020B0604020202020204" pitchFamily="34" charset="0"/>
                <a:cs typeface="Arial" panose="020B0604020202020204" pitchFamily="34" charset="0"/>
              </a:rPr>
              <a:t>3.3 O balcão é composto por duas válvulas de drenagem de água, sendo uma oriunda do sistema de refrigeração e a outra utilizada para drenagem da água durante a limpeza do produto. Caso queira, poderá ligar os drenos diretamente à rede de esgoto utilizando mangueiras ou adaptadores.</a:t>
            </a:r>
          </a:p>
        </p:txBody>
      </p:sp>
      <p:sp>
        <p:nvSpPr>
          <p:cNvPr id="15" name="CaixaDeTexto 14">
            <a:extLst>
              <a:ext uri="{FF2B5EF4-FFF2-40B4-BE49-F238E27FC236}">
                <a16:creationId xmlns:a16="http://schemas.microsoft.com/office/drawing/2014/main" id="{C991218B-64B4-4789-9C3D-28CAE302F9A0}"/>
              </a:ext>
            </a:extLst>
          </p:cNvPr>
          <p:cNvSpPr txBox="1"/>
          <p:nvPr/>
        </p:nvSpPr>
        <p:spPr>
          <a:xfrm>
            <a:off x="2742615" y="7349315"/>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02</a:t>
            </a:r>
          </a:p>
        </p:txBody>
      </p:sp>
      <p:sp>
        <p:nvSpPr>
          <p:cNvPr id="19" name="Retângulo 18">
            <a:extLst>
              <a:ext uri="{FF2B5EF4-FFF2-40B4-BE49-F238E27FC236}">
                <a16:creationId xmlns:a16="http://schemas.microsoft.com/office/drawing/2014/main" id="{ACBF6D81-B73E-4955-8543-29B80CD33E7A}"/>
              </a:ext>
            </a:extLst>
          </p:cNvPr>
          <p:cNvSpPr/>
          <p:nvPr/>
        </p:nvSpPr>
        <p:spPr>
          <a:xfrm>
            <a:off x="5472844" y="97654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17. Ocorrência de defeito</a:t>
            </a:r>
            <a:endParaRPr lang="pt-BR" sz="1100" b="1" i="1" dirty="0">
              <a:solidFill>
                <a:schemeClr val="tx1"/>
              </a:solidFill>
            </a:endParaRPr>
          </a:p>
        </p:txBody>
      </p:sp>
      <p:graphicFrame>
        <p:nvGraphicFramePr>
          <p:cNvPr id="20" name="Tabela 19">
            <a:extLst>
              <a:ext uri="{FF2B5EF4-FFF2-40B4-BE49-F238E27FC236}">
                <a16:creationId xmlns:a16="http://schemas.microsoft.com/office/drawing/2014/main" id="{D7DD1651-53B4-409B-B02C-C80ACC344F52}"/>
              </a:ext>
            </a:extLst>
          </p:cNvPr>
          <p:cNvGraphicFramePr>
            <a:graphicFrameLocks noGrp="1"/>
          </p:cNvGraphicFramePr>
          <p:nvPr>
            <p:extLst>
              <p:ext uri="{D42A27DB-BD31-4B8C-83A1-F6EECF244321}">
                <p14:modId xmlns:p14="http://schemas.microsoft.com/office/powerpoint/2010/main" val="1716507514"/>
              </p:ext>
            </p:extLst>
          </p:nvPr>
        </p:nvGraphicFramePr>
        <p:xfrm>
          <a:off x="5472844" y="1589638"/>
          <a:ext cx="5001042" cy="5720054"/>
        </p:xfrm>
        <a:graphic>
          <a:graphicData uri="http://schemas.openxmlformats.org/drawingml/2006/table">
            <a:tbl>
              <a:tblPr firstRow="1" bandRow="1">
                <a:tableStyleId>{5940675A-B579-460E-94D1-54222C63F5DA}</a:tableStyleId>
              </a:tblPr>
              <a:tblGrid>
                <a:gridCol w="949142">
                  <a:extLst>
                    <a:ext uri="{9D8B030D-6E8A-4147-A177-3AD203B41FA5}">
                      <a16:colId xmlns:a16="http://schemas.microsoft.com/office/drawing/2014/main" val="516497271"/>
                    </a:ext>
                  </a:extLst>
                </a:gridCol>
                <a:gridCol w="1800200">
                  <a:extLst>
                    <a:ext uri="{9D8B030D-6E8A-4147-A177-3AD203B41FA5}">
                      <a16:colId xmlns:a16="http://schemas.microsoft.com/office/drawing/2014/main" val="2071908709"/>
                    </a:ext>
                  </a:extLst>
                </a:gridCol>
                <a:gridCol w="2251700">
                  <a:extLst>
                    <a:ext uri="{9D8B030D-6E8A-4147-A177-3AD203B41FA5}">
                      <a16:colId xmlns:a16="http://schemas.microsoft.com/office/drawing/2014/main" val="1403055962"/>
                    </a:ext>
                  </a:extLst>
                </a:gridCol>
              </a:tblGrid>
              <a:tr h="219856">
                <a:tc>
                  <a:txBody>
                    <a:bodyPr/>
                    <a:lstStyle/>
                    <a:p>
                      <a:pPr algn="ctr"/>
                      <a:r>
                        <a:rPr lang="pt-BR" sz="850" b="1" dirty="0">
                          <a:latin typeface="Arial" panose="020B0604020202020204" pitchFamily="34" charset="0"/>
                          <a:cs typeface="Arial" panose="020B0604020202020204" pitchFamily="34" charset="0"/>
                        </a:rPr>
                        <a:t>Sintoma</a:t>
                      </a:r>
                    </a:p>
                  </a:txBody>
                  <a:tcPr>
                    <a:solidFill>
                      <a:schemeClr val="bg1">
                        <a:lumMod val="85000"/>
                      </a:schemeClr>
                    </a:solidFill>
                  </a:tcPr>
                </a:tc>
                <a:tc>
                  <a:txBody>
                    <a:bodyPr/>
                    <a:lstStyle/>
                    <a:p>
                      <a:pPr algn="ctr"/>
                      <a:r>
                        <a:rPr lang="pt-BR" sz="850" b="1" dirty="0">
                          <a:latin typeface="Arial" panose="020B0604020202020204" pitchFamily="34" charset="0"/>
                          <a:cs typeface="Arial" panose="020B0604020202020204" pitchFamily="34" charset="0"/>
                        </a:rPr>
                        <a:t>Causa provável</a:t>
                      </a:r>
                    </a:p>
                  </a:txBody>
                  <a:tcPr>
                    <a:solidFill>
                      <a:schemeClr val="bg1">
                        <a:lumMod val="85000"/>
                      </a:schemeClr>
                    </a:solidFill>
                  </a:tcPr>
                </a:tc>
                <a:tc>
                  <a:txBody>
                    <a:bodyPr/>
                    <a:lstStyle/>
                    <a:p>
                      <a:pPr algn="ctr"/>
                      <a:r>
                        <a:rPr lang="pt-BR" sz="850" b="1" dirty="0">
                          <a:latin typeface="Arial" panose="020B0604020202020204" pitchFamily="34" charset="0"/>
                          <a:cs typeface="Arial" panose="020B0604020202020204" pitchFamily="34" charset="0"/>
                        </a:rPr>
                        <a:t>Solução</a:t>
                      </a:r>
                    </a:p>
                  </a:txBody>
                  <a:tcPr>
                    <a:solidFill>
                      <a:schemeClr val="bg1">
                        <a:lumMod val="85000"/>
                      </a:schemeClr>
                    </a:solidFill>
                  </a:tcPr>
                </a:tc>
                <a:extLst>
                  <a:ext uri="{0D108BD9-81ED-4DB2-BD59-A6C34878D82A}">
                    <a16:rowId xmlns:a16="http://schemas.microsoft.com/office/drawing/2014/main" val="50831440"/>
                  </a:ext>
                </a:extLst>
              </a:tr>
              <a:tr h="356655">
                <a:tc rowSpan="4">
                  <a:txBody>
                    <a:bodyPr/>
                    <a:lstStyle/>
                    <a:p>
                      <a:pPr algn="l"/>
                      <a:r>
                        <a:rPr lang="pt-BR" sz="850" dirty="0">
                          <a:latin typeface="Arial" panose="020B0604020202020204" pitchFamily="34" charset="0"/>
                          <a:cs typeface="Arial" panose="020B0604020202020204" pitchFamily="34" charset="0"/>
                        </a:rPr>
                        <a:t>O balcão não funciona</a:t>
                      </a:r>
                    </a:p>
                  </a:txBody>
                  <a:tcPr anchor="ctr"/>
                </a:tc>
                <a:tc>
                  <a:txBody>
                    <a:bodyPr/>
                    <a:lstStyle/>
                    <a:p>
                      <a:r>
                        <a:rPr lang="pt-BR" sz="850" dirty="0">
                          <a:latin typeface="Arial" panose="020B0604020202020204" pitchFamily="34" charset="0"/>
                          <a:cs typeface="Arial" panose="020B0604020202020204" pitchFamily="34" charset="0"/>
                        </a:rPr>
                        <a:t>Rede elétrica de abastecimento sem energia elétrica</a:t>
                      </a:r>
                    </a:p>
                  </a:txBody>
                  <a:tcPr/>
                </a:tc>
                <a:tc>
                  <a:txBody>
                    <a:bodyPr/>
                    <a:lstStyle/>
                    <a:p>
                      <a:r>
                        <a:rPr lang="pt-BR" sz="850" dirty="0">
                          <a:latin typeface="Arial" panose="020B0604020202020204" pitchFamily="34" charset="0"/>
                          <a:cs typeface="Arial" panose="020B0604020202020204" pitchFamily="34" charset="0"/>
                        </a:rPr>
                        <a:t>Aguardar retorno do reabastecimento de energia.</a:t>
                      </a:r>
                    </a:p>
                  </a:txBody>
                  <a:tcPr/>
                </a:tc>
                <a:extLst>
                  <a:ext uri="{0D108BD9-81ED-4DB2-BD59-A6C34878D82A}">
                    <a16:rowId xmlns:a16="http://schemas.microsoft.com/office/drawing/2014/main" val="4282304594"/>
                  </a:ext>
                </a:extLst>
              </a:tr>
              <a:tr h="216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Tomada com mau contato </a:t>
                      </a:r>
                    </a:p>
                  </a:txBody>
                  <a:tcPr/>
                </a:tc>
                <a:tc>
                  <a:txBody>
                    <a:bodyPr/>
                    <a:lstStyle/>
                    <a:p>
                      <a:r>
                        <a:rPr lang="pt-BR" sz="850" dirty="0">
                          <a:latin typeface="Arial" panose="020B0604020202020204" pitchFamily="34" charset="0"/>
                          <a:cs typeface="Arial" panose="020B0604020202020204" pitchFamily="34" charset="0"/>
                        </a:rPr>
                        <a:t>Corrigir o defeito da tomada</a:t>
                      </a:r>
                    </a:p>
                  </a:txBody>
                  <a:tcPr/>
                </a:tc>
                <a:extLst>
                  <a:ext uri="{0D108BD9-81ED-4DB2-BD59-A6C34878D82A}">
                    <a16:rowId xmlns:a16="http://schemas.microsoft.com/office/drawing/2014/main" val="949567063"/>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Botão do termostato na posição desligado</a:t>
                      </a:r>
                    </a:p>
                  </a:txBody>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50" dirty="0">
                          <a:latin typeface="Arial" panose="020B0604020202020204" pitchFamily="34" charset="0"/>
                          <a:cs typeface="Arial" panose="020B0604020202020204" pitchFamily="34" charset="0"/>
                        </a:rPr>
                        <a:t>Verificar item </a:t>
                      </a:r>
                      <a:r>
                        <a:rPr lang="pt-BR" sz="850" b="1" dirty="0">
                          <a:solidFill>
                            <a:schemeClr val="tx1"/>
                          </a:solidFill>
                        </a:rPr>
                        <a:t>5. Temperatura </a:t>
                      </a:r>
                      <a:r>
                        <a:rPr lang="pt-BR" sz="850" b="0" dirty="0">
                          <a:solidFill>
                            <a:schemeClr val="tx1"/>
                          </a:solidFill>
                        </a:rPr>
                        <a:t>deste manual</a:t>
                      </a:r>
                    </a:p>
                  </a:txBody>
                  <a:tcPr/>
                </a:tc>
                <a:extLst>
                  <a:ext uri="{0D108BD9-81ED-4DB2-BD59-A6C34878D82A}">
                    <a16:rowId xmlns:a16="http://schemas.microsoft.com/office/drawing/2014/main" val="561615044"/>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Cordão de alimentação rompido ou danificado.</a:t>
                      </a:r>
                    </a:p>
                  </a:txBody>
                  <a:tcPr/>
                </a:tc>
                <a:tc>
                  <a:txBody>
                    <a:bodyPr/>
                    <a:lstStyle/>
                    <a:p>
                      <a:r>
                        <a:rPr lang="pt-BR" sz="850" dirty="0">
                          <a:latin typeface="Arial" panose="020B0604020202020204" pitchFamily="34" charset="0"/>
                          <a:cs typeface="Arial" panose="020B0604020202020204" pitchFamily="34" charset="0"/>
                        </a:rPr>
                        <a:t>Entrar em contato com assistência técnica autorizada para substituição do cabo.</a:t>
                      </a:r>
                    </a:p>
                  </a:txBody>
                  <a:tcPr/>
                </a:tc>
                <a:extLst>
                  <a:ext uri="{0D108BD9-81ED-4DB2-BD59-A6C34878D82A}">
                    <a16:rowId xmlns:a16="http://schemas.microsoft.com/office/drawing/2014/main" val="3271957286"/>
                  </a:ext>
                </a:extLst>
              </a:tr>
              <a:tr h="356655">
                <a:tc rowSpan="5">
                  <a:txBody>
                    <a:bodyPr/>
                    <a:lstStyle/>
                    <a:p>
                      <a:pPr algn="l"/>
                      <a:r>
                        <a:rPr lang="pt-BR" sz="850" dirty="0">
                          <a:latin typeface="Arial" panose="020B0604020202020204" pitchFamily="34" charset="0"/>
                          <a:cs typeface="Arial" panose="020B0604020202020204" pitchFamily="34" charset="0"/>
                        </a:rPr>
                        <a:t>O balcão não está gelando o suficiente</a:t>
                      </a:r>
                    </a:p>
                  </a:txBody>
                  <a:tcPr anchor="ctr"/>
                </a:tc>
                <a:tc>
                  <a:txBody>
                    <a:bodyPr/>
                    <a:lstStyle/>
                    <a:p>
                      <a:r>
                        <a:rPr lang="pt-BR" sz="850" dirty="0">
                          <a:latin typeface="Arial" panose="020B0604020202020204" pitchFamily="34" charset="0"/>
                          <a:cs typeface="Arial" panose="020B0604020202020204" pitchFamily="34" charset="0"/>
                        </a:rPr>
                        <a:t>Temperatura inadequada</a:t>
                      </a:r>
                    </a:p>
                  </a:txBody>
                  <a:tcPr/>
                </a:tc>
                <a:tc>
                  <a:txBody>
                    <a:bodyPr/>
                    <a:lstStyle/>
                    <a:p>
                      <a:r>
                        <a:rPr lang="pt-BR" sz="850" dirty="0">
                          <a:latin typeface="Arial" panose="020B0604020202020204" pitchFamily="34" charset="0"/>
                          <a:cs typeface="Arial" panose="020B0604020202020204" pitchFamily="34" charset="0"/>
                        </a:rPr>
                        <a:t>Verificar itens 3. Utilização e 5. Temperatura deste manual</a:t>
                      </a:r>
                    </a:p>
                  </a:txBody>
                  <a:tcPr/>
                </a:tc>
                <a:extLst>
                  <a:ext uri="{0D108BD9-81ED-4DB2-BD59-A6C34878D82A}">
                    <a16:rowId xmlns:a16="http://schemas.microsoft.com/office/drawing/2014/main" val="2048228533"/>
                  </a:ext>
                </a:extLst>
              </a:tr>
              <a:tr h="35177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Mercadorias mal distribuídas </a:t>
                      </a:r>
                    </a:p>
                  </a:txBody>
                  <a:tcPr/>
                </a:tc>
                <a:tc>
                  <a:txBody>
                    <a:bodyPr/>
                    <a:lstStyle/>
                    <a:p>
                      <a:pPr marL="0" marR="0" lvl="0" indent="0" algn="l" defTabSz="1257300" rtl="0" eaLnBrk="1" fontAlgn="auto" latinLnBrk="0" hangingPunct="1">
                        <a:lnSpc>
                          <a:spcPct val="100000"/>
                        </a:lnSpc>
                        <a:spcBef>
                          <a:spcPts val="0"/>
                        </a:spcBef>
                        <a:spcAft>
                          <a:spcPts val="0"/>
                        </a:spcAft>
                        <a:buClrTx/>
                        <a:buSzTx/>
                        <a:buFontTx/>
                        <a:buNone/>
                        <a:tabLst/>
                        <a:defRPr/>
                      </a:pPr>
                      <a:r>
                        <a:rPr lang="pt-BR" sz="850" kern="1200" dirty="0">
                          <a:solidFill>
                            <a:schemeClr val="tx1"/>
                          </a:solidFill>
                          <a:latin typeface="Arial" panose="020B0604020202020204" pitchFamily="34" charset="0"/>
                          <a:ea typeface="+mn-ea"/>
                          <a:cs typeface="Arial" panose="020B0604020202020204" pitchFamily="34" charset="0"/>
                        </a:rPr>
                        <a:t>Verificar item 9. Nivelamento grades/prateleiras deste manual</a:t>
                      </a:r>
                    </a:p>
                  </a:txBody>
                  <a:tcPr/>
                </a:tc>
                <a:extLst>
                  <a:ext uri="{0D108BD9-81ED-4DB2-BD59-A6C34878D82A}">
                    <a16:rowId xmlns:a16="http://schemas.microsoft.com/office/drawing/2014/main" val="3534187795"/>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Portas sendo abertas com muita frequência ou portas abertas durante muito tempo.</a:t>
                      </a:r>
                    </a:p>
                  </a:txBody>
                  <a:tcPr/>
                </a:tc>
                <a:tc>
                  <a:txBody>
                    <a:bodyPr/>
                    <a:lstStyle/>
                    <a:p>
                      <a:r>
                        <a:rPr lang="pt-BR" sz="850" dirty="0">
                          <a:latin typeface="Arial" panose="020B0604020202020204" pitchFamily="34" charset="0"/>
                          <a:cs typeface="Arial" panose="020B0604020202020204" pitchFamily="34" charset="0"/>
                        </a:rPr>
                        <a:t>Abra somente quando for indispensável</a:t>
                      </a:r>
                    </a:p>
                  </a:txBody>
                  <a:tcPr/>
                </a:tc>
                <a:extLst>
                  <a:ext uri="{0D108BD9-81ED-4DB2-BD59-A6C34878D82A}">
                    <a16:rowId xmlns:a16="http://schemas.microsoft.com/office/drawing/2014/main" val="3479483391"/>
                  </a:ext>
                </a:extLst>
              </a:tr>
              <a:tr h="356655">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Mercadorias obstruindo o forçador de ar</a:t>
                      </a:r>
                    </a:p>
                  </a:txBody>
                  <a:tcPr/>
                </a:tc>
                <a:tc>
                  <a:txBody>
                    <a:bodyPr/>
                    <a:lstStyle/>
                    <a:p>
                      <a:r>
                        <a:rPr lang="pt-BR" sz="850" dirty="0">
                          <a:latin typeface="Arial" panose="020B0604020202020204" pitchFamily="34" charset="0"/>
                          <a:cs typeface="Arial" panose="020B0604020202020204" pitchFamily="34" charset="0"/>
                        </a:rPr>
                        <a:t>Redistribuir mercadoria</a:t>
                      </a:r>
                    </a:p>
                  </a:txBody>
                  <a:tcPr/>
                </a:tc>
                <a:extLst>
                  <a:ext uri="{0D108BD9-81ED-4DB2-BD59-A6C34878D82A}">
                    <a16:rowId xmlns:a16="http://schemas.microsoft.com/office/drawing/2014/main" val="357768792"/>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Equipamento sem circulação de ar</a:t>
                      </a:r>
                    </a:p>
                  </a:txBody>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850" kern="1200" dirty="0">
                          <a:solidFill>
                            <a:schemeClr val="tx1"/>
                          </a:solidFill>
                          <a:latin typeface="Arial" panose="020B0604020202020204" pitchFamily="34" charset="0"/>
                          <a:ea typeface="+mn-ea"/>
                          <a:cs typeface="Arial" panose="020B0604020202020204" pitchFamily="34" charset="0"/>
                        </a:rPr>
                        <a:t>Verificar item 2. Instalação deste manual</a:t>
                      </a:r>
                    </a:p>
                    <a:p>
                      <a:endParaRPr lang="pt-BR" sz="85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07500486"/>
                  </a:ext>
                </a:extLst>
              </a:tr>
              <a:tr h="252000">
                <a:tc rowSpan="2">
                  <a:txBody>
                    <a:bodyPr/>
                    <a:lstStyle/>
                    <a:p>
                      <a:pPr algn="l"/>
                      <a:r>
                        <a:rPr lang="pt-BR" sz="850" dirty="0">
                          <a:latin typeface="Arial" panose="020B0604020202020204" pitchFamily="34" charset="0"/>
                          <a:cs typeface="Arial" panose="020B0604020202020204" pitchFamily="34" charset="0"/>
                        </a:rPr>
                        <a:t>Vazamento de água no fundo do balcão</a:t>
                      </a:r>
                    </a:p>
                  </a:txBody>
                  <a:tcPr anchor="ctr"/>
                </a:tc>
                <a:tc>
                  <a:txBody>
                    <a:bodyPr/>
                    <a:lstStyle/>
                    <a:p>
                      <a:r>
                        <a:rPr lang="pt-BR" sz="850" dirty="0">
                          <a:latin typeface="Arial" panose="020B0604020202020204" pitchFamily="34" charset="0"/>
                          <a:cs typeface="Arial" panose="020B0604020202020204" pitchFamily="34" charset="0"/>
                        </a:rPr>
                        <a:t>Bocal do dreno interno aberto</a:t>
                      </a:r>
                    </a:p>
                  </a:txBody>
                  <a:tcPr/>
                </a:tc>
                <a:tc>
                  <a:txBody>
                    <a:bodyPr/>
                    <a:lstStyle/>
                    <a:p>
                      <a:r>
                        <a:rPr lang="pt-BR" sz="850" dirty="0">
                          <a:latin typeface="Arial" panose="020B0604020202020204" pitchFamily="34" charset="0"/>
                          <a:cs typeface="Arial" panose="020B0604020202020204" pitchFamily="34" charset="0"/>
                        </a:rPr>
                        <a:t>Verificar item 3. Utilização deste manual</a:t>
                      </a:r>
                    </a:p>
                  </a:txBody>
                  <a:tcPr/>
                </a:tc>
                <a:extLst>
                  <a:ext uri="{0D108BD9-81ED-4DB2-BD59-A6C34878D82A}">
                    <a16:rowId xmlns:a16="http://schemas.microsoft.com/office/drawing/2014/main" val="2010095382"/>
                  </a:ext>
                </a:extLst>
              </a:tr>
              <a:tr h="360000">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Sem vedação de silicone</a:t>
                      </a:r>
                    </a:p>
                  </a:txBody>
                  <a:tcPr/>
                </a:tc>
                <a:tc>
                  <a:txBody>
                    <a:bodyPr/>
                    <a:lstStyle/>
                    <a:p>
                      <a:r>
                        <a:rPr lang="pt-BR" sz="850" dirty="0">
                          <a:latin typeface="Arial" panose="020B0604020202020204" pitchFamily="34" charset="0"/>
                          <a:cs typeface="Arial" panose="020B0604020202020204" pitchFamily="34" charset="0"/>
                        </a:rPr>
                        <a:t>Entrar em contato com assistência técnica autorizada </a:t>
                      </a:r>
                    </a:p>
                  </a:txBody>
                  <a:tcPr/>
                </a:tc>
                <a:extLst>
                  <a:ext uri="{0D108BD9-81ED-4DB2-BD59-A6C34878D82A}">
                    <a16:rowId xmlns:a16="http://schemas.microsoft.com/office/drawing/2014/main" val="457876877"/>
                  </a:ext>
                </a:extLst>
              </a:tr>
              <a:tr h="360000">
                <a:tc rowSpan="2">
                  <a:txBody>
                    <a:bodyPr/>
                    <a:lstStyle/>
                    <a:p>
                      <a:pPr algn="l"/>
                      <a:r>
                        <a:rPr lang="pt-BR" sz="850" dirty="0">
                          <a:latin typeface="Arial" panose="020B0604020202020204" pitchFamily="34" charset="0"/>
                          <a:cs typeface="Arial" panose="020B0604020202020204" pitchFamily="34" charset="0"/>
                        </a:rPr>
                        <a:t>Condensação externa de água no balcão (</a:t>
                      </a:r>
                      <a:r>
                        <a:rPr lang="pt-BR" sz="850">
                          <a:latin typeface="Arial" panose="020B0604020202020204" pitchFamily="34" charset="0"/>
                          <a:cs typeface="Arial" panose="020B0604020202020204" pitchFamily="34" charset="0"/>
                        </a:rPr>
                        <a:t>balcão suando)</a:t>
                      </a:r>
                      <a:endParaRPr lang="pt-BR" sz="850" dirty="0">
                        <a:latin typeface="Arial" panose="020B0604020202020204" pitchFamily="34" charset="0"/>
                        <a:cs typeface="Arial" panose="020B0604020202020204" pitchFamily="34" charset="0"/>
                      </a:endParaRPr>
                    </a:p>
                  </a:txBody>
                  <a:tcPr anchor="ctr"/>
                </a:tc>
                <a:tc>
                  <a:txBody>
                    <a:bodyPr/>
                    <a:lstStyle/>
                    <a:p>
                      <a:r>
                        <a:rPr lang="pt-BR" sz="850" dirty="0">
                          <a:latin typeface="Arial" panose="020B0604020202020204" pitchFamily="34" charset="0"/>
                          <a:cs typeface="Arial" panose="020B0604020202020204" pitchFamily="34" charset="0"/>
                        </a:rPr>
                        <a:t>Umidade do ar muito elevada</a:t>
                      </a:r>
                    </a:p>
                  </a:txBody>
                  <a:tcPr/>
                </a:tc>
                <a:tc>
                  <a:txBody>
                    <a:bodyPr/>
                    <a:lstStyle/>
                    <a:p>
                      <a:r>
                        <a:rPr lang="pt-BR" sz="850" dirty="0">
                          <a:latin typeface="Arial" panose="020B0604020202020204" pitchFamily="34" charset="0"/>
                          <a:cs typeface="Arial" panose="020B0604020202020204" pitchFamily="34" charset="0"/>
                        </a:rPr>
                        <a:t>Normal em certos climas e períodos do ano.</a:t>
                      </a:r>
                    </a:p>
                  </a:txBody>
                  <a:tcPr/>
                </a:tc>
                <a:extLst>
                  <a:ext uri="{0D108BD9-81ED-4DB2-BD59-A6C34878D82A}">
                    <a16:rowId xmlns:a16="http://schemas.microsoft.com/office/drawing/2014/main" val="83196007"/>
                  </a:ext>
                </a:extLst>
              </a:tr>
              <a:tr h="483683">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Vedação irregular da borracha da porta</a:t>
                      </a:r>
                    </a:p>
                  </a:txBody>
                  <a:tcPr/>
                </a:tc>
                <a:tc>
                  <a:txBody>
                    <a:bodyPr/>
                    <a:lstStyle/>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Regule os pés niveladores de maneira</a:t>
                      </a:r>
                    </a:p>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a manter o produto um pouco inclinado</a:t>
                      </a:r>
                    </a:p>
                    <a:p>
                      <a:pPr marL="0" algn="l" defTabSz="1043056" rtl="0" eaLnBrk="1" latinLnBrk="0" hangingPunct="1"/>
                      <a:r>
                        <a:rPr lang="pt-BR" sz="850" kern="1200" dirty="0">
                          <a:solidFill>
                            <a:schemeClr val="tx1"/>
                          </a:solidFill>
                          <a:latin typeface="Arial" panose="020B0604020202020204" pitchFamily="34" charset="0"/>
                          <a:ea typeface="+mn-ea"/>
                          <a:cs typeface="Arial" panose="020B0604020202020204" pitchFamily="34" charset="0"/>
                        </a:rPr>
                        <a:t>para trás.</a:t>
                      </a:r>
                    </a:p>
                  </a:txBody>
                  <a:tcPr/>
                </a:tc>
                <a:extLst>
                  <a:ext uri="{0D108BD9-81ED-4DB2-BD59-A6C34878D82A}">
                    <a16:rowId xmlns:a16="http://schemas.microsoft.com/office/drawing/2014/main" val="3014364009"/>
                  </a:ext>
                </a:extLst>
              </a:tr>
              <a:tr h="356655">
                <a:tc rowSpan="2">
                  <a:txBody>
                    <a:bodyPr/>
                    <a:lstStyle/>
                    <a:p>
                      <a:pPr algn="l"/>
                      <a:r>
                        <a:rPr lang="pt-BR" sz="850" dirty="0">
                          <a:latin typeface="Arial" panose="020B0604020202020204" pitchFamily="34" charset="0"/>
                          <a:cs typeface="Arial" panose="020B0604020202020204" pitchFamily="34" charset="0"/>
                        </a:rPr>
                        <a:t>Ruídos anormais</a:t>
                      </a:r>
                    </a:p>
                  </a:txBody>
                  <a:tcPr/>
                </a:tc>
                <a:tc>
                  <a:txBody>
                    <a:bodyPr/>
                    <a:lstStyle/>
                    <a:p>
                      <a:r>
                        <a:rPr lang="pt-BR" sz="850" dirty="0">
                          <a:latin typeface="Arial" panose="020B0604020202020204" pitchFamily="34" charset="0"/>
                          <a:cs typeface="Arial" panose="020B0604020202020204" pitchFamily="34" charset="0"/>
                        </a:rPr>
                        <a:t>Os pés do balcão não estão nivelados</a:t>
                      </a:r>
                    </a:p>
                  </a:txBody>
                  <a:tcPr/>
                </a:tc>
                <a:tc>
                  <a:txBody>
                    <a:bodyPr/>
                    <a:lstStyle/>
                    <a:p>
                      <a:r>
                        <a:rPr lang="pt-BR" sz="850" dirty="0">
                          <a:latin typeface="Arial" panose="020B0604020202020204" pitchFamily="34" charset="0"/>
                          <a:cs typeface="Arial" panose="020B0604020202020204" pitchFamily="34" charset="0"/>
                        </a:rPr>
                        <a:t>Nivelar os pés do balcão conformando - os ao piso de apoio.</a:t>
                      </a:r>
                    </a:p>
                  </a:txBody>
                  <a:tcPr/>
                </a:tc>
                <a:extLst>
                  <a:ext uri="{0D108BD9-81ED-4DB2-BD59-A6C34878D82A}">
                    <a16:rowId xmlns:a16="http://schemas.microsoft.com/office/drawing/2014/main" val="592184475"/>
                  </a:ext>
                </a:extLst>
              </a:tr>
              <a:tr h="356655">
                <a:tc vMerge="1">
                  <a:txBody>
                    <a:bodyPr/>
                    <a:lstStyle/>
                    <a:p>
                      <a:endParaRPr lang="pt-BR" sz="900" dirty="0">
                        <a:latin typeface="Arial" panose="020B0604020202020204" pitchFamily="34" charset="0"/>
                        <a:cs typeface="Arial" panose="020B0604020202020204" pitchFamily="34" charset="0"/>
                      </a:endParaRPr>
                    </a:p>
                  </a:txBody>
                  <a:tcPr/>
                </a:tc>
                <a:tc>
                  <a:txBody>
                    <a:bodyPr/>
                    <a:lstStyle/>
                    <a:p>
                      <a:r>
                        <a:rPr lang="pt-BR" sz="850" dirty="0">
                          <a:latin typeface="Arial" panose="020B0604020202020204" pitchFamily="34" charset="0"/>
                          <a:cs typeface="Arial" panose="020B0604020202020204" pitchFamily="34" charset="0"/>
                        </a:rPr>
                        <a:t>Parafuso da base da unidade de refrigeração solto</a:t>
                      </a:r>
                    </a:p>
                  </a:txBody>
                  <a:tcPr/>
                </a:tc>
                <a:tc>
                  <a:txBody>
                    <a:bodyPr/>
                    <a:lstStyle/>
                    <a:p>
                      <a:r>
                        <a:rPr lang="pt-BR" sz="850" dirty="0">
                          <a:latin typeface="Arial" panose="020B0604020202020204" pitchFamily="34" charset="0"/>
                          <a:cs typeface="Arial" panose="020B0604020202020204" pitchFamily="34" charset="0"/>
                        </a:rPr>
                        <a:t>Apertar o parafuso da base de refrigeração.</a:t>
                      </a:r>
                    </a:p>
                  </a:txBody>
                  <a:tcPr/>
                </a:tc>
                <a:extLst>
                  <a:ext uri="{0D108BD9-81ED-4DB2-BD59-A6C34878D82A}">
                    <a16:rowId xmlns:a16="http://schemas.microsoft.com/office/drawing/2014/main" val="4236306010"/>
                  </a:ext>
                </a:extLst>
              </a:tr>
            </a:tbl>
          </a:graphicData>
        </a:graphic>
      </p:graphicFrame>
      <p:sp>
        <p:nvSpPr>
          <p:cNvPr id="21" name="CaixaDeTexto 20">
            <a:extLst>
              <a:ext uri="{FF2B5EF4-FFF2-40B4-BE49-F238E27FC236}">
                <a16:creationId xmlns:a16="http://schemas.microsoft.com/office/drawing/2014/main" id="{CAD2AEEC-8187-4904-AC0B-096449F5C471}"/>
              </a:ext>
            </a:extLst>
          </p:cNvPr>
          <p:cNvSpPr txBox="1"/>
          <p:nvPr/>
        </p:nvSpPr>
        <p:spPr>
          <a:xfrm>
            <a:off x="5447791" y="1189528"/>
            <a:ext cx="5001042" cy="400110"/>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17.1 Se observar qualquer problema em seu equipamento, antes de chamar a assistência técnica, verifique os seguintes pontos.</a:t>
            </a:r>
          </a:p>
        </p:txBody>
      </p:sp>
      <p:sp>
        <p:nvSpPr>
          <p:cNvPr id="22" name="CaixaDeTexto 21">
            <a:extLst>
              <a:ext uri="{FF2B5EF4-FFF2-40B4-BE49-F238E27FC236}">
                <a16:creationId xmlns:a16="http://schemas.microsoft.com/office/drawing/2014/main" id="{A45EB2E0-70E9-4570-9804-E33B2AD1CCFE}"/>
              </a:ext>
            </a:extLst>
          </p:cNvPr>
          <p:cNvSpPr txBox="1"/>
          <p:nvPr/>
        </p:nvSpPr>
        <p:spPr>
          <a:xfrm>
            <a:off x="7570164" y="7320112"/>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07</a:t>
            </a:r>
          </a:p>
        </p:txBody>
      </p:sp>
      <p:sp>
        <p:nvSpPr>
          <p:cNvPr id="23" name="Retângulo 22">
            <a:extLst>
              <a:ext uri="{FF2B5EF4-FFF2-40B4-BE49-F238E27FC236}">
                <a16:creationId xmlns:a16="http://schemas.microsoft.com/office/drawing/2014/main" id="{D3B4CD67-6342-487D-B67B-63ABDEBB4F59}"/>
              </a:ext>
            </a:extLst>
          </p:cNvPr>
          <p:cNvSpPr/>
          <p:nvPr/>
        </p:nvSpPr>
        <p:spPr>
          <a:xfrm>
            <a:off x="5476112" y="210617"/>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16. Características gerais</a:t>
            </a:r>
          </a:p>
        </p:txBody>
      </p:sp>
      <p:sp>
        <p:nvSpPr>
          <p:cNvPr id="24" name="CaixaDeTexto 23">
            <a:extLst>
              <a:ext uri="{FF2B5EF4-FFF2-40B4-BE49-F238E27FC236}">
                <a16:creationId xmlns:a16="http://schemas.microsoft.com/office/drawing/2014/main" id="{9540EADE-ED86-440D-A60A-25A3899CFBE4}"/>
              </a:ext>
            </a:extLst>
          </p:cNvPr>
          <p:cNvSpPr txBox="1"/>
          <p:nvPr/>
        </p:nvSpPr>
        <p:spPr>
          <a:xfrm>
            <a:off x="5458226" y="468263"/>
            <a:ext cx="5001042" cy="70788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16.1 Fabricado em chapa de aço inox ou </a:t>
            </a:r>
            <a:r>
              <a:rPr lang="pt-BR" sz="1000" dirty="0" err="1">
                <a:latin typeface="Arial" panose="020B0604020202020204" pitchFamily="34" charset="0"/>
                <a:cs typeface="Arial" panose="020B0604020202020204" pitchFamily="34" charset="0"/>
              </a:rPr>
              <a:t>pré</a:t>
            </a:r>
            <a:r>
              <a:rPr lang="pt-BR" sz="1000" dirty="0">
                <a:latin typeface="Arial" panose="020B0604020202020204" pitchFamily="34" charset="0"/>
                <a:cs typeface="Arial" panose="020B0604020202020204" pitchFamily="34" charset="0"/>
              </a:rPr>
              <a:t>-pintada, isolamento térmico com poliuretano injetado.</a:t>
            </a:r>
          </a:p>
          <a:p>
            <a:pPr algn="just"/>
            <a:r>
              <a:rPr lang="pt-BR" sz="1000" dirty="0">
                <a:latin typeface="Arial" panose="020B0604020202020204" pitchFamily="34" charset="0"/>
                <a:cs typeface="Arial" panose="020B0604020202020204" pitchFamily="34" charset="0"/>
              </a:rPr>
              <a:t>16.2 Compressores herméticos de baixo nível de ruído e baixo consumo.</a:t>
            </a:r>
          </a:p>
          <a:p>
            <a:pPr algn="just"/>
            <a:endParaRPr lang="pt-BR" sz="1000" dirty="0"/>
          </a:p>
        </p:txBody>
      </p:sp>
      <p:pic>
        <p:nvPicPr>
          <p:cNvPr id="10" name="Imagem 9">
            <a:extLst>
              <a:ext uri="{FF2B5EF4-FFF2-40B4-BE49-F238E27FC236}">
                <a16:creationId xmlns:a16="http://schemas.microsoft.com/office/drawing/2014/main" id="{8FADCA47-3675-4135-AA8C-135406E4A67C}"/>
              </a:ext>
            </a:extLst>
          </p:cNvPr>
          <p:cNvPicPr>
            <a:picLocks noChangeAspect="1"/>
          </p:cNvPicPr>
          <p:nvPr/>
        </p:nvPicPr>
        <p:blipFill rotWithShape="1">
          <a:blip r:embed="rId9" cstate="print">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l="50957" t="-10857" r="-7995" b="-1991"/>
          <a:stretch/>
        </p:blipFill>
        <p:spPr>
          <a:xfrm>
            <a:off x="4386070" y="1723714"/>
            <a:ext cx="567628" cy="510981"/>
          </a:xfrm>
          <a:prstGeom prst="rect">
            <a:avLst/>
          </a:prstGeom>
        </p:spPr>
      </p:pic>
    </p:spTree>
    <p:extLst>
      <p:ext uri="{BB962C8B-B14F-4D97-AF65-F5344CB8AC3E}">
        <p14:creationId xmlns:p14="http://schemas.microsoft.com/office/powerpoint/2010/main" val="45086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tângulo 32">
            <a:extLst>
              <a:ext uri="{FF2B5EF4-FFF2-40B4-BE49-F238E27FC236}">
                <a16:creationId xmlns:a16="http://schemas.microsoft.com/office/drawing/2014/main" id="{E7E2A110-F45C-4BD5-A7D4-C926773B42AE}"/>
              </a:ext>
            </a:extLst>
          </p:cNvPr>
          <p:cNvSpPr/>
          <p:nvPr/>
        </p:nvSpPr>
        <p:spPr>
          <a:xfrm>
            <a:off x="196141" y="1268001"/>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14. Limpeza</a:t>
            </a:r>
          </a:p>
        </p:txBody>
      </p:sp>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 name="CaixaDeTexto 3">
            <a:extLst>
              <a:ext uri="{FF2B5EF4-FFF2-40B4-BE49-F238E27FC236}">
                <a16:creationId xmlns:a16="http://schemas.microsoft.com/office/drawing/2014/main" id="{C4706CA2-30B1-4232-BB62-CE77FAB5EC19}"/>
              </a:ext>
            </a:extLst>
          </p:cNvPr>
          <p:cNvSpPr txBox="1"/>
          <p:nvPr/>
        </p:nvSpPr>
        <p:spPr>
          <a:xfrm>
            <a:off x="5494483" y="478032"/>
            <a:ext cx="5040560" cy="163121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3.3 Não armazenar produtos ainda quentes. O aconselhável é a colocação dos produtos refrigerados na faixa de temperatura indicada anteriormente</a:t>
            </a:r>
          </a:p>
          <a:p>
            <a:pPr algn="just"/>
            <a:r>
              <a:rPr lang="pt-BR" sz="1000" dirty="0">
                <a:latin typeface="Arial" panose="020B0604020202020204" pitchFamily="34" charset="0"/>
                <a:cs typeface="Arial" panose="020B0604020202020204" pitchFamily="34" charset="0"/>
              </a:rPr>
              <a:t>3.4 Manter a porta aberta somente o tempo necessário para a retirada do produto ou para o abastecimento.</a:t>
            </a:r>
          </a:p>
          <a:p>
            <a:pPr algn="just"/>
            <a:r>
              <a:rPr lang="pt-BR" sz="1000" dirty="0">
                <a:latin typeface="Arial" panose="020B0604020202020204" pitchFamily="34" charset="0"/>
                <a:cs typeface="Arial" panose="020B0604020202020204" pitchFamily="34" charset="0"/>
              </a:rPr>
              <a:t>3.5 A temperatura interna do seu produto dependerá da temperatura do ambiente onde está instalado, giro diário de mercadorias, quantidade de mercadorias armazenadas, vedação das portas (funcionamento perfeito).</a:t>
            </a:r>
          </a:p>
          <a:p>
            <a:pPr algn="just"/>
            <a:r>
              <a:rPr lang="pt-BR" sz="1000" dirty="0">
                <a:latin typeface="Arial" panose="020B0604020202020204" pitchFamily="34" charset="0"/>
                <a:cs typeface="Arial" panose="020B0604020202020204" pitchFamily="34" charset="0"/>
              </a:rPr>
              <a:t>3.6 O controlador digital já está configurado de fábrica. </a:t>
            </a:r>
          </a:p>
          <a:p>
            <a:r>
              <a:rPr lang="pt-BR" sz="1000" dirty="0">
                <a:latin typeface="Arial" panose="020B0604020202020204" pitchFamily="34" charset="0"/>
                <a:cs typeface="Arial" panose="020B0604020202020204" pitchFamily="34" charset="0"/>
              </a:rPr>
              <a:t>3.7 É importante não sobrecarregar de mercadorias, bem como não obstruir o fluxo de ar na entrada e saída do forçador de ar.</a:t>
            </a:r>
          </a:p>
        </p:txBody>
      </p:sp>
      <p:sp>
        <p:nvSpPr>
          <p:cNvPr id="5" name="Retângulo 4">
            <a:extLst>
              <a:ext uri="{FF2B5EF4-FFF2-40B4-BE49-F238E27FC236}">
                <a16:creationId xmlns:a16="http://schemas.microsoft.com/office/drawing/2014/main" id="{4AB7EE81-1A31-4E24-B4B0-58DDC101E76F}"/>
              </a:ext>
            </a:extLst>
          </p:cNvPr>
          <p:cNvSpPr/>
          <p:nvPr/>
        </p:nvSpPr>
        <p:spPr>
          <a:xfrm>
            <a:off x="5539755" y="2233309"/>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4. Controlador digital</a:t>
            </a:r>
          </a:p>
        </p:txBody>
      </p:sp>
      <p:sp>
        <p:nvSpPr>
          <p:cNvPr id="6" name="CaixaDeTexto 5">
            <a:extLst>
              <a:ext uri="{FF2B5EF4-FFF2-40B4-BE49-F238E27FC236}">
                <a16:creationId xmlns:a16="http://schemas.microsoft.com/office/drawing/2014/main" id="{83833B49-A9E2-4842-80FA-B6D229259EDC}"/>
              </a:ext>
            </a:extLst>
          </p:cNvPr>
          <p:cNvSpPr txBox="1"/>
          <p:nvPr/>
        </p:nvSpPr>
        <p:spPr>
          <a:xfrm>
            <a:off x="5475135" y="2486568"/>
            <a:ext cx="2437875" cy="178510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4.1 Ao conectar o cordão de alimentação do produto na tomada, o controlador eletrônico entrará em estado de proteção por um período de 3 minutos.  Durante os 3 minutos, o visor do controlador apresentará a temperatura interna do balcão.</a:t>
            </a:r>
          </a:p>
          <a:p>
            <a:pPr algn="just"/>
            <a:r>
              <a:rPr lang="pt-BR" sz="1000" dirty="0">
                <a:latin typeface="Arial" panose="020B0604020202020204" pitchFamily="34" charset="0"/>
                <a:cs typeface="Arial" panose="020B0604020202020204" pitchFamily="34" charset="0"/>
              </a:rPr>
              <a:t>4.2 Após o período de 3 minutos será indicado no visor o</a:t>
            </a:r>
            <a:r>
              <a:rPr lang="pt-BR" sz="1000" i="1" dirty="0">
                <a:latin typeface="Arial" panose="020B0604020202020204" pitchFamily="34" charset="0"/>
                <a:cs typeface="Arial" panose="020B0604020202020204" pitchFamily="34" charset="0"/>
              </a:rPr>
              <a:t> </a:t>
            </a:r>
            <a:r>
              <a:rPr lang="pt-BR" sz="1000" i="1" dirty="0" err="1">
                <a:latin typeface="Arial" panose="020B0604020202020204" pitchFamily="34" charset="0"/>
                <a:cs typeface="Arial" panose="020B0604020202020204" pitchFamily="34" charset="0"/>
              </a:rPr>
              <a:t>led</a:t>
            </a:r>
            <a:r>
              <a:rPr lang="pt-BR" sz="1000" i="1" dirty="0">
                <a:latin typeface="Arial" panose="020B0604020202020204" pitchFamily="34" charset="0"/>
                <a:cs typeface="Arial" panose="020B0604020202020204" pitchFamily="34" charset="0"/>
              </a:rPr>
              <a:t> </a:t>
            </a:r>
            <a:r>
              <a:rPr lang="pt-BR" sz="1000" dirty="0">
                <a:latin typeface="Arial" panose="020B0604020202020204" pitchFamily="34" charset="0"/>
                <a:cs typeface="Arial" panose="020B0604020202020204" pitchFamily="34" charset="0"/>
              </a:rPr>
              <a:t>com o símbolo </a:t>
            </a:r>
          </a:p>
          <a:p>
            <a:pPr algn="just"/>
            <a:r>
              <a:rPr lang="pt-BR" sz="1000" dirty="0">
                <a:latin typeface="Arial" panose="020B0604020202020204" pitchFamily="34" charset="0"/>
                <a:cs typeface="Arial" panose="020B0604020202020204" pitchFamily="34" charset="0"/>
              </a:rPr>
              <a:t>O símbolo indica o acionamento do sistema de refrigeração do produto.</a:t>
            </a:r>
          </a:p>
        </p:txBody>
      </p:sp>
      <p:sp>
        <p:nvSpPr>
          <p:cNvPr id="7" name="Retângulo 6">
            <a:extLst>
              <a:ext uri="{FF2B5EF4-FFF2-40B4-BE49-F238E27FC236}">
                <a16:creationId xmlns:a16="http://schemas.microsoft.com/office/drawing/2014/main" id="{195A5C2D-32C1-4FDC-BA8C-083C37862FFA}"/>
              </a:ext>
            </a:extLst>
          </p:cNvPr>
          <p:cNvSpPr/>
          <p:nvPr/>
        </p:nvSpPr>
        <p:spPr>
          <a:xfrm>
            <a:off x="5539755" y="248641"/>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3. Utilização </a:t>
            </a:r>
            <a:r>
              <a:rPr lang="pt-BR" sz="1100" b="1" i="1" dirty="0">
                <a:solidFill>
                  <a:schemeClr val="tx1"/>
                </a:solidFill>
              </a:rPr>
              <a:t>(continuação)</a:t>
            </a:r>
          </a:p>
        </p:txBody>
      </p:sp>
      <p:pic>
        <p:nvPicPr>
          <p:cNvPr id="8" name="Imagem 7">
            <a:extLst>
              <a:ext uri="{FF2B5EF4-FFF2-40B4-BE49-F238E27FC236}">
                <a16:creationId xmlns:a16="http://schemas.microsoft.com/office/drawing/2014/main" id="{6D48F482-D412-4ABB-B630-9A03AD9852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220" y="2569748"/>
            <a:ext cx="2602171" cy="1371721"/>
          </a:xfrm>
          <a:prstGeom prst="rect">
            <a:avLst/>
          </a:prstGeom>
        </p:spPr>
      </p:pic>
      <p:pic>
        <p:nvPicPr>
          <p:cNvPr id="10" name="Imagem 9">
            <a:extLst>
              <a:ext uri="{FF2B5EF4-FFF2-40B4-BE49-F238E27FC236}">
                <a16:creationId xmlns:a16="http://schemas.microsoft.com/office/drawing/2014/main" id="{A6583EDE-28BE-46A3-9141-33D16086C00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1842" y="3768617"/>
            <a:ext cx="138511" cy="138511"/>
          </a:xfrm>
          <a:prstGeom prst="rect">
            <a:avLst/>
          </a:prstGeom>
          <a:ln>
            <a:solidFill>
              <a:schemeClr val="tx1"/>
            </a:solidFill>
          </a:ln>
        </p:spPr>
      </p:pic>
      <p:sp>
        <p:nvSpPr>
          <p:cNvPr id="11" name="Retângulo 10">
            <a:extLst>
              <a:ext uri="{FF2B5EF4-FFF2-40B4-BE49-F238E27FC236}">
                <a16:creationId xmlns:a16="http://schemas.microsoft.com/office/drawing/2014/main" id="{98FBF67A-89FE-4ED9-A385-7C100DAFC573}"/>
              </a:ext>
            </a:extLst>
          </p:cNvPr>
          <p:cNvSpPr/>
          <p:nvPr/>
        </p:nvSpPr>
        <p:spPr>
          <a:xfrm>
            <a:off x="5539755" y="4366046"/>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5. Temperatura</a:t>
            </a:r>
          </a:p>
        </p:txBody>
      </p:sp>
      <p:sp>
        <p:nvSpPr>
          <p:cNvPr id="12" name="CaixaDeTexto 11">
            <a:extLst>
              <a:ext uri="{FF2B5EF4-FFF2-40B4-BE49-F238E27FC236}">
                <a16:creationId xmlns:a16="http://schemas.microsoft.com/office/drawing/2014/main" id="{56766951-1205-416E-951D-216CEFDBA80F}"/>
              </a:ext>
            </a:extLst>
          </p:cNvPr>
          <p:cNvSpPr txBox="1"/>
          <p:nvPr/>
        </p:nvSpPr>
        <p:spPr>
          <a:xfrm>
            <a:off x="5483345" y="4629040"/>
            <a:ext cx="3462970" cy="1323439"/>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5.1 O controle da temperatura interna do balcão é realizado através de um controlador eletrônico digital.</a:t>
            </a:r>
          </a:p>
          <a:p>
            <a:pPr algn="just"/>
            <a:r>
              <a:rPr lang="pt-BR" sz="1000" dirty="0">
                <a:latin typeface="Arial" panose="020B0604020202020204" pitchFamily="34" charset="0"/>
                <a:cs typeface="Arial" panose="020B0604020202020204" pitchFamily="34" charset="0"/>
              </a:rPr>
              <a:t>5.2 O controlador está localizado na parte externa superior do balcão.</a:t>
            </a:r>
          </a:p>
          <a:p>
            <a:pPr algn="just"/>
            <a:r>
              <a:rPr lang="pt-BR" sz="1000" dirty="0">
                <a:latin typeface="Arial" panose="020B0604020202020204" pitchFamily="34" charset="0"/>
                <a:cs typeface="Arial" panose="020B0604020202020204" pitchFamily="34" charset="0"/>
              </a:rPr>
              <a:t>5.3 O controlador sai com regulagem padrão de fábrica e deverá ser adaptado de acordo com a necessidade de cada usuário. Sua regulagem é realizada através do visor do controlador. </a:t>
            </a:r>
          </a:p>
        </p:txBody>
      </p:sp>
      <p:pic>
        <p:nvPicPr>
          <p:cNvPr id="13" name="Imagem 12">
            <a:extLst>
              <a:ext uri="{FF2B5EF4-FFF2-40B4-BE49-F238E27FC236}">
                <a16:creationId xmlns:a16="http://schemas.microsoft.com/office/drawing/2014/main" id="{290447B4-5BD4-4256-BDFE-28FDE87DF74A}"/>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57674" t="22342" r="27362" b="54549"/>
          <a:stretch/>
        </p:blipFill>
        <p:spPr>
          <a:xfrm>
            <a:off x="9086803" y="4682938"/>
            <a:ext cx="1303213" cy="1132037"/>
          </a:xfrm>
          <a:prstGeom prst="rect">
            <a:avLst/>
          </a:prstGeom>
        </p:spPr>
      </p:pic>
      <p:sp>
        <p:nvSpPr>
          <p:cNvPr id="14" name="CaixaDeTexto 13">
            <a:extLst>
              <a:ext uri="{FF2B5EF4-FFF2-40B4-BE49-F238E27FC236}">
                <a16:creationId xmlns:a16="http://schemas.microsoft.com/office/drawing/2014/main" id="{027983E4-CA4F-447A-9D5D-51B5AF1C2EDE}"/>
              </a:ext>
            </a:extLst>
          </p:cNvPr>
          <p:cNvSpPr txBox="1"/>
          <p:nvPr/>
        </p:nvSpPr>
        <p:spPr>
          <a:xfrm>
            <a:off x="5475134" y="5901354"/>
            <a:ext cx="4320481" cy="246221"/>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5.4 O produto foi desenvolvido para trabalhar com a classe climática 6.</a:t>
            </a:r>
          </a:p>
        </p:txBody>
      </p:sp>
      <p:sp>
        <p:nvSpPr>
          <p:cNvPr id="15" name="Retângulo 14">
            <a:extLst>
              <a:ext uri="{FF2B5EF4-FFF2-40B4-BE49-F238E27FC236}">
                <a16:creationId xmlns:a16="http://schemas.microsoft.com/office/drawing/2014/main" id="{6CCDD5F6-93DE-4465-B6D8-8AAF9A054BF5}"/>
              </a:ext>
            </a:extLst>
          </p:cNvPr>
          <p:cNvSpPr/>
          <p:nvPr/>
        </p:nvSpPr>
        <p:spPr>
          <a:xfrm>
            <a:off x="5545818" y="6187262"/>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6. Ajuste do</a:t>
            </a:r>
            <a:r>
              <a:rPr lang="pt-BR" sz="1100" b="1" i="1" dirty="0">
                <a:solidFill>
                  <a:schemeClr val="tx1"/>
                </a:solidFill>
              </a:rPr>
              <a:t> Setpoint </a:t>
            </a:r>
            <a:r>
              <a:rPr lang="pt-BR" sz="1100" b="1" dirty="0">
                <a:solidFill>
                  <a:schemeClr val="tx1"/>
                </a:solidFill>
              </a:rPr>
              <a:t>(temperatura desejada)</a:t>
            </a:r>
          </a:p>
        </p:txBody>
      </p:sp>
      <p:sp>
        <p:nvSpPr>
          <p:cNvPr id="16" name="CaixaDeTexto 15">
            <a:extLst>
              <a:ext uri="{FF2B5EF4-FFF2-40B4-BE49-F238E27FC236}">
                <a16:creationId xmlns:a16="http://schemas.microsoft.com/office/drawing/2014/main" id="{D5DAB600-07AE-415E-9561-FAE66189833F}"/>
              </a:ext>
            </a:extLst>
          </p:cNvPr>
          <p:cNvSpPr txBox="1"/>
          <p:nvPr/>
        </p:nvSpPr>
        <p:spPr>
          <a:xfrm>
            <a:off x="5494483" y="6451831"/>
            <a:ext cx="5051042" cy="707886"/>
          </a:xfrm>
          <a:prstGeom prst="rect">
            <a:avLst/>
          </a:prstGeom>
          <a:noFill/>
        </p:spPr>
        <p:txBody>
          <a:bodyPr wrap="square" rtlCol="0">
            <a:spAutoFit/>
          </a:bodyPr>
          <a:lstStyle/>
          <a:p>
            <a:pPr algn="just" defTabSz="358775">
              <a:tabLst>
                <a:tab pos="266700" algn="l"/>
              </a:tabLst>
            </a:pPr>
            <a:r>
              <a:rPr lang="pt-BR" sz="1000" dirty="0">
                <a:latin typeface="Arial" panose="020B0604020202020204" pitchFamily="34" charset="0"/>
                <a:cs typeface="Arial" panose="020B0604020202020204" pitchFamily="34" charset="0"/>
              </a:rPr>
              <a:t>6.1 Pressione a tecla </a:t>
            </a:r>
            <a:r>
              <a:rPr lang="pt-BR" sz="1000" i="1" dirty="0">
                <a:latin typeface="Arial" panose="020B0604020202020204" pitchFamily="34" charset="0"/>
                <a:cs typeface="Arial" panose="020B0604020202020204" pitchFamily="34" charset="0"/>
              </a:rPr>
              <a:t>SET</a:t>
            </a:r>
            <a:r>
              <a:rPr lang="pt-BR" sz="1000" dirty="0">
                <a:latin typeface="Arial" panose="020B0604020202020204" pitchFamily="34" charset="0"/>
                <a:cs typeface="Arial" panose="020B0604020202020204" pitchFamily="34" charset="0"/>
              </a:rPr>
              <a:t>     durante 2 segundos até aparecer a mensagem                                  	no visor do controlador. Ao soltar a tecla aparecerá a temperatura de controle atualmente ajustada. Utilize as teclas  ou  para modificar o valor e pressione                                   	para gravar.</a:t>
            </a:r>
          </a:p>
        </p:txBody>
      </p:sp>
      <p:cxnSp>
        <p:nvCxnSpPr>
          <p:cNvPr id="17" name="Conector de Seta Reta 16">
            <a:extLst>
              <a:ext uri="{FF2B5EF4-FFF2-40B4-BE49-F238E27FC236}">
                <a16:creationId xmlns:a16="http://schemas.microsoft.com/office/drawing/2014/main" id="{EA2CEE83-28C0-40DB-8618-BB3D3D5BBB96}"/>
              </a:ext>
            </a:extLst>
          </p:cNvPr>
          <p:cNvCxnSpPr/>
          <p:nvPr/>
        </p:nvCxnSpPr>
        <p:spPr>
          <a:xfrm>
            <a:off x="7264962" y="6570373"/>
            <a:ext cx="1195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m 17">
            <a:extLst>
              <a:ext uri="{FF2B5EF4-FFF2-40B4-BE49-F238E27FC236}">
                <a16:creationId xmlns:a16="http://schemas.microsoft.com/office/drawing/2014/main" id="{42CB0C9F-A134-4DD7-B611-D0B5778167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73325" y="6805774"/>
            <a:ext cx="119514" cy="159352"/>
          </a:xfrm>
          <a:prstGeom prst="rect">
            <a:avLst/>
          </a:prstGeom>
        </p:spPr>
      </p:pic>
      <p:pic>
        <p:nvPicPr>
          <p:cNvPr id="19" name="Imagem 18">
            <a:extLst>
              <a:ext uri="{FF2B5EF4-FFF2-40B4-BE49-F238E27FC236}">
                <a16:creationId xmlns:a16="http://schemas.microsoft.com/office/drawing/2014/main" id="{FB6FA2CC-9F4E-47F7-8F99-A6D6DEC40B5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09299" y="6815670"/>
            <a:ext cx="120721" cy="159352"/>
          </a:xfrm>
          <a:prstGeom prst="rect">
            <a:avLst/>
          </a:prstGeom>
        </p:spPr>
      </p:pic>
      <p:pic>
        <p:nvPicPr>
          <p:cNvPr id="20" name="Imagem 19">
            <a:extLst>
              <a:ext uri="{FF2B5EF4-FFF2-40B4-BE49-F238E27FC236}">
                <a16:creationId xmlns:a16="http://schemas.microsoft.com/office/drawing/2014/main" id="{17DA36F9-3DC7-4F22-B976-08A5E9A56F3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25873" y="6942661"/>
            <a:ext cx="186597" cy="171796"/>
          </a:xfrm>
          <a:prstGeom prst="rect">
            <a:avLst/>
          </a:prstGeom>
        </p:spPr>
      </p:pic>
      <p:pic>
        <p:nvPicPr>
          <p:cNvPr id="21" name="Imagem 20">
            <a:extLst>
              <a:ext uri="{FF2B5EF4-FFF2-40B4-BE49-F238E27FC236}">
                <a16:creationId xmlns:a16="http://schemas.microsoft.com/office/drawing/2014/main" id="{C1BB7035-00BB-4EEF-BBE5-7DF0F94109B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21230" y="6489019"/>
            <a:ext cx="142138" cy="170075"/>
          </a:xfrm>
          <a:prstGeom prst="rect">
            <a:avLst/>
          </a:prstGeom>
        </p:spPr>
      </p:pic>
      <p:sp>
        <p:nvSpPr>
          <p:cNvPr id="22" name="CaixaDeTexto 21">
            <a:extLst>
              <a:ext uri="{FF2B5EF4-FFF2-40B4-BE49-F238E27FC236}">
                <a16:creationId xmlns:a16="http://schemas.microsoft.com/office/drawing/2014/main" id="{3C340059-C547-4628-AFA5-E1F4FA56992F}"/>
              </a:ext>
            </a:extLst>
          </p:cNvPr>
          <p:cNvSpPr txBox="1"/>
          <p:nvPr/>
        </p:nvSpPr>
        <p:spPr>
          <a:xfrm>
            <a:off x="7632241" y="7354814"/>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03</a:t>
            </a:r>
          </a:p>
        </p:txBody>
      </p:sp>
      <p:sp>
        <p:nvSpPr>
          <p:cNvPr id="31" name="Retângulo 30">
            <a:extLst>
              <a:ext uri="{FF2B5EF4-FFF2-40B4-BE49-F238E27FC236}">
                <a16:creationId xmlns:a16="http://schemas.microsoft.com/office/drawing/2014/main" id="{A55E175E-8CB3-4B86-BD21-2A43BBF5434E}"/>
              </a:ext>
            </a:extLst>
          </p:cNvPr>
          <p:cNvSpPr/>
          <p:nvPr/>
        </p:nvSpPr>
        <p:spPr>
          <a:xfrm>
            <a:off x="217224" y="108223"/>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13. Degelo</a:t>
            </a:r>
          </a:p>
        </p:txBody>
      </p:sp>
      <p:sp>
        <p:nvSpPr>
          <p:cNvPr id="32" name="CaixaDeTexto 31">
            <a:extLst>
              <a:ext uri="{FF2B5EF4-FFF2-40B4-BE49-F238E27FC236}">
                <a16:creationId xmlns:a16="http://schemas.microsoft.com/office/drawing/2014/main" id="{92CC7A74-DDBE-4061-AF0C-B42253EC4D1D}"/>
              </a:ext>
            </a:extLst>
          </p:cNvPr>
          <p:cNvSpPr txBox="1"/>
          <p:nvPr/>
        </p:nvSpPr>
        <p:spPr>
          <a:xfrm>
            <a:off x="217224" y="310791"/>
            <a:ext cx="5001042" cy="1023357"/>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13.1 O processo de degelo do evaporador sai configurado de fábrica, é realizado pelo controlador, ou seja, degelo automático a cada 4 horas, com parada de 30 minutos. </a:t>
            </a:r>
          </a:p>
          <a:p>
            <a:pPr algn="just"/>
            <a:r>
              <a:rPr lang="pt-BR" sz="1000" dirty="0">
                <a:latin typeface="Arial" panose="020B0604020202020204" pitchFamily="34" charset="0"/>
                <a:cs typeface="Arial" panose="020B0604020202020204" pitchFamily="34" charset="0"/>
              </a:rPr>
              <a:t>13.2 A água proveniente do degelo é canalizada para fora através de uma dreno localizada na traseira do balcão. Recomenda-se, se possível, canalizar esta água diretamente a um ponto de esgoto utilizando uma mangueira, ou colocar um recipiente para a coleta da água. </a:t>
            </a:r>
          </a:p>
        </p:txBody>
      </p:sp>
      <p:sp>
        <p:nvSpPr>
          <p:cNvPr id="34" name="CaixaDeTexto 33">
            <a:extLst>
              <a:ext uri="{FF2B5EF4-FFF2-40B4-BE49-F238E27FC236}">
                <a16:creationId xmlns:a16="http://schemas.microsoft.com/office/drawing/2014/main" id="{F26F407E-6A17-472A-83B3-B9BD56CA262A}"/>
              </a:ext>
            </a:extLst>
          </p:cNvPr>
          <p:cNvSpPr txBox="1"/>
          <p:nvPr/>
        </p:nvSpPr>
        <p:spPr>
          <a:xfrm>
            <a:off x="196141" y="1460444"/>
            <a:ext cx="5001042" cy="1938992"/>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14.1 Antes da limpeza do balcão é necessário que o produto seja desligado da rede elétrica.</a:t>
            </a:r>
          </a:p>
          <a:p>
            <a:pPr algn="just"/>
            <a:r>
              <a:rPr lang="pt-BR" sz="1000" dirty="0">
                <a:latin typeface="Arial" panose="020B0604020202020204" pitchFamily="34" charset="0"/>
                <a:cs typeface="Arial" panose="020B0604020202020204" pitchFamily="34" charset="0"/>
              </a:rPr>
              <a:t>14.2 Retire os produtos e armazene em um local que conserve a temperatura. (Exemplo: outro balcão refrigerado ou isopor com gelo).  </a:t>
            </a:r>
          </a:p>
          <a:p>
            <a:pPr algn="just"/>
            <a:r>
              <a:rPr lang="pt-BR" sz="1000" dirty="0">
                <a:latin typeface="Arial" panose="020B0604020202020204" pitchFamily="34" charset="0"/>
                <a:cs typeface="Arial" panose="020B0604020202020204" pitchFamily="34" charset="0"/>
              </a:rPr>
              <a:t>14.3 Para a limpeza do balcão utilize somente um pano umedecido com água e sabão neutro.</a:t>
            </a:r>
          </a:p>
          <a:p>
            <a:pPr algn="just"/>
            <a:r>
              <a:rPr lang="pt-BR" sz="1000" dirty="0">
                <a:latin typeface="Arial" panose="020B0604020202020204" pitchFamily="34" charset="0"/>
                <a:cs typeface="Arial" panose="020B0604020202020204" pitchFamily="34" charset="0"/>
              </a:rPr>
              <a:t>14.4 Não utilize produtos tóxicos (álcool, solventes e etc.)  ou produtos abrasivos.</a:t>
            </a:r>
          </a:p>
          <a:p>
            <a:pPr algn="just"/>
            <a:r>
              <a:rPr lang="pt-BR" sz="1000" dirty="0">
                <a:latin typeface="Arial" panose="020B0604020202020204" pitchFamily="34" charset="0"/>
                <a:cs typeface="Arial" panose="020B0604020202020204" pitchFamily="34" charset="0"/>
              </a:rPr>
              <a:t>14.5 Não utilize esponjas de aço, escovas, objetos pontiagudos, objetos cortantes ou qualquer material que possa danificar o produto.</a:t>
            </a:r>
          </a:p>
          <a:p>
            <a:pPr algn="just"/>
            <a:r>
              <a:rPr lang="pt-BR" sz="1000" dirty="0">
                <a:latin typeface="Arial" panose="020B0604020202020204" pitchFamily="34" charset="0"/>
                <a:cs typeface="Arial" panose="020B0604020202020204" pitchFamily="34" charset="0"/>
              </a:rPr>
              <a:t>14.6 Não esguiche água no balcão, evitando danificar partes elétricas do balcão.</a:t>
            </a:r>
          </a:p>
          <a:p>
            <a:pPr algn="just"/>
            <a:r>
              <a:rPr lang="pt-BR" sz="1000" dirty="0">
                <a:latin typeface="Arial" panose="020B0604020202020204" pitchFamily="34" charset="0"/>
                <a:cs typeface="Arial" panose="020B0604020202020204" pitchFamily="34" charset="0"/>
              </a:rPr>
              <a:t>14.7 Após a limpeza, ligue novamente o balcão e deixe – o funcionar por um período mínimo de 2 horas </a:t>
            </a:r>
            <a:r>
              <a:rPr lang="pt-BR" sz="1000">
                <a:latin typeface="Arial" panose="020B0604020202020204" pitchFamily="34" charset="0"/>
                <a:cs typeface="Arial" panose="020B0604020202020204" pitchFamily="34" charset="0"/>
              </a:rPr>
              <a:t>e após, </a:t>
            </a:r>
            <a:r>
              <a:rPr lang="pt-BR" sz="1000" dirty="0">
                <a:latin typeface="Arial" panose="020B0604020202020204" pitchFamily="34" charset="0"/>
                <a:cs typeface="Arial" panose="020B0604020202020204" pitchFamily="34" charset="0"/>
              </a:rPr>
              <a:t>recoloque os produtos novamente.</a:t>
            </a:r>
            <a:endParaRPr lang="pt-BR" sz="900" dirty="0">
              <a:latin typeface="Arial" panose="020B0604020202020204" pitchFamily="34" charset="0"/>
              <a:cs typeface="Arial" panose="020B0604020202020204" pitchFamily="34" charset="0"/>
            </a:endParaRPr>
          </a:p>
        </p:txBody>
      </p:sp>
      <p:sp>
        <p:nvSpPr>
          <p:cNvPr id="35" name="Retângulo 34">
            <a:extLst>
              <a:ext uri="{FF2B5EF4-FFF2-40B4-BE49-F238E27FC236}">
                <a16:creationId xmlns:a16="http://schemas.microsoft.com/office/drawing/2014/main" id="{C7C7CADE-99B4-4DF8-A430-08996888ABBC}"/>
              </a:ext>
            </a:extLst>
          </p:cNvPr>
          <p:cNvSpPr/>
          <p:nvPr/>
        </p:nvSpPr>
        <p:spPr>
          <a:xfrm>
            <a:off x="217224" y="3341925"/>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15. Recomendações</a:t>
            </a:r>
          </a:p>
        </p:txBody>
      </p:sp>
      <p:sp>
        <p:nvSpPr>
          <p:cNvPr id="36" name="CaixaDeTexto 35">
            <a:extLst>
              <a:ext uri="{FF2B5EF4-FFF2-40B4-BE49-F238E27FC236}">
                <a16:creationId xmlns:a16="http://schemas.microsoft.com/office/drawing/2014/main" id="{EDA3D530-786C-4EAB-9EAF-B1D62FE46341}"/>
              </a:ext>
            </a:extLst>
          </p:cNvPr>
          <p:cNvSpPr txBox="1"/>
          <p:nvPr/>
        </p:nvSpPr>
        <p:spPr>
          <a:xfrm>
            <a:off x="201114" y="3554932"/>
            <a:ext cx="5001042" cy="3785652"/>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15.1 Leia atentamente todos os itens deste manual, para evitar problemas face a não observância durante a instalação ou uso do equipamento.</a:t>
            </a:r>
          </a:p>
          <a:p>
            <a:pPr algn="just"/>
            <a:r>
              <a:rPr lang="pt-BR" sz="1000" dirty="0">
                <a:latin typeface="Arial" panose="020B0604020202020204" pitchFamily="34" charset="0"/>
                <a:cs typeface="Arial" panose="020B0604020202020204" pitchFamily="34" charset="0"/>
              </a:rPr>
              <a:t>15.2 Não instale o equipamento próximo a fontes de calor ou produtos inflamáveis.</a:t>
            </a:r>
          </a:p>
          <a:p>
            <a:pPr algn="just"/>
            <a:r>
              <a:rPr lang="pt-BR" sz="1000" dirty="0">
                <a:latin typeface="Arial" panose="020B0604020202020204" pitchFamily="34" charset="0"/>
                <a:cs typeface="Arial" panose="020B0604020202020204" pitchFamily="34" charset="0"/>
              </a:rPr>
              <a:t>15.3 Desligue o pino da tomada sempre que for efetuar a limpeza do equipamento ou ainda trocar as lâmpadas.</a:t>
            </a:r>
          </a:p>
          <a:p>
            <a:pPr algn="just"/>
            <a:r>
              <a:rPr lang="pt-BR" sz="1000" dirty="0">
                <a:latin typeface="Arial" panose="020B0604020202020204" pitchFamily="34" charset="0"/>
                <a:cs typeface="Arial" panose="020B0604020202020204" pitchFamily="34" charset="0"/>
              </a:rPr>
              <a:t>15.4 Nunca desligue o equipamento puxando pelo cabo, mas sim pelo plug.</a:t>
            </a:r>
          </a:p>
          <a:p>
            <a:pPr algn="just"/>
            <a:r>
              <a:rPr lang="pt-BR" sz="1000" dirty="0">
                <a:latin typeface="Arial" panose="020B0604020202020204" pitchFamily="34" charset="0"/>
                <a:cs typeface="Arial" panose="020B0604020202020204" pitchFamily="34" charset="0"/>
              </a:rPr>
              <a:t>15.5 Nivele o equipamento de forma adequada ao uso.</a:t>
            </a:r>
          </a:p>
          <a:p>
            <a:pPr algn="just"/>
            <a:r>
              <a:rPr lang="pt-BR" sz="1000" dirty="0">
                <a:latin typeface="Arial" panose="020B0604020202020204" pitchFamily="34" charset="0"/>
                <a:cs typeface="Arial" panose="020B0604020202020204" pitchFamily="34" charset="0"/>
              </a:rPr>
              <a:t>15.6 Nunca toque na placa fria ou nos evaporadores.</a:t>
            </a:r>
          </a:p>
          <a:p>
            <a:pPr algn="just"/>
            <a:r>
              <a:rPr lang="pt-BR" sz="1000" dirty="0">
                <a:latin typeface="Arial" panose="020B0604020202020204" pitchFamily="34" charset="0"/>
                <a:cs typeface="Arial" panose="020B0604020202020204" pitchFamily="34" charset="0"/>
              </a:rPr>
              <a:t>15.7 Não armazenar substâncias explosivas, medicamentos, eletrônicos ou químicos, pois podem contaminar a mercadoria alimentícia armazenada no balcão.</a:t>
            </a:r>
          </a:p>
          <a:p>
            <a:pPr algn="just"/>
            <a:r>
              <a:rPr lang="pt-BR" sz="1000" dirty="0">
                <a:latin typeface="Arial" panose="020B0604020202020204" pitchFamily="34" charset="0"/>
                <a:cs typeface="Arial" panose="020B0604020202020204" pitchFamily="34" charset="0"/>
              </a:rPr>
              <a:t>15.8 Verifique a faixa de temperatura indicada para cada produto armazenado no balcão.</a:t>
            </a:r>
          </a:p>
          <a:p>
            <a:pPr algn="just"/>
            <a:r>
              <a:rPr lang="pt-BR" sz="1000" dirty="0">
                <a:latin typeface="Arial" panose="020B0604020202020204" pitchFamily="34" charset="0"/>
                <a:cs typeface="Arial" panose="020B0604020202020204" pitchFamily="34" charset="0"/>
              </a:rPr>
              <a:t>15.9 Ocorrendo interrupção no fornecimento de energia elétrica evite abrir a porta do balcão.</a:t>
            </a:r>
          </a:p>
          <a:p>
            <a:pPr algn="just"/>
            <a:r>
              <a:rPr lang="pt-BR" sz="1000" dirty="0">
                <a:latin typeface="Arial" panose="020B0604020202020204" pitchFamily="34" charset="0"/>
                <a:cs typeface="Arial" panose="020B0604020202020204" pitchFamily="34" charset="0"/>
              </a:rPr>
              <a:t>15.10 A Só Aço Industrial reserva-se o direito de efetuar modificações de materiais sem aviso prévio. As ilustrações são meramente ilustrativas.</a:t>
            </a:r>
          </a:p>
          <a:p>
            <a:pPr algn="just"/>
            <a:r>
              <a:rPr lang="pt-BR" sz="1000" dirty="0">
                <a:latin typeface="Arial" panose="020B0604020202020204" pitchFamily="34" charset="0"/>
                <a:cs typeface="Arial" panose="020B0604020202020204" pitchFamily="34" charset="0"/>
              </a:rPr>
              <a:t>15.11 Este aparelho não se destina à utilização por pessoas (inclusive crianças) com capacidades físicas, sensoriais ou mentais reduzidas, ou por pessoas com falta de experiência e conhecimento, a menos que tenham recebido instruções referentes à utilização do aparelho ou estejam sob a supervisão de uma pessoa responsável pela sua segurança.</a:t>
            </a:r>
          </a:p>
          <a:p>
            <a:pPr algn="just"/>
            <a:r>
              <a:rPr lang="pt-BR" sz="1000" dirty="0">
                <a:latin typeface="Arial" panose="020B0604020202020204" pitchFamily="34" charset="0"/>
                <a:cs typeface="Arial" panose="020B0604020202020204" pitchFamily="34" charset="0"/>
              </a:rPr>
              <a:t>15.12 Recomenda-se que as crianças sejam vigiadas para assegurar que elas não estejam utilizando ou brincando com o aparelho. </a:t>
            </a:r>
          </a:p>
          <a:p>
            <a:pPr algn="just"/>
            <a:r>
              <a:rPr lang="pt-BR" sz="1000" dirty="0">
                <a:latin typeface="Arial" panose="020B0604020202020204" pitchFamily="34" charset="0"/>
                <a:cs typeface="Arial" panose="020B0604020202020204" pitchFamily="34" charset="0"/>
              </a:rPr>
              <a:t>. 	</a:t>
            </a:r>
            <a:endParaRPr lang="pt-BR" sz="1000" dirty="0"/>
          </a:p>
        </p:txBody>
      </p:sp>
      <p:sp>
        <p:nvSpPr>
          <p:cNvPr id="39" name="CaixaDeTexto 38">
            <a:extLst>
              <a:ext uri="{FF2B5EF4-FFF2-40B4-BE49-F238E27FC236}">
                <a16:creationId xmlns:a16="http://schemas.microsoft.com/office/drawing/2014/main" id="{171D5107-2BC2-4473-B17E-333C8160F706}"/>
              </a:ext>
            </a:extLst>
          </p:cNvPr>
          <p:cNvSpPr txBox="1"/>
          <p:nvPr/>
        </p:nvSpPr>
        <p:spPr>
          <a:xfrm>
            <a:off x="3114452" y="7397120"/>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06</a:t>
            </a:r>
          </a:p>
        </p:txBody>
      </p:sp>
      <p:sp>
        <p:nvSpPr>
          <p:cNvPr id="40" name="Elipse 39">
            <a:extLst>
              <a:ext uri="{FF2B5EF4-FFF2-40B4-BE49-F238E27FC236}">
                <a16:creationId xmlns:a16="http://schemas.microsoft.com/office/drawing/2014/main" id="{C6EA16B7-3F61-4EF1-A861-D2A1CC2EE330}"/>
              </a:ext>
            </a:extLst>
          </p:cNvPr>
          <p:cNvSpPr/>
          <p:nvPr/>
        </p:nvSpPr>
        <p:spPr>
          <a:xfrm>
            <a:off x="9547005" y="5026324"/>
            <a:ext cx="504056" cy="4657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a:extLst>
              <a:ext uri="{FF2B5EF4-FFF2-40B4-BE49-F238E27FC236}">
                <a16:creationId xmlns:a16="http://schemas.microsoft.com/office/drawing/2014/main" id="{13C4301E-479A-411C-89E6-1F8042E7838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587588" y="6664748"/>
            <a:ext cx="263168" cy="145453"/>
          </a:xfrm>
          <a:prstGeom prst="rect">
            <a:avLst/>
          </a:prstGeom>
        </p:spPr>
      </p:pic>
    </p:spTree>
    <p:extLst>
      <p:ext uri="{BB962C8B-B14F-4D97-AF65-F5344CB8AC3E}">
        <p14:creationId xmlns:p14="http://schemas.microsoft.com/office/powerpoint/2010/main" val="2872553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ctor reto 8"/>
          <p:cNvCxnSpPr/>
          <p:nvPr/>
        </p:nvCxnSpPr>
        <p:spPr>
          <a:xfrm>
            <a:off x="5346700"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38" name="Conector reto 137"/>
          <p:cNvCxnSpPr/>
          <p:nvPr/>
        </p:nvCxnSpPr>
        <p:spPr>
          <a:xfrm>
            <a:off x="10530504" y="0"/>
            <a:ext cx="0" cy="756126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2" name="CaixaDeTexto 31">
            <a:extLst>
              <a:ext uri="{FF2B5EF4-FFF2-40B4-BE49-F238E27FC236}">
                <a16:creationId xmlns:a16="http://schemas.microsoft.com/office/drawing/2014/main" id="{751BA0EF-D1EA-484A-81EE-F1E37B8AD519}"/>
              </a:ext>
            </a:extLst>
          </p:cNvPr>
          <p:cNvSpPr txBox="1"/>
          <p:nvPr/>
        </p:nvSpPr>
        <p:spPr>
          <a:xfrm>
            <a:off x="8262544" y="7253980"/>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05</a:t>
            </a:r>
          </a:p>
        </p:txBody>
      </p:sp>
      <p:sp>
        <p:nvSpPr>
          <p:cNvPr id="36" name="CaixaDeTexto 35">
            <a:extLst>
              <a:ext uri="{FF2B5EF4-FFF2-40B4-BE49-F238E27FC236}">
                <a16:creationId xmlns:a16="http://schemas.microsoft.com/office/drawing/2014/main" id="{9734F5F1-EE4F-403A-A03A-4CBBE35490AF}"/>
              </a:ext>
            </a:extLst>
          </p:cNvPr>
          <p:cNvSpPr txBox="1"/>
          <p:nvPr/>
        </p:nvSpPr>
        <p:spPr>
          <a:xfrm>
            <a:off x="2629705" y="7251147"/>
            <a:ext cx="378148" cy="230832"/>
          </a:xfrm>
          <a:prstGeom prst="rect">
            <a:avLst/>
          </a:prstGeom>
          <a:noFill/>
        </p:spPr>
        <p:txBody>
          <a:bodyPr wrap="square" rtlCol="0">
            <a:spAutoFit/>
          </a:bodyPr>
          <a:lstStyle/>
          <a:p>
            <a:r>
              <a:rPr lang="pt-BR" sz="900" dirty="0">
                <a:latin typeface="Arial" panose="020B0604020202020204" pitchFamily="34" charset="0"/>
                <a:cs typeface="Arial" panose="020B0604020202020204" pitchFamily="34" charset="0"/>
              </a:rPr>
              <a:t>04</a:t>
            </a:r>
          </a:p>
        </p:txBody>
      </p:sp>
      <p:graphicFrame>
        <p:nvGraphicFramePr>
          <p:cNvPr id="14" name="Tabela 13">
            <a:extLst>
              <a:ext uri="{FF2B5EF4-FFF2-40B4-BE49-F238E27FC236}">
                <a16:creationId xmlns:a16="http://schemas.microsoft.com/office/drawing/2014/main" id="{063C5DF2-5D4E-4A6E-85EB-84F8B40D8621}"/>
              </a:ext>
            </a:extLst>
          </p:cNvPr>
          <p:cNvGraphicFramePr>
            <a:graphicFrameLocks noGrp="1"/>
          </p:cNvGraphicFramePr>
          <p:nvPr>
            <p:extLst>
              <p:ext uri="{D42A27DB-BD31-4B8C-83A1-F6EECF244321}">
                <p14:modId xmlns:p14="http://schemas.microsoft.com/office/powerpoint/2010/main" val="3115833235"/>
              </p:ext>
            </p:extLst>
          </p:nvPr>
        </p:nvGraphicFramePr>
        <p:xfrm>
          <a:off x="239683" y="1844942"/>
          <a:ext cx="4959728" cy="3732839"/>
        </p:xfrm>
        <a:graphic>
          <a:graphicData uri="http://schemas.openxmlformats.org/drawingml/2006/table">
            <a:tbl>
              <a:tblPr firstRow="1" bandRow="1">
                <a:tableStyleId>{5940675A-B579-460E-94D1-54222C63F5DA}</a:tableStyleId>
              </a:tblPr>
              <a:tblGrid>
                <a:gridCol w="2727480">
                  <a:extLst>
                    <a:ext uri="{9D8B030D-6E8A-4147-A177-3AD203B41FA5}">
                      <a16:colId xmlns:a16="http://schemas.microsoft.com/office/drawing/2014/main" val="1446479236"/>
                    </a:ext>
                  </a:extLst>
                </a:gridCol>
                <a:gridCol w="2232248">
                  <a:extLst>
                    <a:ext uri="{9D8B030D-6E8A-4147-A177-3AD203B41FA5}">
                      <a16:colId xmlns:a16="http://schemas.microsoft.com/office/drawing/2014/main" val="7825786"/>
                    </a:ext>
                  </a:extLst>
                </a:gridCol>
              </a:tblGrid>
              <a:tr h="892230">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9.1 Destravar suporte de alumínio da cremalheira </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82228576"/>
                  </a:ext>
                </a:extLst>
              </a:tr>
              <a:tr h="948109">
                <a:tc>
                  <a:txBody>
                    <a:bodyPr/>
                    <a:lstStyle/>
                    <a:p>
                      <a:pPr algn="just"/>
                      <a:r>
                        <a:rPr lang="pt-BR" sz="1000" dirty="0">
                          <a:latin typeface="Arial" panose="020B0604020202020204" pitchFamily="34" charset="0"/>
                          <a:cs typeface="Arial" panose="020B0604020202020204" pitchFamily="34" charset="0"/>
                        </a:rPr>
                        <a:t>9.2 Nivelar suporte de alumínio conforme desejado. Utilize a numeração das cremalheiras como referência. Não ultrapassar o limite de altura, pois poderá obstruir o fluxo de ar na entrada e saída do forçador de ar.</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73863748"/>
                  </a:ext>
                </a:extLst>
              </a:tr>
              <a:tr h="1020268">
                <a:tc>
                  <a:txBody>
                    <a:bodyPr/>
                    <a:lstStyle/>
                    <a:p>
                      <a:r>
                        <a:rPr lang="pt-BR" sz="1000" kern="1200" dirty="0">
                          <a:solidFill>
                            <a:schemeClr val="tx1"/>
                          </a:solidFill>
                          <a:latin typeface="Arial" panose="020B0604020202020204" pitchFamily="34" charset="0"/>
                          <a:ea typeface="+mn-ea"/>
                          <a:cs typeface="Arial" panose="020B0604020202020204" pitchFamily="34" charset="0"/>
                        </a:rPr>
                        <a:t>9.3 Travar o suporte de alumínio da cremalheira na altura desejada</a:t>
                      </a:r>
                    </a:p>
                    <a:p>
                      <a:r>
                        <a:rPr lang="pt-BR" sz="1000" kern="1200" dirty="0">
                          <a:solidFill>
                            <a:schemeClr val="tx1"/>
                          </a:solidFill>
                          <a:latin typeface="Arial" panose="020B0604020202020204" pitchFamily="34" charset="0"/>
                          <a:ea typeface="+mn-ea"/>
                          <a:cs typeface="Arial" panose="020B0604020202020204" pitchFamily="34" charset="0"/>
                        </a:rPr>
                        <a:t>    </a:t>
                      </a:r>
                      <a:r>
                        <a:rPr lang="pt-BR" sz="900" kern="1200" dirty="0">
                          <a:solidFill>
                            <a:schemeClr val="tx1"/>
                          </a:solidFill>
                          <a:latin typeface="Arial" panose="020B0604020202020204" pitchFamily="34" charset="0"/>
                          <a:ea typeface="+mn-ea"/>
                          <a:cs typeface="Arial" panose="020B0604020202020204" pitchFamily="34" charset="0"/>
                        </a:rPr>
                        <a:t>9.3.1 Encaixar a trava superior do suporte na cremalheira.</a:t>
                      </a:r>
                    </a:p>
                    <a:p>
                      <a:r>
                        <a:rPr lang="pt-BR" sz="900" kern="1200" dirty="0">
                          <a:solidFill>
                            <a:schemeClr val="tx1"/>
                          </a:solidFill>
                          <a:latin typeface="Arial" panose="020B0604020202020204" pitchFamily="34" charset="0"/>
                          <a:ea typeface="+mn-ea"/>
                          <a:cs typeface="Arial" panose="020B0604020202020204" pitchFamily="34" charset="0"/>
                        </a:rPr>
                        <a:t>    9.3.2 Apertar a trava inferior do suporte na cremalheira </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6149738"/>
                  </a:ext>
                </a:extLst>
              </a:tr>
              <a:tr h="814501">
                <a:tc>
                  <a:txBody>
                    <a:bodyPr/>
                    <a:lstStyle/>
                    <a:p>
                      <a:r>
                        <a:rPr lang="pt-BR" sz="1000" kern="1200" dirty="0">
                          <a:solidFill>
                            <a:schemeClr val="tx1"/>
                          </a:solidFill>
                          <a:latin typeface="Arial" panose="020B0604020202020204" pitchFamily="34" charset="0"/>
                          <a:ea typeface="+mn-ea"/>
                          <a:cs typeface="Arial" panose="020B0604020202020204" pitchFamily="34" charset="0"/>
                        </a:rPr>
                        <a:t>9.4 Encaixar as prateleiras no suporte de alumínio.</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47302260"/>
                  </a:ext>
                </a:extLst>
              </a:tr>
            </a:tbl>
          </a:graphicData>
        </a:graphic>
      </p:graphicFrame>
      <p:sp>
        <p:nvSpPr>
          <p:cNvPr id="15" name="Retângulo 14">
            <a:extLst>
              <a:ext uri="{FF2B5EF4-FFF2-40B4-BE49-F238E27FC236}">
                <a16:creationId xmlns:a16="http://schemas.microsoft.com/office/drawing/2014/main" id="{EB8E3C10-A060-4601-8F7D-9D3A88561346}"/>
              </a:ext>
            </a:extLst>
          </p:cNvPr>
          <p:cNvSpPr/>
          <p:nvPr/>
        </p:nvSpPr>
        <p:spPr>
          <a:xfrm>
            <a:off x="198369" y="257852"/>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7. Mensagens de alertas</a:t>
            </a:r>
          </a:p>
        </p:txBody>
      </p:sp>
      <p:sp>
        <p:nvSpPr>
          <p:cNvPr id="16" name="Retângulo 15">
            <a:extLst>
              <a:ext uri="{FF2B5EF4-FFF2-40B4-BE49-F238E27FC236}">
                <a16:creationId xmlns:a16="http://schemas.microsoft.com/office/drawing/2014/main" id="{1ACA94B4-9948-4DB0-9623-8EC9B1A69593}"/>
              </a:ext>
            </a:extLst>
          </p:cNvPr>
          <p:cNvSpPr/>
          <p:nvPr/>
        </p:nvSpPr>
        <p:spPr>
          <a:xfrm>
            <a:off x="198369" y="985959"/>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8. Evaporador</a:t>
            </a:r>
          </a:p>
        </p:txBody>
      </p:sp>
      <p:sp>
        <p:nvSpPr>
          <p:cNvPr id="17" name="CaixaDeTexto 16">
            <a:extLst>
              <a:ext uri="{FF2B5EF4-FFF2-40B4-BE49-F238E27FC236}">
                <a16:creationId xmlns:a16="http://schemas.microsoft.com/office/drawing/2014/main" id="{DD2D3D05-AD96-4814-BF90-4FD0067A1525}"/>
              </a:ext>
            </a:extLst>
          </p:cNvPr>
          <p:cNvSpPr txBox="1"/>
          <p:nvPr/>
        </p:nvSpPr>
        <p:spPr>
          <a:xfrm>
            <a:off x="173955" y="1242791"/>
            <a:ext cx="5017317" cy="25391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8.1 A refrigeração é realizada através do evaporador de ar forçado. </a:t>
            </a:r>
          </a:p>
        </p:txBody>
      </p:sp>
      <p:graphicFrame>
        <p:nvGraphicFramePr>
          <p:cNvPr id="18" name="Tabela 17">
            <a:extLst>
              <a:ext uri="{FF2B5EF4-FFF2-40B4-BE49-F238E27FC236}">
                <a16:creationId xmlns:a16="http://schemas.microsoft.com/office/drawing/2014/main" id="{01E81E77-7D90-4269-8AED-B73D51AF3B4E}"/>
              </a:ext>
            </a:extLst>
          </p:cNvPr>
          <p:cNvGraphicFramePr>
            <a:graphicFrameLocks noGrp="1"/>
          </p:cNvGraphicFramePr>
          <p:nvPr>
            <p:extLst>
              <p:ext uri="{D42A27DB-BD31-4B8C-83A1-F6EECF244321}">
                <p14:modId xmlns:p14="http://schemas.microsoft.com/office/powerpoint/2010/main" val="3764366681"/>
              </p:ext>
            </p:extLst>
          </p:nvPr>
        </p:nvGraphicFramePr>
        <p:xfrm>
          <a:off x="302867" y="581358"/>
          <a:ext cx="4896686" cy="280557"/>
        </p:xfrm>
        <a:graphic>
          <a:graphicData uri="http://schemas.openxmlformats.org/drawingml/2006/table">
            <a:tbl>
              <a:tblPr firstRow="1" bandRow="1">
                <a:tableStyleId>{616DA210-FB5B-4158-B5E0-FEB733F419BA}</a:tableStyleId>
              </a:tblPr>
              <a:tblGrid>
                <a:gridCol w="1224136">
                  <a:extLst>
                    <a:ext uri="{9D8B030D-6E8A-4147-A177-3AD203B41FA5}">
                      <a16:colId xmlns:a16="http://schemas.microsoft.com/office/drawing/2014/main" val="3048356132"/>
                    </a:ext>
                  </a:extLst>
                </a:gridCol>
                <a:gridCol w="3672550">
                  <a:extLst>
                    <a:ext uri="{9D8B030D-6E8A-4147-A177-3AD203B41FA5}">
                      <a16:colId xmlns:a16="http://schemas.microsoft.com/office/drawing/2014/main" val="289683649"/>
                    </a:ext>
                  </a:extLst>
                </a:gridCol>
              </a:tblGrid>
              <a:tr h="280557">
                <a:tc>
                  <a:txBody>
                    <a:bodyPr/>
                    <a:lstStyle/>
                    <a:p>
                      <a:endParaRPr lang="pt-BR" sz="1000" dirty="0">
                        <a:latin typeface="Arial" panose="020B0604020202020204" pitchFamily="34" charset="0"/>
                        <a:cs typeface="Arial" panose="020B0604020202020204" pitchFamily="34" charset="0"/>
                      </a:endParaRPr>
                    </a:p>
                  </a:txBody>
                  <a:tcPr/>
                </a:tc>
                <a:tc>
                  <a:txBody>
                    <a:bodyPr/>
                    <a:lstStyle/>
                    <a:p>
                      <a:r>
                        <a:rPr lang="pt-BR" sz="1000" dirty="0">
                          <a:latin typeface="Arial" panose="020B0604020202020204" pitchFamily="34" charset="0"/>
                          <a:cs typeface="Arial" panose="020B0604020202020204" pitchFamily="34" charset="0"/>
                        </a:rPr>
                        <a:t>Erro no sensor: </a:t>
                      </a:r>
                      <a:r>
                        <a:rPr lang="pt-BR" sz="1000" b="0" dirty="0">
                          <a:latin typeface="Arial" panose="020B0604020202020204" pitchFamily="34" charset="0"/>
                          <a:cs typeface="Arial" panose="020B0604020202020204" pitchFamily="34" charset="0"/>
                        </a:rPr>
                        <a:t>Sensor desconectado ou danificado.</a:t>
                      </a:r>
                    </a:p>
                  </a:txBody>
                  <a:tcPr/>
                </a:tc>
                <a:extLst>
                  <a:ext uri="{0D108BD9-81ED-4DB2-BD59-A6C34878D82A}">
                    <a16:rowId xmlns:a16="http://schemas.microsoft.com/office/drawing/2014/main" val="4210341451"/>
                  </a:ext>
                </a:extLst>
              </a:tr>
            </a:tbl>
          </a:graphicData>
        </a:graphic>
      </p:graphicFrame>
      <p:sp>
        <p:nvSpPr>
          <p:cNvPr id="19" name="Retângulo 18">
            <a:extLst>
              <a:ext uri="{FF2B5EF4-FFF2-40B4-BE49-F238E27FC236}">
                <a16:creationId xmlns:a16="http://schemas.microsoft.com/office/drawing/2014/main" id="{69C9199B-7AB8-4846-8FCF-D17DC61D5753}"/>
              </a:ext>
            </a:extLst>
          </p:cNvPr>
          <p:cNvSpPr/>
          <p:nvPr/>
        </p:nvSpPr>
        <p:spPr>
          <a:xfrm>
            <a:off x="217549" y="1521156"/>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9. Nivelamento grades/prateleiras </a:t>
            </a:r>
          </a:p>
        </p:txBody>
      </p:sp>
      <p:sp>
        <p:nvSpPr>
          <p:cNvPr id="20" name="CaixaDeTexto 19">
            <a:extLst>
              <a:ext uri="{FF2B5EF4-FFF2-40B4-BE49-F238E27FC236}">
                <a16:creationId xmlns:a16="http://schemas.microsoft.com/office/drawing/2014/main" id="{BB4E913A-4F24-465F-9465-88C851DD7468}"/>
              </a:ext>
            </a:extLst>
          </p:cNvPr>
          <p:cNvSpPr txBox="1"/>
          <p:nvPr/>
        </p:nvSpPr>
        <p:spPr>
          <a:xfrm>
            <a:off x="156738" y="5508823"/>
            <a:ext cx="5034463" cy="707886"/>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9.5 As mercadorias devem ser distribuídas uniformemente sobre a prateleira. Informamos que a carga máxima indicada para cada prateleira é de 20Kg por metro.</a:t>
            </a:r>
          </a:p>
          <a:p>
            <a:pPr algn="just"/>
            <a:r>
              <a:rPr lang="pt-BR" sz="1000" dirty="0">
                <a:latin typeface="Arial" panose="020B0604020202020204" pitchFamily="34" charset="0"/>
                <a:cs typeface="Arial" panose="020B0604020202020204" pitchFamily="34" charset="0"/>
              </a:rPr>
              <a:t>9.6 Para melhor circulação de ar, mantenha os anteparos das prateleiras livres, utilizando-os como limite para a exposição do produto.</a:t>
            </a:r>
          </a:p>
        </p:txBody>
      </p:sp>
      <p:sp>
        <p:nvSpPr>
          <p:cNvPr id="21" name="Retângulo 20">
            <a:extLst>
              <a:ext uri="{FF2B5EF4-FFF2-40B4-BE49-F238E27FC236}">
                <a16:creationId xmlns:a16="http://schemas.microsoft.com/office/drawing/2014/main" id="{2A32A29F-811B-4447-95EF-EAF4C64F32DE}"/>
              </a:ext>
            </a:extLst>
          </p:cNvPr>
          <p:cNvSpPr/>
          <p:nvPr/>
        </p:nvSpPr>
        <p:spPr>
          <a:xfrm>
            <a:off x="169500" y="6197390"/>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10. Portas de vidro</a:t>
            </a:r>
          </a:p>
        </p:txBody>
      </p:sp>
      <p:sp>
        <p:nvSpPr>
          <p:cNvPr id="22" name="CaixaDeTexto 21">
            <a:extLst>
              <a:ext uri="{FF2B5EF4-FFF2-40B4-BE49-F238E27FC236}">
                <a16:creationId xmlns:a16="http://schemas.microsoft.com/office/drawing/2014/main" id="{D3543DE8-16FF-4502-BD36-82BC1226D6CF}"/>
              </a:ext>
            </a:extLst>
          </p:cNvPr>
          <p:cNvSpPr txBox="1"/>
          <p:nvPr/>
        </p:nvSpPr>
        <p:spPr>
          <a:xfrm>
            <a:off x="139033" y="6413414"/>
            <a:ext cx="4947706" cy="86177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10.1 As portas de vidro do balcão ar forçado são fabricados em perfil PVC, vidro duplo e dobradiças com molas, auxiliando no fechamento automático das portas.</a:t>
            </a:r>
          </a:p>
          <a:p>
            <a:pPr algn="just"/>
            <a:r>
              <a:rPr lang="pt-BR" sz="1000" dirty="0">
                <a:latin typeface="Arial" panose="020B0604020202020204" pitchFamily="34" charset="0"/>
                <a:cs typeface="Arial" panose="020B0604020202020204" pitchFamily="34" charset="0"/>
              </a:rPr>
              <a:t>10.2 Em dias com elevado teor de umidade no ar, em vista a diferença da temperatura interna do balcão e externa do ambiente, poderá haver formação de gotas de água nos vidros da porta.</a:t>
            </a:r>
          </a:p>
        </p:txBody>
      </p:sp>
      <p:pic>
        <p:nvPicPr>
          <p:cNvPr id="23" name="Imagem 22">
            <a:extLst>
              <a:ext uri="{FF2B5EF4-FFF2-40B4-BE49-F238E27FC236}">
                <a16:creationId xmlns:a16="http://schemas.microsoft.com/office/drawing/2014/main" id="{48F2ABFD-3624-42DD-9E68-B83F54E282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172" y="612090"/>
            <a:ext cx="598496" cy="183962"/>
          </a:xfrm>
          <a:prstGeom prst="rect">
            <a:avLst/>
          </a:prstGeom>
        </p:spPr>
      </p:pic>
      <p:sp>
        <p:nvSpPr>
          <p:cNvPr id="24" name="CaixaDeTexto 23">
            <a:extLst>
              <a:ext uri="{FF2B5EF4-FFF2-40B4-BE49-F238E27FC236}">
                <a16:creationId xmlns:a16="http://schemas.microsoft.com/office/drawing/2014/main" id="{2EE91853-FD8D-4608-8DA2-BD597352FF36}"/>
              </a:ext>
            </a:extLst>
          </p:cNvPr>
          <p:cNvSpPr txBox="1"/>
          <p:nvPr/>
        </p:nvSpPr>
        <p:spPr>
          <a:xfrm>
            <a:off x="5442518" y="487989"/>
            <a:ext cx="5040560" cy="1015663"/>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11.1 O balcão possui lâmpadas de LED tubular interna e externa.</a:t>
            </a:r>
          </a:p>
          <a:p>
            <a:pPr algn="just"/>
            <a:r>
              <a:rPr lang="pt-BR" sz="1000" dirty="0">
                <a:latin typeface="Arial" panose="020B0604020202020204" pitchFamily="34" charset="0"/>
                <a:cs typeface="Arial" panose="020B0604020202020204" pitchFamily="34" charset="0"/>
              </a:rPr>
              <a:t>11.2 A Quantidade de lâmpadas depende das dimensões do produto.</a:t>
            </a:r>
          </a:p>
          <a:p>
            <a:pPr algn="just"/>
            <a:r>
              <a:rPr lang="pt-BR" sz="1000" dirty="0">
                <a:latin typeface="Arial" panose="020B0604020202020204" pitchFamily="34" charset="0"/>
                <a:cs typeface="Arial" panose="020B0604020202020204" pitchFamily="34" charset="0"/>
              </a:rPr>
              <a:t>11.3 As lâmpadas são acionadas através do interruptor localizado na parte superior frontal do balcão, ao lado do controlado. </a:t>
            </a:r>
          </a:p>
          <a:p>
            <a:pPr algn="just"/>
            <a:r>
              <a:rPr lang="pt-BR" sz="1000" dirty="0">
                <a:latin typeface="Arial" panose="020B0604020202020204" pitchFamily="34" charset="0"/>
                <a:cs typeface="Arial" panose="020B0604020202020204" pitchFamily="34" charset="0"/>
              </a:rPr>
              <a:t>11.4 O acionamento das lâmpadas internas e externas são independentes.</a:t>
            </a:r>
          </a:p>
          <a:p>
            <a:pPr algn="just"/>
            <a:r>
              <a:rPr lang="pt-BR" sz="1000" dirty="0">
                <a:latin typeface="Arial" panose="020B0604020202020204" pitchFamily="34" charset="0"/>
                <a:cs typeface="Arial" panose="020B0604020202020204" pitchFamily="34" charset="0"/>
              </a:rPr>
              <a:t> </a:t>
            </a:r>
          </a:p>
        </p:txBody>
      </p:sp>
      <p:sp>
        <p:nvSpPr>
          <p:cNvPr id="25" name="Retângulo 24">
            <a:extLst>
              <a:ext uri="{FF2B5EF4-FFF2-40B4-BE49-F238E27FC236}">
                <a16:creationId xmlns:a16="http://schemas.microsoft.com/office/drawing/2014/main" id="{D44AB8D7-AA1E-4AC8-8E31-1EF68264CF93}"/>
              </a:ext>
            </a:extLst>
          </p:cNvPr>
          <p:cNvSpPr/>
          <p:nvPr/>
        </p:nvSpPr>
        <p:spPr>
          <a:xfrm>
            <a:off x="5487790" y="1320960"/>
            <a:ext cx="5005770" cy="21602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12. Troca da Lâmpada</a:t>
            </a:r>
          </a:p>
        </p:txBody>
      </p:sp>
      <p:sp>
        <p:nvSpPr>
          <p:cNvPr id="26" name="Retângulo 25">
            <a:extLst>
              <a:ext uri="{FF2B5EF4-FFF2-40B4-BE49-F238E27FC236}">
                <a16:creationId xmlns:a16="http://schemas.microsoft.com/office/drawing/2014/main" id="{85E0F470-AAE7-4846-91CC-F61E8A6EDF14}"/>
              </a:ext>
            </a:extLst>
          </p:cNvPr>
          <p:cNvSpPr/>
          <p:nvPr/>
        </p:nvSpPr>
        <p:spPr>
          <a:xfrm>
            <a:off x="5487790" y="258598"/>
            <a:ext cx="5001042" cy="229391"/>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100" b="1" dirty="0">
                <a:solidFill>
                  <a:schemeClr val="tx1"/>
                </a:solidFill>
              </a:rPr>
              <a:t>11.  Iluminação</a:t>
            </a:r>
            <a:endParaRPr lang="pt-BR" sz="1100" b="1" i="1" dirty="0">
              <a:solidFill>
                <a:schemeClr val="tx1"/>
              </a:solidFill>
            </a:endParaRPr>
          </a:p>
        </p:txBody>
      </p:sp>
      <p:graphicFrame>
        <p:nvGraphicFramePr>
          <p:cNvPr id="37" name="Tabela 36">
            <a:extLst>
              <a:ext uri="{FF2B5EF4-FFF2-40B4-BE49-F238E27FC236}">
                <a16:creationId xmlns:a16="http://schemas.microsoft.com/office/drawing/2014/main" id="{4BA5D447-3FFB-4A89-B5EA-CAA4A56F1C42}"/>
              </a:ext>
            </a:extLst>
          </p:cNvPr>
          <p:cNvGraphicFramePr>
            <a:graphicFrameLocks noGrp="1"/>
          </p:cNvGraphicFramePr>
          <p:nvPr>
            <p:extLst>
              <p:ext uri="{D42A27DB-BD31-4B8C-83A1-F6EECF244321}">
                <p14:modId xmlns:p14="http://schemas.microsoft.com/office/powerpoint/2010/main" val="1658805514"/>
              </p:ext>
            </p:extLst>
          </p:nvPr>
        </p:nvGraphicFramePr>
        <p:xfrm>
          <a:off x="5527455" y="2359801"/>
          <a:ext cx="4959728" cy="4784656"/>
        </p:xfrm>
        <a:graphic>
          <a:graphicData uri="http://schemas.openxmlformats.org/drawingml/2006/table">
            <a:tbl>
              <a:tblPr firstRow="1" bandRow="1">
                <a:tableStyleId>{5940675A-B579-460E-94D1-54222C63F5DA}</a:tableStyleId>
              </a:tblPr>
              <a:tblGrid>
                <a:gridCol w="2727480">
                  <a:extLst>
                    <a:ext uri="{9D8B030D-6E8A-4147-A177-3AD203B41FA5}">
                      <a16:colId xmlns:a16="http://schemas.microsoft.com/office/drawing/2014/main" val="1446479236"/>
                    </a:ext>
                  </a:extLst>
                </a:gridCol>
                <a:gridCol w="2232248">
                  <a:extLst>
                    <a:ext uri="{9D8B030D-6E8A-4147-A177-3AD203B41FA5}">
                      <a16:colId xmlns:a16="http://schemas.microsoft.com/office/drawing/2014/main" val="7825786"/>
                    </a:ext>
                  </a:extLst>
                </a:gridCol>
              </a:tblGrid>
              <a:tr h="1299620">
                <a:tc>
                  <a:txBody>
                    <a:bodyPr/>
                    <a:lstStyle/>
                    <a:p>
                      <a:pPr marL="0" marR="0" lvl="0" indent="0" algn="just" defTabSz="1043056" rtl="0" eaLnBrk="1" fontAlgn="auto" latinLnBrk="0" hangingPunct="1">
                        <a:lnSpc>
                          <a:spcPct val="100000"/>
                        </a:lnSpc>
                        <a:spcBef>
                          <a:spcPts val="0"/>
                        </a:spcBef>
                        <a:spcAft>
                          <a:spcPts val="0"/>
                        </a:spcAft>
                        <a:buClrTx/>
                        <a:buSzTx/>
                        <a:buFontTx/>
                        <a:buNone/>
                        <a:tabLst/>
                        <a:defRPr/>
                      </a:pPr>
                      <a:r>
                        <a:rPr lang="pt-BR" sz="1000" dirty="0">
                          <a:latin typeface="Arial" panose="020B0604020202020204" pitchFamily="34" charset="0"/>
                          <a:cs typeface="Arial" panose="020B0604020202020204" pitchFamily="34" charset="0"/>
                        </a:rPr>
                        <a:t>12.4 Remover a lâmpada da presilha de encaixe.</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82228576"/>
                  </a:ext>
                </a:extLst>
              </a:tr>
              <a:tr h="1219324">
                <a:tc>
                  <a:txBody>
                    <a:bodyPr/>
                    <a:lstStyle/>
                    <a:p>
                      <a:pPr algn="just"/>
                      <a:r>
                        <a:rPr lang="pt-BR" sz="1000" dirty="0">
                          <a:latin typeface="Arial" panose="020B0604020202020204" pitchFamily="34" charset="0"/>
                          <a:cs typeface="Arial" panose="020B0604020202020204" pitchFamily="34" charset="0"/>
                        </a:rPr>
                        <a:t>12.5 Remover o soquete da lâmpada queimada.</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73863748"/>
                  </a:ext>
                </a:extLst>
              </a:tr>
              <a:tr h="1206142">
                <a:tc>
                  <a:txBody>
                    <a:bodyPr/>
                    <a:lstStyle/>
                    <a:p>
                      <a:r>
                        <a:rPr lang="pt-BR" sz="1000" kern="1200" dirty="0">
                          <a:solidFill>
                            <a:schemeClr val="tx1"/>
                          </a:solidFill>
                          <a:latin typeface="Arial" panose="020B0604020202020204" pitchFamily="34" charset="0"/>
                          <a:ea typeface="+mn-ea"/>
                          <a:cs typeface="Arial" panose="020B0604020202020204" pitchFamily="34" charset="0"/>
                        </a:rPr>
                        <a:t>12.6 Encaixar o soquete na lâmpada que irá substituir. O encaixe deve ser conforme figura ao lado.</a:t>
                      </a:r>
                      <a:endParaRPr lang="pt-BR" sz="900" kern="1200" dirty="0">
                        <a:solidFill>
                          <a:schemeClr val="tx1"/>
                        </a:solidFill>
                        <a:latin typeface="Arial" panose="020B0604020202020204" pitchFamily="34" charset="0"/>
                        <a:ea typeface="+mn-ea"/>
                        <a:cs typeface="Arial" panose="020B0604020202020204" pitchFamily="34" charset="0"/>
                      </a:endParaRP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66149738"/>
                  </a:ext>
                </a:extLst>
              </a:tr>
              <a:tr h="1059570">
                <a:tc>
                  <a:txBody>
                    <a:bodyPr/>
                    <a:lstStyle/>
                    <a:p>
                      <a:r>
                        <a:rPr lang="pt-BR" sz="1000" kern="1200" dirty="0">
                          <a:solidFill>
                            <a:schemeClr val="tx1"/>
                          </a:solidFill>
                          <a:latin typeface="Arial" panose="020B0604020202020204" pitchFamily="34" charset="0"/>
                          <a:ea typeface="+mn-ea"/>
                          <a:cs typeface="Arial" panose="020B0604020202020204" pitchFamily="34" charset="0"/>
                        </a:rPr>
                        <a:t>12.7 Após realizar a troca da lâmpada, encaixa-la novamente à presilha de encaixe.</a:t>
                      </a:r>
                    </a:p>
                  </a:txBody>
                  <a:tcPr/>
                </a:tc>
                <a:tc>
                  <a:txBody>
                    <a:bodyPr/>
                    <a:lstStyle/>
                    <a:p>
                      <a:endParaRPr lang="pt-BR" sz="1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47302260"/>
                  </a:ext>
                </a:extLst>
              </a:tr>
            </a:tbl>
          </a:graphicData>
        </a:graphic>
      </p:graphicFrame>
      <p:sp>
        <p:nvSpPr>
          <p:cNvPr id="38" name="CaixaDeTexto 37">
            <a:extLst>
              <a:ext uri="{FF2B5EF4-FFF2-40B4-BE49-F238E27FC236}">
                <a16:creationId xmlns:a16="http://schemas.microsoft.com/office/drawing/2014/main" id="{6F6FC6BA-8CD4-43E2-8F5D-FD9865BC179B}"/>
              </a:ext>
            </a:extLst>
          </p:cNvPr>
          <p:cNvSpPr txBox="1"/>
          <p:nvPr/>
        </p:nvSpPr>
        <p:spPr>
          <a:xfrm>
            <a:off x="5442518" y="1500532"/>
            <a:ext cx="5040560" cy="861774"/>
          </a:xfrm>
          <a:prstGeom prst="rect">
            <a:avLst/>
          </a:prstGeom>
          <a:noFill/>
        </p:spPr>
        <p:txBody>
          <a:bodyPr wrap="square" rtlCol="0">
            <a:spAutoFit/>
          </a:bodyPr>
          <a:lstStyle/>
          <a:p>
            <a:pPr algn="just"/>
            <a:r>
              <a:rPr lang="pt-BR" sz="1000" dirty="0">
                <a:latin typeface="Arial" panose="020B0604020202020204" pitchFamily="34" charset="0"/>
                <a:cs typeface="Arial" panose="020B0604020202020204" pitchFamily="34" charset="0"/>
              </a:rPr>
              <a:t>12.1 Antes de iniciar o processo de troca da lâmpada deve – se providenciar lâmpadas do mesmo modelo e potência.</a:t>
            </a:r>
          </a:p>
          <a:p>
            <a:pPr algn="just"/>
            <a:r>
              <a:rPr lang="pt-BR" sz="1000" dirty="0">
                <a:latin typeface="Arial" panose="020B0604020202020204" pitchFamily="34" charset="0"/>
                <a:cs typeface="Arial" panose="020B0604020202020204" pitchFamily="34" charset="0"/>
              </a:rPr>
              <a:t>12.2 Para a troca da lâmpada é necessário que o balcão esteja desligado da rede elétrica, retirando o cabo elétrico da tomada.</a:t>
            </a:r>
          </a:p>
          <a:p>
            <a:pPr algn="just"/>
            <a:r>
              <a:rPr lang="pt-BR" sz="1000" dirty="0">
                <a:latin typeface="Arial" panose="020B0604020202020204" pitchFamily="34" charset="0"/>
                <a:cs typeface="Arial" panose="020B0604020202020204" pitchFamily="34" charset="0"/>
              </a:rPr>
              <a:t>12.3 Para a troca siga as instruções a seguir.</a:t>
            </a:r>
          </a:p>
        </p:txBody>
      </p:sp>
      <p:pic>
        <p:nvPicPr>
          <p:cNvPr id="39" name="Imagem 38">
            <a:extLst>
              <a:ext uri="{FF2B5EF4-FFF2-40B4-BE49-F238E27FC236}">
                <a16:creationId xmlns:a16="http://schemas.microsoft.com/office/drawing/2014/main" id="{70D66240-4A58-429F-BD97-5488C9BA82CD}"/>
              </a:ext>
            </a:extLst>
          </p:cNvPr>
          <p:cNvPicPr>
            <a:picLocks noChangeAspect="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8774231" y="3815101"/>
            <a:ext cx="1136576" cy="852432"/>
          </a:xfrm>
          <a:prstGeom prst="rect">
            <a:avLst/>
          </a:prstGeom>
        </p:spPr>
      </p:pic>
      <p:pic>
        <p:nvPicPr>
          <p:cNvPr id="40" name="Imagem 39">
            <a:extLst>
              <a:ext uri="{FF2B5EF4-FFF2-40B4-BE49-F238E27FC236}">
                <a16:creationId xmlns:a16="http://schemas.microsoft.com/office/drawing/2014/main" id="{726FEF42-75D2-4E91-A933-A48CF563C46D}"/>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8768003" y="2500996"/>
            <a:ext cx="1149032" cy="861774"/>
          </a:xfrm>
          <a:prstGeom prst="rect">
            <a:avLst/>
          </a:prstGeom>
        </p:spPr>
      </p:pic>
      <p:pic>
        <p:nvPicPr>
          <p:cNvPr id="41" name="Imagem 40">
            <a:extLst>
              <a:ext uri="{FF2B5EF4-FFF2-40B4-BE49-F238E27FC236}">
                <a16:creationId xmlns:a16="http://schemas.microsoft.com/office/drawing/2014/main" id="{CD9B62AE-435F-49E8-B6ED-6274CECAC2E8}"/>
              </a:ext>
            </a:extLst>
          </p:cNvPr>
          <p:cNvPicPr>
            <a:picLocks noChangeAspect="1"/>
          </p:cNvPicPr>
          <p:nvPr/>
        </p:nvPicPr>
        <p:blipFill>
          <a:blip r:embed="rId8" cstate="print">
            <a:grayscl/>
            <a:extLst>
              <a:ext uri="{28A0092B-C50C-407E-A947-70E740481C1C}">
                <a14:useLocalDpi xmlns:a14="http://schemas.microsoft.com/office/drawing/2010/main" val="0"/>
              </a:ext>
            </a:extLst>
          </a:blip>
          <a:stretch>
            <a:fillRect/>
          </a:stretch>
        </p:blipFill>
        <p:spPr>
          <a:xfrm>
            <a:off x="8383472" y="5100665"/>
            <a:ext cx="873497" cy="779369"/>
          </a:xfrm>
          <a:prstGeom prst="rect">
            <a:avLst/>
          </a:prstGeom>
        </p:spPr>
      </p:pic>
      <p:pic>
        <p:nvPicPr>
          <p:cNvPr id="42" name="Imagem 41">
            <a:extLst>
              <a:ext uri="{FF2B5EF4-FFF2-40B4-BE49-F238E27FC236}">
                <a16:creationId xmlns:a16="http://schemas.microsoft.com/office/drawing/2014/main" id="{9BC4D099-A4E5-4B35-A44E-20771E81502F}"/>
              </a:ext>
            </a:extLst>
          </p:cNvPr>
          <p:cNvPicPr>
            <a:picLocks noChangeAspect="1"/>
          </p:cNvPicPr>
          <p:nvPr/>
        </p:nvPicPr>
        <p:blipFill>
          <a:blip r:embed="rId9" cstate="print">
            <a:grayscl/>
            <a:extLst>
              <a:ext uri="{28A0092B-C50C-407E-A947-70E740481C1C}">
                <a14:useLocalDpi xmlns:a14="http://schemas.microsoft.com/office/drawing/2010/main" val="0"/>
              </a:ext>
            </a:extLst>
          </a:blip>
          <a:stretch>
            <a:fillRect/>
          </a:stretch>
        </p:blipFill>
        <p:spPr>
          <a:xfrm>
            <a:off x="9537028" y="5095525"/>
            <a:ext cx="873497" cy="778877"/>
          </a:xfrm>
          <a:prstGeom prst="rect">
            <a:avLst/>
          </a:prstGeom>
        </p:spPr>
      </p:pic>
      <p:pic>
        <p:nvPicPr>
          <p:cNvPr id="43" name="Imagem 42">
            <a:extLst>
              <a:ext uri="{FF2B5EF4-FFF2-40B4-BE49-F238E27FC236}">
                <a16:creationId xmlns:a16="http://schemas.microsoft.com/office/drawing/2014/main" id="{510981C0-9A72-47DC-891B-D2218B0955CA}"/>
              </a:ext>
            </a:extLst>
          </p:cNvPr>
          <p:cNvPicPr>
            <a:picLocks noChangeAspect="1"/>
          </p:cNvPicPr>
          <p:nvPr/>
        </p:nvPicPr>
        <p:blipFill>
          <a:blip r:embed="rId6" cstate="print">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8658443" y="6195632"/>
            <a:ext cx="1368152" cy="861774"/>
          </a:xfrm>
          <a:prstGeom prst="rect">
            <a:avLst/>
          </a:prstGeom>
        </p:spPr>
      </p:pic>
      <p:cxnSp>
        <p:nvCxnSpPr>
          <p:cNvPr id="44" name="Conector de Seta Reta 43">
            <a:extLst>
              <a:ext uri="{FF2B5EF4-FFF2-40B4-BE49-F238E27FC236}">
                <a16:creationId xmlns:a16="http://schemas.microsoft.com/office/drawing/2014/main" id="{CFE5ED5F-377D-46A0-85C8-0E1F7E1DD69C}"/>
              </a:ext>
            </a:extLst>
          </p:cNvPr>
          <p:cNvCxnSpPr>
            <a:cxnSpLocks/>
          </p:cNvCxnSpPr>
          <p:nvPr/>
        </p:nvCxnSpPr>
        <p:spPr>
          <a:xfrm flipH="1" flipV="1">
            <a:off x="9455619" y="3916400"/>
            <a:ext cx="81409" cy="2379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Conector de Seta Reta 44">
            <a:extLst>
              <a:ext uri="{FF2B5EF4-FFF2-40B4-BE49-F238E27FC236}">
                <a16:creationId xmlns:a16="http://schemas.microsoft.com/office/drawing/2014/main" id="{CF5ADF79-9089-42A7-AA48-3EC2F3C5C7EC}"/>
              </a:ext>
            </a:extLst>
          </p:cNvPr>
          <p:cNvCxnSpPr>
            <a:cxnSpLocks/>
          </p:cNvCxnSpPr>
          <p:nvPr/>
        </p:nvCxnSpPr>
        <p:spPr>
          <a:xfrm>
            <a:off x="9568282" y="4366240"/>
            <a:ext cx="31353" cy="2378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Conector de Seta Reta 45">
            <a:extLst>
              <a:ext uri="{FF2B5EF4-FFF2-40B4-BE49-F238E27FC236}">
                <a16:creationId xmlns:a16="http://schemas.microsoft.com/office/drawing/2014/main" id="{82416A0C-89DF-4E99-8B4B-2A342528C05C}"/>
              </a:ext>
            </a:extLst>
          </p:cNvPr>
          <p:cNvCxnSpPr>
            <a:cxnSpLocks/>
          </p:cNvCxnSpPr>
          <p:nvPr/>
        </p:nvCxnSpPr>
        <p:spPr>
          <a:xfrm>
            <a:off x="8731076" y="5652839"/>
            <a:ext cx="1642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8" name="Imagem 47">
            <a:extLst>
              <a:ext uri="{FF2B5EF4-FFF2-40B4-BE49-F238E27FC236}">
                <a16:creationId xmlns:a16="http://schemas.microsoft.com/office/drawing/2014/main" id="{8B6D6B43-4BD8-4AA1-87CB-D8D1EDE77450}"/>
              </a:ext>
            </a:extLst>
          </p:cNvPr>
          <p:cNvPicPr>
            <a:picLocks noChangeAspect="1"/>
          </p:cNvPicPr>
          <p:nvPr/>
        </p:nvPicPr>
        <p:blipFill rotWithShape="1">
          <a:blip r:embed="rId10" cstate="print">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rcRect l="15385" t="14792" b="15176"/>
          <a:stretch/>
        </p:blipFill>
        <p:spPr>
          <a:xfrm>
            <a:off x="3658739" y="1855830"/>
            <a:ext cx="792088" cy="819716"/>
          </a:xfrm>
          <a:prstGeom prst="rect">
            <a:avLst/>
          </a:prstGeom>
        </p:spPr>
      </p:pic>
      <p:cxnSp>
        <p:nvCxnSpPr>
          <p:cNvPr id="49" name="Conector de Seta Reta 48">
            <a:extLst>
              <a:ext uri="{FF2B5EF4-FFF2-40B4-BE49-F238E27FC236}">
                <a16:creationId xmlns:a16="http://schemas.microsoft.com/office/drawing/2014/main" id="{9B3475A4-2DC7-4484-AC7D-B6DE56DDEDF3}"/>
              </a:ext>
            </a:extLst>
          </p:cNvPr>
          <p:cNvCxnSpPr>
            <a:cxnSpLocks/>
          </p:cNvCxnSpPr>
          <p:nvPr/>
        </p:nvCxnSpPr>
        <p:spPr>
          <a:xfrm>
            <a:off x="3982775" y="2496405"/>
            <a:ext cx="144016" cy="13124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0" name="Imagem 49">
            <a:extLst>
              <a:ext uri="{FF2B5EF4-FFF2-40B4-BE49-F238E27FC236}">
                <a16:creationId xmlns:a16="http://schemas.microsoft.com/office/drawing/2014/main" id="{A8AAF121-891D-41E0-A5F8-0E3E48EBE50F}"/>
              </a:ext>
            </a:extLst>
          </p:cNvPr>
          <p:cNvPicPr>
            <a:picLocks noChangeAspect="1"/>
          </p:cNvPicPr>
          <p:nvPr/>
        </p:nvPicPr>
        <p:blipFill rotWithShape="1">
          <a:blip r:embed="rId12" cstate="print">
            <a:extLst>
              <a:ext uri="{BEBA8EAE-BF5A-486C-A8C5-ECC9F3942E4B}">
                <a14:imgProps xmlns:a14="http://schemas.microsoft.com/office/drawing/2010/main">
                  <a14:imgLayer r:embed="rId13">
                    <a14:imgEffect>
                      <a14:colorTemperature colorTemp="4700"/>
                    </a14:imgEffect>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l="46441" t="50932" r="27290"/>
          <a:stretch/>
        </p:blipFill>
        <p:spPr>
          <a:xfrm>
            <a:off x="3659665" y="2762713"/>
            <a:ext cx="674769" cy="855808"/>
          </a:xfrm>
          <a:prstGeom prst="rect">
            <a:avLst/>
          </a:prstGeom>
        </p:spPr>
      </p:pic>
      <p:cxnSp>
        <p:nvCxnSpPr>
          <p:cNvPr id="51" name="Conector de Seta Reta 50">
            <a:extLst>
              <a:ext uri="{FF2B5EF4-FFF2-40B4-BE49-F238E27FC236}">
                <a16:creationId xmlns:a16="http://schemas.microsoft.com/office/drawing/2014/main" id="{4F64E47C-C571-42A5-AA18-239B3A5EAD69}"/>
              </a:ext>
            </a:extLst>
          </p:cNvPr>
          <p:cNvCxnSpPr>
            <a:cxnSpLocks/>
          </p:cNvCxnSpPr>
          <p:nvPr/>
        </p:nvCxnSpPr>
        <p:spPr>
          <a:xfrm flipH="1">
            <a:off x="4057139" y="2996584"/>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484D7E70-F663-4601-8BA1-1CBA11BD7169}"/>
              </a:ext>
            </a:extLst>
          </p:cNvPr>
          <p:cNvCxnSpPr>
            <a:cxnSpLocks/>
          </p:cNvCxnSpPr>
          <p:nvPr/>
        </p:nvCxnSpPr>
        <p:spPr>
          <a:xfrm flipH="1">
            <a:off x="4057139" y="3136336"/>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0C3F47C6-B710-44DB-8DD4-689748764255}"/>
              </a:ext>
            </a:extLst>
          </p:cNvPr>
          <p:cNvCxnSpPr>
            <a:cxnSpLocks/>
          </p:cNvCxnSpPr>
          <p:nvPr/>
        </p:nvCxnSpPr>
        <p:spPr>
          <a:xfrm flipH="1">
            <a:off x="4057139" y="3286007"/>
            <a:ext cx="1440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4" name="Imagem 53">
            <a:extLst>
              <a:ext uri="{FF2B5EF4-FFF2-40B4-BE49-F238E27FC236}">
                <a16:creationId xmlns:a16="http://schemas.microsoft.com/office/drawing/2014/main" id="{0CBB642E-AF34-4EFF-89AD-FEAC54D75645}"/>
              </a:ext>
            </a:extLst>
          </p:cNvPr>
          <p:cNvPicPr>
            <a:picLocks noChangeAspect="1"/>
          </p:cNvPicPr>
          <p:nvPr/>
        </p:nvPicPr>
        <p:blipFill>
          <a:blip r:embed="rId14" cstate="print">
            <a:extLst>
              <a:ext uri="{BEBA8EAE-BF5A-486C-A8C5-ECC9F3942E4B}">
                <a14:imgProps xmlns:a14="http://schemas.microsoft.com/office/drawing/2010/main">
                  <a14:imgLayer r:embed="rId15">
                    <a14:imgEffect>
                      <a14:saturation sat="0"/>
                    </a14:imgEffect>
                  </a14:imgLayer>
                </a14:imgProps>
              </a:ext>
              <a:ext uri="{28A0092B-C50C-407E-A947-70E740481C1C}">
                <a14:useLocalDpi xmlns:a14="http://schemas.microsoft.com/office/drawing/2010/main" val="0"/>
              </a:ext>
            </a:extLst>
          </a:blip>
          <a:stretch>
            <a:fillRect/>
          </a:stretch>
        </p:blipFill>
        <p:spPr>
          <a:xfrm>
            <a:off x="3256828" y="3816209"/>
            <a:ext cx="686445" cy="808370"/>
          </a:xfrm>
          <a:prstGeom prst="rect">
            <a:avLst/>
          </a:prstGeom>
        </p:spPr>
      </p:pic>
      <p:pic>
        <p:nvPicPr>
          <p:cNvPr id="55" name="Imagem 54">
            <a:extLst>
              <a:ext uri="{FF2B5EF4-FFF2-40B4-BE49-F238E27FC236}">
                <a16:creationId xmlns:a16="http://schemas.microsoft.com/office/drawing/2014/main" id="{9D69CA09-F722-4C95-A063-05C41A19BD11}"/>
              </a:ext>
            </a:extLst>
          </p:cNvPr>
          <p:cNvPicPr>
            <a:picLocks noChangeAspect="1"/>
          </p:cNvPicPr>
          <p:nvPr/>
        </p:nvPicPr>
        <p:blipFill>
          <a:blip r:embed="rId16" cstate="print">
            <a:extLst>
              <a:ext uri="{BEBA8EAE-BF5A-486C-A8C5-ECC9F3942E4B}">
                <a14:imgProps xmlns:a14="http://schemas.microsoft.com/office/drawing/2010/main">
                  <a14:imgLayer r:embed="rId17">
                    <a14:imgEffect>
                      <a14:saturation sat="0"/>
                    </a14:imgEffect>
                  </a14:imgLayer>
                </a14:imgProps>
              </a:ext>
              <a:ext uri="{28A0092B-C50C-407E-A947-70E740481C1C}">
                <a14:useLocalDpi xmlns:a14="http://schemas.microsoft.com/office/drawing/2010/main" val="0"/>
              </a:ext>
            </a:extLst>
          </a:blip>
          <a:stretch>
            <a:fillRect/>
          </a:stretch>
        </p:blipFill>
        <p:spPr>
          <a:xfrm>
            <a:off x="4304442" y="3813139"/>
            <a:ext cx="686445" cy="808370"/>
          </a:xfrm>
          <a:prstGeom prst="rect">
            <a:avLst/>
          </a:prstGeom>
        </p:spPr>
      </p:pic>
      <p:cxnSp>
        <p:nvCxnSpPr>
          <p:cNvPr id="56" name="Conector de Seta Reta 55">
            <a:extLst>
              <a:ext uri="{FF2B5EF4-FFF2-40B4-BE49-F238E27FC236}">
                <a16:creationId xmlns:a16="http://schemas.microsoft.com/office/drawing/2014/main" id="{051719C5-D228-4D22-ACBE-DA1DE662D1BC}"/>
              </a:ext>
            </a:extLst>
          </p:cNvPr>
          <p:cNvCxnSpPr>
            <a:cxnSpLocks/>
          </p:cNvCxnSpPr>
          <p:nvPr/>
        </p:nvCxnSpPr>
        <p:spPr>
          <a:xfrm flipH="1" flipV="1">
            <a:off x="4602122" y="4356979"/>
            <a:ext cx="175341" cy="15364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582528CC-9B68-49B1-B561-D52B1E3DC1FB}"/>
              </a:ext>
            </a:extLst>
          </p:cNvPr>
          <p:cNvCxnSpPr>
            <a:cxnSpLocks/>
          </p:cNvCxnSpPr>
          <p:nvPr/>
        </p:nvCxnSpPr>
        <p:spPr>
          <a:xfrm flipH="1">
            <a:off x="3610183" y="4017659"/>
            <a:ext cx="186705" cy="14498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pic>
        <p:nvPicPr>
          <p:cNvPr id="58" name="Imagem 57">
            <a:extLst>
              <a:ext uri="{FF2B5EF4-FFF2-40B4-BE49-F238E27FC236}">
                <a16:creationId xmlns:a16="http://schemas.microsoft.com/office/drawing/2014/main" id="{0825C6AF-EC99-4523-8F34-4452987D9AEF}"/>
              </a:ext>
            </a:extLst>
          </p:cNvPr>
          <p:cNvPicPr>
            <a:picLocks noChangeAspect="1"/>
          </p:cNvPicPr>
          <p:nvPr/>
        </p:nvPicPr>
        <p:blipFill>
          <a:blip r:embed="rId18" cstate="print">
            <a:extLst>
              <a:ext uri="{BEBA8EAE-BF5A-486C-A8C5-ECC9F3942E4B}">
                <a14:imgProps xmlns:a14="http://schemas.microsoft.com/office/drawing/2010/main">
                  <a14:imgLayer r:embed="rId19">
                    <a14:imgEffect>
                      <a14:saturation sat="0"/>
                    </a14:imgEffect>
                  </a14:imgLayer>
                </a14:imgProps>
              </a:ext>
              <a:ext uri="{28A0092B-C50C-407E-A947-70E740481C1C}">
                <a14:useLocalDpi xmlns:a14="http://schemas.microsoft.com/office/drawing/2010/main" val="0"/>
              </a:ext>
            </a:extLst>
          </a:blip>
          <a:stretch>
            <a:fillRect/>
          </a:stretch>
        </p:blipFill>
        <p:spPr>
          <a:xfrm>
            <a:off x="3279519" y="4796113"/>
            <a:ext cx="1638602" cy="707886"/>
          </a:xfrm>
          <a:prstGeom prst="rect">
            <a:avLst/>
          </a:prstGeom>
        </p:spPr>
      </p:pic>
      <p:cxnSp>
        <p:nvCxnSpPr>
          <p:cNvPr id="59" name="Conector de Seta Reta 58">
            <a:extLst>
              <a:ext uri="{FF2B5EF4-FFF2-40B4-BE49-F238E27FC236}">
                <a16:creationId xmlns:a16="http://schemas.microsoft.com/office/drawing/2014/main" id="{ABCA6D3D-024A-47A8-AB57-E9E6668F5CC4}"/>
              </a:ext>
            </a:extLst>
          </p:cNvPr>
          <p:cNvCxnSpPr>
            <a:cxnSpLocks/>
          </p:cNvCxnSpPr>
          <p:nvPr/>
        </p:nvCxnSpPr>
        <p:spPr>
          <a:xfrm flipH="1" flipV="1">
            <a:off x="3982775" y="2053323"/>
            <a:ext cx="152400" cy="161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90DA4C43-697E-4AC3-B9A2-48DA2FDDCC91}"/>
              </a:ext>
            </a:extLst>
          </p:cNvPr>
          <p:cNvCxnSpPr>
            <a:cxnSpLocks/>
          </p:cNvCxnSpPr>
          <p:nvPr/>
        </p:nvCxnSpPr>
        <p:spPr>
          <a:xfrm>
            <a:off x="9803201" y="5647971"/>
            <a:ext cx="2152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4409445"/>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4209420</TotalTime>
  <Words>2742</Words>
  <Application>Microsoft Office PowerPoint</Application>
  <PresentationFormat>Personalizar</PresentationFormat>
  <Paragraphs>237</Paragraphs>
  <Slides>5</Slides>
  <Notes>5</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vt:i4>
      </vt:variant>
    </vt:vector>
  </HeadingPairs>
  <TitlesOfParts>
    <vt:vector size="11" baseType="lpstr">
      <vt:lpstr>Arial</vt:lpstr>
      <vt:lpstr>Arial Black</vt:lpstr>
      <vt:lpstr>Arial Rounded MT Bold</vt:lpstr>
      <vt:lpstr>Calibri</vt:lpstr>
      <vt:lpstr>Wingdings</vt:lpstr>
      <vt:lpstr>Tema do Office</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soaco</dc:creator>
  <cp:lastModifiedBy>taynara</cp:lastModifiedBy>
  <cp:revision>124</cp:revision>
  <cp:lastPrinted>2018-04-19T16:14:57Z</cp:lastPrinted>
  <dcterms:created xsi:type="dcterms:W3CDTF">2017-01-16T11:13:17Z</dcterms:created>
  <dcterms:modified xsi:type="dcterms:W3CDTF">2018-07-03T11:33:38Z</dcterms:modified>
</cp:coreProperties>
</file>