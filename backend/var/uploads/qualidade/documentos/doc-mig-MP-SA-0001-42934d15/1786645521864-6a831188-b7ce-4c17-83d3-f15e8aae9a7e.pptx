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2" r:id="rId2"/>
    <p:sldId id="269" r:id="rId3"/>
    <p:sldId id="258" r:id="rId4"/>
    <p:sldId id="259" r:id="rId5"/>
    <p:sldId id="260" r:id="rId6"/>
    <p:sldId id="261" r:id="rId7"/>
    <p:sldId id="267" r:id="rId8"/>
    <p:sldId id="266" r:id="rId9"/>
    <p:sldId id="265" r:id="rId10"/>
    <p:sldId id="268" r:id="rId11"/>
    <p:sldId id="264" r:id="rId12"/>
    <p:sldId id="263" r:id="rId13"/>
  </p:sldIdLst>
  <p:sldSz cx="6858000" cy="9906000" type="A4"/>
  <p:notesSz cx="6888163" cy="10020300"/>
  <p:defaultTex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1"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819"/>
    <a:srgbClr val="081120"/>
    <a:srgbClr val="EEA217"/>
    <a:srgbClr val="060F1F"/>
    <a:srgbClr val="EDAE3E"/>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249" autoAdjust="0"/>
  </p:normalViewPr>
  <p:slideViewPr>
    <p:cSldViewPr showGuides="1">
      <p:cViewPr varScale="1">
        <p:scale>
          <a:sx n="73" d="100"/>
          <a:sy n="73" d="100"/>
        </p:scale>
        <p:origin x="3138" y="90"/>
      </p:cViewPr>
      <p:guideLst>
        <p:guide orient="horz" pos="3121"/>
        <p:guide pos="2160"/>
      </p:guideLst>
    </p:cSldViewPr>
  </p:slideViewPr>
  <p:notesTextViewPr>
    <p:cViewPr>
      <p:scale>
        <a:sx n="1" d="1"/>
        <a:sy n="1" d="1"/>
      </p:scale>
      <p:origin x="0" y="0"/>
    </p:cViewPr>
  </p:notesTextViewPr>
  <p:gridSpacing cx="45000" cy="45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F8708E1B-B372-4B56-981F-95506720EE2D}" type="datetimeFigureOut">
              <a:rPr lang="pt-BR" smtClean="0"/>
              <a:t>23/02/2022</a:t>
            </a:fld>
            <a:endParaRPr lang="pt-BR"/>
          </a:p>
        </p:txBody>
      </p:sp>
      <p:sp>
        <p:nvSpPr>
          <p:cNvPr id="4" name="Espaço Reservado para Imagem de Slide 3"/>
          <p:cNvSpPr>
            <a:spLocks noGrp="1" noRot="1" noChangeAspect="1"/>
          </p:cNvSpPr>
          <p:nvPr>
            <p:ph type="sldImg" idx="2"/>
          </p:nvPr>
        </p:nvSpPr>
        <p:spPr>
          <a:xfrm>
            <a:off x="2143125" y="750888"/>
            <a:ext cx="2601913" cy="37576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8975" y="4759327"/>
            <a:ext cx="5510213" cy="4510088"/>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DAD5CC9F-21B8-43E0-9ED1-B2EDFE01E557}" type="slidenum">
              <a:rPr lang="pt-BR" smtClean="0"/>
              <a:t>‹nº›</a:t>
            </a:fld>
            <a:endParaRPr lang="pt-BR"/>
          </a:p>
        </p:txBody>
      </p:sp>
    </p:spTree>
    <p:extLst>
      <p:ext uri="{BB962C8B-B14F-4D97-AF65-F5344CB8AC3E}">
        <p14:creationId xmlns:p14="http://schemas.microsoft.com/office/powerpoint/2010/main" val="19051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1</a:t>
            </a:fld>
            <a:endParaRPr lang="pt-BR"/>
          </a:p>
        </p:txBody>
      </p:sp>
    </p:spTree>
    <p:extLst>
      <p:ext uri="{BB962C8B-B14F-4D97-AF65-F5344CB8AC3E}">
        <p14:creationId xmlns:p14="http://schemas.microsoft.com/office/powerpoint/2010/main" val="1824410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3</a:t>
            </a:fld>
            <a:endParaRPr lang="pt-BR"/>
          </a:p>
        </p:txBody>
      </p:sp>
    </p:spTree>
    <p:extLst>
      <p:ext uri="{BB962C8B-B14F-4D97-AF65-F5344CB8AC3E}">
        <p14:creationId xmlns:p14="http://schemas.microsoft.com/office/powerpoint/2010/main" val="1819676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4</a:t>
            </a:fld>
            <a:endParaRPr lang="pt-BR"/>
          </a:p>
        </p:txBody>
      </p:sp>
    </p:spTree>
    <p:extLst>
      <p:ext uri="{BB962C8B-B14F-4D97-AF65-F5344CB8AC3E}">
        <p14:creationId xmlns:p14="http://schemas.microsoft.com/office/powerpoint/2010/main" val="2186413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5</a:t>
            </a:fld>
            <a:endParaRPr lang="pt-BR"/>
          </a:p>
        </p:txBody>
      </p:sp>
    </p:spTree>
    <p:extLst>
      <p:ext uri="{BB962C8B-B14F-4D97-AF65-F5344CB8AC3E}">
        <p14:creationId xmlns:p14="http://schemas.microsoft.com/office/powerpoint/2010/main" val="3888940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6</a:t>
            </a:fld>
            <a:endParaRPr lang="pt-BR"/>
          </a:p>
        </p:txBody>
      </p:sp>
    </p:spTree>
    <p:extLst>
      <p:ext uri="{BB962C8B-B14F-4D97-AF65-F5344CB8AC3E}">
        <p14:creationId xmlns:p14="http://schemas.microsoft.com/office/powerpoint/2010/main" val="2485459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3077282"/>
            <a:ext cx="5829300" cy="2123370"/>
          </a:xfrm>
        </p:spPr>
        <p:txBody>
          <a:bodyPr/>
          <a:lstStyle/>
          <a:p>
            <a:r>
              <a:rPr lang="pt-BR"/>
              <a:t>Clique para editar o título mestre</a:t>
            </a:r>
          </a:p>
        </p:txBody>
      </p:sp>
      <p:sp>
        <p:nvSpPr>
          <p:cNvPr id="3" name="Subtítulo 2"/>
          <p:cNvSpPr>
            <a:spLocks noGrp="1"/>
          </p:cNvSpPr>
          <p:nvPr>
            <p:ph type="subTitle" idx="1"/>
          </p:nvPr>
        </p:nvSpPr>
        <p:spPr>
          <a:xfrm>
            <a:off x="1028700" y="5613401"/>
            <a:ext cx="4800600" cy="2531534"/>
          </a:xfrm>
        </p:spPr>
        <p:txBody>
          <a:bodyPr/>
          <a:lstStyle>
            <a:lvl1pPr marL="0" indent="0" algn="ctr">
              <a:buNone/>
              <a:defRPr>
                <a:solidFill>
                  <a:schemeClr val="tx1">
                    <a:tint val="75000"/>
                  </a:schemeClr>
                </a:solidFill>
              </a:defRPr>
            </a:lvl1pPr>
            <a:lvl2pPr marL="683254" indent="0" algn="ctr">
              <a:buNone/>
              <a:defRPr>
                <a:solidFill>
                  <a:schemeClr val="tx1">
                    <a:tint val="75000"/>
                  </a:schemeClr>
                </a:solidFill>
              </a:defRPr>
            </a:lvl2pPr>
            <a:lvl3pPr marL="1366508" indent="0" algn="ctr">
              <a:buNone/>
              <a:defRPr>
                <a:solidFill>
                  <a:schemeClr val="tx1">
                    <a:tint val="75000"/>
                  </a:schemeClr>
                </a:solidFill>
              </a:defRPr>
            </a:lvl3pPr>
            <a:lvl4pPr marL="2049761" indent="0" algn="ctr">
              <a:buNone/>
              <a:defRPr>
                <a:solidFill>
                  <a:schemeClr val="tx1">
                    <a:tint val="75000"/>
                  </a:schemeClr>
                </a:solidFill>
              </a:defRPr>
            </a:lvl4pPr>
            <a:lvl5pPr marL="2733015" indent="0" algn="ctr">
              <a:buNone/>
              <a:defRPr>
                <a:solidFill>
                  <a:schemeClr val="tx1">
                    <a:tint val="75000"/>
                  </a:schemeClr>
                </a:solidFill>
              </a:defRPr>
            </a:lvl5pPr>
            <a:lvl6pPr marL="3416269" indent="0" algn="ctr">
              <a:buNone/>
              <a:defRPr>
                <a:solidFill>
                  <a:schemeClr val="tx1">
                    <a:tint val="75000"/>
                  </a:schemeClr>
                </a:solidFill>
              </a:defRPr>
            </a:lvl6pPr>
            <a:lvl7pPr marL="4099523" indent="0" algn="ctr">
              <a:buNone/>
              <a:defRPr>
                <a:solidFill>
                  <a:schemeClr val="tx1">
                    <a:tint val="75000"/>
                  </a:schemeClr>
                </a:solidFill>
              </a:defRPr>
            </a:lvl7pPr>
            <a:lvl8pPr marL="4782777" indent="0" algn="ctr">
              <a:buNone/>
              <a:defRPr>
                <a:solidFill>
                  <a:schemeClr val="tx1">
                    <a:tint val="75000"/>
                  </a:schemeClr>
                </a:solidFill>
              </a:defRPr>
            </a:lvl8pPr>
            <a:lvl9pPr marL="5466031"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3783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507669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735" y="6365523"/>
            <a:ext cx="5829300" cy="1967442"/>
          </a:xfrm>
        </p:spPr>
        <p:txBody>
          <a:bodyPr anchor="t"/>
          <a:lstStyle>
            <a:lvl1pPr algn="l">
              <a:defRPr sz="6026" b="1" cap="all"/>
            </a:lvl1pPr>
          </a:lstStyle>
          <a:p>
            <a:r>
              <a:rPr lang="pt-BR"/>
              <a:t>Clique para editar o título mestre</a:t>
            </a:r>
          </a:p>
        </p:txBody>
      </p:sp>
      <p:sp>
        <p:nvSpPr>
          <p:cNvPr id="3" name="Espaço Reservado para Texto 2"/>
          <p:cNvSpPr>
            <a:spLocks noGrp="1"/>
          </p:cNvSpPr>
          <p:nvPr>
            <p:ph type="body" idx="1"/>
          </p:nvPr>
        </p:nvSpPr>
        <p:spPr>
          <a:xfrm>
            <a:off x="541735" y="4198586"/>
            <a:ext cx="5829300" cy="2166937"/>
          </a:xfrm>
        </p:spPr>
        <p:txBody>
          <a:bodyPr anchor="b"/>
          <a:lstStyle>
            <a:lvl1pPr marL="0" indent="0">
              <a:buNone/>
              <a:defRPr sz="3013">
                <a:solidFill>
                  <a:schemeClr val="tx1">
                    <a:tint val="75000"/>
                  </a:schemeClr>
                </a:solidFill>
              </a:defRPr>
            </a:lvl1pPr>
            <a:lvl2pPr marL="683254" indent="0">
              <a:buNone/>
              <a:defRPr sz="2751">
                <a:solidFill>
                  <a:schemeClr val="tx1">
                    <a:tint val="75000"/>
                  </a:schemeClr>
                </a:solidFill>
              </a:defRPr>
            </a:lvl2pPr>
            <a:lvl3pPr marL="1366508" indent="0">
              <a:buNone/>
              <a:defRPr sz="2358">
                <a:solidFill>
                  <a:schemeClr val="tx1">
                    <a:tint val="75000"/>
                  </a:schemeClr>
                </a:solidFill>
              </a:defRPr>
            </a:lvl3pPr>
            <a:lvl4pPr marL="2049761" indent="0">
              <a:buNone/>
              <a:defRPr sz="2096">
                <a:solidFill>
                  <a:schemeClr val="tx1">
                    <a:tint val="75000"/>
                  </a:schemeClr>
                </a:solidFill>
              </a:defRPr>
            </a:lvl4pPr>
            <a:lvl5pPr marL="2733015" indent="0">
              <a:buNone/>
              <a:defRPr sz="2096">
                <a:solidFill>
                  <a:schemeClr val="tx1">
                    <a:tint val="75000"/>
                  </a:schemeClr>
                </a:solidFill>
              </a:defRPr>
            </a:lvl5pPr>
            <a:lvl6pPr marL="3416269" indent="0">
              <a:buNone/>
              <a:defRPr sz="2096">
                <a:solidFill>
                  <a:schemeClr val="tx1">
                    <a:tint val="75000"/>
                  </a:schemeClr>
                </a:solidFill>
              </a:defRPr>
            </a:lvl6pPr>
            <a:lvl7pPr marL="4099523" indent="0">
              <a:buNone/>
              <a:defRPr sz="2096">
                <a:solidFill>
                  <a:schemeClr val="tx1">
                    <a:tint val="75000"/>
                  </a:schemeClr>
                </a:solidFill>
              </a:defRPr>
            </a:lvl7pPr>
            <a:lvl8pPr marL="4782777" indent="0">
              <a:buNone/>
              <a:defRPr sz="2096">
                <a:solidFill>
                  <a:schemeClr val="tx1">
                    <a:tint val="75000"/>
                  </a:schemeClr>
                </a:solidFill>
              </a:defRPr>
            </a:lvl8pPr>
            <a:lvl9pPr marL="5466031" indent="0">
              <a:buNone/>
              <a:defRPr sz="2096">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94044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34290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348615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4AD7A122-14BC-4870-B74C-82AB71BD4EFB}" type="datetimeFigureOut">
              <a:rPr lang="pt-BR" smtClean="0"/>
              <a:t>23/02/2022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0570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342900" y="2217386"/>
            <a:ext cx="303014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4" name="Espaço Reservado para Conteúdo 3"/>
          <p:cNvSpPr>
            <a:spLocks noGrp="1"/>
          </p:cNvSpPr>
          <p:nvPr>
            <p:ph sz="half" idx="2"/>
          </p:nvPr>
        </p:nvSpPr>
        <p:spPr>
          <a:xfrm>
            <a:off x="342900" y="3141487"/>
            <a:ext cx="303014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3483769" y="2217386"/>
            <a:ext cx="303133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6" name="Espaço Reservado para Conteúdo 5"/>
          <p:cNvSpPr>
            <a:spLocks noGrp="1"/>
          </p:cNvSpPr>
          <p:nvPr>
            <p:ph sz="quarter" idx="4"/>
          </p:nvPr>
        </p:nvSpPr>
        <p:spPr>
          <a:xfrm>
            <a:off x="3483769" y="3141487"/>
            <a:ext cx="303133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D7A122-14BC-4870-B74C-82AB71BD4EFB}" type="datetimeFigureOut">
              <a:rPr lang="pt-BR" smtClean="0"/>
              <a:t>23/02/2022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8275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4AD7A122-14BC-4870-B74C-82AB71BD4EFB}" type="datetimeFigureOut">
              <a:rPr lang="pt-BR" smtClean="0"/>
              <a:t>23/02/2022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214178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AD7A122-14BC-4870-B74C-82AB71BD4EFB}" type="datetimeFigureOut">
              <a:rPr lang="pt-BR" smtClean="0"/>
              <a:t>23/02/2022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61867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1" y="394405"/>
            <a:ext cx="2256235" cy="1678517"/>
          </a:xfrm>
        </p:spPr>
        <p:txBody>
          <a:bodyPr anchor="b"/>
          <a:lstStyle>
            <a:lvl1pPr algn="l">
              <a:defRPr sz="3013" b="1"/>
            </a:lvl1pPr>
          </a:lstStyle>
          <a:p>
            <a:r>
              <a:rPr lang="pt-BR"/>
              <a:t>Clique para editar o título mestre</a:t>
            </a:r>
          </a:p>
        </p:txBody>
      </p:sp>
      <p:sp>
        <p:nvSpPr>
          <p:cNvPr id="3" name="Espaço Reservado para Conteúdo 2"/>
          <p:cNvSpPr>
            <a:spLocks noGrp="1"/>
          </p:cNvSpPr>
          <p:nvPr>
            <p:ph idx="1"/>
          </p:nvPr>
        </p:nvSpPr>
        <p:spPr>
          <a:xfrm>
            <a:off x="2681287" y="394406"/>
            <a:ext cx="3833813" cy="8454496"/>
          </a:xfrm>
        </p:spPr>
        <p:txBody>
          <a:bodyPr/>
          <a:lstStyle>
            <a:lvl1pPr>
              <a:defRPr sz="4847"/>
            </a:lvl1pPr>
            <a:lvl2pPr>
              <a:defRPr sz="4192"/>
            </a:lvl2pPr>
            <a:lvl3pPr>
              <a:defRPr sz="3537"/>
            </a:lvl3pPr>
            <a:lvl4pPr>
              <a:defRPr sz="3013"/>
            </a:lvl4pPr>
            <a:lvl5pPr>
              <a:defRPr sz="3013"/>
            </a:lvl5pPr>
            <a:lvl6pPr>
              <a:defRPr sz="3013"/>
            </a:lvl6pPr>
            <a:lvl7pPr>
              <a:defRPr sz="3013"/>
            </a:lvl7pPr>
            <a:lvl8pPr>
              <a:defRPr sz="3013"/>
            </a:lvl8pPr>
            <a:lvl9pPr>
              <a:defRPr sz="3013"/>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342901" y="2072923"/>
            <a:ext cx="2256235" cy="67759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23/02/2022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85429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934200"/>
            <a:ext cx="4114800" cy="818622"/>
          </a:xfrm>
        </p:spPr>
        <p:txBody>
          <a:bodyPr anchor="b"/>
          <a:lstStyle>
            <a:lvl1pPr algn="l">
              <a:defRPr sz="3013" b="1"/>
            </a:lvl1pPr>
          </a:lstStyle>
          <a:p>
            <a:r>
              <a:rPr lang="pt-BR"/>
              <a:t>Clique para editar o título mestre</a:t>
            </a:r>
          </a:p>
        </p:txBody>
      </p:sp>
      <p:sp>
        <p:nvSpPr>
          <p:cNvPr id="3" name="Espaço Reservado para Imagem 2"/>
          <p:cNvSpPr>
            <a:spLocks noGrp="1"/>
          </p:cNvSpPr>
          <p:nvPr>
            <p:ph type="pic" idx="1"/>
          </p:nvPr>
        </p:nvSpPr>
        <p:spPr>
          <a:xfrm>
            <a:off x="1344216" y="885120"/>
            <a:ext cx="4114800" cy="5943600"/>
          </a:xfrm>
        </p:spPr>
        <p:txBody>
          <a:bodyPr/>
          <a:lstStyle>
            <a:lvl1pPr marL="0" indent="0">
              <a:buNone/>
              <a:defRPr sz="4847"/>
            </a:lvl1pPr>
            <a:lvl2pPr marL="683254" indent="0">
              <a:buNone/>
              <a:defRPr sz="4192"/>
            </a:lvl2pPr>
            <a:lvl3pPr marL="1366508" indent="0">
              <a:buNone/>
              <a:defRPr sz="3537"/>
            </a:lvl3pPr>
            <a:lvl4pPr marL="2049761" indent="0">
              <a:buNone/>
              <a:defRPr sz="3013"/>
            </a:lvl4pPr>
            <a:lvl5pPr marL="2733015" indent="0">
              <a:buNone/>
              <a:defRPr sz="3013"/>
            </a:lvl5pPr>
            <a:lvl6pPr marL="3416269" indent="0">
              <a:buNone/>
              <a:defRPr sz="3013"/>
            </a:lvl6pPr>
            <a:lvl7pPr marL="4099523" indent="0">
              <a:buNone/>
              <a:defRPr sz="3013"/>
            </a:lvl7pPr>
            <a:lvl8pPr marL="4782777" indent="0">
              <a:buNone/>
              <a:defRPr sz="3013"/>
            </a:lvl8pPr>
            <a:lvl9pPr marL="5466031" indent="0">
              <a:buNone/>
              <a:defRPr sz="3013"/>
            </a:lvl9pPr>
          </a:lstStyle>
          <a:p>
            <a:endParaRPr lang="pt-BR"/>
          </a:p>
        </p:txBody>
      </p:sp>
      <p:sp>
        <p:nvSpPr>
          <p:cNvPr id="4" name="Espaço Reservado para Texto 3"/>
          <p:cNvSpPr>
            <a:spLocks noGrp="1"/>
          </p:cNvSpPr>
          <p:nvPr>
            <p:ph type="body" sz="half" idx="2"/>
          </p:nvPr>
        </p:nvSpPr>
        <p:spPr>
          <a:xfrm>
            <a:off x="1344216" y="7752821"/>
            <a:ext cx="4114800" cy="11625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23/02/2022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92426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314701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96701"/>
            <a:ext cx="1543050" cy="8452203"/>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342900" y="396701"/>
            <a:ext cx="4514850" cy="845220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23/02/2022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364156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96700"/>
            <a:ext cx="6172200" cy="165100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342900" y="2311400"/>
            <a:ext cx="6172200" cy="6537502"/>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342900" y="9181396"/>
            <a:ext cx="1600200" cy="527402"/>
          </a:xfrm>
          <a:prstGeom prst="rect">
            <a:avLst/>
          </a:prstGeom>
        </p:spPr>
        <p:txBody>
          <a:bodyPr vert="horz" lIns="104306" tIns="52153" rIns="104306" bIns="52153" rtlCol="0" anchor="ctr"/>
          <a:lstStyle>
            <a:lvl1pPr algn="l">
              <a:defRPr sz="1834">
                <a:solidFill>
                  <a:schemeClr val="tx1">
                    <a:tint val="75000"/>
                  </a:schemeClr>
                </a:solidFill>
              </a:defRPr>
            </a:lvl1pPr>
          </a:lstStyle>
          <a:p>
            <a:fld id="{4AD7A122-14BC-4870-B74C-82AB71BD4EFB}" type="datetimeFigureOut">
              <a:rPr lang="pt-BR" smtClean="0"/>
              <a:t>23/02/2022</a:t>
            </a:fld>
            <a:endParaRPr lang="pt-BR"/>
          </a:p>
        </p:txBody>
      </p:sp>
      <p:sp>
        <p:nvSpPr>
          <p:cNvPr id="5" name="Espaço Reservado para Rodapé 4"/>
          <p:cNvSpPr>
            <a:spLocks noGrp="1"/>
          </p:cNvSpPr>
          <p:nvPr>
            <p:ph type="ftr" sz="quarter" idx="3"/>
          </p:nvPr>
        </p:nvSpPr>
        <p:spPr>
          <a:xfrm>
            <a:off x="2343151" y="9181396"/>
            <a:ext cx="2171700" cy="527402"/>
          </a:xfrm>
          <a:prstGeom prst="rect">
            <a:avLst/>
          </a:prstGeom>
        </p:spPr>
        <p:txBody>
          <a:bodyPr vert="horz" lIns="104306" tIns="52153" rIns="104306" bIns="52153" rtlCol="0" anchor="ctr"/>
          <a:lstStyle>
            <a:lvl1pPr algn="ctr">
              <a:defRPr sz="1834">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914900" y="9181396"/>
            <a:ext cx="1600200" cy="527402"/>
          </a:xfrm>
          <a:prstGeom prst="rect">
            <a:avLst/>
          </a:prstGeom>
        </p:spPr>
        <p:txBody>
          <a:bodyPr vert="horz" lIns="104306" tIns="52153" rIns="104306" bIns="52153" rtlCol="0" anchor="ctr"/>
          <a:lstStyle>
            <a:lvl1pPr algn="r">
              <a:defRPr sz="1834">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105156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366508" rtl="0" eaLnBrk="1" latinLnBrk="0" hangingPunct="1">
        <a:spcBef>
          <a:spcPct val="0"/>
        </a:spcBef>
        <a:buNone/>
        <a:defRPr sz="6551" kern="1200">
          <a:solidFill>
            <a:schemeClr val="tx1"/>
          </a:solidFill>
          <a:latin typeface="+mj-lt"/>
          <a:ea typeface="+mj-ea"/>
          <a:cs typeface="+mj-cs"/>
        </a:defRPr>
      </a:lvl1pPr>
    </p:titleStyle>
    <p:bodyStyle>
      <a:lvl1pPr marL="512440" indent="-512440" algn="l" defTabSz="1366508" rtl="0" eaLnBrk="1" latinLnBrk="0" hangingPunct="1">
        <a:spcBef>
          <a:spcPct val="20000"/>
        </a:spcBef>
        <a:buFont typeface="Arial" panose="020B0604020202020204" pitchFamily="34" charset="0"/>
        <a:buChar char="•"/>
        <a:defRPr sz="4847" kern="1200">
          <a:solidFill>
            <a:schemeClr val="tx1"/>
          </a:solidFill>
          <a:latin typeface="+mn-lt"/>
          <a:ea typeface="+mn-ea"/>
          <a:cs typeface="+mn-cs"/>
        </a:defRPr>
      </a:lvl1pPr>
      <a:lvl2pPr marL="1110287" indent="-427034" algn="l" defTabSz="1366508" rtl="0" eaLnBrk="1" latinLnBrk="0" hangingPunct="1">
        <a:spcBef>
          <a:spcPct val="20000"/>
        </a:spcBef>
        <a:buFont typeface="Arial" panose="020B0604020202020204" pitchFamily="34" charset="0"/>
        <a:buChar char="–"/>
        <a:defRPr sz="4192" kern="1200">
          <a:solidFill>
            <a:schemeClr val="tx1"/>
          </a:solidFill>
          <a:latin typeface="+mn-lt"/>
          <a:ea typeface="+mn-ea"/>
          <a:cs typeface="+mn-cs"/>
        </a:defRPr>
      </a:lvl2pPr>
      <a:lvl3pPr marL="1708135" indent="-341627" algn="l" defTabSz="1366508" rtl="0" eaLnBrk="1" latinLnBrk="0" hangingPunct="1">
        <a:spcBef>
          <a:spcPct val="20000"/>
        </a:spcBef>
        <a:buFont typeface="Arial" panose="020B0604020202020204" pitchFamily="34" charset="0"/>
        <a:buChar char="•"/>
        <a:defRPr sz="3537" kern="1200">
          <a:solidFill>
            <a:schemeClr val="tx1"/>
          </a:solidFill>
          <a:latin typeface="+mn-lt"/>
          <a:ea typeface="+mn-ea"/>
          <a:cs typeface="+mn-cs"/>
        </a:defRPr>
      </a:lvl3pPr>
      <a:lvl4pPr marL="239138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4pPr>
      <a:lvl5pPr marL="3074642"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5pPr>
      <a:lvl6pPr marL="3757896"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6pPr>
      <a:lvl7pPr marL="4441150"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7pPr>
      <a:lvl8pPr marL="5124404"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8pPr>
      <a:lvl9pPr marL="580765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9pPr>
    </p:bodyStyle>
    <p:otherStyle>
      <a:defPPr>
        <a:defRPr lang="pt-BR"/>
      </a:defPPr>
      <a:lvl1pPr marL="0" algn="l" defTabSz="1366508" rtl="0" eaLnBrk="1" latinLnBrk="0" hangingPunct="1">
        <a:defRPr sz="2751" kern="1200">
          <a:solidFill>
            <a:schemeClr val="tx1"/>
          </a:solidFill>
          <a:latin typeface="+mn-lt"/>
          <a:ea typeface="+mn-ea"/>
          <a:cs typeface="+mn-cs"/>
        </a:defRPr>
      </a:lvl1pPr>
      <a:lvl2pPr marL="683254" algn="l" defTabSz="1366508" rtl="0" eaLnBrk="1" latinLnBrk="0" hangingPunct="1">
        <a:defRPr sz="2751" kern="1200">
          <a:solidFill>
            <a:schemeClr val="tx1"/>
          </a:solidFill>
          <a:latin typeface="+mn-lt"/>
          <a:ea typeface="+mn-ea"/>
          <a:cs typeface="+mn-cs"/>
        </a:defRPr>
      </a:lvl2pPr>
      <a:lvl3pPr marL="1366508" algn="l" defTabSz="1366508" rtl="0" eaLnBrk="1" latinLnBrk="0" hangingPunct="1">
        <a:defRPr sz="2751" kern="1200">
          <a:solidFill>
            <a:schemeClr val="tx1"/>
          </a:solidFill>
          <a:latin typeface="+mn-lt"/>
          <a:ea typeface="+mn-ea"/>
          <a:cs typeface="+mn-cs"/>
        </a:defRPr>
      </a:lvl3pPr>
      <a:lvl4pPr marL="2049761" algn="l" defTabSz="1366508" rtl="0" eaLnBrk="1" latinLnBrk="0" hangingPunct="1">
        <a:defRPr sz="2751" kern="1200">
          <a:solidFill>
            <a:schemeClr val="tx1"/>
          </a:solidFill>
          <a:latin typeface="+mn-lt"/>
          <a:ea typeface="+mn-ea"/>
          <a:cs typeface="+mn-cs"/>
        </a:defRPr>
      </a:lvl4pPr>
      <a:lvl5pPr marL="2733015" algn="l" defTabSz="1366508" rtl="0" eaLnBrk="1" latinLnBrk="0" hangingPunct="1">
        <a:defRPr sz="2751" kern="1200">
          <a:solidFill>
            <a:schemeClr val="tx1"/>
          </a:solidFill>
          <a:latin typeface="+mn-lt"/>
          <a:ea typeface="+mn-ea"/>
          <a:cs typeface="+mn-cs"/>
        </a:defRPr>
      </a:lvl5pPr>
      <a:lvl6pPr marL="3416269" algn="l" defTabSz="1366508" rtl="0" eaLnBrk="1" latinLnBrk="0" hangingPunct="1">
        <a:defRPr sz="2751" kern="1200">
          <a:solidFill>
            <a:schemeClr val="tx1"/>
          </a:solidFill>
          <a:latin typeface="+mn-lt"/>
          <a:ea typeface="+mn-ea"/>
          <a:cs typeface="+mn-cs"/>
        </a:defRPr>
      </a:lvl6pPr>
      <a:lvl7pPr marL="4099523" algn="l" defTabSz="1366508" rtl="0" eaLnBrk="1" latinLnBrk="0" hangingPunct="1">
        <a:defRPr sz="2751" kern="1200">
          <a:solidFill>
            <a:schemeClr val="tx1"/>
          </a:solidFill>
          <a:latin typeface="+mn-lt"/>
          <a:ea typeface="+mn-ea"/>
          <a:cs typeface="+mn-cs"/>
        </a:defRPr>
      </a:lvl7pPr>
      <a:lvl8pPr marL="4782777" algn="l" defTabSz="1366508" rtl="0" eaLnBrk="1" latinLnBrk="0" hangingPunct="1">
        <a:defRPr sz="2751" kern="1200">
          <a:solidFill>
            <a:schemeClr val="tx1"/>
          </a:solidFill>
          <a:latin typeface="+mn-lt"/>
          <a:ea typeface="+mn-ea"/>
          <a:cs typeface="+mn-cs"/>
        </a:defRPr>
      </a:lvl8pPr>
      <a:lvl9pPr marL="5466031" algn="l" defTabSz="1366508" rtl="0" eaLnBrk="1" latinLnBrk="0" hangingPunct="1">
        <a:defRPr sz="27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5.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2.tmp"/><Relationship Id="rId3" Type="http://schemas.openxmlformats.org/officeDocument/2006/relationships/image" Target="../media/image8.tmp"/><Relationship Id="rId7" Type="http://schemas.openxmlformats.org/officeDocument/2006/relationships/image" Target="../media/image11.tmp"/><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07/relationships/hdphoto" Target="../media/hdphoto5.wdp"/><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tmp"/><Relationship Id="rId9" Type="http://schemas.openxmlformats.org/officeDocument/2006/relationships/image" Target="../media/image13.tmp"/></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microsoft.com/office/2007/relationships/hdphoto" Target="../media/hdphoto10.wdp"/><Relationship Id="rId3" Type="http://schemas.openxmlformats.org/officeDocument/2006/relationships/image" Target="../media/image15.png"/><Relationship Id="rId7" Type="http://schemas.microsoft.com/office/2007/relationships/hdphoto" Target="../media/hdphoto7.wdp"/><Relationship Id="rId12"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11" Type="http://schemas.microsoft.com/office/2007/relationships/hdphoto" Target="../media/hdphoto9.wdp"/><Relationship Id="rId5" Type="http://schemas.microsoft.com/office/2007/relationships/hdphoto" Target="../media/hdphoto6.wdp"/><Relationship Id="rId10" Type="http://schemas.openxmlformats.org/officeDocument/2006/relationships/image" Target="../media/image19.png"/><Relationship Id="rId4" Type="http://schemas.openxmlformats.org/officeDocument/2006/relationships/image" Target="../media/image16.png"/><Relationship Id="rId9" Type="http://schemas.microsoft.com/office/2007/relationships/hdphoto" Target="../media/hdphoto8.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hyperlink" Target="mailto:sac@soacoindustrial.com.br" TargetMode="External"/><Relationship Id="rId4" Type="http://schemas.openxmlformats.org/officeDocument/2006/relationships/hyperlink" Target="http://www.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1FBAD648-6CE4-4F2D-AF2C-B272B7D57C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5173" y="3227571"/>
            <a:ext cx="3355866" cy="4110767"/>
          </a:xfrm>
          <a:prstGeom prst="rect">
            <a:avLst/>
          </a:prstGeom>
        </p:spPr>
      </p:pic>
      <p:sp>
        <p:nvSpPr>
          <p:cNvPr id="5" name="CaixaDeTexto 4">
            <a:extLst>
              <a:ext uri="{FF2B5EF4-FFF2-40B4-BE49-F238E27FC236}">
                <a16:creationId xmlns:a16="http://schemas.microsoft.com/office/drawing/2014/main" id="{1A6FB963-CC61-4B50-85F2-FDE336ACBEB4}"/>
              </a:ext>
            </a:extLst>
          </p:cNvPr>
          <p:cNvSpPr txBox="1"/>
          <p:nvPr/>
        </p:nvSpPr>
        <p:spPr>
          <a:xfrm>
            <a:off x="3701039" y="4953000"/>
            <a:ext cx="3084900" cy="1362296"/>
          </a:xfrm>
          <a:prstGeom prst="rect">
            <a:avLst/>
          </a:prstGeom>
          <a:noFill/>
        </p:spPr>
        <p:txBody>
          <a:bodyPr wrap="square" rtlCol="0">
            <a:spAutoFit/>
          </a:bodyPr>
          <a:lstStyle/>
          <a:p>
            <a:pPr marL="449233" indent="-449233">
              <a:buFont typeface="Wingdings" panose="05000000000000000000" pitchFamily="2" charset="2"/>
              <a:buChar char="ü"/>
            </a:pPr>
            <a:r>
              <a:rPr lang="pt-BR" sz="2751" b="1" dirty="0">
                <a:latin typeface="Monda" panose="02000503000000000000" pitchFamily="2" charset="0"/>
                <a:cs typeface="Arial" panose="020B0604020202020204" pitchFamily="34" charset="0"/>
              </a:rPr>
              <a:t>Instruções</a:t>
            </a:r>
          </a:p>
          <a:p>
            <a:pPr marL="449233" indent="-449233">
              <a:buFont typeface="Wingdings" panose="05000000000000000000" pitchFamily="2" charset="2"/>
              <a:buChar char="ü"/>
            </a:pPr>
            <a:r>
              <a:rPr lang="pt-BR" sz="2751" b="1" dirty="0">
                <a:latin typeface="Monda" panose="02000503000000000000" pitchFamily="2" charset="0"/>
                <a:cs typeface="Arial" panose="020B0604020202020204" pitchFamily="34" charset="0"/>
              </a:rPr>
              <a:t>Especificações</a:t>
            </a:r>
          </a:p>
          <a:p>
            <a:pPr marL="449233" indent="-449233">
              <a:buFont typeface="Wingdings" panose="05000000000000000000" pitchFamily="2" charset="2"/>
              <a:buChar char="ü"/>
            </a:pPr>
            <a:r>
              <a:rPr lang="pt-BR" sz="2751" b="1" dirty="0">
                <a:latin typeface="Monda" panose="02000503000000000000" pitchFamily="2" charset="0"/>
                <a:cs typeface="Arial" panose="020B0604020202020204" pitchFamily="34" charset="0"/>
              </a:rPr>
              <a:t>Garantia</a:t>
            </a:r>
          </a:p>
        </p:txBody>
      </p:sp>
      <p:cxnSp>
        <p:nvCxnSpPr>
          <p:cNvPr id="62" name="Conector reto 61">
            <a:extLst>
              <a:ext uri="{FF2B5EF4-FFF2-40B4-BE49-F238E27FC236}">
                <a16:creationId xmlns:a16="http://schemas.microsoft.com/office/drawing/2014/main" id="{E4EC445A-7A7F-4A99-821C-370A70C4C94C}"/>
              </a:ext>
            </a:extLst>
          </p:cNvPr>
          <p:cNvCxnSpPr>
            <a:cxnSpLocks/>
          </p:cNvCxnSpPr>
          <p:nvPr/>
        </p:nvCxnSpPr>
        <p:spPr>
          <a:xfrm>
            <a:off x="65349" y="9300133"/>
            <a:ext cx="6725523" cy="660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3" name="Conector reto 62">
            <a:extLst>
              <a:ext uri="{FF2B5EF4-FFF2-40B4-BE49-F238E27FC236}">
                <a16:creationId xmlns:a16="http://schemas.microsoft.com/office/drawing/2014/main" id="{C998D1FA-B843-43EC-8E70-EF066069FAC3}"/>
              </a:ext>
            </a:extLst>
          </p:cNvPr>
          <p:cNvCxnSpPr>
            <a:cxnSpLocks/>
          </p:cNvCxnSpPr>
          <p:nvPr/>
        </p:nvCxnSpPr>
        <p:spPr>
          <a:xfrm>
            <a:off x="75122" y="9719665"/>
            <a:ext cx="6725523" cy="2142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08BD28C7-0136-4FB6-A272-FCC325C6A0B4}"/>
              </a:ext>
            </a:extLst>
          </p:cNvPr>
          <p:cNvSpPr txBox="1"/>
          <p:nvPr/>
        </p:nvSpPr>
        <p:spPr>
          <a:xfrm>
            <a:off x="356321" y="6061990"/>
            <a:ext cx="305596" cy="1276348"/>
          </a:xfrm>
          <a:custGeom>
            <a:avLst/>
            <a:gdLst>
              <a:gd name="connsiteX0" fmla="*/ 0 w 276999"/>
              <a:gd name="connsiteY0" fmla="*/ 0 h 958998"/>
              <a:gd name="connsiteX1" fmla="*/ 276999 w 276999"/>
              <a:gd name="connsiteY1" fmla="*/ 0 h 958998"/>
              <a:gd name="connsiteX2" fmla="*/ 276999 w 276999"/>
              <a:gd name="connsiteY2" fmla="*/ 958998 h 958998"/>
              <a:gd name="connsiteX3" fmla="*/ 0 w 276999"/>
              <a:gd name="connsiteY3" fmla="*/ 958998 h 958998"/>
              <a:gd name="connsiteX4" fmla="*/ 0 w 276999"/>
              <a:gd name="connsiteY4" fmla="*/ 0 h 958998"/>
              <a:gd name="connsiteX0" fmla="*/ 0 w 299859"/>
              <a:gd name="connsiteY0" fmla="*/ 0 h 958998"/>
              <a:gd name="connsiteX1" fmla="*/ 276999 w 299859"/>
              <a:gd name="connsiteY1" fmla="*/ 0 h 958998"/>
              <a:gd name="connsiteX2" fmla="*/ 299859 w 299859"/>
              <a:gd name="connsiteY2" fmla="*/ 958998 h 958998"/>
              <a:gd name="connsiteX3" fmla="*/ 0 w 299859"/>
              <a:gd name="connsiteY3" fmla="*/ 958998 h 958998"/>
              <a:gd name="connsiteX4" fmla="*/ 0 w 299859"/>
              <a:gd name="connsiteY4" fmla="*/ 0 h 958998"/>
              <a:gd name="connsiteX0" fmla="*/ 0 w 299859"/>
              <a:gd name="connsiteY0" fmla="*/ 0 h 958998"/>
              <a:gd name="connsiteX1" fmla="*/ 177939 w 299859"/>
              <a:gd name="connsiteY1" fmla="*/ 0 h 958998"/>
              <a:gd name="connsiteX2" fmla="*/ 299859 w 299859"/>
              <a:gd name="connsiteY2" fmla="*/ 958998 h 958998"/>
              <a:gd name="connsiteX3" fmla="*/ 0 w 299859"/>
              <a:gd name="connsiteY3" fmla="*/ 958998 h 958998"/>
              <a:gd name="connsiteX4" fmla="*/ 0 w 299859"/>
              <a:gd name="connsiteY4" fmla="*/ 0 h 958998"/>
              <a:gd name="connsiteX0" fmla="*/ 0 w 299859"/>
              <a:gd name="connsiteY0" fmla="*/ 0 h 974238"/>
              <a:gd name="connsiteX1" fmla="*/ 177939 w 299859"/>
              <a:gd name="connsiteY1" fmla="*/ 0 h 974238"/>
              <a:gd name="connsiteX2" fmla="*/ 299859 w 299859"/>
              <a:gd name="connsiteY2" fmla="*/ 958998 h 974238"/>
              <a:gd name="connsiteX3" fmla="*/ 114300 w 299859"/>
              <a:gd name="connsiteY3" fmla="*/ 974238 h 974238"/>
              <a:gd name="connsiteX4" fmla="*/ 0 w 299859"/>
              <a:gd name="connsiteY4" fmla="*/ 0 h 974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859" h="974238">
                <a:moveTo>
                  <a:pt x="0" y="0"/>
                </a:moveTo>
                <a:lnTo>
                  <a:pt x="177939" y="0"/>
                </a:lnTo>
                <a:lnTo>
                  <a:pt x="299859" y="958998"/>
                </a:lnTo>
                <a:lnTo>
                  <a:pt x="114300" y="974238"/>
                </a:lnTo>
                <a:lnTo>
                  <a:pt x="0" y="0"/>
                </a:lnTo>
                <a:close/>
              </a:path>
            </a:pathLst>
          </a:custGeom>
          <a:noFill/>
        </p:spPr>
        <p:txBody>
          <a:bodyPr vert="vert270" wrap="square" rtlCol="0">
            <a:spAutoFit/>
          </a:bodyPr>
          <a:lstStyle/>
          <a:p>
            <a:r>
              <a:rPr lang="pt-BR" sz="786" dirty="0">
                <a:latin typeface="Arial" panose="020B0604020202020204" pitchFamily="34" charset="0"/>
                <a:cs typeface="Arial" panose="020B0604020202020204" pitchFamily="34" charset="0"/>
              </a:rPr>
              <a:t>Modelo: BASAF-4PFI\</a:t>
            </a:r>
          </a:p>
        </p:txBody>
      </p:sp>
      <p:sp>
        <p:nvSpPr>
          <p:cNvPr id="12" name="CaixaDeTexto 11">
            <a:extLst>
              <a:ext uri="{FF2B5EF4-FFF2-40B4-BE49-F238E27FC236}">
                <a16:creationId xmlns:a16="http://schemas.microsoft.com/office/drawing/2014/main" id="{041A7CB0-8B4D-427E-A547-A67EB8EF1759}"/>
              </a:ext>
            </a:extLst>
          </p:cNvPr>
          <p:cNvSpPr txBox="1"/>
          <p:nvPr/>
        </p:nvSpPr>
        <p:spPr>
          <a:xfrm>
            <a:off x="3285093" y="7826133"/>
            <a:ext cx="3582707" cy="1301959"/>
          </a:xfrm>
          <a:prstGeom prst="rect">
            <a:avLst/>
          </a:prstGeom>
          <a:noFill/>
        </p:spPr>
        <p:txBody>
          <a:bodyPr wrap="square" rtlCol="0">
            <a:spAutoFit/>
          </a:bodyPr>
          <a:lstStyle/>
          <a:p>
            <a:r>
              <a:rPr lang="pt-BR" sz="1572" dirty="0">
                <a:latin typeface="Monda" panose="02000503000000000000" pitchFamily="2" charset="0"/>
                <a:cs typeface="Arial" panose="020B0604020202020204" pitchFamily="34" charset="0"/>
              </a:rPr>
              <a:t>Parabéns pela sua nova aquisição! Para obter o máximo desempenho e garantir o perfeito funcionamento do seu produto, leia atentamente este manual. </a:t>
            </a:r>
          </a:p>
        </p:txBody>
      </p:sp>
      <p:pic>
        <p:nvPicPr>
          <p:cNvPr id="1026" name="Picture 2" descr="https://www.ecointeligencia.com/wp-content/uploads/2013/04/apara-elec.jpg">
            <a:extLst>
              <a:ext uri="{FF2B5EF4-FFF2-40B4-BE49-F238E27FC236}">
                <a16:creationId xmlns:a16="http://schemas.microsoft.com/office/drawing/2014/main" id="{4E47B810-A6AB-4B0D-9512-E1711B0047E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239" y="8445942"/>
            <a:ext cx="889761" cy="682150"/>
          </a:xfrm>
          <a:prstGeom prst="rect">
            <a:avLst/>
          </a:prstGeom>
          <a:noFill/>
          <a:extLst>
            <a:ext uri="{909E8E84-426E-40DD-AFC4-6F175D3DCCD1}">
              <a14:hiddenFill xmlns:a14="http://schemas.microsoft.com/office/drawing/2010/main">
                <a:solidFill>
                  <a:srgbClr val="FFFFFF"/>
                </a:solidFill>
              </a14:hiddenFill>
            </a:ext>
          </a:extLst>
        </p:spPr>
      </p:pic>
      <p:pic>
        <p:nvPicPr>
          <p:cNvPr id="58" name="Imagem 57">
            <a:extLst>
              <a:ext uri="{FF2B5EF4-FFF2-40B4-BE49-F238E27FC236}">
                <a16:creationId xmlns:a16="http://schemas.microsoft.com/office/drawing/2014/main" id="{3247691C-2EDC-4842-9558-F3D273213E0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129" y="9365938"/>
            <a:ext cx="915445" cy="274332"/>
          </a:xfrm>
          <a:prstGeom prst="rect">
            <a:avLst/>
          </a:prstGeom>
        </p:spPr>
      </p:pic>
      <p:pic>
        <p:nvPicPr>
          <p:cNvPr id="59" name="Imagem 58">
            <a:extLst>
              <a:ext uri="{FF2B5EF4-FFF2-40B4-BE49-F238E27FC236}">
                <a16:creationId xmlns:a16="http://schemas.microsoft.com/office/drawing/2014/main" id="{38FD1298-0C99-46AC-9CE3-AC1918BF99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43071" y="9365938"/>
            <a:ext cx="915445" cy="274332"/>
          </a:xfrm>
          <a:prstGeom prst="rect">
            <a:avLst/>
          </a:prstGeom>
        </p:spPr>
      </p:pic>
      <p:pic>
        <p:nvPicPr>
          <p:cNvPr id="60" name="Imagem 59">
            <a:extLst>
              <a:ext uri="{FF2B5EF4-FFF2-40B4-BE49-F238E27FC236}">
                <a16:creationId xmlns:a16="http://schemas.microsoft.com/office/drawing/2014/main" id="{8B6DADE3-E4E7-4CD2-A364-5A4A5CAE9E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93013" y="9365938"/>
            <a:ext cx="915445" cy="274332"/>
          </a:xfrm>
          <a:prstGeom prst="rect">
            <a:avLst/>
          </a:prstGeom>
        </p:spPr>
      </p:pic>
      <p:pic>
        <p:nvPicPr>
          <p:cNvPr id="61" name="Imagem 60">
            <a:extLst>
              <a:ext uri="{FF2B5EF4-FFF2-40B4-BE49-F238E27FC236}">
                <a16:creationId xmlns:a16="http://schemas.microsoft.com/office/drawing/2014/main" id="{10339C01-9397-4A92-87C3-F570CD8C4FF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42954" y="9365938"/>
            <a:ext cx="915445" cy="274332"/>
          </a:xfrm>
          <a:prstGeom prst="rect">
            <a:avLst/>
          </a:prstGeom>
        </p:spPr>
      </p:pic>
      <p:pic>
        <p:nvPicPr>
          <p:cNvPr id="64" name="Imagem 63">
            <a:extLst>
              <a:ext uri="{FF2B5EF4-FFF2-40B4-BE49-F238E27FC236}">
                <a16:creationId xmlns:a16="http://schemas.microsoft.com/office/drawing/2014/main" id="{F227BD4C-0FA6-43B5-A4F2-13677E94B2C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92896" y="9365938"/>
            <a:ext cx="915445" cy="274332"/>
          </a:xfrm>
          <a:prstGeom prst="rect">
            <a:avLst/>
          </a:prstGeom>
        </p:spPr>
      </p:pic>
      <p:pic>
        <p:nvPicPr>
          <p:cNvPr id="65" name="Imagem 64">
            <a:extLst>
              <a:ext uri="{FF2B5EF4-FFF2-40B4-BE49-F238E27FC236}">
                <a16:creationId xmlns:a16="http://schemas.microsoft.com/office/drawing/2014/main" id="{3C76DC1D-8AB9-453B-92FC-F8AF69B31A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42838" y="9365938"/>
            <a:ext cx="915445" cy="274332"/>
          </a:xfrm>
          <a:prstGeom prst="rect">
            <a:avLst/>
          </a:prstGeom>
        </p:spPr>
      </p:pic>
      <p:sp>
        <p:nvSpPr>
          <p:cNvPr id="77" name="CaixaDeTexto 76">
            <a:extLst>
              <a:ext uri="{FF2B5EF4-FFF2-40B4-BE49-F238E27FC236}">
                <a16:creationId xmlns:a16="http://schemas.microsoft.com/office/drawing/2014/main" id="{9C70257A-431B-4DAC-AEC3-58DA259E4755}"/>
              </a:ext>
            </a:extLst>
          </p:cNvPr>
          <p:cNvSpPr txBox="1"/>
          <p:nvPr/>
        </p:nvSpPr>
        <p:spPr>
          <a:xfrm>
            <a:off x="1332536" y="1646693"/>
            <a:ext cx="4210698" cy="1705082"/>
          </a:xfrm>
          <a:prstGeom prst="rect">
            <a:avLst/>
          </a:prstGeom>
          <a:noFill/>
        </p:spPr>
        <p:txBody>
          <a:bodyPr wrap="square" rtlCol="0">
            <a:spAutoFit/>
          </a:bodyPr>
          <a:lstStyle/>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cxnSp>
        <p:nvCxnSpPr>
          <p:cNvPr id="211" name="Conector reto 210">
            <a:extLst>
              <a:ext uri="{FF2B5EF4-FFF2-40B4-BE49-F238E27FC236}">
                <a16:creationId xmlns:a16="http://schemas.microsoft.com/office/drawing/2014/main" id="{0B5E57B0-0185-432C-A5D7-C128C04D8823}"/>
              </a:ext>
            </a:extLst>
          </p:cNvPr>
          <p:cNvCxnSpPr>
            <a:cxnSpLocks/>
          </p:cNvCxnSpPr>
          <p:nvPr/>
        </p:nvCxnSpPr>
        <p:spPr>
          <a:xfrm>
            <a:off x="67128" y="192092"/>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2" name="Conector reto 211">
            <a:extLst>
              <a:ext uri="{FF2B5EF4-FFF2-40B4-BE49-F238E27FC236}">
                <a16:creationId xmlns:a16="http://schemas.microsoft.com/office/drawing/2014/main" id="{E456B68E-EB2E-4D58-A79C-D5CCFE5C11FA}"/>
              </a:ext>
            </a:extLst>
          </p:cNvPr>
          <p:cNvCxnSpPr>
            <a:cxnSpLocks/>
          </p:cNvCxnSpPr>
          <p:nvPr/>
        </p:nvCxnSpPr>
        <p:spPr>
          <a:xfrm>
            <a:off x="67128" y="671068"/>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13" name="CaixaDeTexto 212">
            <a:extLst>
              <a:ext uri="{FF2B5EF4-FFF2-40B4-BE49-F238E27FC236}">
                <a16:creationId xmlns:a16="http://schemas.microsoft.com/office/drawing/2014/main" id="{C965BB4A-967B-4549-8AF6-02057152ACD1}"/>
              </a:ext>
            </a:extLst>
          </p:cNvPr>
          <p:cNvSpPr txBox="1"/>
          <p:nvPr/>
        </p:nvSpPr>
        <p:spPr>
          <a:xfrm>
            <a:off x="315859" y="228000"/>
            <a:ext cx="6226281" cy="41485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defTabSz="1366508">
              <a:defRPr/>
            </a:pPr>
            <a:r>
              <a:rPr lang="pt-BR" sz="2096" b="1" dirty="0">
                <a:solidFill>
                  <a:prstClr val="black"/>
                </a:solidFill>
                <a:latin typeface="Monda" pitchFamily="2" charset="0"/>
              </a:rPr>
              <a:t>BALCÃO AR FORÇADO</a:t>
            </a:r>
          </a:p>
        </p:txBody>
      </p:sp>
    </p:spTree>
    <p:extLst>
      <p:ext uri="{BB962C8B-B14F-4D97-AF65-F5344CB8AC3E}">
        <p14:creationId xmlns:p14="http://schemas.microsoft.com/office/powerpoint/2010/main" val="638702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9528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aixaDeTexto 26">
            <a:extLst>
              <a:ext uri="{FF2B5EF4-FFF2-40B4-BE49-F238E27FC236}">
                <a16:creationId xmlns:a16="http://schemas.microsoft.com/office/drawing/2014/main" id="{C47DC73F-EAB2-4ABD-9DD9-FBA3408EDD79}"/>
              </a:ext>
            </a:extLst>
          </p:cNvPr>
          <p:cNvSpPr txBox="1"/>
          <p:nvPr/>
        </p:nvSpPr>
        <p:spPr>
          <a:xfrm>
            <a:off x="54000" y="865109"/>
            <a:ext cx="6603631" cy="1866345"/>
          </a:xfrm>
          <a:prstGeom prst="rect">
            <a:avLst/>
          </a:prstGeom>
          <a:noFill/>
        </p:spPr>
        <p:txBody>
          <a:bodyPr wrap="square" rtlCol="0">
            <a:spAutoFit/>
          </a:bodyPr>
          <a:lstStyle/>
          <a:p>
            <a:pPr algn="just"/>
            <a:r>
              <a:rPr lang="pt-BR" sz="1310" dirty="0"/>
              <a:t>Gostaríamos de parabeniza-lo(a)  pela aquisição de seu novo produto “Balcão refrigerado” fabricado pela </a:t>
            </a:r>
            <a:r>
              <a:rPr lang="pt-BR" sz="1310" i="1" dirty="0"/>
              <a:t>Só Aço Industrial LTDA</a:t>
            </a:r>
            <a:r>
              <a:rPr lang="pt-BR" sz="1310" dirty="0"/>
              <a:t>. Buscando a melhor análise de custo/beneficio pelo cliente, a Só Aço Industrial sempre busca inovar em seus processos, aumentar a eficiência com que atende o cliente e inserir no mercado produtos de alta qualidade.</a:t>
            </a:r>
          </a:p>
          <a:p>
            <a:pPr algn="just"/>
            <a:r>
              <a:rPr lang="pt-BR" sz="1310" dirty="0"/>
              <a:t>Portanto, sugerimos a leitura  deste manual de maneira minuciosa e qualquer dúvida ficaremos satisfeitos em saná-las.</a:t>
            </a:r>
          </a:p>
          <a:p>
            <a:pPr algn="just"/>
            <a:endParaRPr lang="pt-BR" sz="1310" dirty="0"/>
          </a:p>
          <a:p>
            <a:pPr algn="r"/>
            <a:r>
              <a:rPr lang="pt-BR" sz="1310" b="1" dirty="0"/>
              <a:t>Só Aço Industrial LTDA</a:t>
            </a:r>
            <a:r>
              <a:rPr lang="pt-BR" sz="1310" dirty="0"/>
              <a:t> </a:t>
            </a:r>
          </a:p>
          <a:p>
            <a:pPr algn="just"/>
            <a:r>
              <a:rPr lang="pt-BR" sz="1048" dirty="0"/>
              <a:t> </a:t>
            </a:r>
          </a:p>
        </p:txBody>
      </p:sp>
      <p:sp>
        <p:nvSpPr>
          <p:cNvPr id="28" name="Retângulo 27">
            <a:extLst>
              <a:ext uri="{FF2B5EF4-FFF2-40B4-BE49-F238E27FC236}">
                <a16:creationId xmlns:a16="http://schemas.microsoft.com/office/drawing/2014/main" id="{6C3675BD-0A4B-4F8A-B07C-05C26C2E740B}"/>
              </a:ext>
            </a:extLst>
          </p:cNvPr>
          <p:cNvSpPr/>
          <p:nvPr/>
        </p:nvSpPr>
        <p:spPr>
          <a:xfrm>
            <a:off x="126542" y="190120"/>
            <a:ext cx="6603631" cy="455189"/>
          </a:xfrm>
          <a:prstGeom prst="rect">
            <a:avLst/>
          </a:prstGeom>
          <a:solidFill>
            <a:schemeClr val="bg1">
              <a:lumMod val="85000"/>
            </a:schemeClr>
          </a:solidFill>
        </p:spPr>
        <p:txBody>
          <a:bodyPr wrap="square" rtlCol="0" anchor="ctr">
            <a:spAutoFit/>
          </a:bodyPr>
          <a:lstStyle/>
          <a:p>
            <a:r>
              <a:rPr lang="pt-BR" sz="2358" dirty="0">
                <a:latin typeface="Arial Rounded MT Bold" panose="020F0704030504030204" pitchFamily="34" charset="0"/>
              </a:rPr>
              <a:t>APRESENTAÇÃO</a:t>
            </a:r>
          </a:p>
        </p:txBody>
      </p:sp>
      <p:sp>
        <p:nvSpPr>
          <p:cNvPr id="29" name="CaixaDeTexto 28">
            <a:extLst>
              <a:ext uri="{FF2B5EF4-FFF2-40B4-BE49-F238E27FC236}">
                <a16:creationId xmlns:a16="http://schemas.microsoft.com/office/drawing/2014/main" id="{5A37447A-4EA1-40C3-ABB3-37FC22A82C8A}"/>
              </a:ext>
            </a:extLst>
          </p:cNvPr>
          <p:cNvSpPr txBox="1"/>
          <p:nvPr/>
        </p:nvSpPr>
        <p:spPr>
          <a:xfrm>
            <a:off x="54000" y="2760232"/>
            <a:ext cx="6603631" cy="908839"/>
          </a:xfrm>
          <a:prstGeom prst="rect">
            <a:avLst/>
          </a:prstGeom>
          <a:noFill/>
        </p:spPr>
        <p:txBody>
          <a:bodyPr wrap="square" rtlCol="0">
            <a:spAutoFit/>
          </a:bodyPr>
          <a:lstStyle/>
          <a:p>
            <a:pPr algn="just"/>
            <a:r>
              <a:rPr lang="pt-BR" sz="1376" b="1" dirty="0"/>
              <a:t>NOTA: </a:t>
            </a:r>
            <a:r>
              <a:rPr lang="pt-BR" sz="1310" i="1" dirty="0"/>
              <a:t>Guarde a </a:t>
            </a:r>
            <a:r>
              <a:rPr lang="pt-BR" sz="1310" i="1" u="sng" dirty="0"/>
              <a:t>nota fiscal </a:t>
            </a:r>
            <a:r>
              <a:rPr lang="pt-BR" sz="131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30" name="Retângulo 29">
            <a:extLst>
              <a:ext uri="{FF2B5EF4-FFF2-40B4-BE49-F238E27FC236}">
                <a16:creationId xmlns:a16="http://schemas.microsoft.com/office/drawing/2014/main" id="{483AA354-AA73-4F5F-A2F0-71E39D5FD229}"/>
              </a:ext>
            </a:extLst>
          </p:cNvPr>
          <p:cNvSpPr/>
          <p:nvPr/>
        </p:nvSpPr>
        <p:spPr>
          <a:xfrm>
            <a:off x="126542" y="3875357"/>
            <a:ext cx="6603631" cy="227746"/>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41" b="1" dirty="0">
                <a:solidFill>
                  <a:schemeClr val="tx1"/>
                </a:solidFill>
              </a:rPr>
              <a:t>Índice</a:t>
            </a:r>
          </a:p>
        </p:txBody>
      </p:sp>
      <p:graphicFrame>
        <p:nvGraphicFramePr>
          <p:cNvPr id="31" name="Tabela 30">
            <a:extLst>
              <a:ext uri="{FF2B5EF4-FFF2-40B4-BE49-F238E27FC236}">
                <a16:creationId xmlns:a16="http://schemas.microsoft.com/office/drawing/2014/main" id="{2DD0B194-3B62-47CC-96D9-77D6418075FE}"/>
              </a:ext>
            </a:extLst>
          </p:cNvPr>
          <p:cNvGraphicFramePr>
            <a:graphicFrameLocks noGrp="1"/>
          </p:cNvGraphicFramePr>
          <p:nvPr>
            <p:extLst>
              <p:ext uri="{D42A27DB-BD31-4B8C-83A1-F6EECF244321}">
                <p14:modId xmlns:p14="http://schemas.microsoft.com/office/powerpoint/2010/main" val="2007050873"/>
              </p:ext>
            </p:extLst>
          </p:nvPr>
        </p:nvGraphicFramePr>
        <p:xfrm>
          <a:off x="122707" y="4413234"/>
          <a:ext cx="6603631" cy="4438117"/>
        </p:xfrm>
        <a:graphic>
          <a:graphicData uri="http://schemas.openxmlformats.org/drawingml/2006/table">
            <a:tbl>
              <a:tblPr>
                <a:tableStyleId>{5C22544A-7EE6-4342-B048-85BDC9FD1C3A}</a:tableStyleId>
              </a:tblPr>
              <a:tblGrid>
                <a:gridCol w="5935786">
                  <a:extLst>
                    <a:ext uri="{9D8B030D-6E8A-4147-A177-3AD203B41FA5}">
                      <a16:colId xmlns:a16="http://schemas.microsoft.com/office/drawing/2014/main" val="1649317139"/>
                    </a:ext>
                  </a:extLst>
                </a:gridCol>
                <a:gridCol w="667845">
                  <a:extLst>
                    <a:ext uri="{9D8B030D-6E8A-4147-A177-3AD203B41FA5}">
                      <a16:colId xmlns:a16="http://schemas.microsoft.com/office/drawing/2014/main" val="3475215270"/>
                    </a:ext>
                  </a:extLst>
                </a:gridCol>
              </a:tblGrid>
              <a:tr h="249574">
                <a:tc>
                  <a:txBody>
                    <a:bodyPr/>
                    <a:lstStyle/>
                    <a:p>
                      <a:pPr algn="l" fontAlgn="b"/>
                      <a:r>
                        <a:rPr lang="pt-BR" sz="1200" u="none" strike="noStrike" dirty="0">
                          <a:effectLst/>
                          <a:latin typeface="Arial" panose="020B0604020202020204" pitchFamily="34" charset="0"/>
                          <a:cs typeface="Arial" panose="020B0604020202020204" pitchFamily="34" charset="0"/>
                        </a:rPr>
                        <a:t>Apresentação ...................................................................................................................</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1</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741572"/>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Para sua segurança..........................................................................................................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2</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4642009"/>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Instalação........................................................................................................................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2</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84776"/>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Utilização..........................................................................................................................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2</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7397413"/>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Controlador digital.............................................................................................................</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3</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2197369"/>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Temperatura.....................................................................................................................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3</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5433261"/>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Ajuste do Set Point - Temperatura desejada.....................................................................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3</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4024342"/>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Mensagens de alertas.......................................................................................................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4</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0101044"/>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Evaporador.......................................................................................................................</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4</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7478554"/>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Nivelamento grades/prateleiras........................................................................................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4</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231023"/>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Porta de Vidro...................................................................................................................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4</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204806"/>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Iluminação........................................................................................................................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389243"/>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Degelo..............................................................................................................................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221405"/>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Limpeza............................................................................................................................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4648284"/>
                  </a:ext>
                </a:extLst>
              </a:tr>
              <a:tr h="192172">
                <a:tc>
                  <a:txBody>
                    <a:bodyPr/>
                    <a:lstStyle/>
                    <a:p>
                      <a:pPr algn="l" fontAlgn="b"/>
                      <a:r>
                        <a:rPr lang="pt-BR" sz="1200" u="none" strike="noStrike" dirty="0">
                          <a:effectLst/>
                          <a:latin typeface="Arial" panose="020B0604020202020204" pitchFamily="34" charset="0"/>
                          <a:cs typeface="Arial" panose="020B0604020202020204" pitchFamily="34" charset="0"/>
                        </a:rPr>
                        <a:t>Recomendações...............................................................................................................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6493560"/>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Características gerais.......................................................................................................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6</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518565"/>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Ocorrências de Defeitos...................................................................................................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6</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6489344"/>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Termos de Garantia..........................................................................................................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8</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349956"/>
                  </a:ext>
                </a:extLst>
              </a:tr>
            </a:tbl>
          </a:graphicData>
        </a:graphic>
      </p:graphicFrame>
      <p:sp>
        <p:nvSpPr>
          <p:cNvPr id="32" name="CaixaDeTexto 31">
            <a:extLst>
              <a:ext uri="{FF2B5EF4-FFF2-40B4-BE49-F238E27FC236}">
                <a16:creationId xmlns:a16="http://schemas.microsoft.com/office/drawing/2014/main" id="{751BA0EF-D1EA-484A-81EE-F1E37B8AD519}"/>
              </a:ext>
            </a:extLst>
          </p:cNvPr>
          <p:cNvSpPr txBox="1"/>
          <p:nvPr/>
        </p:nvSpPr>
        <p:spPr>
          <a:xfrm>
            <a:off x="3181295" y="9584207"/>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01</a:t>
            </a:r>
          </a:p>
        </p:txBody>
      </p:sp>
    </p:spTree>
    <p:extLst>
      <p:ext uri="{BB962C8B-B14F-4D97-AF65-F5344CB8AC3E}">
        <p14:creationId xmlns:p14="http://schemas.microsoft.com/office/powerpoint/2010/main" val="677898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B3F48E0F-C38D-4585-AA94-F9115E218F40}"/>
              </a:ext>
            </a:extLst>
          </p:cNvPr>
          <p:cNvSpPr/>
          <p:nvPr/>
        </p:nvSpPr>
        <p:spPr>
          <a:xfrm>
            <a:off x="172614" y="138000"/>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 Para sua segurança</a:t>
            </a:r>
          </a:p>
        </p:txBody>
      </p:sp>
      <p:sp>
        <p:nvSpPr>
          <p:cNvPr id="5" name="CaixaDeTexto 4">
            <a:extLst>
              <a:ext uri="{FF2B5EF4-FFF2-40B4-BE49-F238E27FC236}">
                <a16:creationId xmlns:a16="http://schemas.microsoft.com/office/drawing/2014/main" id="{7AC7562C-AF13-4EE8-A7FC-4498637FF6CA}"/>
              </a:ext>
            </a:extLst>
          </p:cNvPr>
          <p:cNvSpPr txBox="1"/>
          <p:nvPr/>
        </p:nvSpPr>
        <p:spPr>
          <a:xfrm>
            <a:off x="103166" y="408000"/>
            <a:ext cx="5727869" cy="3143938"/>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1.1 Não instale o balcão próximo a fontes de calor ou produtos inflamáveis</a:t>
            </a:r>
          </a:p>
          <a:p>
            <a:pPr algn="just"/>
            <a:r>
              <a:rPr lang="pt-BR" sz="1400" dirty="0">
                <a:latin typeface="Arial" panose="020B0604020202020204" pitchFamily="34" charset="0"/>
                <a:cs typeface="Arial" panose="020B0604020202020204" pitchFamily="34" charset="0"/>
              </a:rPr>
              <a:t>1.2 Não guarde substâncias explosivas, como latas de aerossol, com um propulsor inflamável neste aparelho.</a:t>
            </a:r>
            <a:endParaRPr lang="pt-BR" sz="1310" dirty="0">
              <a:latin typeface="Arial" panose="020B0604020202020204" pitchFamily="34" charset="0"/>
              <a:cs typeface="Arial" panose="020B0604020202020204" pitchFamily="34" charset="0"/>
            </a:endParaRPr>
          </a:p>
          <a:p>
            <a:pPr algn="just"/>
            <a:r>
              <a:rPr lang="pt-BR" sz="1310" dirty="0">
                <a:latin typeface="Arial" panose="020B0604020202020204" pitchFamily="34" charset="0"/>
                <a:cs typeface="Arial" panose="020B0604020202020204" pitchFamily="34" charset="0"/>
              </a:rPr>
              <a:t>1.3 Utilize uma tomada exclusiva para a ligação do balcão, não faça o uso de extensões ou conectores</a:t>
            </a:r>
          </a:p>
          <a:p>
            <a:pPr algn="just"/>
            <a:r>
              <a:rPr lang="pt-BR" sz="1310" dirty="0">
                <a:latin typeface="Arial" panose="020B0604020202020204" pitchFamily="34" charset="0"/>
                <a:cs typeface="Arial" panose="020B0604020202020204" pitchFamily="34" charset="0"/>
              </a:rPr>
              <a:t>1.4 Não desligue o balcão puxando pelo cabo elétrico. O manuseio deve ser realizado através do plug do cabo.</a:t>
            </a:r>
          </a:p>
          <a:p>
            <a:pPr algn="just"/>
            <a:r>
              <a:rPr lang="pt-BR" sz="1310" dirty="0">
                <a:latin typeface="Arial" panose="020B0604020202020204" pitchFamily="34" charset="0"/>
                <a:cs typeface="Arial" panose="020B0604020202020204" pitchFamily="34" charset="0"/>
              </a:rPr>
              <a:t>1.5 Desligue o balcão da tomada sempre que fizer limpeza ou manutenção. </a:t>
            </a:r>
          </a:p>
          <a:p>
            <a:pPr algn="just"/>
            <a:r>
              <a:rPr lang="pt-BR" sz="1310" dirty="0">
                <a:latin typeface="Arial" panose="020B0604020202020204" pitchFamily="34" charset="0"/>
                <a:cs typeface="Arial" panose="020B0604020202020204" pitchFamily="34" charset="0"/>
              </a:rPr>
              <a:t>1.6 O usuário contribui para prevenir as potenciais consequências negativas para o ambiente e para a saúde se assegurar o descarte apropriado deste produto. Siga as normativas locais para a eliminação dos resíduos. O símbolo no produto, ou na documentação que o acompanha, indica que este produto não deve receber um tratamento semelhante ao de um resíduo doméstico.</a:t>
            </a:r>
          </a:p>
        </p:txBody>
      </p:sp>
      <p:pic>
        <p:nvPicPr>
          <p:cNvPr id="6" name="Imagem 5">
            <a:extLst>
              <a:ext uri="{FF2B5EF4-FFF2-40B4-BE49-F238E27FC236}">
                <a16:creationId xmlns:a16="http://schemas.microsoft.com/office/drawing/2014/main" id="{7E700F04-F9E0-425B-A792-CBACD3662961}"/>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tretch>
            <a:fillRect/>
          </a:stretch>
        </p:blipFill>
        <p:spPr>
          <a:xfrm rot="5400000">
            <a:off x="5716887" y="713876"/>
            <a:ext cx="1231237" cy="857010"/>
          </a:xfrm>
          <a:prstGeom prst="rect">
            <a:avLst/>
          </a:prstGeom>
        </p:spPr>
      </p:pic>
      <p:pic>
        <p:nvPicPr>
          <p:cNvPr id="7" name="Imagem 6">
            <a:extLst>
              <a:ext uri="{FF2B5EF4-FFF2-40B4-BE49-F238E27FC236}">
                <a16:creationId xmlns:a16="http://schemas.microsoft.com/office/drawing/2014/main" id="{C0D7C79A-D4BF-47F3-95DA-BE56EB55B428}"/>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rot="16200000">
            <a:off x="5667526" y="2029912"/>
            <a:ext cx="1314562" cy="841614"/>
          </a:xfrm>
          <a:prstGeom prst="rect">
            <a:avLst/>
          </a:prstGeom>
        </p:spPr>
      </p:pic>
      <p:pic>
        <p:nvPicPr>
          <p:cNvPr id="8" name="Imagem 7">
            <a:extLst>
              <a:ext uri="{FF2B5EF4-FFF2-40B4-BE49-F238E27FC236}">
                <a16:creationId xmlns:a16="http://schemas.microsoft.com/office/drawing/2014/main" id="{1CADA12E-3D51-4B1A-8EEF-C2D1D34330FD}"/>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r="51692"/>
          <a:stretch/>
        </p:blipFill>
        <p:spPr>
          <a:xfrm>
            <a:off x="6330494" y="524402"/>
            <a:ext cx="442272" cy="416569"/>
          </a:xfrm>
          <a:prstGeom prst="rect">
            <a:avLst/>
          </a:prstGeom>
        </p:spPr>
      </p:pic>
      <p:sp>
        <p:nvSpPr>
          <p:cNvPr id="11" name="Retângulo 10">
            <a:extLst>
              <a:ext uri="{FF2B5EF4-FFF2-40B4-BE49-F238E27FC236}">
                <a16:creationId xmlns:a16="http://schemas.microsoft.com/office/drawing/2014/main" id="{776D51B3-0C00-4861-87E7-BC51711F8F02}"/>
              </a:ext>
            </a:extLst>
          </p:cNvPr>
          <p:cNvSpPr/>
          <p:nvPr/>
        </p:nvSpPr>
        <p:spPr>
          <a:xfrm>
            <a:off x="172614" y="348247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2. Instalação</a:t>
            </a:r>
          </a:p>
        </p:txBody>
      </p:sp>
      <p:sp>
        <p:nvSpPr>
          <p:cNvPr id="12" name="CaixaDeTexto 11">
            <a:extLst>
              <a:ext uri="{FF2B5EF4-FFF2-40B4-BE49-F238E27FC236}">
                <a16:creationId xmlns:a16="http://schemas.microsoft.com/office/drawing/2014/main" id="{EA0A30D7-34C5-4A0E-81E3-071AA6F0F5BA}"/>
              </a:ext>
            </a:extLst>
          </p:cNvPr>
          <p:cNvSpPr txBox="1"/>
          <p:nvPr/>
        </p:nvSpPr>
        <p:spPr>
          <a:xfrm>
            <a:off x="120845" y="3738000"/>
            <a:ext cx="6573180" cy="3922612"/>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2.1 Escolha um local seco, arejado, plano e principalmente, longe da exposição de fontes de calor</a:t>
            </a:r>
          </a:p>
          <a:p>
            <a:pPr algn="just"/>
            <a:r>
              <a:rPr lang="pt-BR" sz="1310" dirty="0">
                <a:latin typeface="Arial" panose="020B0604020202020204" pitchFamily="34" charset="0"/>
                <a:cs typeface="Arial" panose="020B0604020202020204" pitchFamily="34" charset="0"/>
              </a:rPr>
              <a:t>2.2 A unidade de refrigeração do balcão deve ter a entrada e saída de ar livres, sem bloqueio de paredes ou objetos.</a:t>
            </a:r>
          </a:p>
          <a:p>
            <a:pPr algn="just"/>
            <a:r>
              <a:rPr lang="pt-BR" sz="1310" dirty="0">
                <a:latin typeface="Arial" panose="020B0604020202020204" pitchFamily="34" charset="0"/>
                <a:cs typeface="Arial" panose="020B0604020202020204" pitchFamily="34" charset="0"/>
              </a:rPr>
              <a:t>2.3 Providenciar tomada exclusiva de energia elétrica com aterramento, voltagem e potência equivalente ao do balcão. Se a tensão da rede local apresentar variações muito bruscas, torna-se necessário a utilização de um estabilizador de tensão, com capacidade compatível com o consumo em Watt. A variação na tensão não pode ser superior a 10%, para mais ou para menos.</a:t>
            </a:r>
          </a:p>
          <a:p>
            <a:pPr algn="just"/>
            <a:r>
              <a:rPr lang="pt-BR" sz="1310" dirty="0">
                <a:latin typeface="Arial" panose="020B0604020202020204" pitchFamily="34" charset="0"/>
                <a:cs typeface="Arial" panose="020B0604020202020204" pitchFamily="34" charset="0"/>
              </a:rPr>
              <a:t>2.4 Retire a embalagem e as películas de proteção das chapas metálicas. Caso haja peças em aço inox é muito importante retirar a película azul de proteção para evitar manchas.</a:t>
            </a:r>
          </a:p>
          <a:p>
            <a:pPr algn="just"/>
            <a:r>
              <a:rPr lang="pt-BR" sz="1310" dirty="0">
                <a:latin typeface="Arial" panose="020B0604020202020204" pitchFamily="34" charset="0"/>
                <a:cs typeface="Arial" panose="020B0604020202020204" pitchFamily="34" charset="0"/>
              </a:rPr>
              <a:t>2.5 Inserir o plug na tomada exclusiva para o produto. O pino central do plugue do cordão de alimentação elétrica do balcão, corresponde a ligação do fio terra, seguindo a norma padrão de aterramento. O aterramento é necessário independente da voltagem da rede elétrica e </a:t>
            </a:r>
            <a:r>
              <a:rPr lang="pt-BR" sz="1310" b="1" dirty="0">
                <a:latin typeface="Arial" panose="020B0604020202020204" pitchFamily="34" charset="0"/>
                <a:cs typeface="Arial" panose="020B0604020202020204" pitchFamily="34" charset="0"/>
              </a:rPr>
              <a:t>NÃO</a:t>
            </a:r>
            <a:r>
              <a:rPr lang="pt-BR" sz="1310" dirty="0">
                <a:latin typeface="Arial" panose="020B0604020202020204" pitchFamily="34" charset="0"/>
                <a:cs typeface="Arial" panose="020B0604020202020204" pitchFamily="34" charset="0"/>
              </a:rPr>
              <a:t> deve ser feita ao fio neutro da rede elétrica, da água de gás ou torneiras. Para fazer um aterramento correto siga as normas da ABNT.</a:t>
            </a:r>
          </a:p>
          <a:p>
            <a:pPr algn="just"/>
            <a:r>
              <a:rPr lang="pt-BR" sz="1310" b="1" dirty="0">
                <a:latin typeface="Arial" panose="020B0604020202020204" pitchFamily="34" charset="0"/>
                <a:cs typeface="Arial" panose="020B0604020202020204" pitchFamily="34" charset="0"/>
              </a:rPr>
              <a:t>NOTA: </a:t>
            </a:r>
            <a:r>
              <a:rPr lang="pt-BR" sz="1310" dirty="0">
                <a:latin typeface="Arial" panose="020B0604020202020204" pitchFamily="34" charset="0"/>
                <a:cs typeface="Arial" panose="020B0604020202020204" pitchFamily="34" charset="0"/>
              </a:rPr>
              <a:t>Se o cordão de alimentação for rompido ou danificado, deverá ser substituído pelo fabricante ou técnico autorizado ou pessoa qualificada, a fim de evitar riscos.</a:t>
            </a:r>
          </a:p>
        </p:txBody>
      </p:sp>
      <p:sp>
        <p:nvSpPr>
          <p:cNvPr id="13" name="Retângulo 12">
            <a:extLst>
              <a:ext uri="{FF2B5EF4-FFF2-40B4-BE49-F238E27FC236}">
                <a16:creationId xmlns:a16="http://schemas.microsoft.com/office/drawing/2014/main" id="{861FF68A-480D-42EA-B6C3-A7400C9F525D}"/>
              </a:ext>
            </a:extLst>
          </p:cNvPr>
          <p:cNvSpPr/>
          <p:nvPr/>
        </p:nvSpPr>
        <p:spPr>
          <a:xfrm>
            <a:off x="131504" y="762247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3. Utilização</a:t>
            </a:r>
          </a:p>
        </p:txBody>
      </p:sp>
      <p:sp>
        <p:nvSpPr>
          <p:cNvPr id="14" name="CaixaDeTexto 13">
            <a:extLst>
              <a:ext uri="{FF2B5EF4-FFF2-40B4-BE49-F238E27FC236}">
                <a16:creationId xmlns:a16="http://schemas.microsoft.com/office/drawing/2014/main" id="{6A48D7C3-A2B5-4992-B1E9-CAB4BA0423B1}"/>
              </a:ext>
            </a:extLst>
          </p:cNvPr>
          <p:cNvSpPr txBox="1"/>
          <p:nvPr/>
        </p:nvSpPr>
        <p:spPr>
          <a:xfrm>
            <a:off x="120844" y="7906324"/>
            <a:ext cx="6573180" cy="1906676"/>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3.1 Antes de utilizar o balcão pela primeira vez, deixe-o funcionando vazio por um período mínimo de 2 horas para que atinja a temperatura ideal para seu perfeito funcionamento. </a:t>
            </a:r>
          </a:p>
          <a:p>
            <a:pPr algn="just"/>
            <a:r>
              <a:rPr lang="pt-BR" sz="1310" dirty="0">
                <a:latin typeface="Arial" panose="020B0604020202020204" pitchFamily="34" charset="0"/>
                <a:cs typeface="Arial" panose="020B0604020202020204" pitchFamily="34" charset="0"/>
              </a:rPr>
              <a:t>3.2 O balcão é destinado à refrigeração e exposição de frios, laticínios e bebidas em geral que requeiram temperatura na faixa de 0 à +5°C.</a:t>
            </a:r>
          </a:p>
          <a:p>
            <a:pPr algn="just"/>
            <a:r>
              <a:rPr lang="pt-BR" sz="1310" dirty="0">
                <a:latin typeface="Arial" panose="020B0604020202020204" pitchFamily="34" charset="0"/>
                <a:cs typeface="Arial" panose="020B0604020202020204" pitchFamily="34" charset="0"/>
              </a:rPr>
              <a:t>3.3 O balcão é composto por duas válvulas de drenagem de água, sendo uma oriunda do sistema de refrigeração e a outra utilizada para drenagem da água durante a limpeza do produto. Caso queira, poderá ligar os drenos diretamente à rede de esgoto utilizando mangueiras ou adaptadores.</a:t>
            </a:r>
          </a:p>
        </p:txBody>
      </p:sp>
      <p:sp>
        <p:nvSpPr>
          <p:cNvPr id="15" name="CaixaDeTexto 14">
            <a:extLst>
              <a:ext uri="{FF2B5EF4-FFF2-40B4-BE49-F238E27FC236}">
                <a16:creationId xmlns:a16="http://schemas.microsoft.com/office/drawing/2014/main" id="{C991218B-64B4-4789-9C3D-28CAE302F9A0}"/>
              </a:ext>
            </a:extLst>
          </p:cNvPr>
          <p:cNvSpPr txBox="1"/>
          <p:nvPr/>
        </p:nvSpPr>
        <p:spPr>
          <a:xfrm>
            <a:off x="3181295" y="9674207"/>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02</a:t>
            </a:r>
          </a:p>
        </p:txBody>
      </p:sp>
      <p:pic>
        <p:nvPicPr>
          <p:cNvPr id="10" name="Imagem 9">
            <a:extLst>
              <a:ext uri="{FF2B5EF4-FFF2-40B4-BE49-F238E27FC236}">
                <a16:creationId xmlns:a16="http://schemas.microsoft.com/office/drawing/2014/main" id="{8FADCA47-3675-4135-AA8C-135406E4A67C}"/>
              </a:ext>
            </a:extLst>
          </p:cNvPr>
          <p:cNvPicPr>
            <a:picLocks noChangeAspect="1"/>
          </p:cNvPicPr>
          <p:nvPr/>
        </p:nvPicPr>
        <p:blipFill rotWithShape="1">
          <a:blip r:embed="rId9" cstate="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l="50957" t="-10857" r="-7995" b="-1991"/>
          <a:stretch/>
        </p:blipFill>
        <p:spPr>
          <a:xfrm>
            <a:off x="5781997" y="1739443"/>
            <a:ext cx="534515" cy="481173"/>
          </a:xfrm>
          <a:prstGeom prst="rect">
            <a:avLst/>
          </a:prstGeom>
        </p:spPr>
      </p:pic>
    </p:spTree>
    <p:extLst>
      <p:ext uri="{BB962C8B-B14F-4D97-AF65-F5344CB8AC3E}">
        <p14:creationId xmlns:p14="http://schemas.microsoft.com/office/powerpoint/2010/main" val="450861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C4706CA2-30B1-4232-BB62-CE77FAB5EC19}"/>
              </a:ext>
            </a:extLst>
          </p:cNvPr>
          <p:cNvSpPr txBox="1"/>
          <p:nvPr/>
        </p:nvSpPr>
        <p:spPr>
          <a:xfrm>
            <a:off x="124348" y="528525"/>
            <a:ext cx="6603631" cy="2108269"/>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3.3 Não armazenar produtos ainda quentes. O aconselhável é a colocação dos produtos refrigerados na faixa de temperatura indicada anteriormente</a:t>
            </a:r>
          </a:p>
          <a:p>
            <a:pPr algn="just"/>
            <a:r>
              <a:rPr lang="pt-BR" sz="1310" dirty="0">
                <a:latin typeface="Arial" panose="020B0604020202020204" pitchFamily="34" charset="0"/>
                <a:cs typeface="Arial" panose="020B0604020202020204" pitchFamily="34" charset="0"/>
              </a:rPr>
              <a:t>3.4 Manter a porta aberta somente o tempo necessário para a retirada do produto ou para o abastecimento.</a:t>
            </a:r>
          </a:p>
          <a:p>
            <a:pPr algn="just"/>
            <a:r>
              <a:rPr lang="pt-BR" sz="1310" dirty="0">
                <a:latin typeface="Arial" panose="020B0604020202020204" pitchFamily="34" charset="0"/>
                <a:cs typeface="Arial" panose="020B0604020202020204" pitchFamily="34" charset="0"/>
              </a:rPr>
              <a:t>3.5 A temperatura interna do seu produto dependerá da temperatura do ambiente onde está instalado, giro diário de mercadorias, quantidade de mercadorias armazenadas, vedação das portas (funcionamento perfeito).</a:t>
            </a:r>
          </a:p>
          <a:p>
            <a:pPr algn="just"/>
            <a:r>
              <a:rPr lang="pt-BR" sz="1310" dirty="0">
                <a:latin typeface="Arial" panose="020B0604020202020204" pitchFamily="34" charset="0"/>
                <a:cs typeface="Arial" panose="020B0604020202020204" pitchFamily="34" charset="0"/>
              </a:rPr>
              <a:t>3.6 O controlador digital já está configurado de fábrica. </a:t>
            </a:r>
          </a:p>
          <a:p>
            <a:r>
              <a:rPr lang="pt-BR" sz="1310" dirty="0">
                <a:latin typeface="Arial" panose="020B0604020202020204" pitchFamily="34" charset="0"/>
                <a:cs typeface="Arial" panose="020B0604020202020204" pitchFamily="34" charset="0"/>
              </a:rPr>
              <a:t>3.7 É importante não sobrecarregar de mercadorias, bem como não obstruir o fluxo de ar na entrada e saída do forçador de ar.</a:t>
            </a:r>
          </a:p>
        </p:txBody>
      </p:sp>
      <p:sp>
        <p:nvSpPr>
          <p:cNvPr id="5" name="Retângulo 4">
            <a:extLst>
              <a:ext uri="{FF2B5EF4-FFF2-40B4-BE49-F238E27FC236}">
                <a16:creationId xmlns:a16="http://schemas.microsoft.com/office/drawing/2014/main" id="{4AB7EE81-1A31-4E24-B4B0-58DDC101E76F}"/>
              </a:ext>
            </a:extLst>
          </p:cNvPr>
          <p:cNvSpPr/>
          <p:nvPr/>
        </p:nvSpPr>
        <p:spPr>
          <a:xfrm>
            <a:off x="183659" y="2828110"/>
            <a:ext cx="6558053" cy="28301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4. Controlador digital</a:t>
            </a:r>
          </a:p>
        </p:txBody>
      </p:sp>
      <p:sp>
        <p:nvSpPr>
          <p:cNvPr id="6" name="CaixaDeTexto 5">
            <a:extLst>
              <a:ext uri="{FF2B5EF4-FFF2-40B4-BE49-F238E27FC236}">
                <a16:creationId xmlns:a16="http://schemas.microsoft.com/office/drawing/2014/main" id="{83833B49-A9E2-4842-80FA-B6D229259EDC}"/>
              </a:ext>
            </a:extLst>
          </p:cNvPr>
          <p:cNvSpPr txBox="1"/>
          <p:nvPr/>
        </p:nvSpPr>
        <p:spPr>
          <a:xfrm>
            <a:off x="99001" y="3159905"/>
            <a:ext cx="3193857" cy="2309863"/>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4.1 Ao conectar o cordão de alimentação do produto na tomada, o controlador eletrônico entrará em estado de proteção por um período de 3 minutos.  Durante os 3 minutos, o visor do controlador apresentará a temperatura interna do balcão.</a:t>
            </a:r>
          </a:p>
          <a:p>
            <a:pPr algn="just"/>
            <a:r>
              <a:rPr lang="pt-BR" sz="1310" dirty="0">
                <a:latin typeface="Arial" panose="020B0604020202020204" pitchFamily="34" charset="0"/>
                <a:cs typeface="Arial" panose="020B0604020202020204" pitchFamily="34" charset="0"/>
              </a:rPr>
              <a:t>4.2 Após o período de 3 minutos será indicado no visor o</a:t>
            </a:r>
            <a:r>
              <a:rPr lang="pt-BR" sz="1310" i="1" dirty="0">
                <a:latin typeface="Arial" panose="020B0604020202020204" pitchFamily="34" charset="0"/>
                <a:cs typeface="Arial" panose="020B0604020202020204" pitchFamily="34" charset="0"/>
              </a:rPr>
              <a:t> </a:t>
            </a:r>
            <a:r>
              <a:rPr lang="pt-BR" sz="1310" i="1" dirty="0" err="1">
                <a:latin typeface="Arial" panose="020B0604020202020204" pitchFamily="34" charset="0"/>
                <a:cs typeface="Arial" panose="020B0604020202020204" pitchFamily="34" charset="0"/>
              </a:rPr>
              <a:t>led</a:t>
            </a:r>
            <a:r>
              <a:rPr lang="pt-BR" sz="1310" i="1" dirty="0">
                <a:latin typeface="Arial" panose="020B0604020202020204" pitchFamily="34" charset="0"/>
                <a:cs typeface="Arial" panose="020B0604020202020204" pitchFamily="34" charset="0"/>
              </a:rPr>
              <a:t> </a:t>
            </a:r>
            <a:r>
              <a:rPr lang="pt-BR" sz="1310" dirty="0">
                <a:latin typeface="Arial" panose="020B0604020202020204" pitchFamily="34" charset="0"/>
                <a:cs typeface="Arial" panose="020B0604020202020204" pitchFamily="34" charset="0"/>
              </a:rPr>
              <a:t>com o símbolo </a:t>
            </a:r>
          </a:p>
          <a:p>
            <a:pPr algn="just"/>
            <a:r>
              <a:rPr lang="pt-BR" sz="1310" dirty="0">
                <a:latin typeface="Arial" panose="020B0604020202020204" pitchFamily="34" charset="0"/>
                <a:cs typeface="Arial" panose="020B0604020202020204" pitchFamily="34" charset="0"/>
              </a:rPr>
              <a:t>O símbolo indica o acionamento do sistema de refrigeração do produto.</a:t>
            </a:r>
          </a:p>
        </p:txBody>
      </p:sp>
      <p:sp>
        <p:nvSpPr>
          <p:cNvPr id="7" name="Retângulo 6">
            <a:extLst>
              <a:ext uri="{FF2B5EF4-FFF2-40B4-BE49-F238E27FC236}">
                <a16:creationId xmlns:a16="http://schemas.microsoft.com/office/drawing/2014/main" id="{195A5C2D-32C1-4FDC-BA8C-083C37862FFA}"/>
              </a:ext>
            </a:extLst>
          </p:cNvPr>
          <p:cNvSpPr/>
          <p:nvPr/>
        </p:nvSpPr>
        <p:spPr>
          <a:xfrm>
            <a:off x="183659" y="228000"/>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3. Utilização </a:t>
            </a:r>
            <a:r>
              <a:rPr lang="pt-BR" sz="1441" b="1" i="1" dirty="0">
                <a:solidFill>
                  <a:schemeClr val="tx1"/>
                </a:solidFill>
              </a:rPr>
              <a:t>(continuação)</a:t>
            </a:r>
          </a:p>
        </p:txBody>
      </p:sp>
      <p:pic>
        <p:nvPicPr>
          <p:cNvPr id="8" name="Imagem 7">
            <a:extLst>
              <a:ext uri="{FF2B5EF4-FFF2-40B4-BE49-F238E27FC236}">
                <a16:creationId xmlns:a16="http://schemas.microsoft.com/office/drawing/2014/main" id="{6D48F482-D412-4ABB-B630-9A03AD9852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3614" y="3268879"/>
            <a:ext cx="3409101" cy="1797090"/>
          </a:xfrm>
          <a:prstGeom prst="rect">
            <a:avLst/>
          </a:prstGeom>
        </p:spPr>
      </p:pic>
      <p:pic>
        <p:nvPicPr>
          <p:cNvPr id="10" name="Imagem 9">
            <a:extLst>
              <a:ext uri="{FF2B5EF4-FFF2-40B4-BE49-F238E27FC236}">
                <a16:creationId xmlns:a16="http://schemas.microsoft.com/office/drawing/2014/main" id="{A6583EDE-28BE-46A3-9141-33D16086C0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29308" y="4839516"/>
            <a:ext cx="181463" cy="181463"/>
          </a:xfrm>
          <a:prstGeom prst="rect">
            <a:avLst/>
          </a:prstGeom>
          <a:ln>
            <a:solidFill>
              <a:schemeClr val="tx1"/>
            </a:solidFill>
          </a:ln>
        </p:spPr>
      </p:pic>
      <p:sp>
        <p:nvSpPr>
          <p:cNvPr id="11" name="Retângulo 10">
            <a:extLst>
              <a:ext uri="{FF2B5EF4-FFF2-40B4-BE49-F238E27FC236}">
                <a16:creationId xmlns:a16="http://schemas.microsoft.com/office/drawing/2014/main" id="{98FBF67A-89FE-4ED9-A385-7C100DAFC573}"/>
              </a:ext>
            </a:extLst>
          </p:cNvPr>
          <p:cNvSpPr/>
          <p:nvPr/>
        </p:nvSpPr>
        <p:spPr>
          <a:xfrm>
            <a:off x="183659" y="5622206"/>
            <a:ext cx="6558053" cy="28301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5. Temperatura</a:t>
            </a:r>
          </a:p>
        </p:txBody>
      </p:sp>
      <p:sp>
        <p:nvSpPr>
          <p:cNvPr id="12" name="CaixaDeTexto 11">
            <a:extLst>
              <a:ext uri="{FF2B5EF4-FFF2-40B4-BE49-F238E27FC236}">
                <a16:creationId xmlns:a16="http://schemas.microsoft.com/office/drawing/2014/main" id="{56766951-1205-416E-951D-216CEFDBA80F}"/>
              </a:ext>
            </a:extLst>
          </p:cNvPr>
          <p:cNvSpPr txBox="1"/>
          <p:nvPr/>
        </p:nvSpPr>
        <p:spPr>
          <a:xfrm>
            <a:off x="109757" y="5966755"/>
            <a:ext cx="4536832" cy="1705082"/>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5.1 O controle da temperatura interna do balcão é realizado através de um controlador eletrônico digital.</a:t>
            </a:r>
          </a:p>
          <a:p>
            <a:pPr algn="just"/>
            <a:r>
              <a:rPr lang="pt-BR" sz="1310" dirty="0">
                <a:latin typeface="Arial" panose="020B0604020202020204" pitchFamily="34" charset="0"/>
                <a:cs typeface="Arial" panose="020B0604020202020204" pitchFamily="34" charset="0"/>
              </a:rPr>
              <a:t>5.2 O controlador está localizado na parte externa superior do balcão.</a:t>
            </a:r>
          </a:p>
          <a:p>
            <a:pPr algn="just"/>
            <a:r>
              <a:rPr lang="pt-BR" sz="1310" dirty="0">
                <a:latin typeface="Arial" panose="020B0604020202020204" pitchFamily="34" charset="0"/>
                <a:cs typeface="Arial" panose="020B0604020202020204" pitchFamily="34" charset="0"/>
              </a:rPr>
              <a:t>5.3 O controlador sai com regulagem padrão de fábrica e deverá ser adaptado de acordo com a necessidade de cada usuário. Sua regulagem é realizada através do visor do controlador. </a:t>
            </a:r>
          </a:p>
        </p:txBody>
      </p:sp>
      <p:pic>
        <p:nvPicPr>
          <p:cNvPr id="13" name="Imagem 12">
            <a:extLst>
              <a:ext uri="{FF2B5EF4-FFF2-40B4-BE49-F238E27FC236}">
                <a16:creationId xmlns:a16="http://schemas.microsoft.com/office/drawing/2014/main" id="{290447B4-5BD4-4256-BDFE-28FDE87DF74A}"/>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57674" t="22342" r="27362" b="54549"/>
          <a:stretch/>
        </p:blipFill>
        <p:spPr>
          <a:xfrm>
            <a:off x="4830642" y="6037367"/>
            <a:ext cx="1707338" cy="1483080"/>
          </a:xfrm>
          <a:prstGeom prst="rect">
            <a:avLst/>
          </a:prstGeom>
        </p:spPr>
      </p:pic>
      <p:sp>
        <p:nvSpPr>
          <p:cNvPr id="14" name="CaixaDeTexto 13">
            <a:extLst>
              <a:ext uri="{FF2B5EF4-FFF2-40B4-BE49-F238E27FC236}">
                <a16:creationId xmlns:a16="http://schemas.microsoft.com/office/drawing/2014/main" id="{027983E4-CA4F-447A-9D5D-51B5AF1C2EDE}"/>
              </a:ext>
            </a:extLst>
          </p:cNvPr>
          <p:cNvSpPr txBox="1"/>
          <p:nvPr/>
        </p:nvSpPr>
        <p:spPr>
          <a:xfrm>
            <a:off x="99000" y="7633611"/>
            <a:ext cx="5660256" cy="293927"/>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5.4 O produto foi desenvolvido para trabalhar com a classe climática 6.</a:t>
            </a:r>
          </a:p>
        </p:txBody>
      </p:sp>
      <p:sp>
        <p:nvSpPr>
          <p:cNvPr id="15" name="Retângulo 14">
            <a:extLst>
              <a:ext uri="{FF2B5EF4-FFF2-40B4-BE49-F238E27FC236}">
                <a16:creationId xmlns:a16="http://schemas.microsoft.com/office/drawing/2014/main" id="{6CCDD5F6-93DE-4465-B6D8-8AAF9A054BF5}"/>
              </a:ext>
            </a:extLst>
          </p:cNvPr>
          <p:cNvSpPr/>
          <p:nvPr/>
        </p:nvSpPr>
        <p:spPr>
          <a:xfrm>
            <a:off x="191602" y="8008179"/>
            <a:ext cx="6558053" cy="28301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6. Ajuste do</a:t>
            </a:r>
            <a:r>
              <a:rPr lang="pt-BR" sz="1441" b="1" i="1" dirty="0">
                <a:solidFill>
                  <a:schemeClr val="tx1"/>
                </a:solidFill>
              </a:rPr>
              <a:t> Setpoint </a:t>
            </a:r>
            <a:r>
              <a:rPr lang="pt-BR" sz="1441" b="1" dirty="0">
                <a:solidFill>
                  <a:schemeClr val="tx1"/>
                </a:solidFill>
              </a:rPr>
              <a:t>(temperatura desejada)</a:t>
            </a:r>
          </a:p>
        </p:txBody>
      </p:sp>
      <p:sp>
        <p:nvSpPr>
          <p:cNvPr id="16" name="CaixaDeTexto 15">
            <a:extLst>
              <a:ext uri="{FF2B5EF4-FFF2-40B4-BE49-F238E27FC236}">
                <a16:creationId xmlns:a16="http://schemas.microsoft.com/office/drawing/2014/main" id="{D5DAB600-07AE-415E-9561-FAE66189833F}"/>
              </a:ext>
            </a:extLst>
          </p:cNvPr>
          <p:cNvSpPr txBox="1"/>
          <p:nvPr/>
        </p:nvSpPr>
        <p:spPr>
          <a:xfrm>
            <a:off x="124349" y="8354791"/>
            <a:ext cx="6617363" cy="898708"/>
          </a:xfrm>
          <a:prstGeom prst="rect">
            <a:avLst/>
          </a:prstGeom>
          <a:noFill/>
        </p:spPr>
        <p:txBody>
          <a:bodyPr wrap="square" rtlCol="0">
            <a:spAutoFit/>
          </a:bodyPr>
          <a:lstStyle/>
          <a:p>
            <a:pPr algn="just" defTabSz="470031">
              <a:tabLst>
                <a:tab pos="349404" algn="l"/>
              </a:tabLst>
            </a:pPr>
            <a:r>
              <a:rPr lang="pt-BR" sz="1310" dirty="0">
                <a:latin typeface="Arial" panose="020B0604020202020204" pitchFamily="34" charset="0"/>
                <a:cs typeface="Arial" panose="020B0604020202020204" pitchFamily="34" charset="0"/>
              </a:rPr>
              <a:t>6.1 Pressione a tecla </a:t>
            </a:r>
            <a:r>
              <a:rPr lang="pt-BR" sz="1310" i="1" dirty="0">
                <a:latin typeface="Arial" panose="020B0604020202020204" pitchFamily="34" charset="0"/>
                <a:cs typeface="Arial" panose="020B0604020202020204" pitchFamily="34" charset="0"/>
              </a:rPr>
              <a:t>SET</a:t>
            </a:r>
            <a:r>
              <a:rPr lang="pt-BR" sz="1310" dirty="0">
                <a:latin typeface="Arial" panose="020B0604020202020204" pitchFamily="34" charset="0"/>
                <a:cs typeface="Arial" panose="020B0604020202020204" pitchFamily="34" charset="0"/>
              </a:rPr>
              <a:t>     durante 2 segundos até aparecer a mensagem                                  	no visor do controlador. Ao soltar a tecla aparecerá a temperatura de controle atualmente ajustada. Utilize as teclas  ou  para modificar o valor e pressione                                   	para gravar.</a:t>
            </a:r>
          </a:p>
        </p:txBody>
      </p:sp>
      <p:cxnSp>
        <p:nvCxnSpPr>
          <p:cNvPr id="17" name="Conector de Seta Reta 16">
            <a:extLst>
              <a:ext uri="{FF2B5EF4-FFF2-40B4-BE49-F238E27FC236}">
                <a16:creationId xmlns:a16="http://schemas.microsoft.com/office/drawing/2014/main" id="{EA2CEE83-28C0-40DB-8618-BB3D3D5BBB96}"/>
              </a:ext>
            </a:extLst>
          </p:cNvPr>
          <p:cNvCxnSpPr/>
          <p:nvPr/>
        </p:nvCxnSpPr>
        <p:spPr>
          <a:xfrm>
            <a:off x="2443851" y="8510092"/>
            <a:ext cx="1565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 name="Imagem 17">
            <a:extLst>
              <a:ext uri="{FF2B5EF4-FFF2-40B4-BE49-F238E27FC236}">
                <a16:creationId xmlns:a16="http://schemas.microsoft.com/office/drawing/2014/main" id="{42CB0C9F-A134-4DD7-B611-D0B5778167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40866" y="8818491"/>
            <a:ext cx="156575" cy="208767"/>
          </a:xfrm>
          <a:prstGeom prst="rect">
            <a:avLst/>
          </a:prstGeom>
        </p:spPr>
      </p:pic>
      <p:pic>
        <p:nvPicPr>
          <p:cNvPr id="19" name="Imagem 18">
            <a:extLst>
              <a:ext uri="{FF2B5EF4-FFF2-40B4-BE49-F238E27FC236}">
                <a16:creationId xmlns:a16="http://schemas.microsoft.com/office/drawing/2014/main" id="{FB6FA2CC-9F4E-47F7-8F99-A6D6DEC40B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81026" y="8831456"/>
            <a:ext cx="158156" cy="208767"/>
          </a:xfrm>
          <a:prstGeom prst="rect">
            <a:avLst/>
          </a:prstGeom>
        </p:spPr>
      </p:pic>
      <p:pic>
        <p:nvPicPr>
          <p:cNvPr id="20" name="Imagem 19">
            <a:extLst>
              <a:ext uri="{FF2B5EF4-FFF2-40B4-BE49-F238E27FC236}">
                <a16:creationId xmlns:a16="http://schemas.microsoft.com/office/drawing/2014/main" id="{17DA36F9-3DC7-4F22-B976-08A5E9A56F3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6483" y="8997826"/>
            <a:ext cx="244460" cy="225070"/>
          </a:xfrm>
          <a:prstGeom prst="rect">
            <a:avLst/>
          </a:prstGeom>
        </p:spPr>
      </p:pic>
      <p:pic>
        <p:nvPicPr>
          <p:cNvPr id="21" name="Imagem 20">
            <a:extLst>
              <a:ext uri="{FF2B5EF4-FFF2-40B4-BE49-F238E27FC236}">
                <a16:creationId xmlns:a16="http://schemas.microsoft.com/office/drawing/2014/main" id="{C1BB7035-00BB-4EEF-BBE5-7DF0F94109B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48577" y="8403511"/>
            <a:ext cx="186215" cy="222815"/>
          </a:xfrm>
          <a:prstGeom prst="rect">
            <a:avLst/>
          </a:prstGeom>
        </p:spPr>
      </p:pic>
      <p:sp>
        <p:nvSpPr>
          <p:cNvPr id="22" name="CaixaDeTexto 21">
            <a:extLst>
              <a:ext uri="{FF2B5EF4-FFF2-40B4-BE49-F238E27FC236}">
                <a16:creationId xmlns:a16="http://schemas.microsoft.com/office/drawing/2014/main" id="{3C340059-C547-4628-AFA5-E1F4FA56992F}"/>
              </a:ext>
            </a:extLst>
          </p:cNvPr>
          <p:cNvSpPr txBox="1"/>
          <p:nvPr/>
        </p:nvSpPr>
        <p:spPr>
          <a:xfrm>
            <a:off x="3181295" y="9537788"/>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03</a:t>
            </a:r>
          </a:p>
        </p:txBody>
      </p:sp>
      <p:sp>
        <p:nvSpPr>
          <p:cNvPr id="40" name="Elipse 39">
            <a:extLst>
              <a:ext uri="{FF2B5EF4-FFF2-40B4-BE49-F238E27FC236}">
                <a16:creationId xmlns:a16="http://schemas.microsoft.com/office/drawing/2014/main" id="{C6EA16B7-3F61-4EF1-A861-D2A1CC2EE330}"/>
              </a:ext>
            </a:extLst>
          </p:cNvPr>
          <p:cNvSpPr/>
          <p:nvPr/>
        </p:nvSpPr>
        <p:spPr>
          <a:xfrm>
            <a:off x="5433552" y="6487236"/>
            <a:ext cx="660363" cy="61015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751"/>
          </a:p>
        </p:txBody>
      </p:sp>
      <p:pic>
        <p:nvPicPr>
          <p:cNvPr id="3" name="Imagem 2">
            <a:extLst>
              <a:ext uri="{FF2B5EF4-FFF2-40B4-BE49-F238E27FC236}">
                <a16:creationId xmlns:a16="http://schemas.microsoft.com/office/drawing/2014/main" id="{13C4301E-479A-411C-89E6-1F8042E7838C}"/>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46325" y="8633733"/>
            <a:ext cx="344776" cy="190558"/>
          </a:xfrm>
          <a:prstGeom prst="rect">
            <a:avLst/>
          </a:prstGeom>
        </p:spPr>
      </p:pic>
    </p:spTree>
    <p:extLst>
      <p:ext uri="{BB962C8B-B14F-4D97-AF65-F5344CB8AC3E}">
        <p14:creationId xmlns:p14="http://schemas.microsoft.com/office/powerpoint/2010/main" val="2872553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aixaDeTexto 35">
            <a:extLst>
              <a:ext uri="{FF2B5EF4-FFF2-40B4-BE49-F238E27FC236}">
                <a16:creationId xmlns:a16="http://schemas.microsoft.com/office/drawing/2014/main" id="{9734F5F1-EE4F-403A-A03A-4CBBE35490AF}"/>
              </a:ext>
            </a:extLst>
          </p:cNvPr>
          <p:cNvSpPr txBox="1"/>
          <p:nvPr/>
        </p:nvSpPr>
        <p:spPr>
          <a:xfrm>
            <a:off x="3181295" y="9584207"/>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04</a:t>
            </a:r>
          </a:p>
        </p:txBody>
      </p:sp>
      <p:graphicFrame>
        <p:nvGraphicFramePr>
          <p:cNvPr id="14" name="Tabela 13">
            <a:extLst>
              <a:ext uri="{FF2B5EF4-FFF2-40B4-BE49-F238E27FC236}">
                <a16:creationId xmlns:a16="http://schemas.microsoft.com/office/drawing/2014/main" id="{063C5DF2-5D4E-4A6E-85EB-84F8B40D8621}"/>
              </a:ext>
            </a:extLst>
          </p:cNvPr>
          <p:cNvGraphicFramePr>
            <a:graphicFrameLocks noGrp="1"/>
          </p:cNvGraphicFramePr>
          <p:nvPr>
            <p:extLst>
              <p:ext uri="{D42A27DB-BD31-4B8C-83A1-F6EECF244321}">
                <p14:modId xmlns:p14="http://schemas.microsoft.com/office/powerpoint/2010/main" val="3040606252"/>
              </p:ext>
            </p:extLst>
          </p:nvPr>
        </p:nvGraphicFramePr>
        <p:xfrm>
          <a:off x="230862" y="2417057"/>
          <a:ext cx="6497733" cy="4890388"/>
        </p:xfrm>
        <a:graphic>
          <a:graphicData uri="http://schemas.openxmlformats.org/drawingml/2006/table">
            <a:tbl>
              <a:tblPr firstRow="1" bandRow="1">
                <a:tableStyleId>{5940675A-B579-460E-94D1-54222C63F5DA}</a:tableStyleId>
              </a:tblPr>
              <a:tblGrid>
                <a:gridCol w="3573268">
                  <a:extLst>
                    <a:ext uri="{9D8B030D-6E8A-4147-A177-3AD203B41FA5}">
                      <a16:colId xmlns:a16="http://schemas.microsoft.com/office/drawing/2014/main" val="1446479236"/>
                    </a:ext>
                  </a:extLst>
                </a:gridCol>
                <a:gridCol w="2924465">
                  <a:extLst>
                    <a:ext uri="{9D8B030D-6E8A-4147-A177-3AD203B41FA5}">
                      <a16:colId xmlns:a16="http://schemas.microsoft.com/office/drawing/2014/main" val="7825786"/>
                    </a:ext>
                  </a:extLst>
                </a:gridCol>
              </a:tblGrid>
              <a:tr h="1168909">
                <a:tc>
                  <a:txBody>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lang="pt-BR" sz="1300" dirty="0">
                          <a:latin typeface="Arial" panose="020B0604020202020204" pitchFamily="34" charset="0"/>
                          <a:cs typeface="Arial" panose="020B0604020202020204" pitchFamily="34" charset="0"/>
                        </a:rPr>
                        <a:t>9.1 Destravar suporte de alumínio da cremalheira </a:t>
                      </a:r>
                    </a:p>
                  </a:txBody>
                  <a:tcPr marL="119795" marR="119795" marT="59898" marB="59898"/>
                </a:tc>
                <a:tc>
                  <a:txBody>
                    <a:bodyPr/>
                    <a:lstStyle/>
                    <a:p>
                      <a:endParaRPr lang="pt-BR" sz="13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3082228576"/>
                  </a:ext>
                </a:extLst>
              </a:tr>
              <a:tr h="1317750">
                <a:tc>
                  <a:txBody>
                    <a:bodyPr/>
                    <a:lstStyle/>
                    <a:p>
                      <a:pPr algn="just"/>
                      <a:r>
                        <a:rPr lang="pt-BR" sz="1300" dirty="0">
                          <a:latin typeface="Arial" panose="020B0604020202020204" pitchFamily="34" charset="0"/>
                          <a:cs typeface="Arial" panose="020B0604020202020204" pitchFamily="34" charset="0"/>
                        </a:rPr>
                        <a:t>9.2 Nivelar suporte de alumínio conforme desejado. Utilize a numeração das cremalheiras como referência. Não ultrapassar o limite de altura, pois poderá obstruir o fluxo de ar na entrada e saída do forçador de ar.</a:t>
                      </a:r>
                    </a:p>
                  </a:txBody>
                  <a:tcPr marL="119795" marR="119795" marT="59898" marB="59898"/>
                </a:tc>
                <a:tc>
                  <a:txBody>
                    <a:bodyPr/>
                    <a:lstStyle/>
                    <a:p>
                      <a:endParaRPr lang="pt-BR" sz="13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973863748"/>
                  </a:ext>
                </a:extLst>
              </a:tr>
              <a:tr h="1336652">
                <a:tc>
                  <a:txBody>
                    <a:bodyPr/>
                    <a:lstStyle/>
                    <a:p>
                      <a:r>
                        <a:rPr lang="pt-BR" sz="1300" kern="1200" dirty="0">
                          <a:solidFill>
                            <a:schemeClr val="tx1"/>
                          </a:solidFill>
                          <a:latin typeface="Arial" panose="020B0604020202020204" pitchFamily="34" charset="0"/>
                          <a:ea typeface="+mn-ea"/>
                          <a:cs typeface="Arial" panose="020B0604020202020204" pitchFamily="34" charset="0"/>
                        </a:rPr>
                        <a:t>9.3 Travar o suporte de alumínio da cremalheira na altura desejada</a:t>
                      </a:r>
                    </a:p>
                    <a:p>
                      <a:r>
                        <a:rPr lang="pt-BR" sz="1300" kern="1200" dirty="0">
                          <a:solidFill>
                            <a:schemeClr val="tx1"/>
                          </a:solidFill>
                          <a:latin typeface="Arial" panose="020B0604020202020204" pitchFamily="34" charset="0"/>
                          <a:ea typeface="+mn-ea"/>
                          <a:cs typeface="Arial" panose="020B0604020202020204" pitchFamily="34" charset="0"/>
                        </a:rPr>
                        <a:t>    </a:t>
                      </a:r>
                      <a:r>
                        <a:rPr lang="pt-BR" sz="1200" kern="1200" dirty="0">
                          <a:solidFill>
                            <a:schemeClr val="tx1"/>
                          </a:solidFill>
                          <a:latin typeface="Arial" panose="020B0604020202020204" pitchFamily="34" charset="0"/>
                          <a:ea typeface="+mn-ea"/>
                          <a:cs typeface="Arial" panose="020B0604020202020204" pitchFamily="34" charset="0"/>
                        </a:rPr>
                        <a:t>9.3.1 Encaixar a trava superior do suporte na cremalheira.</a:t>
                      </a:r>
                    </a:p>
                    <a:p>
                      <a:r>
                        <a:rPr lang="pt-BR" sz="1200" kern="1200" dirty="0">
                          <a:solidFill>
                            <a:schemeClr val="tx1"/>
                          </a:solidFill>
                          <a:latin typeface="Arial" panose="020B0604020202020204" pitchFamily="34" charset="0"/>
                          <a:ea typeface="+mn-ea"/>
                          <a:cs typeface="Arial" panose="020B0604020202020204" pitchFamily="34" charset="0"/>
                        </a:rPr>
                        <a:t>    9.3.2 Apertar a trava inferior do suporte na cremalheira </a:t>
                      </a:r>
                    </a:p>
                  </a:txBody>
                  <a:tcPr marL="119795" marR="119795" marT="59898" marB="59898"/>
                </a:tc>
                <a:tc>
                  <a:txBody>
                    <a:bodyPr/>
                    <a:lstStyle/>
                    <a:p>
                      <a:endParaRPr lang="pt-BR" sz="13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2066149738"/>
                  </a:ext>
                </a:extLst>
              </a:tr>
              <a:tr h="1067077">
                <a:tc>
                  <a:txBody>
                    <a:bodyPr/>
                    <a:lstStyle/>
                    <a:p>
                      <a:r>
                        <a:rPr lang="pt-BR" sz="1300" kern="1200" dirty="0">
                          <a:solidFill>
                            <a:schemeClr val="tx1"/>
                          </a:solidFill>
                          <a:latin typeface="Arial" panose="020B0604020202020204" pitchFamily="34" charset="0"/>
                          <a:ea typeface="+mn-ea"/>
                          <a:cs typeface="Arial" panose="020B0604020202020204" pitchFamily="34" charset="0"/>
                        </a:rPr>
                        <a:t>9.4 Encaixar as prateleiras no suporte de alumínio.</a:t>
                      </a:r>
                    </a:p>
                  </a:txBody>
                  <a:tcPr marL="119795" marR="119795" marT="59898" marB="59898"/>
                </a:tc>
                <a:tc>
                  <a:txBody>
                    <a:bodyPr/>
                    <a:lstStyle/>
                    <a:p>
                      <a:endParaRPr lang="pt-BR" sz="13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747302260"/>
                  </a:ext>
                </a:extLst>
              </a:tr>
            </a:tbl>
          </a:graphicData>
        </a:graphic>
      </p:graphicFrame>
      <p:sp>
        <p:nvSpPr>
          <p:cNvPr id="15" name="Retângulo 14">
            <a:extLst>
              <a:ext uri="{FF2B5EF4-FFF2-40B4-BE49-F238E27FC236}">
                <a16:creationId xmlns:a16="http://schemas.microsoft.com/office/drawing/2014/main" id="{EB8E3C10-A060-4601-8F7D-9D3A88561346}"/>
              </a:ext>
            </a:extLst>
          </p:cNvPr>
          <p:cNvSpPr/>
          <p:nvPr/>
        </p:nvSpPr>
        <p:spPr>
          <a:xfrm>
            <a:off x="176736" y="33781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7. Mensagens de alertas</a:t>
            </a:r>
          </a:p>
        </p:txBody>
      </p:sp>
      <p:sp>
        <p:nvSpPr>
          <p:cNvPr id="16" name="Retângulo 15">
            <a:extLst>
              <a:ext uri="{FF2B5EF4-FFF2-40B4-BE49-F238E27FC236}">
                <a16:creationId xmlns:a16="http://schemas.microsoft.com/office/drawing/2014/main" id="{1ACA94B4-9948-4DB0-9623-8EC9B1A69593}"/>
              </a:ext>
            </a:extLst>
          </p:cNvPr>
          <p:cNvSpPr/>
          <p:nvPr/>
        </p:nvSpPr>
        <p:spPr>
          <a:xfrm>
            <a:off x="176736" y="1291704"/>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8. Evaporador</a:t>
            </a:r>
          </a:p>
        </p:txBody>
      </p:sp>
      <p:sp>
        <p:nvSpPr>
          <p:cNvPr id="17" name="CaixaDeTexto 16">
            <a:extLst>
              <a:ext uri="{FF2B5EF4-FFF2-40B4-BE49-F238E27FC236}">
                <a16:creationId xmlns:a16="http://schemas.microsoft.com/office/drawing/2014/main" id="{DD2D3D05-AD96-4814-BF90-4FD0067A1525}"/>
              </a:ext>
            </a:extLst>
          </p:cNvPr>
          <p:cNvSpPr txBox="1"/>
          <p:nvPr/>
        </p:nvSpPr>
        <p:spPr>
          <a:xfrm>
            <a:off x="144752" y="1628179"/>
            <a:ext cx="6573180" cy="293927"/>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8.1 A refrigeração é realizada através do evaporador de ar forçado. </a:t>
            </a:r>
          </a:p>
        </p:txBody>
      </p:sp>
      <p:graphicFrame>
        <p:nvGraphicFramePr>
          <p:cNvPr id="18" name="Tabela 17">
            <a:extLst>
              <a:ext uri="{FF2B5EF4-FFF2-40B4-BE49-F238E27FC236}">
                <a16:creationId xmlns:a16="http://schemas.microsoft.com/office/drawing/2014/main" id="{01E81E77-7D90-4269-8AED-B73D51AF3B4E}"/>
              </a:ext>
            </a:extLst>
          </p:cNvPr>
          <p:cNvGraphicFramePr>
            <a:graphicFrameLocks noGrp="1"/>
          </p:cNvGraphicFramePr>
          <p:nvPr>
            <p:extLst>
              <p:ext uri="{D42A27DB-BD31-4B8C-83A1-F6EECF244321}">
                <p14:modId xmlns:p14="http://schemas.microsoft.com/office/powerpoint/2010/main" val="2695499440"/>
              </p:ext>
            </p:extLst>
          </p:nvPr>
        </p:nvGraphicFramePr>
        <p:xfrm>
          <a:off x="313639" y="761638"/>
          <a:ext cx="6415142" cy="367557"/>
        </p:xfrm>
        <a:graphic>
          <a:graphicData uri="http://schemas.openxmlformats.org/drawingml/2006/table">
            <a:tbl>
              <a:tblPr firstRow="1" bandRow="1">
                <a:tableStyleId>{616DA210-FB5B-4158-B5E0-FEB733F419BA}</a:tableStyleId>
              </a:tblPr>
              <a:tblGrid>
                <a:gridCol w="1603739">
                  <a:extLst>
                    <a:ext uri="{9D8B030D-6E8A-4147-A177-3AD203B41FA5}">
                      <a16:colId xmlns:a16="http://schemas.microsoft.com/office/drawing/2014/main" val="3048356132"/>
                    </a:ext>
                  </a:extLst>
                </a:gridCol>
                <a:gridCol w="4811403">
                  <a:extLst>
                    <a:ext uri="{9D8B030D-6E8A-4147-A177-3AD203B41FA5}">
                      <a16:colId xmlns:a16="http://schemas.microsoft.com/office/drawing/2014/main" val="289683649"/>
                    </a:ext>
                  </a:extLst>
                </a:gridCol>
              </a:tblGrid>
              <a:tr h="367557">
                <a:tc>
                  <a:txBody>
                    <a:bodyPr/>
                    <a:lstStyle/>
                    <a:p>
                      <a:endParaRPr lang="pt-BR" sz="1300" dirty="0">
                        <a:latin typeface="Arial" panose="020B0604020202020204" pitchFamily="34" charset="0"/>
                        <a:cs typeface="Arial" panose="020B0604020202020204" pitchFamily="34" charset="0"/>
                      </a:endParaRPr>
                    </a:p>
                  </a:txBody>
                  <a:tcPr marL="119795" marR="119795" marT="59898" marB="59898"/>
                </a:tc>
                <a:tc>
                  <a:txBody>
                    <a:bodyPr/>
                    <a:lstStyle/>
                    <a:p>
                      <a:r>
                        <a:rPr lang="pt-BR" sz="1300" dirty="0">
                          <a:latin typeface="Arial" panose="020B0604020202020204" pitchFamily="34" charset="0"/>
                          <a:cs typeface="Arial" panose="020B0604020202020204" pitchFamily="34" charset="0"/>
                        </a:rPr>
                        <a:t>Erro no sensor: </a:t>
                      </a:r>
                      <a:r>
                        <a:rPr lang="pt-BR" sz="1300" b="0" dirty="0">
                          <a:latin typeface="Arial" panose="020B0604020202020204" pitchFamily="34" charset="0"/>
                          <a:cs typeface="Arial" panose="020B0604020202020204" pitchFamily="34" charset="0"/>
                        </a:rPr>
                        <a:t>Sensor desconectado ou danificado.</a:t>
                      </a:r>
                    </a:p>
                  </a:txBody>
                  <a:tcPr marL="119795" marR="119795" marT="59898" marB="59898"/>
                </a:tc>
                <a:extLst>
                  <a:ext uri="{0D108BD9-81ED-4DB2-BD59-A6C34878D82A}">
                    <a16:rowId xmlns:a16="http://schemas.microsoft.com/office/drawing/2014/main" val="4210341451"/>
                  </a:ext>
                </a:extLst>
              </a:tr>
            </a:tbl>
          </a:graphicData>
        </a:graphic>
      </p:graphicFrame>
      <p:sp>
        <p:nvSpPr>
          <p:cNvPr id="19" name="Retângulo 18">
            <a:extLst>
              <a:ext uri="{FF2B5EF4-FFF2-40B4-BE49-F238E27FC236}">
                <a16:creationId xmlns:a16="http://schemas.microsoft.com/office/drawing/2014/main" id="{69C9199B-7AB8-4846-8FCF-D17DC61D5753}"/>
              </a:ext>
            </a:extLst>
          </p:cNvPr>
          <p:cNvSpPr/>
          <p:nvPr/>
        </p:nvSpPr>
        <p:spPr>
          <a:xfrm>
            <a:off x="201864" y="199286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9. Nivelamento grades/prateleiras </a:t>
            </a:r>
          </a:p>
        </p:txBody>
      </p:sp>
      <p:sp>
        <p:nvSpPr>
          <p:cNvPr id="20" name="CaixaDeTexto 19">
            <a:extLst>
              <a:ext uri="{FF2B5EF4-FFF2-40B4-BE49-F238E27FC236}">
                <a16:creationId xmlns:a16="http://schemas.microsoft.com/office/drawing/2014/main" id="{BB4E913A-4F24-465F-9465-88C851DD7468}"/>
              </a:ext>
            </a:extLst>
          </p:cNvPr>
          <p:cNvSpPr txBox="1"/>
          <p:nvPr/>
        </p:nvSpPr>
        <p:spPr>
          <a:xfrm>
            <a:off x="122196" y="7217103"/>
            <a:ext cx="6595643" cy="898708"/>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9.5 As mercadorias devem ser distribuídas uniformemente sobre a prateleira. Informamos que a carga máxima indicada para cada prateleira é de 20Kg por metro.</a:t>
            </a:r>
          </a:p>
          <a:p>
            <a:pPr algn="just"/>
            <a:r>
              <a:rPr lang="pt-BR" sz="1310" dirty="0">
                <a:latin typeface="Arial" panose="020B0604020202020204" pitchFamily="34" charset="0"/>
                <a:cs typeface="Arial" panose="020B0604020202020204" pitchFamily="34" charset="0"/>
              </a:rPr>
              <a:t>9.6 Para melhor circulação de ar, mantenha os anteparos das prateleiras livres, utilizando-os como limite para a exposição do produto.</a:t>
            </a:r>
          </a:p>
        </p:txBody>
      </p:sp>
      <p:sp>
        <p:nvSpPr>
          <p:cNvPr id="21" name="Retângulo 20">
            <a:extLst>
              <a:ext uri="{FF2B5EF4-FFF2-40B4-BE49-F238E27FC236}">
                <a16:creationId xmlns:a16="http://schemas.microsoft.com/office/drawing/2014/main" id="{2A32A29F-811B-4447-95EF-EAF4C64F32DE}"/>
              </a:ext>
            </a:extLst>
          </p:cNvPr>
          <p:cNvSpPr/>
          <p:nvPr/>
        </p:nvSpPr>
        <p:spPr>
          <a:xfrm>
            <a:off x="138915" y="8119193"/>
            <a:ext cx="6558053" cy="28301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10. Portas de vidro</a:t>
            </a:r>
          </a:p>
        </p:txBody>
      </p:sp>
      <p:sp>
        <p:nvSpPr>
          <p:cNvPr id="22" name="CaixaDeTexto 21">
            <a:extLst>
              <a:ext uri="{FF2B5EF4-FFF2-40B4-BE49-F238E27FC236}">
                <a16:creationId xmlns:a16="http://schemas.microsoft.com/office/drawing/2014/main" id="{D3543DE8-16FF-4502-BD36-82BC1226D6CF}"/>
              </a:ext>
            </a:extLst>
          </p:cNvPr>
          <p:cNvSpPr txBox="1"/>
          <p:nvPr/>
        </p:nvSpPr>
        <p:spPr>
          <a:xfrm>
            <a:off x="99000" y="8402206"/>
            <a:ext cx="6481983" cy="1100301"/>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10.1 As portas de vidro do balcão ar forçado são fabricados em perfil PVC, vidro duplo e dobradiças com molas, auxiliando no fechamento automático das portas.</a:t>
            </a:r>
          </a:p>
          <a:p>
            <a:pPr algn="just"/>
            <a:r>
              <a:rPr lang="pt-BR" sz="1310" dirty="0">
                <a:latin typeface="Arial" panose="020B0604020202020204" pitchFamily="34" charset="0"/>
                <a:cs typeface="Arial" panose="020B0604020202020204" pitchFamily="34" charset="0"/>
              </a:rPr>
              <a:t>10.2 Em dias com elevado teor de umidade no ar, em vista a diferença da temperatura interna do balcão e externa do ambiente, poderá haver formação de gotas de água nos vidros da porta.</a:t>
            </a:r>
          </a:p>
        </p:txBody>
      </p:sp>
      <p:pic>
        <p:nvPicPr>
          <p:cNvPr id="23" name="Imagem 22">
            <a:extLst>
              <a:ext uri="{FF2B5EF4-FFF2-40B4-BE49-F238E27FC236}">
                <a16:creationId xmlns:a16="http://schemas.microsoft.com/office/drawing/2014/main" id="{48F2ABFD-3624-42DD-9E68-B83F54E282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277" y="801899"/>
            <a:ext cx="784089" cy="241008"/>
          </a:xfrm>
          <a:prstGeom prst="rect">
            <a:avLst/>
          </a:prstGeom>
        </p:spPr>
      </p:pic>
      <p:pic>
        <p:nvPicPr>
          <p:cNvPr id="48" name="Imagem 47">
            <a:extLst>
              <a:ext uri="{FF2B5EF4-FFF2-40B4-BE49-F238E27FC236}">
                <a16:creationId xmlns:a16="http://schemas.microsoft.com/office/drawing/2014/main" id="{8B6D6B43-4BD8-4AA1-87CB-D8D1EDE77450}"/>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15385" t="14792" b="15176"/>
          <a:stretch/>
        </p:blipFill>
        <p:spPr>
          <a:xfrm>
            <a:off x="4710163" y="2431321"/>
            <a:ext cx="1037713" cy="1073909"/>
          </a:xfrm>
          <a:prstGeom prst="rect">
            <a:avLst/>
          </a:prstGeom>
        </p:spPr>
      </p:pic>
      <p:cxnSp>
        <p:nvCxnSpPr>
          <p:cNvPr id="49" name="Conector de Seta Reta 48">
            <a:extLst>
              <a:ext uri="{FF2B5EF4-FFF2-40B4-BE49-F238E27FC236}">
                <a16:creationId xmlns:a16="http://schemas.microsoft.com/office/drawing/2014/main" id="{9B3475A4-2DC7-4484-AC7D-B6DE56DDEDF3}"/>
              </a:ext>
            </a:extLst>
          </p:cNvPr>
          <p:cNvCxnSpPr>
            <a:cxnSpLocks/>
          </p:cNvCxnSpPr>
          <p:nvPr/>
        </p:nvCxnSpPr>
        <p:spPr>
          <a:xfrm>
            <a:off x="5134682" y="3270538"/>
            <a:ext cx="188675" cy="17194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0" name="Imagem 49">
            <a:extLst>
              <a:ext uri="{FF2B5EF4-FFF2-40B4-BE49-F238E27FC236}">
                <a16:creationId xmlns:a16="http://schemas.microsoft.com/office/drawing/2014/main" id="{A8AAF121-891D-41E0-A5F8-0E3E48EBE50F}"/>
              </a:ext>
            </a:extLst>
          </p:cNvPr>
          <p:cNvPicPr>
            <a:picLocks noChangeAspect="1"/>
          </p:cNvPicPr>
          <p:nvPr/>
        </p:nvPicPr>
        <p:blipFill rotWithShape="1">
          <a:blip r:embed="rId6" cstate="print">
            <a:extLst>
              <a:ext uri="{BEBA8EAE-BF5A-486C-A8C5-ECC9F3942E4B}">
                <a14:imgProps xmlns:a14="http://schemas.microsoft.com/office/drawing/2010/main">
                  <a14:imgLayer r:embed="rId7">
                    <a14:imgEffect>
                      <a14:colorTemperature colorTemp="4700"/>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l="46441" t="50932" r="27290"/>
          <a:stretch/>
        </p:blipFill>
        <p:spPr>
          <a:xfrm>
            <a:off x="4711376" y="3619427"/>
            <a:ext cx="884014" cy="1121193"/>
          </a:xfrm>
          <a:prstGeom prst="rect">
            <a:avLst/>
          </a:prstGeom>
        </p:spPr>
      </p:pic>
      <p:cxnSp>
        <p:nvCxnSpPr>
          <p:cNvPr id="51" name="Conector de Seta Reta 50">
            <a:extLst>
              <a:ext uri="{FF2B5EF4-FFF2-40B4-BE49-F238E27FC236}">
                <a16:creationId xmlns:a16="http://schemas.microsoft.com/office/drawing/2014/main" id="{4F64E47C-C571-42A5-AA18-239B3A5EAD69}"/>
              </a:ext>
            </a:extLst>
          </p:cNvPr>
          <p:cNvCxnSpPr>
            <a:cxnSpLocks/>
          </p:cNvCxnSpPr>
          <p:nvPr/>
        </p:nvCxnSpPr>
        <p:spPr>
          <a:xfrm flipH="1">
            <a:off x="5232106" y="3925822"/>
            <a:ext cx="188675"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ector de Seta Reta 51">
            <a:extLst>
              <a:ext uri="{FF2B5EF4-FFF2-40B4-BE49-F238E27FC236}">
                <a16:creationId xmlns:a16="http://schemas.microsoft.com/office/drawing/2014/main" id="{484D7E70-F663-4601-8BA1-1CBA11BD7169}"/>
              </a:ext>
            </a:extLst>
          </p:cNvPr>
          <p:cNvCxnSpPr>
            <a:cxnSpLocks/>
          </p:cNvCxnSpPr>
          <p:nvPr/>
        </p:nvCxnSpPr>
        <p:spPr>
          <a:xfrm flipH="1">
            <a:off x="5232106" y="4108911"/>
            <a:ext cx="188675"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ector de Seta Reta 52">
            <a:extLst>
              <a:ext uri="{FF2B5EF4-FFF2-40B4-BE49-F238E27FC236}">
                <a16:creationId xmlns:a16="http://schemas.microsoft.com/office/drawing/2014/main" id="{0C3F47C6-B710-44DB-8DD4-689748764255}"/>
              </a:ext>
            </a:extLst>
          </p:cNvPr>
          <p:cNvCxnSpPr>
            <a:cxnSpLocks/>
          </p:cNvCxnSpPr>
          <p:nvPr/>
        </p:nvCxnSpPr>
        <p:spPr>
          <a:xfrm flipH="1">
            <a:off x="5232106" y="4304995"/>
            <a:ext cx="188675"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4" name="Imagem 53">
            <a:extLst>
              <a:ext uri="{FF2B5EF4-FFF2-40B4-BE49-F238E27FC236}">
                <a16:creationId xmlns:a16="http://schemas.microsoft.com/office/drawing/2014/main" id="{0CBB642E-AF34-4EFF-89AD-FEAC54D75645}"/>
              </a:ext>
            </a:extLst>
          </p:cNvPr>
          <p:cNvPicPr>
            <a:picLocks noChangeAspect="1"/>
          </p:cNvPicPr>
          <p:nvPr/>
        </p:nvPicPr>
        <p:blipFill>
          <a:blip r:embed="rId8" cstate="print">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tretch>
            <a:fillRect/>
          </a:stretch>
        </p:blipFill>
        <p:spPr>
          <a:xfrm>
            <a:off x="4183620" y="4999611"/>
            <a:ext cx="899311" cy="1059044"/>
          </a:xfrm>
          <a:prstGeom prst="rect">
            <a:avLst/>
          </a:prstGeom>
        </p:spPr>
      </p:pic>
      <p:pic>
        <p:nvPicPr>
          <p:cNvPr id="55" name="Imagem 54">
            <a:extLst>
              <a:ext uri="{FF2B5EF4-FFF2-40B4-BE49-F238E27FC236}">
                <a16:creationId xmlns:a16="http://schemas.microsoft.com/office/drawing/2014/main" id="{9D69CA09-F722-4C95-A063-05C41A19BD11}"/>
              </a:ext>
            </a:extLst>
          </p:cNvPr>
          <p:cNvPicPr>
            <a:picLocks noChangeAspect="1"/>
          </p:cNvPicPr>
          <p:nvPr/>
        </p:nvPicPr>
        <p:blipFill>
          <a:blip r:embed="rId10" cstate="print">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val="0"/>
              </a:ext>
            </a:extLst>
          </a:blip>
          <a:stretch>
            <a:fillRect/>
          </a:stretch>
        </p:blipFill>
        <p:spPr>
          <a:xfrm>
            <a:off x="5556098" y="4995589"/>
            <a:ext cx="899311" cy="1059044"/>
          </a:xfrm>
          <a:prstGeom prst="rect">
            <a:avLst/>
          </a:prstGeom>
        </p:spPr>
      </p:pic>
      <p:cxnSp>
        <p:nvCxnSpPr>
          <p:cNvPr id="56" name="Conector de Seta Reta 55">
            <a:extLst>
              <a:ext uri="{FF2B5EF4-FFF2-40B4-BE49-F238E27FC236}">
                <a16:creationId xmlns:a16="http://schemas.microsoft.com/office/drawing/2014/main" id="{051719C5-D228-4D22-ACBE-DA1DE662D1BC}"/>
              </a:ext>
            </a:extLst>
          </p:cNvPr>
          <p:cNvCxnSpPr>
            <a:cxnSpLocks/>
          </p:cNvCxnSpPr>
          <p:nvPr/>
        </p:nvCxnSpPr>
        <p:spPr>
          <a:xfrm flipH="1" flipV="1">
            <a:off x="5946088" y="5708073"/>
            <a:ext cx="229714" cy="20128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de Seta Reta 56">
            <a:extLst>
              <a:ext uri="{FF2B5EF4-FFF2-40B4-BE49-F238E27FC236}">
                <a16:creationId xmlns:a16="http://schemas.microsoft.com/office/drawing/2014/main" id="{582528CC-9B68-49B1-B561-D52B1E3DC1FB}"/>
              </a:ext>
            </a:extLst>
          </p:cNvPr>
          <p:cNvCxnSpPr>
            <a:cxnSpLocks/>
          </p:cNvCxnSpPr>
          <p:nvPr/>
        </p:nvCxnSpPr>
        <p:spPr>
          <a:xfrm flipH="1">
            <a:off x="4646550" y="5263530"/>
            <a:ext cx="244602" cy="18994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8" name="Imagem 57">
            <a:extLst>
              <a:ext uri="{FF2B5EF4-FFF2-40B4-BE49-F238E27FC236}">
                <a16:creationId xmlns:a16="http://schemas.microsoft.com/office/drawing/2014/main" id="{0825C6AF-EC99-4523-8F34-4452987D9AEF}"/>
              </a:ext>
            </a:extLst>
          </p:cNvPr>
          <p:cNvPicPr>
            <a:picLocks noChangeAspect="1"/>
          </p:cNvPicPr>
          <p:nvPr/>
        </p:nvPicPr>
        <p:blipFill>
          <a:blip r:embed="rId12" cstate="print">
            <a:extLst>
              <a:ext uri="{BEBA8EAE-BF5A-486C-A8C5-ECC9F3942E4B}">
                <a14:imgProps xmlns:a14="http://schemas.microsoft.com/office/drawing/2010/main">
                  <a14:imgLayer r:embed="rId13">
                    <a14:imgEffect>
                      <a14:saturation sat="0"/>
                    </a14:imgEffect>
                  </a14:imgLayer>
                </a14:imgProps>
              </a:ext>
              <a:ext uri="{28A0092B-C50C-407E-A947-70E740481C1C}">
                <a14:useLocalDpi xmlns:a14="http://schemas.microsoft.com/office/drawing/2010/main" val="0"/>
              </a:ext>
            </a:extLst>
          </a:blip>
          <a:stretch>
            <a:fillRect/>
          </a:stretch>
        </p:blipFill>
        <p:spPr>
          <a:xfrm>
            <a:off x="4213347" y="6283381"/>
            <a:ext cx="2146730" cy="927401"/>
          </a:xfrm>
          <a:prstGeom prst="rect">
            <a:avLst/>
          </a:prstGeom>
        </p:spPr>
      </p:pic>
      <p:cxnSp>
        <p:nvCxnSpPr>
          <p:cNvPr id="59" name="Conector de Seta Reta 58">
            <a:extLst>
              <a:ext uri="{FF2B5EF4-FFF2-40B4-BE49-F238E27FC236}">
                <a16:creationId xmlns:a16="http://schemas.microsoft.com/office/drawing/2014/main" id="{ABCA6D3D-024A-47A8-AB57-E9E6668F5CC4}"/>
              </a:ext>
            </a:extLst>
          </p:cNvPr>
          <p:cNvCxnSpPr>
            <a:cxnSpLocks/>
          </p:cNvCxnSpPr>
          <p:nvPr/>
        </p:nvCxnSpPr>
        <p:spPr>
          <a:xfrm flipH="1" flipV="1">
            <a:off x="5134682" y="2690056"/>
            <a:ext cx="199659" cy="21158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40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F7195A3A-3A53-4BBB-86D8-FAB48177941E}"/>
              </a:ext>
            </a:extLst>
          </p:cNvPr>
          <p:cNvSpPr txBox="1"/>
          <p:nvPr/>
        </p:nvSpPr>
        <p:spPr>
          <a:xfrm>
            <a:off x="3181295" y="9543000"/>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05</a:t>
            </a:r>
          </a:p>
        </p:txBody>
      </p:sp>
      <p:sp>
        <p:nvSpPr>
          <p:cNvPr id="5" name="CaixaDeTexto 4">
            <a:extLst>
              <a:ext uri="{FF2B5EF4-FFF2-40B4-BE49-F238E27FC236}">
                <a16:creationId xmlns:a16="http://schemas.microsoft.com/office/drawing/2014/main" id="{52D5A00F-0BC8-4E40-BE8D-002B952E7B9A}"/>
              </a:ext>
            </a:extLst>
          </p:cNvPr>
          <p:cNvSpPr txBox="1"/>
          <p:nvPr/>
        </p:nvSpPr>
        <p:spPr>
          <a:xfrm>
            <a:off x="147830" y="540091"/>
            <a:ext cx="6603631" cy="1705082"/>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11.1 O balcão possui lâmpadas de LED tubular interna e externa.</a:t>
            </a:r>
          </a:p>
          <a:p>
            <a:pPr algn="just"/>
            <a:r>
              <a:rPr lang="pt-BR" sz="1310" dirty="0">
                <a:latin typeface="Arial" panose="020B0604020202020204" pitchFamily="34" charset="0"/>
                <a:cs typeface="Arial" panose="020B0604020202020204" pitchFamily="34" charset="0"/>
              </a:rPr>
              <a:t>11.2 A Quantidade de lâmpadas depende das dimensões do produto.</a:t>
            </a:r>
          </a:p>
          <a:p>
            <a:pPr algn="just"/>
            <a:r>
              <a:rPr lang="pt-BR" sz="1310" dirty="0">
                <a:latin typeface="Arial" panose="020B0604020202020204" pitchFamily="34" charset="0"/>
                <a:cs typeface="Arial" panose="020B0604020202020204" pitchFamily="34" charset="0"/>
              </a:rPr>
              <a:t>11.3 As lâmpadas são acionadas através do interruptor localizado na parte superior frontal do balcão, ao lado do controlador. </a:t>
            </a:r>
          </a:p>
          <a:p>
            <a:pPr algn="just"/>
            <a:r>
              <a:rPr lang="pt-BR" sz="1310" dirty="0">
                <a:latin typeface="Arial" panose="020B0604020202020204" pitchFamily="34" charset="0"/>
                <a:cs typeface="Arial" panose="020B0604020202020204" pitchFamily="34" charset="0"/>
              </a:rPr>
              <a:t>11.4 O acionamento das lâmpadas internas e externas são independentes.</a:t>
            </a:r>
          </a:p>
          <a:p>
            <a:pPr algn="just"/>
            <a:endParaRPr lang="pt-BR" sz="1310" dirty="0">
              <a:latin typeface="Arial" panose="020B0604020202020204" pitchFamily="34" charset="0"/>
              <a:cs typeface="Arial" panose="020B0604020202020204" pitchFamily="34" charset="0"/>
            </a:endParaRPr>
          </a:p>
          <a:p>
            <a:pPr algn="just"/>
            <a:r>
              <a:rPr lang="pt-BR" sz="1310" dirty="0">
                <a:latin typeface="Arial" panose="020B0604020202020204" pitchFamily="34" charset="0"/>
                <a:cs typeface="Arial" panose="020B0604020202020204" pitchFamily="34" charset="0"/>
              </a:rPr>
              <a:t>OBS: Em casos de necessidade da troca da lâmpada, deve-se solicitar a assistência técnica Só Aço ou um técnico especializado para a realização do serviço.</a:t>
            </a:r>
          </a:p>
        </p:txBody>
      </p:sp>
      <p:sp>
        <p:nvSpPr>
          <p:cNvPr id="6" name="Retângulo 5">
            <a:extLst>
              <a:ext uri="{FF2B5EF4-FFF2-40B4-BE49-F238E27FC236}">
                <a16:creationId xmlns:a16="http://schemas.microsoft.com/office/drawing/2014/main" id="{EC5FB1BA-96B3-43E7-9C7C-DFAFC0DA46C1}"/>
              </a:ext>
            </a:extLst>
          </p:cNvPr>
          <p:cNvSpPr/>
          <p:nvPr/>
        </p:nvSpPr>
        <p:spPr>
          <a:xfrm>
            <a:off x="207141" y="239566"/>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11.  Iluminação</a:t>
            </a:r>
            <a:endParaRPr lang="pt-BR" sz="1441" b="1" i="1" dirty="0">
              <a:solidFill>
                <a:schemeClr val="tx1"/>
              </a:solidFill>
            </a:endParaRPr>
          </a:p>
        </p:txBody>
      </p:sp>
      <p:sp>
        <p:nvSpPr>
          <p:cNvPr id="7" name="Retângulo 6">
            <a:extLst>
              <a:ext uri="{FF2B5EF4-FFF2-40B4-BE49-F238E27FC236}">
                <a16:creationId xmlns:a16="http://schemas.microsoft.com/office/drawing/2014/main" id="{62B9EC08-4E38-4FD9-94A9-0D95BE25FD52}"/>
              </a:ext>
            </a:extLst>
          </p:cNvPr>
          <p:cNvSpPr/>
          <p:nvPr/>
        </p:nvSpPr>
        <p:spPr>
          <a:xfrm>
            <a:off x="122702" y="3793696"/>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14. Limpeza</a:t>
            </a:r>
          </a:p>
        </p:txBody>
      </p:sp>
      <p:sp>
        <p:nvSpPr>
          <p:cNvPr id="8" name="Retângulo 7">
            <a:extLst>
              <a:ext uri="{FF2B5EF4-FFF2-40B4-BE49-F238E27FC236}">
                <a16:creationId xmlns:a16="http://schemas.microsoft.com/office/drawing/2014/main" id="{2640B6FE-D5C0-4F5B-AA43-B27F25C7DDA2}"/>
              </a:ext>
            </a:extLst>
          </p:cNvPr>
          <p:cNvSpPr/>
          <p:nvPr/>
        </p:nvSpPr>
        <p:spPr>
          <a:xfrm>
            <a:off x="150323" y="227427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13. Degelo</a:t>
            </a:r>
          </a:p>
        </p:txBody>
      </p:sp>
      <p:sp>
        <p:nvSpPr>
          <p:cNvPr id="9" name="CaixaDeTexto 8">
            <a:extLst>
              <a:ext uri="{FF2B5EF4-FFF2-40B4-BE49-F238E27FC236}">
                <a16:creationId xmlns:a16="http://schemas.microsoft.com/office/drawing/2014/main" id="{11CF49B7-3398-4C49-90C3-CC602718F111}"/>
              </a:ext>
            </a:extLst>
          </p:cNvPr>
          <p:cNvSpPr txBox="1"/>
          <p:nvPr/>
        </p:nvSpPr>
        <p:spPr>
          <a:xfrm>
            <a:off x="150323" y="2539656"/>
            <a:ext cx="6551859" cy="1301895"/>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13.1 O processo de degelo do evaporador sai configurado de fábrica, é realizado pelo controlador, ou seja, degelo automático a cada 4 horas, com parada de 30 minutos. </a:t>
            </a:r>
          </a:p>
          <a:p>
            <a:pPr algn="just"/>
            <a:r>
              <a:rPr lang="pt-BR" sz="1310" dirty="0">
                <a:latin typeface="Arial" panose="020B0604020202020204" pitchFamily="34" charset="0"/>
                <a:cs typeface="Arial" panose="020B0604020202020204" pitchFamily="34" charset="0"/>
              </a:rPr>
              <a:t>13.2 A água proveniente do degelo é canalizada para fora através de uma dreno localizada na traseira do balcão. Recomenda-se, se possível, canalizar esta água diretamente a um ponto de esgoto utilizando uma mangueira, ou colocar um recipiente para a coleta da água. </a:t>
            </a:r>
          </a:p>
        </p:txBody>
      </p:sp>
      <p:sp>
        <p:nvSpPr>
          <p:cNvPr id="10" name="CaixaDeTexto 9">
            <a:extLst>
              <a:ext uri="{FF2B5EF4-FFF2-40B4-BE49-F238E27FC236}">
                <a16:creationId xmlns:a16="http://schemas.microsoft.com/office/drawing/2014/main" id="{E1362574-D5EA-4058-91B6-81916A2D93C6}"/>
              </a:ext>
            </a:extLst>
          </p:cNvPr>
          <p:cNvSpPr txBox="1"/>
          <p:nvPr/>
        </p:nvSpPr>
        <p:spPr>
          <a:xfrm>
            <a:off x="122702" y="4045815"/>
            <a:ext cx="6551859" cy="2511457"/>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14.1 Antes da limpeza do balcão é necessário que o produto seja desligado da rede elétrica.</a:t>
            </a:r>
          </a:p>
          <a:p>
            <a:pPr algn="just"/>
            <a:r>
              <a:rPr lang="pt-BR" sz="1310" dirty="0">
                <a:latin typeface="Arial" panose="020B0604020202020204" pitchFamily="34" charset="0"/>
                <a:cs typeface="Arial" panose="020B0604020202020204" pitchFamily="34" charset="0"/>
              </a:rPr>
              <a:t>14.2 Retire os produtos e armazene em um local que conserve a temperatura. (Exemplo: outro balcão refrigerado ou isopor com gelo).  </a:t>
            </a:r>
          </a:p>
          <a:p>
            <a:pPr algn="just"/>
            <a:r>
              <a:rPr lang="pt-BR" sz="1310" dirty="0">
                <a:latin typeface="Arial" panose="020B0604020202020204" pitchFamily="34" charset="0"/>
                <a:cs typeface="Arial" panose="020B0604020202020204" pitchFamily="34" charset="0"/>
              </a:rPr>
              <a:t>14.3 Para a limpeza do balcão utilize somente um pano umedecido com água e sabão neutro.</a:t>
            </a:r>
          </a:p>
          <a:p>
            <a:pPr algn="just"/>
            <a:r>
              <a:rPr lang="pt-BR" sz="1310" dirty="0">
                <a:latin typeface="Arial" panose="020B0604020202020204" pitchFamily="34" charset="0"/>
                <a:cs typeface="Arial" panose="020B0604020202020204" pitchFamily="34" charset="0"/>
              </a:rPr>
              <a:t>14.4 Não utilize produtos tóxicos (álcool, solventes e etc.)  ou produtos abrasivos.</a:t>
            </a:r>
          </a:p>
          <a:p>
            <a:pPr algn="just"/>
            <a:r>
              <a:rPr lang="pt-BR" sz="1310" dirty="0">
                <a:latin typeface="Arial" panose="020B0604020202020204" pitchFamily="34" charset="0"/>
                <a:cs typeface="Arial" panose="020B0604020202020204" pitchFamily="34" charset="0"/>
              </a:rPr>
              <a:t>14.5 Não utilize esponjas de aço, escovas, objetos pontiagudos, objetos cortantes ou qualquer material que possa danificar o produto.</a:t>
            </a:r>
          </a:p>
          <a:p>
            <a:pPr algn="just"/>
            <a:r>
              <a:rPr lang="pt-BR" sz="1310" dirty="0">
                <a:latin typeface="Arial" panose="020B0604020202020204" pitchFamily="34" charset="0"/>
                <a:cs typeface="Arial" panose="020B0604020202020204" pitchFamily="34" charset="0"/>
              </a:rPr>
              <a:t>14.6 Não esguiche água no balcão, evitando danificar partes elétricas do balcão.</a:t>
            </a:r>
          </a:p>
          <a:p>
            <a:pPr algn="just"/>
            <a:r>
              <a:rPr lang="pt-BR" sz="1310" dirty="0">
                <a:latin typeface="Arial" panose="020B0604020202020204" pitchFamily="34" charset="0"/>
                <a:cs typeface="Arial" panose="020B0604020202020204" pitchFamily="34" charset="0"/>
              </a:rPr>
              <a:t>14.7 Após a limpeza, ligue novamente o balcão e deixe – o funcionar por um período mínimo de 2 horas e após, recoloque os produtos novamente.</a:t>
            </a:r>
            <a:endParaRPr lang="pt-BR" sz="1179" dirty="0">
              <a:latin typeface="Arial" panose="020B0604020202020204" pitchFamily="34" charset="0"/>
              <a:cs typeface="Arial" panose="020B0604020202020204" pitchFamily="34" charset="0"/>
            </a:endParaRPr>
          </a:p>
        </p:txBody>
      </p:sp>
      <p:sp>
        <p:nvSpPr>
          <p:cNvPr id="11" name="Retângulo 10">
            <a:extLst>
              <a:ext uri="{FF2B5EF4-FFF2-40B4-BE49-F238E27FC236}">
                <a16:creationId xmlns:a16="http://schemas.microsoft.com/office/drawing/2014/main" id="{8553E1A9-C293-4BF1-B310-4AF68EEBB4A8}"/>
              </a:ext>
            </a:extLst>
          </p:cNvPr>
          <p:cNvSpPr/>
          <p:nvPr/>
        </p:nvSpPr>
        <p:spPr>
          <a:xfrm>
            <a:off x="147830" y="6612009"/>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15. Recomendações</a:t>
            </a:r>
          </a:p>
        </p:txBody>
      </p:sp>
      <p:sp>
        <p:nvSpPr>
          <p:cNvPr id="12" name="CaixaDeTexto 11">
            <a:extLst>
              <a:ext uri="{FF2B5EF4-FFF2-40B4-BE49-F238E27FC236}">
                <a16:creationId xmlns:a16="http://schemas.microsoft.com/office/drawing/2014/main" id="{A46C5D25-8A18-4860-A375-A0F47C608D84}"/>
              </a:ext>
            </a:extLst>
          </p:cNvPr>
          <p:cNvSpPr txBox="1"/>
          <p:nvPr/>
        </p:nvSpPr>
        <p:spPr>
          <a:xfrm>
            <a:off x="126724" y="6891069"/>
            <a:ext cx="6551859" cy="2511457"/>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15.1 Leia atentamente todos os itens deste manual, para evitar problemas face a não observância durante a instalação ou uso do equipamento.</a:t>
            </a:r>
          </a:p>
          <a:p>
            <a:pPr algn="just"/>
            <a:r>
              <a:rPr lang="pt-BR" sz="1310" dirty="0">
                <a:latin typeface="Arial" panose="020B0604020202020204" pitchFamily="34" charset="0"/>
                <a:cs typeface="Arial" panose="020B0604020202020204" pitchFamily="34" charset="0"/>
              </a:rPr>
              <a:t>15.2 Não instale o equipamento próximo a fontes de calor ou produtos inflamáveis.</a:t>
            </a:r>
          </a:p>
          <a:p>
            <a:pPr algn="just"/>
            <a:r>
              <a:rPr lang="pt-BR" sz="1310" dirty="0">
                <a:latin typeface="Arial" panose="020B0604020202020204" pitchFamily="34" charset="0"/>
                <a:cs typeface="Arial" panose="020B0604020202020204" pitchFamily="34" charset="0"/>
              </a:rPr>
              <a:t>15.3 Desligue o pino da tomada sempre que for efetuar a limpeza do equipamento ou ainda trocar as lâmpadas.</a:t>
            </a:r>
          </a:p>
          <a:p>
            <a:pPr algn="just"/>
            <a:r>
              <a:rPr lang="pt-BR" sz="1310" dirty="0">
                <a:latin typeface="Arial" panose="020B0604020202020204" pitchFamily="34" charset="0"/>
                <a:cs typeface="Arial" panose="020B0604020202020204" pitchFamily="34" charset="0"/>
              </a:rPr>
              <a:t>15.4 Nunca desligue o equipamento puxando pelo cabo, mas sim pelo plug.</a:t>
            </a:r>
          </a:p>
          <a:p>
            <a:pPr algn="just"/>
            <a:r>
              <a:rPr lang="pt-BR" sz="1310" dirty="0">
                <a:latin typeface="Arial" panose="020B0604020202020204" pitchFamily="34" charset="0"/>
                <a:cs typeface="Arial" panose="020B0604020202020204" pitchFamily="34" charset="0"/>
              </a:rPr>
              <a:t>15.5 Nivele o equipamento de forma adequada ao uso.</a:t>
            </a:r>
          </a:p>
          <a:p>
            <a:pPr algn="just"/>
            <a:r>
              <a:rPr lang="pt-BR" sz="1310" dirty="0">
                <a:latin typeface="Arial" panose="020B0604020202020204" pitchFamily="34" charset="0"/>
                <a:cs typeface="Arial" panose="020B0604020202020204" pitchFamily="34" charset="0"/>
              </a:rPr>
              <a:t>15.6 Nunca toque na placa fria ou nos evaporadores.</a:t>
            </a:r>
          </a:p>
          <a:p>
            <a:pPr algn="just"/>
            <a:r>
              <a:rPr lang="pt-BR" sz="1310" dirty="0">
                <a:latin typeface="Arial" panose="020B0604020202020204" pitchFamily="34" charset="0"/>
                <a:cs typeface="Arial" panose="020B0604020202020204" pitchFamily="34" charset="0"/>
              </a:rPr>
              <a:t>15.7 Não armazenar substâncias explosivas, medicamentos, eletrônicos ou químicos, pois podem contaminar a mercadoria alimentícia armazenada no balcão.</a:t>
            </a:r>
          </a:p>
          <a:p>
            <a:pPr algn="just"/>
            <a:r>
              <a:rPr lang="pt-BR" sz="1310" dirty="0">
                <a:latin typeface="Arial" panose="020B0604020202020204" pitchFamily="34" charset="0"/>
                <a:cs typeface="Arial" panose="020B0604020202020204" pitchFamily="34" charset="0"/>
              </a:rPr>
              <a:t>15.8 Verifique a faixa de temperatura indicada para cada produto armazenado no balcão.</a:t>
            </a:r>
          </a:p>
        </p:txBody>
      </p:sp>
    </p:spTree>
    <p:extLst>
      <p:ext uri="{BB962C8B-B14F-4D97-AF65-F5344CB8AC3E}">
        <p14:creationId xmlns:p14="http://schemas.microsoft.com/office/powerpoint/2010/main" val="2250099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D0FE776-4CD9-42A8-9B4F-28CC56007007}"/>
              </a:ext>
            </a:extLst>
          </p:cNvPr>
          <p:cNvSpPr txBox="1"/>
          <p:nvPr/>
        </p:nvSpPr>
        <p:spPr>
          <a:xfrm>
            <a:off x="3181295" y="9609381"/>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06</a:t>
            </a:r>
          </a:p>
        </p:txBody>
      </p:sp>
      <p:sp>
        <p:nvSpPr>
          <p:cNvPr id="5" name="CaixaDeTexto 4">
            <a:extLst>
              <a:ext uri="{FF2B5EF4-FFF2-40B4-BE49-F238E27FC236}">
                <a16:creationId xmlns:a16="http://schemas.microsoft.com/office/drawing/2014/main" id="{BDD396D8-524E-485B-AB25-CDBC32E016B1}"/>
              </a:ext>
            </a:extLst>
          </p:cNvPr>
          <p:cNvSpPr txBox="1"/>
          <p:nvPr/>
        </p:nvSpPr>
        <p:spPr>
          <a:xfrm>
            <a:off x="54000" y="183000"/>
            <a:ext cx="6729403" cy="2633028"/>
          </a:xfrm>
          <a:prstGeom prst="rect">
            <a:avLst/>
          </a:prstGeom>
          <a:noFill/>
        </p:spPr>
        <p:txBody>
          <a:bodyPr wrap="square">
            <a:spAutoFit/>
          </a:bodyPr>
          <a:lstStyle/>
          <a:p>
            <a:pPr algn="just"/>
            <a:r>
              <a:rPr lang="pt-BR" sz="1376" dirty="0">
                <a:latin typeface="Arial" panose="020B0604020202020204" pitchFamily="34" charset="0"/>
                <a:cs typeface="Arial" panose="020B0604020202020204" pitchFamily="34" charset="0"/>
              </a:rPr>
              <a:t>15.9 Ocorrendo interrupção no fornecimento de energia elétrica evite abrir a porta do balcão.</a:t>
            </a:r>
          </a:p>
          <a:p>
            <a:pPr algn="just"/>
            <a:r>
              <a:rPr lang="pt-BR" sz="1376" dirty="0">
                <a:latin typeface="Arial" panose="020B0604020202020204" pitchFamily="34" charset="0"/>
                <a:cs typeface="Arial" panose="020B0604020202020204" pitchFamily="34" charset="0"/>
              </a:rPr>
              <a:t>15.10 A Só Aço Industrial reserva-se o direito de efetuar modificações de materiais sem aviso prévio. As ilustrações são meramente ilustrativas.</a:t>
            </a:r>
          </a:p>
          <a:p>
            <a:pPr algn="just"/>
            <a:r>
              <a:rPr lang="pt-BR" sz="1376" dirty="0">
                <a:latin typeface="Arial" panose="020B0604020202020204" pitchFamily="34" charset="0"/>
                <a:cs typeface="Arial" panose="020B0604020202020204" pitchFamily="34" charset="0"/>
              </a:rPr>
              <a:t>15.11 Este aparelho não se destina à utilização por pessoas (inclusive crianças) com capacidades físicas, sensoriais ou mentais reduzidas, ou por pessoas com falta de experiência e conhecimento, a menos que tenham recebido instruções referentes à utilização do aparelho ou estejam sob a supervisão de uma pessoa responsável pela sua segurança.</a:t>
            </a:r>
          </a:p>
          <a:p>
            <a:pPr algn="just"/>
            <a:r>
              <a:rPr lang="pt-BR" sz="1376" dirty="0">
                <a:latin typeface="Arial" panose="020B0604020202020204" pitchFamily="34" charset="0"/>
                <a:cs typeface="Arial" panose="020B0604020202020204" pitchFamily="34" charset="0"/>
              </a:rPr>
              <a:t>15.12 Recomenda-se que as crianças sejam vigiadas para assegurar que elas não estejam utilizando ou brincando com o aparelho. </a:t>
            </a:r>
          </a:p>
          <a:p>
            <a:pPr algn="just"/>
            <a:r>
              <a:rPr lang="pt-BR" sz="1376" dirty="0">
                <a:latin typeface="Arial" panose="020B0604020202020204" pitchFamily="34" charset="0"/>
                <a:cs typeface="Arial" panose="020B0604020202020204" pitchFamily="34" charset="0"/>
              </a:rPr>
              <a:t>. 	</a:t>
            </a:r>
            <a:endParaRPr lang="pt-BR" sz="1376" dirty="0"/>
          </a:p>
        </p:txBody>
      </p:sp>
      <p:sp>
        <p:nvSpPr>
          <p:cNvPr id="6" name="Retângulo 5">
            <a:extLst>
              <a:ext uri="{FF2B5EF4-FFF2-40B4-BE49-F238E27FC236}">
                <a16:creationId xmlns:a16="http://schemas.microsoft.com/office/drawing/2014/main" id="{EEBBC09C-0EDE-43EA-BBC5-87A364739A44}"/>
              </a:ext>
            </a:extLst>
          </p:cNvPr>
          <p:cNvSpPr/>
          <p:nvPr/>
        </p:nvSpPr>
        <p:spPr>
          <a:xfrm>
            <a:off x="165165" y="3699589"/>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17. Ocorrência de defeito</a:t>
            </a:r>
            <a:endParaRPr lang="pt-BR" sz="1441" b="1" i="1" dirty="0">
              <a:solidFill>
                <a:schemeClr val="tx1"/>
              </a:solidFill>
            </a:endParaRPr>
          </a:p>
        </p:txBody>
      </p:sp>
      <p:sp>
        <p:nvSpPr>
          <p:cNvPr id="7" name="CaixaDeTexto 6">
            <a:extLst>
              <a:ext uri="{FF2B5EF4-FFF2-40B4-BE49-F238E27FC236}">
                <a16:creationId xmlns:a16="http://schemas.microsoft.com/office/drawing/2014/main" id="{9C213D87-89A6-46E3-AA57-70DA69BD23D3}"/>
              </a:ext>
            </a:extLst>
          </p:cNvPr>
          <p:cNvSpPr txBox="1"/>
          <p:nvPr/>
        </p:nvSpPr>
        <p:spPr>
          <a:xfrm>
            <a:off x="132343" y="3978614"/>
            <a:ext cx="6551859" cy="495520"/>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17.1 Se observar qualquer problema em seu equipamento, antes de chamar a assistência técnica, verifique os seguintes pontos.</a:t>
            </a:r>
          </a:p>
        </p:txBody>
      </p:sp>
      <p:sp>
        <p:nvSpPr>
          <p:cNvPr id="8" name="Retângulo 7">
            <a:extLst>
              <a:ext uri="{FF2B5EF4-FFF2-40B4-BE49-F238E27FC236}">
                <a16:creationId xmlns:a16="http://schemas.microsoft.com/office/drawing/2014/main" id="{9EFE9E88-0CBD-49C9-92A3-5AC5EB551E1A}"/>
              </a:ext>
            </a:extLst>
          </p:cNvPr>
          <p:cNvSpPr/>
          <p:nvPr/>
        </p:nvSpPr>
        <p:spPr>
          <a:xfrm>
            <a:off x="169447" y="269614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16. Características gerais</a:t>
            </a:r>
          </a:p>
        </p:txBody>
      </p:sp>
      <p:sp>
        <p:nvSpPr>
          <p:cNvPr id="9" name="CaixaDeTexto 8">
            <a:extLst>
              <a:ext uri="{FF2B5EF4-FFF2-40B4-BE49-F238E27FC236}">
                <a16:creationId xmlns:a16="http://schemas.microsoft.com/office/drawing/2014/main" id="{BAD07BA8-55DD-4FB1-88F3-B292BE092F26}"/>
              </a:ext>
            </a:extLst>
          </p:cNvPr>
          <p:cNvSpPr txBox="1"/>
          <p:nvPr/>
        </p:nvSpPr>
        <p:spPr>
          <a:xfrm>
            <a:off x="146014" y="3033687"/>
            <a:ext cx="6551859" cy="898708"/>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16.1 Fabricado em chapa de aço inox ou </a:t>
            </a:r>
            <a:r>
              <a:rPr lang="pt-BR" sz="1310" dirty="0" err="1">
                <a:latin typeface="Arial" panose="020B0604020202020204" pitchFamily="34" charset="0"/>
                <a:cs typeface="Arial" panose="020B0604020202020204" pitchFamily="34" charset="0"/>
              </a:rPr>
              <a:t>pré</a:t>
            </a:r>
            <a:r>
              <a:rPr lang="pt-BR" sz="1310" dirty="0">
                <a:latin typeface="Arial" panose="020B0604020202020204" pitchFamily="34" charset="0"/>
                <a:cs typeface="Arial" panose="020B0604020202020204" pitchFamily="34" charset="0"/>
              </a:rPr>
              <a:t>-pintada, isolamento térmico com poliuretano injetado.</a:t>
            </a:r>
          </a:p>
          <a:p>
            <a:pPr algn="just"/>
            <a:r>
              <a:rPr lang="pt-BR" sz="1310" dirty="0">
                <a:latin typeface="Arial" panose="020B0604020202020204" pitchFamily="34" charset="0"/>
                <a:cs typeface="Arial" panose="020B0604020202020204" pitchFamily="34" charset="0"/>
              </a:rPr>
              <a:t>16.2 Compressores herméticos de baixo nível de ruído e baixo consumo.</a:t>
            </a:r>
          </a:p>
          <a:p>
            <a:pPr algn="just"/>
            <a:endParaRPr lang="pt-BR" sz="1310" dirty="0"/>
          </a:p>
        </p:txBody>
      </p:sp>
      <p:graphicFrame>
        <p:nvGraphicFramePr>
          <p:cNvPr id="10" name="Tabela 9">
            <a:extLst>
              <a:ext uri="{FF2B5EF4-FFF2-40B4-BE49-F238E27FC236}">
                <a16:creationId xmlns:a16="http://schemas.microsoft.com/office/drawing/2014/main" id="{F0D58358-0403-4C6B-B528-0FD80AACF225}"/>
              </a:ext>
            </a:extLst>
          </p:cNvPr>
          <p:cNvGraphicFramePr>
            <a:graphicFrameLocks noGrp="1"/>
          </p:cNvGraphicFramePr>
          <p:nvPr>
            <p:extLst>
              <p:ext uri="{D42A27DB-BD31-4B8C-83A1-F6EECF244321}">
                <p14:modId xmlns:p14="http://schemas.microsoft.com/office/powerpoint/2010/main" val="2362323875"/>
              </p:ext>
            </p:extLst>
          </p:nvPr>
        </p:nvGraphicFramePr>
        <p:xfrm>
          <a:off x="176718" y="4586825"/>
          <a:ext cx="6551859" cy="4652240"/>
        </p:xfrm>
        <a:graphic>
          <a:graphicData uri="http://schemas.openxmlformats.org/drawingml/2006/table">
            <a:tbl>
              <a:tblPr firstRow="1" bandRow="1">
                <a:tableStyleId>{5940675A-B579-460E-94D1-54222C63F5DA}</a:tableStyleId>
              </a:tblPr>
              <a:tblGrid>
                <a:gridCol w="1243470">
                  <a:extLst>
                    <a:ext uri="{9D8B030D-6E8A-4147-A177-3AD203B41FA5}">
                      <a16:colId xmlns:a16="http://schemas.microsoft.com/office/drawing/2014/main" val="887416666"/>
                    </a:ext>
                  </a:extLst>
                </a:gridCol>
                <a:gridCol w="2358440">
                  <a:extLst>
                    <a:ext uri="{9D8B030D-6E8A-4147-A177-3AD203B41FA5}">
                      <a16:colId xmlns:a16="http://schemas.microsoft.com/office/drawing/2014/main" val="144858363"/>
                    </a:ext>
                  </a:extLst>
                </a:gridCol>
                <a:gridCol w="2949949">
                  <a:extLst>
                    <a:ext uri="{9D8B030D-6E8A-4147-A177-3AD203B41FA5}">
                      <a16:colId xmlns:a16="http://schemas.microsoft.com/office/drawing/2014/main" val="3894819684"/>
                    </a:ext>
                  </a:extLst>
                </a:gridCol>
              </a:tblGrid>
              <a:tr h="289506">
                <a:tc>
                  <a:txBody>
                    <a:bodyPr/>
                    <a:lstStyle/>
                    <a:p>
                      <a:pPr algn="ctr"/>
                      <a:r>
                        <a:rPr lang="pt-BR" sz="1100" b="1" dirty="0">
                          <a:latin typeface="Arial" panose="020B0604020202020204" pitchFamily="34" charset="0"/>
                          <a:cs typeface="Arial" panose="020B0604020202020204" pitchFamily="34" charset="0"/>
                        </a:rPr>
                        <a:t>Sintoma</a:t>
                      </a:r>
                    </a:p>
                  </a:txBody>
                  <a:tcPr marL="119795" marR="119795" marT="59898" marB="59898">
                    <a:solidFill>
                      <a:schemeClr val="bg1">
                        <a:lumMod val="85000"/>
                      </a:schemeClr>
                    </a:solidFill>
                  </a:tcPr>
                </a:tc>
                <a:tc>
                  <a:txBody>
                    <a:bodyPr/>
                    <a:lstStyle/>
                    <a:p>
                      <a:pPr algn="ctr"/>
                      <a:r>
                        <a:rPr lang="pt-BR" sz="1100" b="1" dirty="0">
                          <a:latin typeface="Arial" panose="020B0604020202020204" pitchFamily="34" charset="0"/>
                          <a:cs typeface="Arial" panose="020B0604020202020204" pitchFamily="34" charset="0"/>
                        </a:rPr>
                        <a:t>Causa provável</a:t>
                      </a:r>
                    </a:p>
                  </a:txBody>
                  <a:tcPr marL="119795" marR="119795" marT="59898" marB="59898">
                    <a:solidFill>
                      <a:schemeClr val="bg1">
                        <a:lumMod val="85000"/>
                      </a:schemeClr>
                    </a:solidFill>
                  </a:tcPr>
                </a:tc>
                <a:tc>
                  <a:txBody>
                    <a:bodyPr/>
                    <a:lstStyle/>
                    <a:p>
                      <a:pPr algn="ctr"/>
                      <a:r>
                        <a:rPr lang="pt-BR" sz="1100" b="1" dirty="0">
                          <a:latin typeface="Arial" panose="020B0604020202020204" pitchFamily="34" charset="0"/>
                          <a:cs typeface="Arial" panose="020B0604020202020204" pitchFamily="34" charset="0"/>
                        </a:rPr>
                        <a:t>Solução</a:t>
                      </a:r>
                    </a:p>
                  </a:txBody>
                  <a:tcPr marL="119795" marR="119795" marT="59898" marB="59898">
                    <a:solidFill>
                      <a:schemeClr val="bg1">
                        <a:lumMod val="85000"/>
                      </a:schemeClr>
                    </a:solidFill>
                  </a:tcPr>
                </a:tc>
                <a:extLst>
                  <a:ext uri="{0D108BD9-81ED-4DB2-BD59-A6C34878D82A}">
                    <a16:rowId xmlns:a16="http://schemas.microsoft.com/office/drawing/2014/main" val="2439546210"/>
                  </a:ext>
                </a:extLst>
              </a:tr>
              <a:tr h="467253">
                <a:tc rowSpan="4">
                  <a:txBody>
                    <a:bodyPr/>
                    <a:lstStyle/>
                    <a:p>
                      <a:pPr algn="l"/>
                      <a:r>
                        <a:rPr lang="pt-BR" sz="1100" dirty="0">
                          <a:latin typeface="Arial" panose="020B0604020202020204" pitchFamily="34" charset="0"/>
                          <a:cs typeface="Arial" panose="020B0604020202020204" pitchFamily="34" charset="0"/>
                        </a:rPr>
                        <a:t>O balcão não funciona</a:t>
                      </a:r>
                    </a:p>
                  </a:txBody>
                  <a:tcPr marL="119795" marR="119795" marT="59898" marB="59898" anchor="ctr"/>
                </a:tc>
                <a:tc>
                  <a:txBody>
                    <a:bodyPr/>
                    <a:lstStyle/>
                    <a:p>
                      <a:r>
                        <a:rPr lang="pt-BR" sz="1100" dirty="0">
                          <a:latin typeface="Arial" panose="020B0604020202020204" pitchFamily="34" charset="0"/>
                          <a:cs typeface="Arial" panose="020B0604020202020204" pitchFamily="34" charset="0"/>
                        </a:rPr>
                        <a:t>Rede elétrica de abastecimento sem energia elétrica</a:t>
                      </a:r>
                    </a:p>
                  </a:txBody>
                  <a:tcPr marL="119795" marR="119795" marT="59898" marB="59898"/>
                </a:tc>
                <a:tc>
                  <a:txBody>
                    <a:bodyPr/>
                    <a:lstStyle/>
                    <a:p>
                      <a:r>
                        <a:rPr lang="pt-BR" sz="1100" dirty="0">
                          <a:latin typeface="Arial" panose="020B0604020202020204" pitchFamily="34" charset="0"/>
                          <a:cs typeface="Arial" panose="020B0604020202020204" pitchFamily="34" charset="0"/>
                        </a:rPr>
                        <a:t>Aguardar retorno do reabastecimento de energia.</a:t>
                      </a:r>
                    </a:p>
                  </a:txBody>
                  <a:tcPr marL="119795" marR="119795" marT="59898" marB="59898"/>
                </a:tc>
                <a:extLst>
                  <a:ext uri="{0D108BD9-81ED-4DB2-BD59-A6C34878D82A}">
                    <a16:rowId xmlns:a16="http://schemas.microsoft.com/office/drawing/2014/main" val="2264817914"/>
                  </a:ext>
                </a:extLst>
              </a:tr>
              <a:tr h="289506">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Tomada com mau contato </a:t>
                      </a:r>
                    </a:p>
                  </a:txBody>
                  <a:tcPr marL="119795" marR="119795" marT="59898" marB="59898"/>
                </a:tc>
                <a:tc>
                  <a:txBody>
                    <a:bodyPr/>
                    <a:lstStyle/>
                    <a:p>
                      <a:r>
                        <a:rPr lang="pt-BR" sz="1100" dirty="0">
                          <a:latin typeface="Arial" panose="020B0604020202020204" pitchFamily="34" charset="0"/>
                          <a:cs typeface="Arial" panose="020B0604020202020204" pitchFamily="34" charset="0"/>
                        </a:rPr>
                        <a:t>Corrigir o defeito da tomada</a:t>
                      </a:r>
                    </a:p>
                  </a:txBody>
                  <a:tcPr marL="119795" marR="119795" marT="59898" marB="59898"/>
                </a:tc>
                <a:extLst>
                  <a:ext uri="{0D108BD9-81ED-4DB2-BD59-A6C34878D82A}">
                    <a16:rowId xmlns:a16="http://schemas.microsoft.com/office/drawing/2014/main" val="2843523757"/>
                  </a:ext>
                </a:extLst>
              </a:tr>
              <a:tr h="471636">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Botão do termostato na posição desligado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100" dirty="0">
                          <a:latin typeface="Arial" panose="020B0604020202020204" pitchFamily="34" charset="0"/>
                          <a:cs typeface="Arial" panose="020B0604020202020204" pitchFamily="34" charset="0"/>
                        </a:rPr>
                        <a:t>Verificar item </a:t>
                      </a:r>
                      <a:r>
                        <a:rPr lang="pt-BR" sz="1100" b="1" dirty="0">
                          <a:solidFill>
                            <a:schemeClr val="tx1"/>
                          </a:solidFill>
                        </a:rPr>
                        <a:t>5. Temperatura </a:t>
                      </a:r>
                      <a:r>
                        <a:rPr lang="pt-BR" sz="1100" b="0" dirty="0">
                          <a:solidFill>
                            <a:schemeClr val="tx1"/>
                          </a:solidFill>
                        </a:rPr>
                        <a:t>deste manual</a:t>
                      </a:r>
                    </a:p>
                  </a:txBody>
                  <a:tcPr marL="119795" marR="119795" marT="59898" marB="59898"/>
                </a:tc>
                <a:extLst>
                  <a:ext uri="{0D108BD9-81ED-4DB2-BD59-A6C34878D82A}">
                    <a16:rowId xmlns:a16="http://schemas.microsoft.com/office/drawing/2014/main" val="400378776"/>
                  </a:ext>
                </a:extLst>
              </a:tr>
              <a:tr h="633672">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Cordão de alimentação rompido ou danificado.</a:t>
                      </a:r>
                    </a:p>
                  </a:txBody>
                  <a:tcPr marL="119795" marR="119795" marT="59898" marB="59898"/>
                </a:tc>
                <a:tc>
                  <a:txBody>
                    <a:bodyPr/>
                    <a:lstStyle/>
                    <a:p>
                      <a:r>
                        <a:rPr lang="pt-BR" sz="1100" dirty="0">
                          <a:latin typeface="Arial" panose="020B0604020202020204" pitchFamily="34" charset="0"/>
                          <a:cs typeface="Arial" panose="020B0604020202020204" pitchFamily="34" charset="0"/>
                        </a:rPr>
                        <a:t>Entrar em contato com assistência técnica autorizada para substituição do cabo.</a:t>
                      </a:r>
                    </a:p>
                  </a:txBody>
                  <a:tcPr marL="119795" marR="119795" marT="59898" marB="59898"/>
                </a:tc>
                <a:extLst>
                  <a:ext uri="{0D108BD9-81ED-4DB2-BD59-A6C34878D82A}">
                    <a16:rowId xmlns:a16="http://schemas.microsoft.com/office/drawing/2014/main" val="2136057199"/>
                  </a:ext>
                </a:extLst>
              </a:tr>
              <a:tr h="467253">
                <a:tc rowSpan="5">
                  <a:txBody>
                    <a:bodyPr/>
                    <a:lstStyle/>
                    <a:p>
                      <a:pPr algn="l"/>
                      <a:r>
                        <a:rPr lang="pt-BR" sz="1100" dirty="0">
                          <a:latin typeface="Arial" panose="020B0604020202020204" pitchFamily="34" charset="0"/>
                          <a:cs typeface="Arial" panose="020B0604020202020204" pitchFamily="34" charset="0"/>
                        </a:rPr>
                        <a:t>O balcão não está gelando o suficiente</a:t>
                      </a:r>
                    </a:p>
                  </a:txBody>
                  <a:tcPr marL="119795" marR="119795" marT="59898" marB="59898" anchor="ctr"/>
                </a:tc>
                <a:tc>
                  <a:txBody>
                    <a:bodyPr/>
                    <a:lstStyle/>
                    <a:p>
                      <a:r>
                        <a:rPr lang="pt-BR" sz="1100" dirty="0">
                          <a:latin typeface="Arial" panose="020B0604020202020204" pitchFamily="34" charset="0"/>
                          <a:cs typeface="Arial" panose="020B0604020202020204" pitchFamily="34" charset="0"/>
                        </a:rPr>
                        <a:t>Temperatura inadequada</a:t>
                      </a:r>
                    </a:p>
                  </a:txBody>
                  <a:tcPr marL="119795" marR="119795" marT="59898" marB="59898"/>
                </a:tc>
                <a:tc>
                  <a:txBody>
                    <a:bodyPr/>
                    <a:lstStyle/>
                    <a:p>
                      <a:r>
                        <a:rPr lang="pt-BR" sz="1100" dirty="0">
                          <a:latin typeface="Arial" panose="020B0604020202020204" pitchFamily="34" charset="0"/>
                          <a:cs typeface="Arial" panose="020B0604020202020204" pitchFamily="34" charset="0"/>
                        </a:rPr>
                        <a:t>Verificar itens 3. Utilização e 5. Temperatura deste manual</a:t>
                      </a:r>
                    </a:p>
                  </a:txBody>
                  <a:tcPr marL="119795" marR="119795" marT="59898" marB="59898"/>
                </a:tc>
                <a:extLst>
                  <a:ext uri="{0D108BD9-81ED-4DB2-BD59-A6C34878D82A}">
                    <a16:rowId xmlns:a16="http://schemas.microsoft.com/office/drawing/2014/main" val="241579868"/>
                  </a:ext>
                </a:extLst>
              </a:tr>
              <a:tr h="460853">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Mercadorias mal distribuídas </a:t>
                      </a:r>
                    </a:p>
                  </a:txBody>
                  <a:tcPr marL="119795" marR="119795" marT="59898" marB="59898"/>
                </a:tc>
                <a:tc>
                  <a:txBody>
                    <a:bodyPr/>
                    <a:lstStyle/>
                    <a:p>
                      <a:pPr marL="0" marR="0" lvl="0" indent="0" algn="l" defTabSz="1257300" rtl="0" eaLnBrk="1" fontAlgn="auto" latinLnBrk="0" hangingPunct="1">
                        <a:lnSpc>
                          <a:spcPct val="100000"/>
                        </a:lnSpc>
                        <a:spcBef>
                          <a:spcPts val="0"/>
                        </a:spcBef>
                        <a:spcAft>
                          <a:spcPts val="0"/>
                        </a:spcAft>
                        <a:buClrTx/>
                        <a:buSzTx/>
                        <a:buFontTx/>
                        <a:buNone/>
                        <a:tabLst/>
                        <a:defRPr/>
                      </a:pPr>
                      <a:r>
                        <a:rPr lang="pt-BR" sz="1100" kern="1200" dirty="0">
                          <a:solidFill>
                            <a:schemeClr val="tx1"/>
                          </a:solidFill>
                          <a:latin typeface="Arial" panose="020B0604020202020204" pitchFamily="34" charset="0"/>
                          <a:ea typeface="+mn-ea"/>
                          <a:cs typeface="Arial" panose="020B0604020202020204" pitchFamily="34" charset="0"/>
                        </a:rPr>
                        <a:t>Verificar item 9. Nivelamento grades/prateleiras deste manual</a:t>
                      </a:r>
                    </a:p>
                  </a:txBody>
                  <a:tcPr marL="119795" marR="119795" marT="59898" marB="59898"/>
                </a:tc>
                <a:extLst>
                  <a:ext uri="{0D108BD9-81ED-4DB2-BD59-A6C34878D82A}">
                    <a16:rowId xmlns:a16="http://schemas.microsoft.com/office/drawing/2014/main" val="571895890"/>
                  </a:ext>
                </a:extLst>
              </a:tr>
              <a:tr h="633672">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Portas sendo abertas com muita frequência ou portas abertas durante muito tempo.</a:t>
                      </a:r>
                    </a:p>
                  </a:txBody>
                  <a:tcPr marL="119795" marR="119795" marT="59898" marB="59898"/>
                </a:tc>
                <a:tc>
                  <a:txBody>
                    <a:bodyPr/>
                    <a:lstStyle/>
                    <a:p>
                      <a:r>
                        <a:rPr lang="pt-BR" sz="1100" dirty="0">
                          <a:latin typeface="Arial" panose="020B0604020202020204" pitchFamily="34" charset="0"/>
                          <a:cs typeface="Arial" panose="020B0604020202020204" pitchFamily="34" charset="0"/>
                        </a:rPr>
                        <a:t>Abra somente quando for indispensável</a:t>
                      </a:r>
                    </a:p>
                  </a:txBody>
                  <a:tcPr marL="119795" marR="119795" marT="59898" marB="59898"/>
                </a:tc>
                <a:extLst>
                  <a:ext uri="{0D108BD9-81ED-4DB2-BD59-A6C34878D82A}">
                    <a16:rowId xmlns:a16="http://schemas.microsoft.com/office/drawing/2014/main" val="2565594809"/>
                  </a:ext>
                </a:extLst>
              </a:tr>
              <a:tr h="467253">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Mercadorias obstruindo o forçador de ar</a:t>
                      </a:r>
                    </a:p>
                  </a:txBody>
                  <a:tcPr marL="119795" marR="119795" marT="59898" marB="59898"/>
                </a:tc>
                <a:tc>
                  <a:txBody>
                    <a:bodyPr/>
                    <a:lstStyle/>
                    <a:p>
                      <a:r>
                        <a:rPr lang="pt-BR" sz="1100" dirty="0">
                          <a:latin typeface="Arial" panose="020B0604020202020204" pitchFamily="34" charset="0"/>
                          <a:cs typeface="Arial" panose="020B0604020202020204" pitchFamily="34" charset="0"/>
                        </a:rPr>
                        <a:t>Redistribuir mercadoria</a:t>
                      </a:r>
                    </a:p>
                  </a:txBody>
                  <a:tcPr marL="119795" marR="119795" marT="59898" marB="59898"/>
                </a:tc>
                <a:extLst>
                  <a:ext uri="{0D108BD9-81ED-4DB2-BD59-A6C34878D82A}">
                    <a16:rowId xmlns:a16="http://schemas.microsoft.com/office/drawing/2014/main" val="1522534650"/>
                  </a:ext>
                </a:extLst>
              </a:tr>
              <a:tr h="471636">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Equipamento sem circulação de ar</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100" kern="1200" dirty="0">
                          <a:solidFill>
                            <a:schemeClr val="tx1"/>
                          </a:solidFill>
                          <a:latin typeface="Arial" panose="020B0604020202020204" pitchFamily="34" charset="0"/>
                          <a:ea typeface="+mn-ea"/>
                          <a:cs typeface="Arial" panose="020B0604020202020204" pitchFamily="34" charset="0"/>
                        </a:rPr>
                        <a:t>Verificar item 2. Instalação deste manual</a:t>
                      </a:r>
                    </a:p>
                    <a:p>
                      <a:endParaRPr lang="pt-BR" sz="11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1832794226"/>
                  </a:ext>
                </a:extLst>
              </a:tr>
            </a:tbl>
          </a:graphicData>
        </a:graphic>
      </p:graphicFrame>
    </p:spTree>
    <p:extLst>
      <p:ext uri="{BB962C8B-B14F-4D97-AF65-F5344CB8AC3E}">
        <p14:creationId xmlns:p14="http://schemas.microsoft.com/office/powerpoint/2010/main" val="3564664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ela 14">
            <a:extLst>
              <a:ext uri="{FF2B5EF4-FFF2-40B4-BE49-F238E27FC236}">
                <a16:creationId xmlns:a16="http://schemas.microsoft.com/office/drawing/2014/main" id="{5165BBAC-5B25-4012-943D-E1437293956A}"/>
              </a:ext>
            </a:extLst>
          </p:cNvPr>
          <p:cNvGraphicFramePr>
            <a:graphicFrameLocks noGrp="1"/>
          </p:cNvGraphicFramePr>
          <p:nvPr>
            <p:extLst>
              <p:ext uri="{D42A27DB-BD31-4B8C-83A1-F6EECF244321}">
                <p14:modId xmlns:p14="http://schemas.microsoft.com/office/powerpoint/2010/main" val="2129882983"/>
              </p:ext>
            </p:extLst>
          </p:nvPr>
        </p:nvGraphicFramePr>
        <p:xfrm>
          <a:off x="153071" y="275930"/>
          <a:ext cx="6551859" cy="2841595"/>
        </p:xfrm>
        <a:graphic>
          <a:graphicData uri="http://schemas.openxmlformats.org/drawingml/2006/table">
            <a:tbl>
              <a:tblPr firstRow="1" bandRow="1">
                <a:tableStyleId>{5940675A-B579-460E-94D1-54222C63F5DA}</a:tableStyleId>
              </a:tblPr>
              <a:tblGrid>
                <a:gridCol w="1243470">
                  <a:extLst>
                    <a:ext uri="{9D8B030D-6E8A-4147-A177-3AD203B41FA5}">
                      <a16:colId xmlns:a16="http://schemas.microsoft.com/office/drawing/2014/main" val="516497271"/>
                    </a:ext>
                  </a:extLst>
                </a:gridCol>
                <a:gridCol w="2358440">
                  <a:extLst>
                    <a:ext uri="{9D8B030D-6E8A-4147-A177-3AD203B41FA5}">
                      <a16:colId xmlns:a16="http://schemas.microsoft.com/office/drawing/2014/main" val="2071908709"/>
                    </a:ext>
                  </a:extLst>
                </a:gridCol>
                <a:gridCol w="2949949">
                  <a:extLst>
                    <a:ext uri="{9D8B030D-6E8A-4147-A177-3AD203B41FA5}">
                      <a16:colId xmlns:a16="http://schemas.microsoft.com/office/drawing/2014/main" val="1403055962"/>
                    </a:ext>
                  </a:extLst>
                </a:gridCol>
              </a:tblGrid>
              <a:tr h="330145">
                <a:tc rowSpan="2">
                  <a:txBody>
                    <a:bodyPr/>
                    <a:lstStyle/>
                    <a:p>
                      <a:pPr algn="l"/>
                      <a:r>
                        <a:rPr lang="pt-BR" sz="1100" dirty="0">
                          <a:latin typeface="Arial" panose="020B0604020202020204" pitchFamily="34" charset="0"/>
                          <a:cs typeface="Arial" panose="020B0604020202020204" pitchFamily="34" charset="0"/>
                        </a:rPr>
                        <a:t>Vazamento de água no fundo do balcão</a:t>
                      </a:r>
                    </a:p>
                  </a:txBody>
                  <a:tcPr marL="119795" marR="119795" marT="59898" marB="59898" anchor="ctr"/>
                </a:tc>
                <a:tc>
                  <a:txBody>
                    <a:bodyPr/>
                    <a:lstStyle/>
                    <a:p>
                      <a:r>
                        <a:rPr lang="pt-BR" sz="1100" dirty="0">
                          <a:latin typeface="Arial" panose="020B0604020202020204" pitchFamily="34" charset="0"/>
                          <a:cs typeface="Arial" panose="020B0604020202020204" pitchFamily="34" charset="0"/>
                        </a:rPr>
                        <a:t>Bocal do dreno interno aberto</a:t>
                      </a:r>
                    </a:p>
                  </a:txBody>
                  <a:tcPr marL="119795" marR="119795" marT="59898" marB="59898"/>
                </a:tc>
                <a:tc>
                  <a:txBody>
                    <a:bodyPr/>
                    <a:lstStyle/>
                    <a:p>
                      <a:r>
                        <a:rPr lang="pt-BR" sz="1100" dirty="0">
                          <a:latin typeface="Arial" panose="020B0604020202020204" pitchFamily="34" charset="0"/>
                          <a:cs typeface="Arial" panose="020B0604020202020204" pitchFamily="34" charset="0"/>
                        </a:rPr>
                        <a:t>Verificar item 3. Utilização deste manual</a:t>
                      </a:r>
                    </a:p>
                  </a:txBody>
                  <a:tcPr marL="119795" marR="119795" marT="59898" marB="59898"/>
                </a:tc>
                <a:extLst>
                  <a:ext uri="{0D108BD9-81ED-4DB2-BD59-A6C34878D82A}">
                    <a16:rowId xmlns:a16="http://schemas.microsoft.com/office/drawing/2014/main" val="2010095382"/>
                  </a:ext>
                </a:extLst>
              </a:tr>
              <a:tr h="471636">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Sem vedação de silicone</a:t>
                      </a:r>
                    </a:p>
                  </a:txBody>
                  <a:tcPr marL="119795" marR="119795" marT="59898" marB="59898"/>
                </a:tc>
                <a:tc>
                  <a:txBody>
                    <a:bodyPr/>
                    <a:lstStyle/>
                    <a:p>
                      <a:r>
                        <a:rPr lang="pt-BR" sz="1100" dirty="0">
                          <a:latin typeface="Arial" panose="020B0604020202020204" pitchFamily="34" charset="0"/>
                          <a:cs typeface="Arial" panose="020B0604020202020204" pitchFamily="34" charset="0"/>
                        </a:rPr>
                        <a:t>Entrar em contato com assistência técnica autorizada </a:t>
                      </a:r>
                    </a:p>
                  </a:txBody>
                  <a:tcPr marL="119795" marR="119795" marT="59898" marB="59898"/>
                </a:tc>
                <a:extLst>
                  <a:ext uri="{0D108BD9-81ED-4DB2-BD59-A6C34878D82A}">
                    <a16:rowId xmlns:a16="http://schemas.microsoft.com/office/drawing/2014/main" val="457876877"/>
                  </a:ext>
                </a:extLst>
              </a:tr>
              <a:tr h="471636">
                <a:tc rowSpan="2">
                  <a:txBody>
                    <a:bodyPr/>
                    <a:lstStyle/>
                    <a:p>
                      <a:pPr algn="l"/>
                      <a:r>
                        <a:rPr lang="pt-BR" sz="1100" dirty="0">
                          <a:latin typeface="Arial" panose="020B0604020202020204" pitchFamily="34" charset="0"/>
                          <a:cs typeface="Arial" panose="020B0604020202020204" pitchFamily="34" charset="0"/>
                        </a:rPr>
                        <a:t>Condensação externa de água no balcão (</a:t>
                      </a:r>
                      <a:r>
                        <a:rPr lang="pt-BR" sz="1100">
                          <a:latin typeface="Arial" panose="020B0604020202020204" pitchFamily="34" charset="0"/>
                          <a:cs typeface="Arial" panose="020B0604020202020204" pitchFamily="34" charset="0"/>
                        </a:rPr>
                        <a:t>balcão suando)</a:t>
                      </a:r>
                      <a:endParaRPr lang="pt-BR" sz="1100" dirty="0">
                        <a:latin typeface="Arial" panose="020B0604020202020204" pitchFamily="34" charset="0"/>
                        <a:cs typeface="Arial" panose="020B0604020202020204" pitchFamily="34" charset="0"/>
                      </a:endParaRPr>
                    </a:p>
                  </a:txBody>
                  <a:tcPr marL="119795" marR="119795" marT="59898" marB="59898" anchor="ctr"/>
                </a:tc>
                <a:tc>
                  <a:txBody>
                    <a:bodyPr/>
                    <a:lstStyle/>
                    <a:p>
                      <a:r>
                        <a:rPr lang="pt-BR" sz="1100" dirty="0">
                          <a:latin typeface="Arial" panose="020B0604020202020204" pitchFamily="34" charset="0"/>
                          <a:cs typeface="Arial" panose="020B0604020202020204" pitchFamily="34" charset="0"/>
                        </a:rPr>
                        <a:t>Umidade do ar muito elevada</a:t>
                      </a:r>
                    </a:p>
                  </a:txBody>
                  <a:tcPr marL="119795" marR="119795" marT="59898" marB="59898"/>
                </a:tc>
                <a:tc>
                  <a:txBody>
                    <a:bodyPr/>
                    <a:lstStyle/>
                    <a:p>
                      <a:r>
                        <a:rPr lang="pt-BR" sz="1100" dirty="0">
                          <a:latin typeface="Arial" panose="020B0604020202020204" pitchFamily="34" charset="0"/>
                          <a:cs typeface="Arial" panose="020B0604020202020204" pitchFamily="34" charset="0"/>
                        </a:rPr>
                        <a:t>Normal em certos climas e períodos do ano.</a:t>
                      </a:r>
                    </a:p>
                  </a:txBody>
                  <a:tcPr marL="119795" marR="119795" marT="59898" marB="59898"/>
                </a:tc>
                <a:extLst>
                  <a:ext uri="{0D108BD9-81ED-4DB2-BD59-A6C34878D82A}">
                    <a16:rowId xmlns:a16="http://schemas.microsoft.com/office/drawing/2014/main" val="83196007"/>
                  </a:ext>
                </a:extLst>
              </a:tr>
              <a:tr h="633672">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Vedação irregular da borracha da porta</a:t>
                      </a:r>
                    </a:p>
                  </a:txBody>
                  <a:tcPr marL="119795" marR="119795" marT="59898" marB="59898"/>
                </a:tc>
                <a:tc>
                  <a:txBody>
                    <a:bodyPr/>
                    <a:lstStyle/>
                    <a:p>
                      <a:pPr marL="0" algn="l" defTabSz="1043056" rtl="0" eaLnBrk="1" latinLnBrk="0" hangingPunct="1"/>
                      <a:r>
                        <a:rPr lang="pt-BR" sz="1100" kern="1200" dirty="0">
                          <a:solidFill>
                            <a:schemeClr val="tx1"/>
                          </a:solidFill>
                          <a:latin typeface="Arial" panose="020B0604020202020204" pitchFamily="34" charset="0"/>
                          <a:ea typeface="+mn-ea"/>
                          <a:cs typeface="Arial" panose="020B0604020202020204" pitchFamily="34" charset="0"/>
                        </a:rPr>
                        <a:t>Regule os pés niveladores de maneira</a:t>
                      </a:r>
                    </a:p>
                    <a:p>
                      <a:pPr marL="0" algn="l" defTabSz="1043056" rtl="0" eaLnBrk="1" latinLnBrk="0" hangingPunct="1"/>
                      <a:r>
                        <a:rPr lang="pt-BR" sz="1100" kern="1200" dirty="0">
                          <a:solidFill>
                            <a:schemeClr val="tx1"/>
                          </a:solidFill>
                          <a:latin typeface="Arial" panose="020B0604020202020204" pitchFamily="34" charset="0"/>
                          <a:ea typeface="+mn-ea"/>
                          <a:cs typeface="Arial" panose="020B0604020202020204" pitchFamily="34" charset="0"/>
                        </a:rPr>
                        <a:t>a manter o produto um pouco inclinado</a:t>
                      </a:r>
                    </a:p>
                    <a:p>
                      <a:pPr marL="0" algn="l" defTabSz="1043056" rtl="0" eaLnBrk="1" latinLnBrk="0" hangingPunct="1"/>
                      <a:r>
                        <a:rPr lang="pt-BR" sz="1100" kern="1200" dirty="0">
                          <a:solidFill>
                            <a:schemeClr val="tx1"/>
                          </a:solidFill>
                          <a:latin typeface="Arial" panose="020B0604020202020204" pitchFamily="34" charset="0"/>
                          <a:ea typeface="+mn-ea"/>
                          <a:cs typeface="Arial" panose="020B0604020202020204" pitchFamily="34" charset="0"/>
                        </a:rPr>
                        <a:t>para trás.</a:t>
                      </a:r>
                    </a:p>
                  </a:txBody>
                  <a:tcPr marL="119795" marR="119795" marT="59898" marB="59898"/>
                </a:tc>
                <a:extLst>
                  <a:ext uri="{0D108BD9-81ED-4DB2-BD59-A6C34878D82A}">
                    <a16:rowId xmlns:a16="http://schemas.microsoft.com/office/drawing/2014/main" val="3014364009"/>
                  </a:ext>
                </a:extLst>
              </a:tr>
              <a:tr h="467253">
                <a:tc rowSpan="2">
                  <a:txBody>
                    <a:bodyPr/>
                    <a:lstStyle/>
                    <a:p>
                      <a:pPr algn="l"/>
                      <a:r>
                        <a:rPr lang="pt-BR" sz="1100" dirty="0">
                          <a:latin typeface="Arial" panose="020B0604020202020204" pitchFamily="34" charset="0"/>
                          <a:cs typeface="Arial" panose="020B0604020202020204" pitchFamily="34" charset="0"/>
                        </a:rPr>
                        <a:t>Ruídos anormais</a:t>
                      </a:r>
                    </a:p>
                  </a:txBody>
                  <a:tcPr marL="119795" marR="119795" marT="59898" marB="59898"/>
                </a:tc>
                <a:tc>
                  <a:txBody>
                    <a:bodyPr/>
                    <a:lstStyle/>
                    <a:p>
                      <a:r>
                        <a:rPr lang="pt-BR" sz="1100" dirty="0">
                          <a:latin typeface="Arial" panose="020B0604020202020204" pitchFamily="34" charset="0"/>
                          <a:cs typeface="Arial" panose="020B0604020202020204" pitchFamily="34" charset="0"/>
                        </a:rPr>
                        <a:t>Os pés do balcão não estão nivelados</a:t>
                      </a:r>
                    </a:p>
                  </a:txBody>
                  <a:tcPr marL="119795" marR="119795" marT="59898" marB="59898"/>
                </a:tc>
                <a:tc>
                  <a:txBody>
                    <a:bodyPr/>
                    <a:lstStyle/>
                    <a:p>
                      <a:r>
                        <a:rPr lang="pt-BR" sz="1100" dirty="0">
                          <a:latin typeface="Arial" panose="020B0604020202020204" pitchFamily="34" charset="0"/>
                          <a:cs typeface="Arial" panose="020B0604020202020204" pitchFamily="34" charset="0"/>
                        </a:rPr>
                        <a:t>Nivelar os pés do balcão conformando - os ao piso de apoio.</a:t>
                      </a:r>
                    </a:p>
                  </a:txBody>
                  <a:tcPr marL="119795" marR="119795" marT="59898" marB="59898"/>
                </a:tc>
                <a:extLst>
                  <a:ext uri="{0D108BD9-81ED-4DB2-BD59-A6C34878D82A}">
                    <a16:rowId xmlns:a16="http://schemas.microsoft.com/office/drawing/2014/main" val="592184475"/>
                  </a:ext>
                </a:extLst>
              </a:tr>
              <a:tr h="467253">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100" dirty="0">
                          <a:latin typeface="Arial" panose="020B0604020202020204" pitchFamily="34" charset="0"/>
                          <a:cs typeface="Arial" panose="020B0604020202020204" pitchFamily="34" charset="0"/>
                        </a:rPr>
                        <a:t>Parafuso da base da unidade de refrigeração solto</a:t>
                      </a:r>
                    </a:p>
                  </a:txBody>
                  <a:tcPr marL="119795" marR="119795" marT="59898" marB="59898"/>
                </a:tc>
                <a:tc>
                  <a:txBody>
                    <a:bodyPr/>
                    <a:lstStyle/>
                    <a:p>
                      <a:r>
                        <a:rPr lang="pt-BR" sz="1100" dirty="0">
                          <a:latin typeface="Arial" panose="020B0604020202020204" pitchFamily="34" charset="0"/>
                          <a:cs typeface="Arial" panose="020B0604020202020204" pitchFamily="34" charset="0"/>
                        </a:rPr>
                        <a:t>Apertar o parafuso da base de refrigeração.</a:t>
                      </a:r>
                    </a:p>
                  </a:txBody>
                  <a:tcPr marL="119795" marR="119795" marT="59898" marB="59898"/>
                </a:tc>
                <a:extLst>
                  <a:ext uri="{0D108BD9-81ED-4DB2-BD59-A6C34878D82A}">
                    <a16:rowId xmlns:a16="http://schemas.microsoft.com/office/drawing/2014/main" val="4236306010"/>
                  </a:ext>
                </a:extLst>
              </a:tr>
            </a:tbl>
          </a:graphicData>
        </a:graphic>
      </p:graphicFrame>
      <p:sp>
        <p:nvSpPr>
          <p:cNvPr id="16" name="CaixaDeTexto 15">
            <a:extLst>
              <a:ext uri="{FF2B5EF4-FFF2-40B4-BE49-F238E27FC236}">
                <a16:creationId xmlns:a16="http://schemas.microsoft.com/office/drawing/2014/main" id="{7F4AE111-C7BB-4611-BC05-CA50621B014F}"/>
              </a:ext>
            </a:extLst>
          </p:cNvPr>
          <p:cNvSpPr txBox="1"/>
          <p:nvPr/>
        </p:nvSpPr>
        <p:spPr>
          <a:xfrm>
            <a:off x="3181295" y="9590070"/>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07</a:t>
            </a:r>
          </a:p>
        </p:txBody>
      </p:sp>
    </p:spTree>
    <p:extLst>
      <p:ext uri="{BB962C8B-B14F-4D97-AF65-F5344CB8AC3E}">
        <p14:creationId xmlns:p14="http://schemas.microsoft.com/office/powerpoint/2010/main" val="4233194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3FC96D0A-B094-43DB-818B-CE5D0333AC4F}"/>
              </a:ext>
            </a:extLst>
          </p:cNvPr>
          <p:cNvSpPr/>
          <p:nvPr/>
        </p:nvSpPr>
        <p:spPr>
          <a:xfrm>
            <a:off x="82827" y="78410"/>
            <a:ext cx="6721173" cy="374590"/>
          </a:xfrm>
          <a:prstGeom prst="rect">
            <a:avLst/>
          </a:prstGeom>
          <a:solidFill>
            <a:schemeClr val="bg1">
              <a:lumMod val="85000"/>
            </a:schemeClr>
          </a:solidFill>
        </p:spPr>
        <p:txBody>
          <a:bodyPr wrap="square" rtlCol="0" anchor="ctr">
            <a:spAutoFit/>
          </a:bodyPr>
          <a:lstStyle/>
          <a:p>
            <a:pPr algn="ctr"/>
            <a:r>
              <a:rPr lang="pt-BR" sz="1834" b="1" dirty="0">
                <a:latin typeface="Arial" panose="020B0604020202020204" pitchFamily="34" charset="0"/>
                <a:cs typeface="Arial" panose="020B0604020202020204" pitchFamily="34" charset="0"/>
              </a:rPr>
              <a:t>TERMO DE GARANTIA</a:t>
            </a:r>
          </a:p>
        </p:txBody>
      </p:sp>
      <p:sp>
        <p:nvSpPr>
          <p:cNvPr id="3" name="CaixaDeTexto 2">
            <a:extLst>
              <a:ext uri="{FF2B5EF4-FFF2-40B4-BE49-F238E27FC236}">
                <a16:creationId xmlns:a16="http://schemas.microsoft.com/office/drawing/2014/main" id="{F08A9183-7ADB-4D1A-AB7E-269F7ED91F9C}"/>
              </a:ext>
            </a:extLst>
          </p:cNvPr>
          <p:cNvSpPr txBox="1"/>
          <p:nvPr/>
        </p:nvSpPr>
        <p:spPr>
          <a:xfrm>
            <a:off x="90103" y="408000"/>
            <a:ext cx="6652250" cy="7654403"/>
          </a:xfrm>
          <a:prstGeom prst="rect">
            <a:avLst/>
          </a:prstGeom>
          <a:noFill/>
        </p:spPr>
        <p:txBody>
          <a:bodyPr wrap="square" rtlCol="0">
            <a:spAutoFit/>
          </a:bodyPr>
          <a:lstStyle/>
          <a:p>
            <a:pPr algn="just"/>
            <a:r>
              <a:rPr lang="pt-BR" sz="1170" dirty="0">
                <a:latin typeface="Arial" panose="020B0604020202020204" pitchFamily="34" charset="0"/>
                <a:cs typeface="Arial" panose="020B0604020202020204" pitchFamily="34" charset="0"/>
              </a:rPr>
              <a:t>Os produtos Só Aço são garantidos pela Só Aço, na forma estabelecida:</a:t>
            </a:r>
          </a:p>
          <a:p>
            <a:pPr algn="just"/>
            <a:endParaRPr lang="pt-BR" sz="1170" dirty="0">
              <a:latin typeface="Arial" panose="020B0604020202020204" pitchFamily="34" charset="0"/>
              <a:cs typeface="Arial" panose="020B0604020202020204" pitchFamily="34" charset="0"/>
            </a:endParaRPr>
          </a:p>
          <a:p>
            <a:pPr marL="299489" indent="-299489" algn="just">
              <a:buAutoNum type="arabicPeriod"/>
            </a:pPr>
            <a:r>
              <a:rPr lang="pt-BR" sz="1170" b="1" i="1" dirty="0">
                <a:latin typeface="Arial" panose="020B0604020202020204" pitchFamily="34" charset="0"/>
                <a:cs typeface="Arial" panose="020B0604020202020204" pitchFamily="34" charset="0"/>
              </a:rPr>
              <a:t>Condições gerais de garantia:</a:t>
            </a:r>
          </a:p>
          <a:p>
            <a:pPr marL="299489" indent="-299489" algn="just">
              <a:buAutoNum type="alphaLcParenR"/>
            </a:pPr>
            <a:r>
              <a:rPr lang="pt-BR" sz="1170" dirty="0">
                <a:latin typeface="Arial" panose="020B0604020202020204" pitchFamily="34" charset="0"/>
                <a:cs typeface="Arial" panose="020B0604020202020204" pitchFamily="34" charset="0"/>
              </a:rPr>
              <a:t>Os produtos Só Aço são garantidos por 06 (seis) meses a partir da data de emissão da nota fiscal de compra do primeiro comprador contra defeitos de fabricação, sendo 3 (três) meses de garantia legal e mais 3 (três) meses de garantia especial concedida pela Só Aço Industrial</a:t>
            </a:r>
          </a:p>
          <a:p>
            <a:pPr marL="299489" indent="-299489" algn="just">
              <a:buAutoNum type="alphaLcParenR"/>
            </a:pPr>
            <a:r>
              <a:rPr lang="pt-BR" sz="117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299489" indent="-299489" algn="just">
              <a:buAutoNum type="alphaLcParenR"/>
            </a:pPr>
            <a:r>
              <a:rPr lang="pt-BR" sz="1170" dirty="0">
                <a:latin typeface="Arial" panose="020B0604020202020204" pitchFamily="34" charset="0"/>
                <a:cs typeface="Arial" panose="020B0604020202020204" pitchFamily="34" charset="0"/>
              </a:rPr>
              <a:t>Os seguintes componentes: rolamentos, rodízios, retentores, correias, vidros, lâmpadas, fusíveis, chaves-contadoras, resistências, termostatos, relés, borrachas de vedação e outros componentes que não são produzidos pela Só Aço, estão excluídos totalmente da garantia.</a:t>
            </a:r>
          </a:p>
          <a:p>
            <a:pPr marL="299489" indent="-299489" algn="just">
              <a:buAutoNum type="alphaLcParenR"/>
            </a:pPr>
            <a:r>
              <a:rPr lang="pt-BR" sz="117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299489" indent="-299489" algn="just">
              <a:buAutoNum type="alphaLcParenR"/>
            </a:pPr>
            <a:r>
              <a:rPr lang="pt-BR" sz="117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1170" b="1" dirty="0">
                <a:latin typeface="Arial" panose="020B0604020202020204" pitchFamily="34" charset="0"/>
                <a:cs typeface="Arial" panose="020B0604020202020204" pitchFamily="34" charset="0"/>
              </a:rPr>
              <a:t>Observação:</a:t>
            </a:r>
            <a:r>
              <a:rPr lang="pt-BR" sz="1170" dirty="0">
                <a:latin typeface="Arial" panose="020B0604020202020204" pitchFamily="34" charset="0"/>
                <a:cs typeface="Arial" panose="020B0604020202020204" pitchFamily="34" charset="0"/>
              </a:rPr>
              <a:t> Fica, desde já, eleito o Foro da Comarca da Capital do Estado do Piauí para dirimir quaisquer dúvidas oriundas do cumprimento deste Termo de Garantia</a:t>
            </a:r>
          </a:p>
          <a:p>
            <a:pPr algn="just"/>
            <a:endParaRPr lang="pt-BR" sz="1170" dirty="0">
              <a:latin typeface="Arial" panose="020B0604020202020204" pitchFamily="34" charset="0"/>
              <a:cs typeface="Arial" panose="020B0604020202020204" pitchFamily="34" charset="0"/>
            </a:endParaRPr>
          </a:p>
          <a:p>
            <a:pPr algn="just"/>
            <a:r>
              <a:rPr lang="pt-BR" sz="1170" b="1" i="1" dirty="0">
                <a:latin typeface="Arial" panose="020B0604020202020204" pitchFamily="34" charset="0"/>
                <a:cs typeface="Arial" panose="020B0604020202020204" pitchFamily="34" charset="0"/>
              </a:rPr>
              <a:t>2. Serviços de Garantia</a:t>
            </a:r>
          </a:p>
          <a:p>
            <a:pPr algn="just"/>
            <a:r>
              <a:rPr lang="pt-BR" sz="117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117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1170" b="1" dirty="0">
              <a:latin typeface="Arial" panose="020B0604020202020204" pitchFamily="34" charset="0"/>
              <a:cs typeface="Arial" panose="020B0604020202020204" pitchFamily="34" charset="0"/>
            </a:endParaRPr>
          </a:p>
          <a:p>
            <a:pPr algn="just"/>
            <a:r>
              <a:rPr lang="pt-BR" sz="1170" b="1" dirty="0">
                <a:latin typeface="Arial" panose="020B0604020202020204" pitchFamily="34" charset="0"/>
                <a:cs typeface="Arial" panose="020B0604020202020204" pitchFamily="34" charset="0"/>
              </a:rPr>
              <a:t>3. Extinção da garantia</a:t>
            </a:r>
          </a:p>
          <a:p>
            <a:pPr algn="just"/>
            <a:r>
              <a:rPr lang="pt-BR" sz="117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r>
              <a:rPr lang="pt-BR" sz="1170" dirty="0">
                <a:latin typeface="Arial" panose="020B0604020202020204" pitchFamily="34" charset="0"/>
                <a:cs typeface="Arial" panose="020B0604020202020204" pitchFamily="34" charset="0"/>
              </a:rPr>
              <a:t>ATENÇÃO</a:t>
            </a:r>
          </a:p>
          <a:p>
            <a:pPr marL="299489" indent="-299489" algn="just">
              <a:buAutoNum type="alphaLcParenR"/>
            </a:pPr>
            <a:r>
              <a:rPr lang="pt-BR" sz="117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299489" indent="-299489" algn="just">
              <a:buAutoNum type="alphaLcParenR"/>
            </a:pPr>
            <a:r>
              <a:rPr lang="pt-BR" sz="117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299489" indent="-299489" algn="just">
              <a:buAutoNum type="alphaLcParenR"/>
            </a:pPr>
            <a:r>
              <a:rPr lang="pt-BR" sz="1170" dirty="0">
                <a:latin typeface="Arial" panose="020B0604020202020204" pitchFamily="34" charset="0"/>
                <a:cs typeface="Arial" panose="020B0604020202020204" pitchFamily="34" charset="0"/>
              </a:rPr>
              <a:t>A Só Aço se reserva do direito de alterar as características dos seus produtos sem aviso prévio. </a:t>
            </a:r>
          </a:p>
        </p:txBody>
      </p:sp>
      <p:sp>
        <p:nvSpPr>
          <p:cNvPr id="4" name="CaixaDeTexto 3">
            <a:extLst>
              <a:ext uri="{FF2B5EF4-FFF2-40B4-BE49-F238E27FC236}">
                <a16:creationId xmlns:a16="http://schemas.microsoft.com/office/drawing/2014/main" id="{8471648D-AD7A-4AE2-8D3C-884DA9CC40D1}"/>
              </a:ext>
            </a:extLst>
          </p:cNvPr>
          <p:cNvSpPr txBox="1"/>
          <p:nvPr/>
        </p:nvSpPr>
        <p:spPr>
          <a:xfrm>
            <a:off x="3362818" y="9584207"/>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08</a:t>
            </a:r>
          </a:p>
        </p:txBody>
      </p:sp>
      <p:graphicFrame>
        <p:nvGraphicFramePr>
          <p:cNvPr id="5" name="Tabela 4">
            <a:extLst>
              <a:ext uri="{FF2B5EF4-FFF2-40B4-BE49-F238E27FC236}">
                <a16:creationId xmlns:a16="http://schemas.microsoft.com/office/drawing/2014/main" id="{08D278C4-7E88-41A9-B2CB-655DCDAF7255}"/>
              </a:ext>
            </a:extLst>
          </p:cNvPr>
          <p:cNvGraphicFramePr>
            <a:graphicFrameLocks noGrp="1"/>
          </p:cNvGraphicFramePr>
          <p:nvPr>
            <p:extLst>
              <p:ext uri="{D42A27DB-BD31-4B8C-83A1-F6EECF244321}">
                <p14:modId xmlns:p14="http://schemas.microsoft.com/office/powerpoint/2010/main" val="3623842711"/>
              </p:ext>
            </p:extLst>
          </p:nvPr>
        </p:nvGraphicFramePr>
        <p:xfrm>
          <a:off x="108098" y="8041380"/>
          <a:ext cx="6652248" cy="1546620"/>
        </p:xfrm>
        <a:graphic>
          <a:graphicData uri="http://schemas.openxmlformats.org/drawingml/2006/table">
            <a:tbl>
              <a:tblPr firstRow="1" bandRow="1">
                <a:tableStyleId>{2D5ABB26-0587-4C30-8999-92F81FD0307C}</a:tableStyleId>
              </a:tblPr>
              <a:tblGrid>
                <a:gridCol w="1108708">
                  <a:extLst>
                    <a:ext uri="{9D8B030D-6E8A-4147-A177-3AD203B41FA5}">
                      <a16:colId xmlns:a16="http://schemas.microsoft.com/office/drawing/2014/main" val="1713468828"/>
                    </a:ext>
                  </a:extLst>
                </a:gridCol>
                <a:gridCol w="1108708">
                  <a:extLst>
                    <a:ext uri="{9D8B030D-6E8A-4147-A177-3AD203B41FA5}">
                      <a16:colId xmlns:a16="http://schemas.microsoft.com/office/drawing/2014/main" val="2269615378"/>
                    </a:ext>
                  </a:extLst>
                </a:gridCol>
                <a:gridCol w="1108708">
                  <a:extLst>
                    <a:ext uri="{9D8B030D-6E8A-4147-A177-3AD203B41FA5}">
                      <a16:colId xmlns:a16="http://schemas.microsoft.com/office/drawing/2014/main" val="3517463195"/>
                    </a:ext>
                  </a:extLst>
                </a:gridCol>
                <a:gridCol w="1108708">
                  <a:extLst>
                    <a:ext uri="{9D8B030D-6E8A-4147-A177-3AD203B41FA5}">
                      <a16:colId xmlns:a16="http://schemas.microsoft.com/office/drawing/2014/main" val="3012284916"/>
                    </a:ext>
                  </a:extLst>
                </a:gridCol>
                <a:gridCol w="1108708">
                  <a:extLst>
                    <a:ext uri="{9D8B030D-6E8A-4147-A177-3AD203B41FA5}">
                      <a16:colId xmlns:a16="http://schemas.microsoft.com/office/drawing/2014/main" val="3103919278"/>
                    </a:ext>
                  </a:extLst>
                </a:gridCol>
                <a:gridCol w="1108708">
                  <a:extLst>
                    <a:ext uri="{9D8B030D-6E8A-4147-A177-3AD203B41FA5}">
                      <a16:colId xmlns:a16="http://schemas.microsoft.com/office/drawing/2014/main" val="2449578342"/>
                    </a:ext>
                  </a:extLst>
                </a:gridCol>
              </a:tblGrid>
              <a:tr h="353282">
                <a:tc gridSpan="6">
                  <a:txBody>
                    <a:bodyPr/>
                    <a:lstStyle/>
                    <a:p>
                      <a:pPr algn="ctr"/>
                      <a:r>
                        <a:rPr lang="pt-BR" sz="1600" b="1" dirty="0">
                          <a:latin typeface="Arial" panose="020B0604020202020204" pitchFamily="34" charset="0"/>
                          <a:cs typeface="Arial" panose="020B0604020202020204" pitchFamily="34" charset="0"/>
                        </a:rPr>
                        <a:t>Dados necessários para abertura do atendimento</a:t>
                      </a:r>
                      <a:endParaRPr lang="pt-BR" sz="18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471730">
                <a:tc>
                  <a:txBody>
                    <a:bodyPr/>
                    <a:lstStyle/>
                    <a:p>
                      <a:r>
                        <a:rPr lang="pt-BR" sz="1200" dirty="0">
                          <a:latin typeface="Arial" panose="020B0604020202020204" pitchFamily="34" charset="0"/>
                          <a:cs typeface="Arial" panose="020B0604020202020204" pitchFamily="34" charset="0"/>
                        </a:rPr>
                        <a:t>Data de Compra</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Cliente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Estado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348714">
                <a:tc>
                  <a:txBody>
                    <a:bodyPr/>
                    <a:lstStyle/>
                    <a:p>
                      <a:r>
                        <a:rPr lang="pt-BR" sz="1200" dirty="0">
                          <a:latin typeface="Arial" panose="020B0604020202020204" pitchFamily="34" charset="0"/>
                          <a:cs typeface="Arial" panose="020B0604020202020204" pitchFamily="34" charset="0"/>
                        </a:rPr>
                        <a:t>Nota Fiscal</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dirty="0">
                          <a:latin typeface="Arial" panose="020B0604020202020204" pitchFamily="34" charset="0"/>
                          <a:cs typeface="Arial" panose="020B0604020202020204" pitchFamily="34" charset="0"/>
                        </a:rPr>
                        <a:t>Telefone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latin typeface="Arial" panose="020B0604020202020204" pitchFamily="34" charset="0"/>
                          <a:cs typeface="Arial" panose="020B0604020202020204" pitchFamily="34" charset="0"/>
                        </a:rPr>
                        <a:t>Endereço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348714">
                <a:tc>
                  <a:txBody>
                    <a:bodyPr/>
                    <a:lstStyle/>
                    <a:p>
                      <a:r>
                        <a:rPr lang="pt-BR" sz="1200" dirty="0">
                          <a:latin typeface="Arial" panose="020B0604020202020204" pitchFamily="34" charset="0"/>
                          <a:cs typeface="Arial" panose="020B0604020202020204" pitchFamily="34" charset="0"/>
                        </a:rPr>
                        <a:t>Revendedor</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Cidade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Série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781281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6265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to 3">
            <a:extLst>
              <a:ext uri="{FF2B5EF4-FFF2-40B4-BE49-F238E27FC236}">
                <a16:creationId xmlns:a16="http://schemas.microsoft.com/office/drawing/2014/main" id="{84CCB732-8D97-4A1F-936D-9A88D31B1261}"/>
              </a:ext>
            </a:extLst>
          </p:cNvPr>
          <p:cNvCxnSpPr>
            <a:cxnSpLocks/>
          </p:cNvCxnSpPr>
          <p:nvPr/>
        </p:nvCxnSpPr>
        <p:spPr>
          <a:xfrm>
            <a:off x="67128" y="147092"/>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 name="Conector reto 4">
            <a:extLst>
              <a:ext uri="{FF2B5EF4-FFF2-40B4-BE49-F238E27FC236}">
                <a16:creationId xmlns:a16="http://schemas.microsoft.com/office/drawing/2014/main" id="{59CE9375-CA61-44B2-8B29-4E9FDA0065C8}"/>
              </a:ext>
            </a:extLst>
          </p:cNvPr>
          <p:cNvCxnSpPr>
            <a:cxnSpLocks/>
          </p:cNvCxnSpPr>
          <p:nvPr/>
        </p:nvCxnSpPr>
        <p:spPr>
          <a:xfrm>
            <a:off x="67128" y="626068"/>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 name="Conector reto 5">
            <a:extLst>
              <a:ext uri="{FF2B5EF4-FFF2-40B4-BE49-F238E27FC236}">
                <a16:creationId xmlns:a16="http://schemas.microsoft.com/office/drawing/2014/main" id="{1B219E3E-BE79-4FE8-B9EC-4D6DD9060A45}"/>
              </a:ext>
            </a:extLst>
          </p:cNvPr>
          <p:cNvCxnSpPr>
            <a:cxnSpLocks/>
          </p:cNvCxnSpPr>
          <p:nvPr/>
        </p:nvCxnSpPr>
        <p:spPr>
          <a:xfrm>
            <a:off x="68663" y="9685376"/>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7" name="Imagem 6">
            <a:extLst>
              <a:ext uri="{FF2B5EF4-FFF2-40B4-BE49-F238E27FC236}">
                <a16:creationId xmlns:a16="http://schemas.microsoft.com/office/drawing/2014/main" id="{9E35CBFD-B2BB-4A62-8681-DECA61E803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57" y="9337924"/>
            <a:ext cx="915445" cy="274332"/>
          </a:xfrm>
          <a:prstGeom prst="rect">
            <a:avLst/>
          </a:prstGeom>
        </p:spPr>
      </p:pic>
      <p:pic>
        <p:nvPicPr>
          <p:cNvPr id="8" name="Imagem 7">
            <a:extLst>
              <a:ext uri="{FF2B5EF4-FFF2-40B4-BE49-F238E27FC236}">
                <a16:creationId xmlns:a16="http://schemas.microsoft.com/office/drawing/2014/main" id="{CB0AC7A8-163A-4BDB-8FC7-E6920ECE6B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70564" y="9337924"/>
            <a:ext cx="915445" cy="274332"/>
          </a:xfrm>
          <a:prstGeom prst="rect">
            <a:avLst/>
          </a:prstGeom>
        </p:spPr>
      </p:pic>
      <p:pic>
        <p:nvPicPr>
          <p:cNvPr id="9" name="Imagem 8">
            <a:extLst>
              <a:ext uri="{FF2B5EF4-FFF2-40B4-BE49-F238E27FC236}">
                <a16:creationId xmlns:a16="http://schemas.microsoft.com/office/drawing/2014/main" id="{4269E59F-6955-4935-BDC6-28E4955B96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26071" y="9337924"/>
            <a:ext cx="915445" cy="274332"/>
          </a:xfrm>
          <a:prstGeom prst="rect">
            <a:avLst/>
          </a:prstGeom>
        </p:spPr>
      </p:pic>
      <p:pic>
        <p:nvPicPr>
          <p:cNvPr id="10" name="Imagem 9">
            <a:extLst>
              <a:ext uri="{FF2B5EF4-FFF2-40B4-BE49-F238E27FC236}">
                <a16:creationId xmlns:a16="http://schemas.microsoft.com/office/drawing/2014/main" id="{0C04551B-F0E8-4C40-859D-13E675D481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1578" y="9337924"/>
            <a:ext cx="915445" cy="274332"/>
          </a:xfrm>
          <a:prstGeom prst="rect">
            <a:avLst/>
          </a:prstGeom>
        </p:spPr>
      </p:pic>
      <p:pic>
        <p:nvPicPr>
          <p:cNvPr id="11" name="Imagem 10">
            <a:extLst>
              <a:ext uri="{FF2B5EF4-FFF2-40B4-BE49-F238E27FC236}">
                <a16:creationId xmlns:a16="http://schemas.microsoft.com/office/drawing/2014/main" id="{CCE79A17-BB94-42A3-9C94-6BDEF01488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7085" y="9337924"/>
            <a:ext cx="915445" cy="274332"/>
          </a:xfrm>
          <a:prstGeom prst="rect">
            <a:avLst/>
          </a:prstGeom>
        </p:spPr>
      </p:pic>
      <p:pic>
        <p:nvPicPr>
          <p:cNvPr id="12" name="Imagem 11">
            <a:extLst>
              <a:ext uri="{FF2B5EF4-FFF2-40B4-BE49-F238E27FC236}">
                <a16:creationId xmlns:a16="http://schemas.microsoft.com/office/drawing/2014/main" id="{6415FC89-5F0B-4473-B761-49EC9E6BB7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92592" y="9337924"/>
            <a:ext cx="915445" cy="274332"/>
          </a:xfrm>
          <a:prstGeom prst="rect">
            <a:avLst/>
          </a:prstGeom>
        </p:spPr>
      </p:pic>
      <p:cxnSp>
        <p:nvCxnSpPr>
          <p:cNvPr id="13" name="Conector reto 12">
            <a:extLst>
              <a:ext uri="{FF2B5EF4-FFF2-40B4-BE49-F238E27FC236}">
                <a16:creationId xmlns:a16="http://schemas.microsoft.com/office/drawing/2014/main" id="{D1AA4BC4-6EBE-4481-9CD3-31CAF290CD95}"/>
              </a:ext>
            </a:extLst>
          </p:cNvPr>
          <p:cNvCxnSpPr>
            <a:cxnSpLocks/>
          </p:cNvCxnSpPr>
          <p:nvPr/>
        </p:nvCxnSpPr>
        <p:spPr>
          <a:xfrm>
            <a:off x="68663" y="9251898"/>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Imagem 13">
            <a:extLst>
              <a:ext uri="{FF2B5EF4-FFF2-40B4-BE49-F238E27FC236}">
                <a16:creationId xmlns:a16="http://schemas.microsoft.com/office/drawing/2014/main" id="{FD767F1B-DC42-4D60-94DA-833478B879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86" y="672089"/>
            <a:ext cx="1559003" cy="365525"/>
          </a:xfrm>
          <a:prstGeom prst="rect">
            <a:avLst/>
          </a:prstGeom>
        </p:spPr>
      </p:pic>
      <p:sp>
        <p:nvSpPr>
          <p:cNvPr id="15" name="CaixaDeTexto 14">
            <a:extLst>
              <a:ext uri="{FF2B5EF4-FFF2-40B4-BE49-F238E27FC236}">
                <a16:creationId xmlns:a16="http://schemas.microsoft.com/office/drawing/2014/main" id="{7F113479-3BDE-4608-82FC-EBDBB16A1522}"/>
              </a:ext>
            </a:extLst>
          </p:cNvPr>
          <p:cNvSpPr txBox="1"/>
          <p:nvPr/>
        </p:nvSpPr>
        <p:spPr>
          <a:xfrm>
            <a:off x="315859" y="183000"/>
            <a:ext cx="6226281" cy="41485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defTabSz="1366508">
              <a:defRPr/>
            </a:pPr>
            <a:r>
              <a:rPr lang="pt-BR" sz="2096" b="1" dirty="0">
                <a:solidFill>
                  <a:prstClr val="black"/>
                </a:solidFill>
                <a:latin typeface="Monda" pitchFamily="2" charset="0"/>
              </a:rPr>
              <a:t>BALCÃO AR FORÇADO</a:t>
            </a:r>
          </a:p>
        </p:txBody>
      </p:sp>
      <p:pic>
        <p:nvPicPr>
          <p:cNvPr id="16" name="Imagem 15">
            <a:extLst>
              <a:ext uri="{FF2B5EF4-FFF2-40B4-BE49-F238E27FC236}">
                <a16:creationId xmlns:a16="http://schemas.microsoft.com/office/drawing/2014/main" id="{E6DB1FCB-85E5-4880-A139-0BD6B742A1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5492" y="672089"/>
            <a:ext cx="1559003" cy="365525"/>
          </a:xfrm>
          <a:prstGeom prst="rect">
            <a:avLst/>
          </a:prstGeom>
        </p:spPr>
      </p:pic>
      <p:pic>
        <p:nvPicPr>
          <p:cNvPr id="17" name="Imagem 16">
            <a:extLst>
              <a:ext uri="{FF2B5EF4-FFF2-40B4-BE49-F238E27FC236}">
                <a16:creationId xmlns:a16="http://schemas.microsoft.com/office/drawing/2014/main" id="{2CBD377A-F0AD-4C71-8F4B-379E097658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799" y="672089"/>
            <a:ext cx="1559003" cy="365525"/>
          </a:xfrm>
          <a:prstGeom prst="rect">
            <a:avLst/>
          </a:prstGeom>
        </p:spPr>
      </p:pic>
      <p:pic>
        <p:nvPicPr>
          <p:cNvPr id="18" name="Imagem 17">
            <a:extLst>
              <a:ext uri="{FF2B5EF4-FFF2-40B4-BE49-F238E27FC236}">
                <a16:creationId xmlns:a16="http://schemas.microsoft.com/office/drawing/2014/main" id="{FE62B782-7CBD-4AFD-A60E-29B0C6B62C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2106" y="672089"/>
            <a:ext cx="1559003" cy="365525"/>
          </a:xfrm>
          <a:prstGeom prst="rect">
            <a:avLst/>
          </a:prstGeom>
        </p:spPr>
      </p:pic>
      <p:pic>
        <p:nvPicPr>
          <p:cNvPr id="19" name="Imagem 18">
            <a:extLst>
              <a:ext uri="{FF2B5EF4-FFF2-40B4-BE49-F238E27FC236}">
                <a16:creationId xmlns:a16="http://schemas.microsoft.com/office/drawing/2014/main" id="{B02D8795-9CCA-4FA3-9A26-1E2B18164F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239" y="1100547"/>
            <a:ext cx="1559003" cy="365525"/>
          </a:xfrm>
          <a:prstGeom prst="rect">
            <a:avLst/>
          </a:prstGeom>
        </p:spPr>
      </p:pic>
      <p:pic>
        <p:nvPicPr>
          <p:cNvPr id="20" name="Imagem 19">
            <a:extLst>
              <a:ext uri="{FF2B5EF4-FFF2-40B4-BE49-F238E27FC236}">
                <a16:creationId xmlns:a16="http://schemas.microsoft.com/office/drawing/2014/main" id="{E8DBAAAC-098D-4FBC-B3A3-B2216D704B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4545" y="1100547"/>
            <a:ext cx="1559003" cy="365525"/>
          </a:xfrm>
          <a:prstGeom prst="rect">
            <a:avLst/>
          </a:prstGeom>
        </p:spPr>
      </p:pic>
      <p:pic>
        <p:nvPicPr>
          <p:cNvPr id="21" name="Imagem 20">
            <a:extLst>
              <a:ext uri="{FF2B5EF4-FFF2-40B4-BE49-F238E27FC236}">
                <a16:creationId xmlns:a16="http://schemas.microsoft.com/office/drawing/2014/main" id="{959E2BCB-2B3C-45E6-8EFB-7A6593303A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7852" y="1100547"/>
            <a:ext cx="1559003" cy="365525"/>
          </a:xfrm>
          <a:prstGeom prst="rect">
            <a:avLst/>
          </a:prstGeom>
        </p:spPr>
      </p:pic>
      <p:pic>
        <p:nvPicPr>
          <p:cNvPr id="22" name="Imagem 21">
            <a:extLst>
              <a:ext uri="{FF2B5EF4-FFF2-40B4-BE49-F238E27FC236}">
                <a16:creationId xmlns:a16="http://schemas.microsoft.com/office/drawing/2014/main" id="{AABAF2DC-5F0D-4E11-BB7A-74392C4D35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1159" y="1100547"/>
            <a:ext cx="1559003" cy="365525"/>
          </a:xfrm>
          <a:prstGeom prst="rect">
            <a:avLst/>
          </a:prstGeom>
        </p:spPr>
      </p:pic>
      <p:pic>
        <p:nvPicPr>
          <p:cNvPr id="23" name="Imagem 22">
            <a:extLst>
              <a:ext uri="{FF2B5EF4-FFF2-40B4-BE49-F238E27FC236}">
                <a16:creationId xmlns:a16="http://schemas.microsoft.com/office/drawing/2014/main" id="{E47DB845-32D6-460D-8A75-2265C24A2D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71" y="1529004"/>
            <a:ext cx="1559003" cy="365525"/>
          </a:xfrm>
          <a:prstGeom prst="rect">
            <a:avLst/>
          </a:prstGeom>
        </p:spPr>
      </p:pic>
      <p:pic>
        <p:nvPicPr>
          <p:cNvPr id="24" name="Imagem 23">
            <a:extLst>
              <a:ext uri="{FF2B5EF4-FFF2-40B4-BE49-F238E27FC236}">
                <a16:creationId xmlns:a16="http://schemas.microsoft.com/office/drawing/2014/main" id="{B124B5B8-3C50-4690-8723-6301E07988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4777" y="1529004"/>
            <a:ext cx="1559003" cy="365525"/>
          </a:xfrm>
          <a:prstGeom prst="rect">
            <a:avLst/>
          </a:prstGeom>
        </p:spPr>
      </p:pic>
      <p:pic>
        <p:nvPicPr>
          <p:cNvPr id="25" name="Imagem 24">
            <a:extLst>
              <a:ext uri="{FF2B5EF4-FFF2-40B4-BE49-F238E27FC236}">
                <a16:creationId xmlns:a16="http://schemas.microsoft.com/office/drawing/2014/main" id="{857AEA42-D052-4EEE-A330-37D9AC32C7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8083" y="1529004"/>
            <a:ext cx="1559003" cy="365525"/>
          </a:xfrm>
          <a:prstGeom prst="rect">
            <a:avLst/>
          </a:prstGeom>
        </p:spPr>
      </p:pic>
      <p:pic>
        <p:nvPicPr>
          <p:cNvPr id="26" name="Imagem 25">
            <a:extLst>
              <a:ext uri="{FF2B5EF4-FFF2-40B4-BE49-F238E27FC236}">
                <a16:creationId xmlns:a16="http://schemas.microsoft.com/office/drawing/2014/main" id="{521D48D1-3A24-4688-B4FC-B867735C14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1391" y="1529004"/>
            <a:ext cx="1559003" cy="365525"/>
          </a:xfrm>
          <a:prstGeom prst="rect">
            <a:avLst/>
          </a:prstGeom>
        </p:spPr>
      </p:pic>
      <p:pic>
        <p:nvPicPr>
          <p:cNvPr id="27" name="Imagem 26">
            <a:extLst>
              <a:ext uri="{FF2B5EF4-FFF2-40B4-BE49-F238E27FC236}">
                <a16:creationId xmlns:a16="http://schemas.microsoft.com/office/drawing/2014/main" id="{0E8D3CEC-F607-48DB-B0A4-ACB9DC829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65" y="1951103"/>
            <a:ext cx="1559003" cy="365525"/>
          </a:xfrm>
          <a:prstGeom prst="rect">
            <a:avLst/>
          </a:prstGeom>
        </p:spPr>
      </p:pic>
      <p:pic>
        <p:nvPicPr>
          <p:cNvPr id="28" name="Imagem 27">
            <a:extLst>
              <a:ext uri="{FF2B5EF4-FFF2-40B4-BE49-F238E27FC236}">
                <a16:creationId xmlns:a16="http://schemas.microsoft.com/office/drawing/2014/main" id="{D4A2F5BF-BEA8-4E92-AC23-56E35FB72C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9072" y="1951103"/>
            <a:ext cx="1559003" cy="365525"/>
          </a:xfrm>
          <a:prstGeom prst="rect">
            <a:avLst/>
          </a:prstGeom>
        </p:spPr>
      </p:pic>
      <p:pic>
        <p:nvPicPr>
          <p:cNvPr id="29" name="Imagem 28">
            <a:extLst>
              <a:ext uri="{FF2B5EF4-FFF2-40B4-BE49-F238E27FC236}">
                <a16:creationId xmlns:a16="http://schemas.microsoft.com/office/drawing/2014/main" id="{ADCAD1C7-A5F7-4093-B307-AFE5696479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2378" y="1951103"/>
            <a:ext cx="1559003" cy="365525"/>
          </a:xfrm>
          <a:prstGeom prst="rect">
            <a:avLst/>
          </a:prstGeom>
        </p:spPr>
      </p:pic>
      <p:pic>
        <p:nvPicPr>
          <p:cNvPr id="30" name="Imagem 29">
            <a:extLst>
              <a:ext uri="{FF2B5EF4-FFF2-40B4-BE49-F238E27FC236}">
                <a16:creationId xmlns:a16="http://schemas.microsoft.com/office/drawing/2014/main" id="{4246BA53-F192-488E-89B7-7F779F362F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5686" y="1951103"/>
            <a:ext cx="1559003" cy="365525"/>
          </a:xfrm>
          <a:prstGeom prst="rect">
            <a:avLst/>
          </a:prstGeom>
        </p:spPr>
      </p:pic>
      <p:pic>
        <p:nvPicPr>
          <p:cNvPr id="31" name="Imagem 30">
            <a:extLst>
              <a:ext uri="{FF2B5EF4-FFF2-40B4-BE49-F238E27FC236}">
                <a16:creationId xmlns:a16="http://schemas.microsoft.com/office/drawing/2014/main" id="{65FAB4F9-15D6-4DD6-887B-AD4F4ADC33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18" y="2379561"/>
            <a:ext cx="1559003" cy="365525"/>
          </a:xfrm>
          <a:prstGeom prst="rect">
            <a:avLst/>
          </a:prstGeom>
        </p:spPr>
      </p:pic>
      <p:pic>
        <p:nvPicPr>
          <p:cNvPr id="32" name="Imagem 31">
            <a:extLst>
              <a:ext uri="{FF2B5EF4-FFF2-40B4-BE49-F238E27FC236}">
                <a16:creationId xmlns:a16="http://schemas.microsoft.com/office/drawing/2014/main" id="{AB2FE644-8FF2-43D5-8F23-D0B4911386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8124" y="2379561"/>
            <a:ext cx="1559003" cy="365525"/>
          </a:xfrm>
          <a:prstGeom prst="rect">
            <a:avLst/>
          </a:prstGeom>
        </p:spPr>
      </p:pic>
      <p:pic>
        <p:nvPicPr>
          <p:cNvPr id="33" name="Imagem 32">
            <a:extLst>
              <a:ext uri="{FF2B5EF4-FFF2-40B4-BE49-F238E27FC236}">
                <a16:creationId xmlns:a16="http://schemas.microsoft.com/office/drawing/2014/main" id="{1D267545-07DF-4054-9EFD-22E8C6FFC7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1431" y="2379561"/>
            <a:ext cx="1559003" cy="365525"/>
          </a:xfrm>
          <a:prstGeom prst="rect">
            <a:avLst/>
          </a:prstGeom>
        </p:spPr>
      </p:pic>
      <p:pic>
        <p:nvPicPr>
          <p:cNvPr id="34" name="Imagem 33">
            <a:extLst>
              <a:ext uri="{FF2B5EF4-FFF2-40B4-BE49-F238E27FC236}">
                <a16:creationId xmlns:a16="http://schemas.microsoft.com/office/drawing/2014/main" id="{E7CB5BF9-3346-4AC8-AC58-25957E82F4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4738" y="2379561"/>
            <a:ext cx="1559003" cy="365525"/>
          </a:xfrm>
          <a:prstGeom prst="rect">
            <a:avLst/>
          </a:prstGeom>
        </p:spPr>
      </p:pic>
      <p:pic>
        <p:nvPicPr>
          <p:cNvPr id="35" name="Imagem 34">
            <a:extLst>
              <a:ext uri="{FF2B5EF4-FFF2-40B4-BE49-F238E27FC236}">
                <a16:creationId xmlns:a16="http://schemas.microsoft.com/office/drawing/2014/main" id="{FCC8878A-7E32-4B1E-B140-5DAD61B29F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0" y="2808018"/>
            <a:ext cx="1559003" cy="365525"/>
          </a:xfrm>
          <a:prstGeom prst="rect">
            <a:avLst/>
          </a:prstGeom>
        </p:spPr>
      </p:pic>
      <p:pic>
        <p:nvPicPr>
          <p:cNvPr id="36" name="Imagem 35">
            <a:extLst>
              <a:ext uri="{FF2B5EF4-FFF2-40B4-BE49-F238E27FC236}">
                <a16:creationId xmlns:a16="http://schemas.microsoft.com/office/drawing/2014/main" id="{68A21F50-EB3A-4A4F-8B42-B43AA49BA3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8356" y="2808018"/>
            <a:ext cx="1559003" cy="365525"/>
          </a:xfrm>
          <a:prstGeom prst="rect">
            <a:avLst/>
          </a:prstGeom>
        </p:spPr>
      </p:pic>
      <p:pic>
        <p:nvPicPr>
          <p:cNvPr id="37" name="Imagem 36">
            <a:extLst>
              <a:ext uri="{FF2B5EF4-FFF2-40B4-BE49-F238E27FC236}">
                <a16:creationId xmlns:a16="http://schemas.microsoft.com/office/drawing/2014/main" id="{6799983C-8E66-476F-A0FE-E9D2836046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1663" y="2808018"/>
            <a:ext cx="1559003" cy="365525"/>
          </a:xfrm>
          <a:prstGeom prst="rect">
            <a:avLst/>
          </a:prstGeom>
        </p:spPr>
      </p:pic>
      <p:pic>
        <p:nvPicPr>
          <p:cNvPr id="38" name="Imagem 37">
            <a:extLst>
              <a:ext uri="{FF2B5EF4-FFF2-40B4-BE49-F238E27FC236}">
                <a16:creationId xmlns:a16="http://schemas.microsoft.com/office/drawing/2014/main" id="{E82947E0-7136-4FF0-8222-C404963E85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4970" y="2808018"/>
            <a:ext cx="1559003" cy="365525"/>
          </a:xfrm>
          <a:prstGeom prst="rect">
            <a:avLst/>
          </a:prstGeom>
        </p:spPr>
      </p:pic>
      <p:pic>
        <p:nvPicPr>
          <p:cNvPr id="39" name="Imagem 38">
            <a:extLst>
              <a:ext uri="{FF2B5EF4-FFF2-40B4-BE49-F238E27FC236}">
                <a16:creationId xmlns:a16="http://schemas.microsoft.com/office/drawing/2014/main" id="{3AC06716-30DC-49F2-B803-4437D8B6D7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239" y="3232516"/>
            <a:ext cx="1559003" cy="365525"/>
          </a:xfrm>
          <a:prstGeom prst="rect">
            <a:avLst/>
          </a:prstGeom>
        </p:spPr>
      </p:pic>
      <p:pic>
        <p:nvPicPr>
          <p:cNvPr id="40" name="Imagem 39">
            <a:extLst>
              <a:ext uri="{FF2B5EF4-FFF2-40B4-BE49-F238E27FC236}">
                <a16:creationId xmlns:a16="http://schemas.microsoft.com/office/drawing/2014/main" id="{4FD558F7-E38A-448D-854B-192158A55B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4545" y="3232516"/>
            <a:ext cx="1559003" cy="365525"/>
          </a:xfrm>
          <a:prstGeom prst="rect">
            <a:avLst/>
          </a:prstGeom>
        </p:spPr>
      </p:pic>
      <p:pic>
        <p:nvPicPr>
          <p:cNvPr id="41" name="Imagem 40">
            <a:extLst>
              <a:ext uri="{FF2B5EF4-FFF2-40B4-BE49-F238E27FC236}">
                <a16:creationId xmlns:a16="http://schemas.microsoft.com/office/drawing/2014/main" id="{40EA066F-4CAC-435E-9BBC-2890D56B16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7852" y="3232516"/>
            <a:ext cx="1559003" cy="365525"/>
          </a:xfrm>
          <a:prstGeom prst="rect">
            <a:avLst/>
          </a:prstGeom>
        </p:spPr>
      </p:pic>
      <p:pic>
        <p:nvPicPr>
          <p:cNvPr id="42" name="Imagem 41">
            <a:extLst>
              <a:ext uri="{FF2B5EF4-FFF2-40B4-BE49-F238E27FC236}">
                <a16:creationId xmlns:a16="http://schemas.microsoft.com/office/drawing/2014/main" id="{88222EED-9A3B-44F3-8803-865E789E88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1159" y="3232516"/>
            <a:ext cx="1559003" cy="365525"/>
          </a:xfrm>
          <a:prstGeom prst="rect">
            <a:avLst/>
          </a:prstGeom>
        </p:spPr>
      </p:pic>
      <p:pic>
        <p:nvPicPr>
          <p:cNvPr id="43" name="Imagem 42">
            <a:extLst>
              <a:ext uri="{FF2B5EF4-FFF2-40B4-BE49-F238E27FC236}">
                <a16:creationId xmlns:a16="http://schemas.microsoft.com/office/drawing/2014/main" id="{FFE10D73-5291-4E91-8355-670997A3BF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292" y="3660973"/>
            <a:ext cx="1559003" cy="365525"/>
          </a:xfrm>
          <a:prstGeom prst="rect">
            <a:avLst/>
          </a:prstGeom>
        </p:spPr>
      </p:pic>
      <p:pic>
        <p:nvPicPr>
          <p:cNvPr id="44" name="Imagem 43">
            <a:extLst>
              <a:ext uri="{FF2B5EF4-FFF2-40B4-BE49-F238E27FC236}">
                <a16:creationId xmlns:a16="http://schemas.microsoft.com/office/drawing/2014/main" id="{ABEE2582-BDAC-4D1B-BA5B-86AC9AD7A5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3598" y="3660973"/>
            <a:ext cx="1559003" cy="365525"/>
          </a:xfrm>
          <a:prstGeom prst="rect">
            <a:avLst/>
          </a:prstGeom>
        </p:spPr>
      </p:pic>
      <p:pic>
        <p:nvPicPr>
          <p:cNvPr id="45" name="Imagem 44">
            <a:extLst>
              <a:ext uri="{FF2B5EF4-FFF2-40B4-BE49-F238E27FC236}">
                <a16:creationId xmlns:a16="http://schemas.microsoft.com/office/drawing/2014/main" id="{76374637-0A55-4B1E-9D73-0B3889D8E6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6904" y="3660973"/>
            <a:ext cx="1559003" cy="365525"/>
          </a:xfrm>
          <a:prstGeom prst="rect">
            <a:avLst/>
          </a:prstGeom>
        </p:spPr>
      </p:pic>
      <p:pic>
        <p:nvPicPr>
          <p:cNvPr id="46" name="Imagem 45">
            <a:extLst>
              <a:ext uri="{FF2B5EF4-FFF2-40B4-BE49-F238E27FC236}">
                <a16:creationId xmlns:a16="http://schemas.microsoft.com/office/drawing/2014/main" id="{D802AAC2-55B3-420B-BF91-BF5D21A63F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0212" y="3660973"/>
            <a:ext cx="1559003" cy="365525"/>
          </a:xfrm>
          <a:prstGeom prst="rect">
            <a:avLst/>
          </a:prstGeom>
        </p:spPr>
      </p:pic>
      <p:pic>
        <p:nvPicPr>
          <p:cNvPr id="47" name="Imagem 46">
            <a:extLst>
              <a:ext uri="{FF2B5EF4-FFF2-40B4-BE49-F238E27FC236}">
                <a16:creationId xmlns:a16="http://schemas.microsoft.com/office/drawing/2014/main" id="{534E6EA6-71A8-452C-A9E3-3158EE7451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23" y="4089431"/>
            <a:ext cx="1559003" cy="365525"/>
          </a:xfrm>
          <a:prstGeom prst="rect">
            <a:avLst/>
          </a:prstGeom>
        </p:spPr>
      </p:pic>
      <p:pic>
        <p:nvPicPr>
          <p:cNvPr id="48" name="Imagem 47">
            <a:extLst>
              <a:ext uri="{FF2B5EF4-FFF2-40B4-BE49-F238E27FC236}">
                <a16:creationId xmlns:a16="http://schemas.microsoft.com/office/drawing/2014/main" id="{4E450419-02B8-4033-A447-2D7ED35D03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3830" y="4089431"/>
            <a:ext cx="1559003" cy="365525"/>
          </a:xfrm>
          <a:prstGeom prst="rect">
            <a:avLst/>
          </a:prstGeom>
        </p:spPr>
      </p:pic>
      <p:pic>
        <p:nvPicPr>
          <p:cNvPr id="49" name="Imagem 48">
            <a:extLst>
              <a:ext uri="{FF2B5EF4-FFF2-40B4-BE49-F238E27FC236}">
                <a16:creationId xmlns:a16="http://schemas.microsoft.com/office/drawing/2014/main" id="{60A1420B-67CB-4004-A2E6-5E654DC2C2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7136" y="4089431"/>
            <a:ext cx="1559003" cy="365525"/>
          </a:xfrm>
          <a:prstGeom prst="rect">
            <a:avLst/>
          </a:prstGeom>
        </p:spPr>
      </p:pic>
      <p:pic>
        <p:nvPicPr>
          <p:cNvPr id="50" name="Imagem 49">
            <a:extLst>
              <a:ext uri="{FF2B5EF4-FFF2-40B4-BE49-F238E27FC236}">
                <a16:creationId xmlns:a16="http://schemas.microsoft.com/office/drawing/2014/main" id="{A3C7CAEF-55C8-4211-AE3F-A892619F14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0444" y="4089431"/>
            <a:ext cx="1559003" cy="365525"/>
          </a:xfrm>
          <a:prstGeom prst="rect">
            <a:avLst/>
          </a:prstGeom>
        </p:spPr>
      </p:pic>
      <p:pic>
        <p:nvPicPr>
          <p:cNvPr id="51" name="Imagem 50">
            <a:extLst>
              <a:ext uri="{FF2B5EF4-FFF2-40B4-BE49-F238E27FC236}">
                <a16:creationId xmlns:a16="http://schemas.microsoft.com/office/drawing/2014/main" id="{7D01644A-18C9-49EE-8E99-A666093A3A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18" y="4511530"/>
            <a:ext cx="1559003" cy="365525"/>
          </a:xfrm>
          <a:prstGeom prst="rect">
            <a:avLst/>
          </a:prstGeom>
        </p:spPr>
      </p:pic>
      <p:pic>
        <p:nvPicPr>
          <p:cNvPr id="52" name="Imagem 51">
            <a:extLst>
              <a:ext uri="{FF2B5EF4-FFF2-40B4-BE49-F238E27FC236}">
                <a16:creationId xmlns:a16="http://schemas.microsoft.com/office/drawing/2014/main" id="{8258A440-39D7-4F76-B239-B8D6E38C6D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8124" y="4511530"/>
            <a:ext cx="1559003" cy="365525"/>
          </a:xfrm>
          <a:prstGeom prst="rect">
            <a:avLst/>
          </a:prstGeom>
        </p:spPr>
      </p:pic>
      <p:pic>
        <p:nvPicPr>
          <p:cNvPr id="53" name="Imagem 52">
            <a:extLst>
              <a:ext uri="{FF2B5EF4-FFF2-40B4-BE49-F238E27FC236}">
                <a16:creationId xmlns:a16="http://schemas.microsoft.com/office/drawing/2014/main" id="{7C082D14-092F-4063-B33A-D55F789D98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1431" y="4511530"/>
            <a:ext cx="1559003" cy="365525"/>
          </a:xfrm>
          <a:prstGeom prst="rect">
            <a:avLst/>
          </a:prstGeom>
        </p:spPr>
      </p:pic>
      <p:pic>
        <p:nvPicPr>
          <p:cNvPr id="54" name="Imagem 53">
            <a:extLst>
              <a:ext uri="{FF2B5EF4-FFF2-40B4-BE49-F238E27FC236}">
                <a16:creationId xmlns:a16="http://schemas.microsoft.com/office/drawing/2014/main" id="{76EE2B33-DF13-447D-BB09-24C514BB46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4738" y="4511530"/>
            <a:ext cx="1559003" cy="365525"/>
          </a:xfrm>
          <a:prstGeom prst="rect">
            <a:avLst/>
          </a:prstGeom>
        </p:spPr>
      </p:pic>
      <p:pic>
        <p:nvPicPr>
          <p:cNvPr id="55" name="Imagem 54">
            <a:extLst>
              <a:ext uri="{FF2B5EF4-FFF2-40B4-BE49-F238E27FC236}">
                <a16:creationId xmlns:a16="http://schemas.microsoft.com/office/drawing/2014/main" id="{DAF58A82-AF13-4D0E-B3D6-BDFBC96675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871" y="4939987"/>
            <a:ext cx="1559003" cy="365525"/>
          </a:xfrm>
          <a:prstGeom prst="rect">
            <a:avLst/>
          </a:prstGeom>
        </p:spPr>
      </p:pic>
      <p:pic>
        <p:nvPicPr>
          <p:cNvPr id="56" name="Imagem 55">
            <a:extLst>
              <a:ext uri="{FF2B5EF4-FFF2-40B4-BE49-F238E27FC236}">
                <a16:creationId xmlns:a16="http://schemas.microsoft.com/office/drawing/2014/main" id="{BD0DE522-2D25-4E75-996B-B1966400EA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7177" y="4939987"/>
            <a:ext cx="1559003" cy="365525"/>
          </a:xfrm>
          <a:prstGeom prst="rect">
            <a:avLst/>
          </a:prstGeom>
        </p:spPr>
      </p:pic>
      <p:pic>
        <p:nvPicPr>
          <p:cNvPr id="57" name="Imagem 56">
            <a:extLst>
              <a:ext uri="{FF2B5EF4-FFF2-40B4-BE49-F238E27FC236}">
                <a16:creationId xmlns:a16="http://schemas.microsoft.com/office/drawing/2014/main" id="{317A25F8-5A91-4868-914A-74DFF9643D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0484" y="4939987"/>
            <a:ext cx="1559003" cy="365525"/>
          </a:xfrm>
          <a:prstGeom prst="rect">
            <a:avLst/>
          </a:prstGeom>
        </p:spPr>
      </p:pic>
      <p:pic>
        <p:nvPicPr>
          <p:cNvPr id="58" name="Imagem 57">
            <a:extLst>
              <a:ext uri="{FF2B5EF4-FFF2-40B4-BE49-F238E27FC236}">
                <a16:creationId xmlns:a16="http://schemas.microsoft.com/office/drawing/2014/main" id="{70780D97-ED04-47AB-9114-FAD040DB31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3791" y="4939987"/>
            <a:ext cx="1559003" cy="365525"/>
          </a:xfrm>
          <a:prstGeom prst="rect">
            <a:avLst/>
          </a:prstGeom>
        </p:spPr>
      </p:pic>
      <p:pic>
        <p:nvPicPr>
          <p:cNvPr id="59" name="Imagem 58">
            <a:extLst>
              <a:ext uri="{FF2B5EF4-FFF2-40B4-BE49-F238E27FC236}">
                <a16:creationId xmlns:a16="http://schemas.microsoft.com/office/drawing/2014/main" id="{2F6A2313-BC25-46BE-9209-FA54A97FE4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103" y="5368445"/>
            <a:ext cx="1559003" cy="365525"/>
          </a:xfrm>
          <a:prstGeom prst="rect">
            <a:avLst/>
          </a:prstGeom>
        </p:spPr>
      </p:pic>
      <p:pic>
        <p:nvPicPr>
          <p:cNvPr id="60" name="Imagem 59">
            <a:extLst>
              <a:ext uri="{FF2B5EF4-FFF2-40B4-BE49-F238E27FC236}">
                <a16:creationId xmlns:a16="http://schemas.microsoft.com/office/drawing/2014/main" id="{BC836FAB-638E-497C-AD5A-2C5396F64E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7409" y="5368445"/>
            <a:ext cx="1559003" cy="365525"/>
          </a:xfrm>
          <a:prstGeom prst="rect">
            <a:avLst/>
          </a:prstGeom>
        </p:spPr>
      </p:pic>
      <p:pic>
        <p:nvPicPr>
          <p:cNvPr id="61" name="Imagem 60">
            <a:extLst>
              <a:ext uri="{FF2B5EF4-FFF2-40B4-BE49-F238E27FC236}">
                <a16:creationId xmlns:a16="http://schemas.microsoft.com/office/drawing/2014/main" id="{EDB79A43-C8DE-4407-8C1E-8389BB648E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0715" y="5368445"/>
            <a:ext cx="1559003" cy="365525"/>
          </a:xfrm>
          <a:prstGeom prst="rect">
            <a:avLst/>
          </a:prstGeom>
        </p:spPr>
      </p:pic>
      <p:pic>
        <p:nvPicPr>
          <p:cNvPr id="62" name="Imagem 61">
            <a:extLst>
              <a:ext uri="{FF2B5EF4-FFF2-40B4-BE49-F238E27FC236}">
                <a16:creationId xmlns:a16="http://schemas.microsoft.com/office/drawing/2014/main" id="{AAADC639-0AA0-43D1-9B90-281E34977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4023" y="5368445"/>
            <a:ext cx="1559003" cy="365525"/>
          </a:xfrm>
          <a:prstGeom prst="rect">
            <a:avLst/>
          </a:prstGeom>
        </p:spPr>
      </p:pic>
      <p:pic>
        <p:nvPicPr>
          <p:cNvPr id="63" name="Imagem 62">
            <a:extLst>
              <a:ext uri="{FF2B5EF4-FFF2-40B4-BE49-F238E27FC236}">
                <a16:creationId xmlns:a16="http://schemas.microsoft.com/office/drawing/2014/main" id="{7A8E2119-56C3-4B46-A1D3-E28221969F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292" y="5818533"/>
            <a:ext cx="1559003" cy="365525"/>
          </a:xfrm>
          <a:prstGeom prst="rect">
            <a:avLst/>
          </a:prstGeom>
        </p:spPr>
      </p:pic>
      <p:pic>
        <p:nvPicPr>
          <p:cNvPr id="64" name="Imagem 63">
            <a:extLst>
              <a:ext uri="{FF2B5EF4-FFF2-40B4-BE49-F238E27FC236}">
                <a16:creationId xmlns:a16="http://schemas.microsoft.com/office/drawing/2014/main" id="{EC1D65EB-8A48-406E-9942-3D865DA914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3598" y="5818533"/>
            <a:ext cx="1559003" cy="365525"/>
          </a:xfrm>
          <a:prstGeom prst="rect">
            <a:avLst/>
          </a:prstGeom>
        </p:spPr>
      </p:pic>
      <p:pic>
        <p:nvPicPr>
          <p:cNvPr id="65" name="Imagem 64">
            <a:extLst>
              <a:ext uri="{FF2B5EF4-FFF2-40B4-BE49-F238E27FC236}">
                <a16:creationId xmlns:a16="http://schemas.microsoft.com/office/drawing/2014/main" id="{6C733D4C-EA8A-4AE4-971E-E0E7BD395F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6904" y="5818533"/>
            <a:ext cx="1559003" cy="365525"/>
          </a:xfrm>
          <a:prstGeom prst="rect">
            <a:avLst/>
          </a:prstGeom>
        </p:spPr>
      </p:pic>
      <p:pic>
        <p:nvPicPr>
          <p:cNvPr id="66" name="Imagem 65">
            <a:extLst>
              <a:ext uri="{FF2B5EF4-FFF2-40B4-BE49-F238E27FC236}">
                <a16:creationId xmlns:a16="http://schemas.microsoft.com/office/drawing/2014/main" id="{25CA7A43-880D-4F6D-9590-E9F966D2F5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0212" y="5818533"/>
            <a:ext cx="1559003" cy="365525"/>
          </a:xfrm>
          <a:prstGeom prst="rect">
            <a:avLst/>
          </a:prstGeom>
        </p:spPr>
      </p:pic>
      <p:pic>
        <p:nvPicPr>
          <p:cNvPr id="67" name="Imagem 66">
            <a:extLst>
              <a:ext uri="{FF2B5EF4-FFF2-40B4-BE49-F238E27FC236}">
                <a16:creationId xmlns:a16="http://schemas.microsoft.com/office/drawing/2014/main" id="{686EC1AA-F9DE-4A9B-9D2F-9CA4955C74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344" y="6246990"/>
            <a:ext cx="1559003" cy="365525"/>
          </a:xfrm>
          <a:prstGeom prst="rect">
            <a:avLst/>
          </a:prstGeom>
        </p:spPr>
      </p:pic>
      <p:pic>
        <p:nvPicPr>
          <p:cNvPr id="68" name="Imagem 67">
            <a:extLst>
              <a:ext uri="{FF2B5EF4-FFF2-40B4-BE49-F238E27FC236}">
                <a16:creationId xmlns:a16="http://schemas.microsoft.com/office/drawing/2014/main" id="{E5282D2C-7188-4F8A-B546-6A6527B5BF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2651" y="6246990"/>
            <a:ext cx="1559003" cy="365525"/>
          </a:xfrm>
          <a:prstGeom prst="rect">
            <a:avLst/>
          </a:prstGeom>
        </p:spPr>
      </p:pic>
      <p:pic>
        <p:nvPicPr>
          <p:cNvPr id="69" name="Imagem 68">
            <a:extLst>
              <a:ext uri="{FF2B5EF4-FFF2-40B4-BE49-F238E27FC236}">
                <a16:creationId xmlns:a16="http://schemas.microsoft.com/office/drawing/2014/main" id="{38458AB1-B24B-4ABC-B17B-05272B677A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5957" y="6246990"/>
            <a:ext cx="1559003" cy="365525"/>
          </a:xfrm>
          <a:prstGeom prst="rect">
            <a:avLst/>
          </a:prstGeom>
        </p:spPr>
      </p:pic>
      <p:pic>
        <p:nvPicPr>
          <p:cNvPr id="70" name="Imagem 69">
            <a:extLst>
              <a:ext uri="{FF2B5EF4-FFF2-40B4-BE49-F238E27FC236}">
                <a16:creationId xmlns:a16="http://schemas.microsoft.com/office/drawing/2014/main" id="{B1AE0A09-3305-4AB8-AB40-E0A0C29F4F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39265" y="6246990"/>
            <a:ext cx="1559003" cy="365525"/>
          </a:xfrm>
          <a:prstGeom prst="rect">
            <a:avLst/>
          </a:prstGeom>
        </p:spPr>
      </p:pic>
      <p:pic>
        <p:nvPicPr>
          <p:cNvPr id="71" name="Imagem 70">
            <a:extLst>
              <a:ext uri="{FF2B5EF4-FFF2-40B4-BE49-F238E27FC236}">
                <a16:creationId xmlns:a16="http://schemas.microsoft.com/office/drawing/2014/main" id="{57C236EF-F49D-431A-A2F0-44606C4F2F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76" y="6675448"/>
            <a:ext cx="1559003" cy="365525"/>
          </a:xfrm>
          <a:prstGeom prst="rect">
            <a:avLst/>
          </a:prstGeom>
        </p:spPr>
      </p:pic>
      <p:pic>
        <p:nvPicPr>
          <p:cNvPr id="72" name="Imagem 71">
            <a:extLst>
              <a:ext uri="{FF2B5EF4-FFF2-40B4-BE49-F238E27FC236}">
                <a16:creationId xmlns:a16="http://schemas.microsoft.com/office/drawing/2014/main" id="{9EAFBEBC-0B41-4D84-B4D6-5E9DB40BF3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2883" y="6675448"/>
            <a:ext cx="1559003" cy="365525"/>
          </a:xfrm>
          <a:prstGeom prst="rect">
            <a:avLst/>
          </a:prstGeom>
        </p:spPr>
      </p:pic>
      <p:pic>
        <p:nvPicPr>
          <p:cNvPr id="73" name="Imagem 72">
            <a:extLst>
              <a:ext uri="{FF2B5EF4-FFF2-40B4-BE49-F238E27FC236}">
                <a16:creationId xmlns:a16="http://schemas.microsoft.com/office/drawing/2014/main" id="{1C850C77-082D-412B-9F2F-339A259604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6189" y="6675448"/>
            <a:ext cx="1559003" cy="365525"/>
          </a:xfrm>
          <a:prstGeom prst="rect">
            <a:avLst/>
          </a:prstGeom>
        </p:spPr>
      </p:pic>
      <p:pic>
        <p:nvPicPr>
          <p:cNvPr id="74" name="Imagem 73">
            <a:extLst>
              <a:ext uri="{FF2B5EF4-FFF2-40B4-BE49-F238E27FC236}">
                <a16:creationId xmlns:a16="http://schemas.microsoft.com/office/drawing/2014/main" id="{7E145889-3610-4081-8DC5-BB025E62DD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9497" y="6675448"/>
            <a:ext cx="1559003" cy="365525"/>
          </a:xfrm>
          <a:prstGeom prst="rect">
            <a:avLst/>
          </a:prstGeom>
        </p:spPr>
      </p:pic>
      <p:pic>
        <p:nvPicPr>
          <p:cNvPr id="75" name="Imagem 74">
            <a:extLst>
              <a:ext uri="{FF2B5EF4-FFF2-40B4-BE49-F238E27FC236}">
                <a16:creationId xmlns:a16="http://schemas.microsoft.com/office/drawing/2014/main" id="{65C9915C-7DCE-4216-A9BF-BFDD543E32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871" y="7097547"/>
            <a:ext cx="1559003" cy="365525"/>
          </a:xfrm>
          <a:prstGeom prst="rect">
            <a:avLst/>
          </a:prstGeom>
        </p:spPr>
      </p:pic>
      <p:pic>
        <p:nvPicPr>
          <p:cNvPr id="76" name="Imagem 75">
            <a:extLst>
              <a:ext uri="{FF2B5EF4-FFF2-40B4-BE49-F238E27FC236}">
                <a16:creationId xmlns:a16="http://schemas.microsoft.com/office/drawing/2014/main" id="{91718538-4FD5-407B-8C5B-FA6627832D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7177" y="7097547"/>
            <a:ext cx="1559003" cy="365525"/>
          </a:xfrm>
          <a:prstGeom prst="rect">
            <a:avLst/>
          </a:prstGeom>
        </p:spPr>
      </p:pic>
      <p:pic>
        <p:nvPicPr>
          <p:cNvPr id="77" name="Imagem 76">
            <a:extLst>
              <a:ext uri="{FF2B5EF4-FFF2-40B4-BE49-F238E27FC236}">
                <a16:creationId xmlns:a16="http://schemas.microsoft.com/office/drawing/2014/main" id="{04AF27D8-1403-4165-9EF0-43272D9DC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0484" y="7097547"/>
            <a:ext cx="1559003" cy="365525"/>
          </a:xfrm>
          <a:prstGeom prst="rect">
            <a:avLst/>
          </a:prstGeom>
        </p:spPr>
      </p:pic>
      <p:pic>
        <p:nvPicPr>
          <p:cNvPr id="78" name="Imagem 77">
            <a:extLst>
              <a:ext uri="{FF2B5EF4-FFF2-40B4-BE49-F238E27FC236}">
                <a16:creationId xmlns:a16="http://schemas.microsoft.com/office/drawing/2014/main" id="{FEF5A088-0D1C-4AC7-824E-41388F6C3C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3791" y="7097547"/>
            <a:ext cx="1559003" cy="365525"/>
          </a:xfrm>
          <a:prstGeom prst="rect">
            <a:avLst/>
          </a:prstGeom>
        </p:spPr>
      </p:pic>
      <p:pic>
        <p:nvPicPr>
          <p:cNvPr id="79" name="Imagem 78">
            <a:extLst>
              <a:ext uri="{FF2B5EF4-FFF2-40B4-BE49-F238E27FC236}">
                <a16:creationId xmlns:a16="http://schemas.microsoft.com/office/drawing/2014/main" id="{AF16F360-6E35-47FF-9ADD-12F11A5FFF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24" y="7526004"/>
            <a:ext cx="1559003" cy="365525"/>
          </a:xfrm>
          <a:prstGeom prst="rect">
            <a:avLst/>
          </a:prstGeom>
        </p:spPr>
      </p:pic>
      <p:pic>
        <p:nvPicPr>
          <p:cNvPr id="80" name="Imagem 79">
            <a:extLst>
              <a:ext uri="{FF2B5EF4-FFF2-40B4-BE49-F238E27FC236}">
                <a16:creationId xmlns:a16="http://schemas.microsoft.com/office/drawing/2014/main" id="{5D5E6BB5-93BC-42EB-AE5A-F693BDD950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6230" y="7526004"/>
            <a:ext cx="1559003" cy="365525"/>
          </a:xfrm>
          <a:prstGeom prst="rect">
            <a:avLst/>
          </a:prstGeom>
        </p:spPr>
      </p:pic>
      <p:pic>
        <p:nvPicPr>
          <p:cNvPr id="81" name="Imagem 80">
            <a:extLst>
              <a:ext uri="{FF2B5EF4-FFF2-40B4-BE49-F238E27FC236}">
                <a16:creationId xmlns:a16="http://schemas.microsoft.com/office/drawing/2014/main" id="{5AB09D0C-C399-47F7-94E4-BE3283B755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9536" y="7526004"/>
            <a:ext cx="1559003" cy="365525"/>
          </a:xfrm>
          <a:prstGeom prst="rect">
            <a:avLst/>
          </a:prstGeom>
        </p:spPr>
      </p:pic>
      <p:pic>
        <p:nvPicPr>
          <p:cNvPr id="82" name="Imagem 81">
            <a:extLst>
              <a:ext uri="{FF2B5EF4-FFF2-40B4-BE49-F238E27FC236}">
                <a16:creationId xmlns:a16="http://schemas.microsoft.com/office/drawing/2014/main" id="{E202D883-F29A-4CB2-8D97-52817C7B3E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2844" y="7526004"/>
            <a:ext cx="1559003" cy="365525"/>
          </a:xfrm>
          <a:prstGeom prst="rect">
            <a:avLst/>
          </a:prstGeom>
        </p:spPr>
      </p:pic>
      <p:pic>
        <p:nvPicPr>
          <p:cNvPr id="83" name="Imagem 82">
            <a:extLst>
              <a:ext uri="{FF2B5EF4-FFF2-40B4-BE49-F238E27FC236}">
                <a16:creationId xmlns:a16="http://schemas.microsoft.com/office/drawing/2014/main" id="{B156A94D-9FB6-4B55-B191-620F03FA4B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155" y="7954462"/>
            <a:ext cx="1559003" cy="365525"/>
          </a:xfrm>
          <a:prstGeom prst="rect">
            <a:avLst/>
          </a:prstGeom>
        </p:spPr>
      </p:pic>
      <p:pic>
        <p:nvPicPr>
          <p:cNvPr id="84" name="Imagem 83">
            <a:extLst>
              <a:ext uri="{FF2B5EF4-FFF2-40B4-BE49-F238E27FC236}">
                <a16:creationId xmlns:a16="http://schemas.microsoft.com/office/drawing/2014/main" id="{48119A58-FB73-45A0-9B3E-64CBFC320F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6462" y="7954462"/>
            <a:ext cx="1559003" cy="365525"/>
          </a:xfrm>
          <a:prstGeom prst="rect">
            <a:avLst/>
          </a:prstGeom>
        </p:spPr>
      </p:pic>
      <p:pic>
        <p:nvPicPr>
          <p:cNvPr id="85" name="Imagem 84">
            <a:extLst>
              <a:ext uri="{FF2B5EF4-FFF2-40B4-BE49-F238E27FC236}">
                <a16:creationId xmlns:a16="http://schemas.microsoft.com/office/drawing/2014/main" id="{C002F1A0-80B5-4678-B44A-B1E8F85829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9768" y="7954462"/>
            <a:ext cx="1559003" cy="365525"/>
          </a:xfrm>
          <a:prstGeom prst="rect">
            <a:avLst/>
          </a:prstGeom>
        </p:spPr>
      </p:pic>
      <p:pic>
        <p:nvPicPr>
          <p:cNvPr id="86" name="Imagem 85">
            <a:extLst>
              <a:ext uri="{FF2B5EF4-FFF2-40B4-BE49-F238E27FC236}">
                <a16:creationId xmlns:a16="http://schemas.microsoft.com/office/drawing/2014/main" id="{393D2C21-D4E6-4BB7-AF32-6139D0CC08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3076" y="7954462"/>
            <a:ext cx="1559003" cy="365525"/>
          </a:xfrm>
          <a:prstGeom prst="rect">
            <a:avLst/>
          </a:prstGeom>
        </p:spPr>
      </p:pic>
      <p:pic>
        <p:nvPicPr>
          <p:cNvPr id="87" name="Imagem 86">
            <a:extLst>
              <a:ext uri="{FF2B5EF4-FFF2-40B4-BE49-F238E27FC236}">
                <a16:creationId xmlns:a16="http://schemas.microsoft.com/office/drawing/2014/main" id="{F4190DE3-5B24-4E4B-ABB8-EA04601FD4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564" y="8384018"/>
            <a:ext cx="1559003" cy="365525"/>
          </a:xfrm>
          <a:prstGeom prst="rect">
            <a:avLst/>
          </a:prstGeom>
        </p:spPr>
      </p:pic>
      <p:pic>
        <p:nvPicPr>
          <p:cNvPr id="88" name="Imagem 87">
            <a:extLst>
              <a:ext uri="{FF2B5EF4-FFF2-40B4-BE49-F238E27FC236}">
                <a16:creationId xmlns:a16="http://schemas.microsoft.com/office/drawing/2014/main" id="{A1F8BBC8-0287-4C04-97FF-46E3B07C99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3870" y="8384018"/>
            <a:ext cx="1559003" cy="365525"/>
          </a:xfrm>
          <a:prstGeom prst="rect">
            <a:avLst/>
          </a:prstGeom>
        </p:spPr>
      </p:pic>
      <p:pic>
        <p:nvPicPr>
          <p:cNvPr id="89" name="Imagem 88">
            <a:extLst>
              <a:ext uri="{FF2B5EF4-FFF2-40B4-BE49-F238E27FC236}">
                <a16:creationId xmlns:a16="http://schemas.microsoft.com/office/drawing/2014/main" id="{3F350D1D-3973-4E01-BA37-BDB22D2E91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7177" y="8384018"/>
            <a:ext cx="1559003" cy="365525"/>
          </a:xfrm>
          <a:prstGeom prst="rect">
            <a:avLst/>
          </a:prstGeom>
        </p:spPr>
      </p:pic>
      <p:pic>
        <p:nvPicPr>
          <p:cNvPr id="90" name="Imagem 89">
            <a:extLst>
              <a:ext uri="{FF2B5EF4-FFF2-40B4-BE49-F238E27FC236}">
                <a16:creationId xmlns:a16="http://schemas.microsoft.com/office/drawing/2014/main" id="{564FCA38-D31D-475A-8B46-B7A064BF23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0485" y="8384018"/>
            <a:ext cx="1559003" cy="365525"/>
          </a:xfrm>
          <a:prstGeom prst="rect">
            <a:avLst/>
          </a:prstGeom>
        </p:spPr>
      </p:pic>
      <p:pic>
        <p:nvPicPr>
          <p:cNvPr id="91" name="Imagem 90">
            <a:extLst>
              <a:ext uri="{FF2B5EF4-FFF2-40B4-BE49-F238E27FC236}">
                <a16:creationId xmlns:a16="http://schemas.microsoft.com/office/drawing/2014/main" id="{1607A281-4B30-434B-BB24-41D2F1A046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66" y="8826326"/>
            <a:ext cx="1559003" cy="365525"/>
          </a:xfrm>
          <a:prstGeom prst="rect">
            <a:avLst/>
          </a:prstGeom>
        </p:spPr>
      </p:pic>
      <p:pic>
        <p:nvPicPr>
          <p:cNvPr id="92" name="Imagem 91">
            <a:extLst>
              <a:ext uri="{FF2B5EF4-FFF2-40B4-BE49-F238E27FC236}">
                <a16:creationId xmlns:a16="http://schemas.microsoft.com/office/drawing/2014/main" id="{89F7B138-E786-486E-95C6-736EA85963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5473" y="8826326"/>
            <a:ext cx="1559003" cy="365525"/>
          </a:xfrm>
          <a:prstGeom prst="rect">
            <a:avLst/>
          </a:prstGeom>
        </p:spPr>
      </p:pic>
      <p:pic>
        <p:nvPicPr>
          <p:cNvPr id="93" name="Imagem 92">
            <a:extLst>
              <a:ext uri="{FF2B5EF4-FFF2-40B4-BE49-F238E27FC236}">
                <a16:creationId xmlns:a16="http://schemas.microsoft.com/office/drawing/2014/main" id="{E506870A-C2D7-497E-88EA-AB7B590998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779" y="8826326"/>
            <a:ext cx="1559003" cy="365525"/>
          </a:xfrm>
          <a:prstGeom prst="rect">
            <a:avLst/>
          </a:prstGeom>
        </p:spPr>
      </p:pic>
      <p:pic>
        <p:nvPicPr>
          <p:cNvPr id="94" name="Imagem 93">
            <a:extLst>
              <a:ext uri="{FF2B5EF4-FFF2-40B4-BE49-F238E27FC236}">
                <a16:creationId xmlns:a16="http://schemas.microsoft.com/office/drawing/2014/main" id="{21D1ED0D-8CC2-4CBA-A78D-89ACFE0066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2087" y="8826326"/>
            <a:ext cx="1559003" cy="365525"/>
          </a:xfrm>
          <a:prstGeom prst="rect">
            <a:avLst/>
          </a:prstGeom>
        </p:spPr>
      </p:pic>
      <p:sp>
        <p:nvSpPr>
          <p:cNvPr id="95" name="CaixaDeTexto 94">
            <a:extLst>
              <a:ext uri="{FF2B5EF4-FFF2-40B4-BE49-F238E27FC236}">
                <a16:creationId xmlns:a16="http://schemas.microsoft.com/office/drawing/2014/main" id="{0B74BA59-E040-4CB6-9C39-64E37920BC34}"/>
              </a:ext>
            </a:extLst>
          </p:cNvPr>
          <p:cNvSpPr txBox="1"/>
          <p:nvPr/>
        </p:nvSpPr>
        <p:spPr>
          <a:xfrm>
            <a:off x="329900" y="6637135"/>
            <a:ext cx="6226281" cy="2350259"/>
          </a:xfrm>
          <a:prstGeom prst="rect">
            <a:avLst/>
          </a:prstGeom>
          <a:solidFill>
            <a:schemeClr val="bg1"/>
          </a:solidFill>
          <a:ln>
            <a:noFill/>
          </a:ln>
        </p:spPr>
        <p:txBody>
          <a:bodyPr wrap="square" rtlCol="0">
            <a:spAutoFit/>
          </a:bodyPr>
          <a:lstStyle/>
          <a:p>
            <a:pPr algn="ctr"/>
            <a:r>
              <a:rPr lang="pt-BR" sz="2358" dirty="0">
                <a:ln>
                  <a:solidFill>
                    <a:srgbClr val="002060"/>
                  </a:solidFill>
                </a:ln>
                <a:solidFill>
                  <a:srgbClr val="002060"/>
                </a:solidFill>
                <a:latin typeface="Monda" panose="02000503000000000000" pitchFamily="2" charset="0"/>
              </a:rPr>
              <a:t>Só Aço Industrial Ltda</a:t>
            </a:r>
          </a:p>
          <a:p>
            <a:pPr algn="ctr"/>
            <a:r>
              <a:rPr lang="pt-BR" sz="1572" dirty="0">
                <a:ln>
                  <a:solidFill>
                    <a:srgbClr val="002060"/>
                  </a:solidFill>
                </a:ln>
                <a:solidFill>
                  <a:srgbClr val="002060"/>
                </a:solidFill>
                <a:latin typeface="Monda" panose="02000503000000000000" pitchFamily="2" charset="0"/>
              </a:rPr>
              <a:t>CNPJ: 04.041.754/0001-40</a:t>
            </a:r>
          </a:p>
          <a:p>
            <a:pPr algn="ctr"/>
            <a:r>
              <a:rPr lang="pt-BR" sz="1572" dirty="0">
                <a:ln>
                  <a:solidFill>
                    <a:srgbClr val="002060"/>
                  </a:solidFill>
                </a:ln>
                <a:solidFill>
                  <a:srgbClr val="002060"/>
                </a:solidFill>
                <a:latin typeface="Monda" panose="02000503000000000000" pitchFamily="2" charset="0"/>
              </a:rPr>
              <a:t>Av. Coletora Secundária III, Nº 9519 Complemento Quadra C/E Lote 000001 CEP: 64.038-250 Bairro Pedra Miúda  </a:t>
            </a:r>
          </a:p>
          <a:p>
            <a:pPr algn="ctr"/>
            <a:r>
              <a:rPr lang="pt-BR" sz="1572" dirty="0">
                <a:ln>
                  <a:solidFill>
                    <a:srgbClr val="002060"/>
                  </a:solidFill>
                </a:ln>
                <a:solidFill>
                  <a:srgbClr val="002060"/>
                </a:solidFill>
                <a:latin typeface="Monda" panose="02000503000000000000" pitchFamily="2" charset="0"/>
              </a:rPr>
              <a:t>Telefones: (86) 3219 1200/1300</a:t>
            </a:r>
          </a:p>
          <a:p>
            <a:pPr algn="ctr"/>
            <a:r>
              <a:rPr lang="pt-BR" sz="1572" dirty="0">
                <a:ln>
                  <a:solidFill>
                    <a:srgbClr val="002060"/>
                  </a:solidFill>
                </a:ln>
                <a:solidFill>
                  <a:srgbClr val="002060"/>
                </a:solidFill>
                <a:latin typeface="Monda" panose="02000503000000000000" pitchFamily="2" charset="0"/>
              </a:rPr>
              <a:t>Teresina – Piauí</a:t>
            </a:r>
          </a:p>
          <a:p>
            <a:pPr algn="ctr"/>
            <a:r>
              <a:rPr lang="pt-BR" sz="1572" dirty="0">
                <a:ln>
                  <a:solidFill>
                    <a:srgbClr val="002060"/>
                  </a:solidFill>
                </a:ln>
                <a:solidFill>
                  <a:srgbClr val="002060"/>
                </a:solidFill>
                <a:latin typeface="Monda" panose="02000503000000000000" pitchFamily="2" charset="0"/>
              </a:rPr>
              <a:t>Site: </a:t>
            </a:r>
            <a:r>
              <a:rPr lang="pt-BR" sz="1572" dirty="0">
                <a:ln>
                  <a:solidFill>
                    <a:srgbClr val="002060"/>
                  </a:solidFill>
                </a:ln>
                <a:solidFill>
                  <a:srgbClr val="002060"/>
                </a:solidFill>
                <a:latin typeface="Monda" panose="02000503000000000000" pitchFamily="2" charset="0"/>
                <a:hlinkClick r:id="rId4"/>
              </a:rPr>
              <a:t>www.soacoindustrial.com.br</a:t>
            </a:r>
            <a:endParaRPr lang="pt-BR" sz="1572" dirty="0">
              <a:ln>
                <a:solidFill>
                  <a:srgbClr val="002060"/>
                </a:solidFill>
              </a:ln>
              <a:solidFill>
                <a:srgbClr val="002060"/>
              </a:solidFill>
              <a:latin typeface="Monda" panose="02000503000000000000" pitchFamily="2" charset="0"/>
            </a:endParaRPr>
          </a:p>
          <a:p>
            <a:pPr algn="ctr"/>
            <a:r>
              <a:rPr lang="pt-BR" sz="1572" dirty="0">
                <a:ln>
                  <a:solidFill>
                    <a:srgbClr val="002060"/>
                  </a:solidFill>
                </a:ln>
                <a:solidFill>
                  <a:srgbClr val="002060"/>
                </a:solidFill>
                <a:latin typeface="Monda" panose="02000503000000000000" pitchFamily="2" charset="0"/>
              </a:rPr>
              <a:t>Ouvidoria/SAC: </a:t>
            </a:r>
            <a:r>
              <a:rPr lang="pt-BR" sz="1572" dirty="0">
                <a:ln>
                  <a:solidFill>
                    <a:srgbClr val="002060"/>
                  </a:solidFill>
                </a:ln>
                <a:solidFill>
                  <a:srgbClr val="002060"/>
                </a:solidFill>
                <a:latin typeface="Monda" panose="02000503000000000000" pitchFamily="2" charset="0"/>
                <a:hlinkClick r:id="rId5"/>
              </a:rPr>
              <a:t>sac@soacoindustrial.com.br</a:t>
            </a:r>
            <a:endParaRPr lang="pt-BR" sz="1572" dirty="0">
              <a:ln>
                <a:solidFill>
                  <a:srgbClr val="002060"/>
                </a:solidFill>
              </a:ln>
              <a:solidFill>
                <a:srgbClr val="002060"/>
              </a:solidFill>
              <a:latin typeface="Monda" panose="02000503000000000000" pitchFamily="2" charset="0"/>
            </a:endParaRPr>
          </a:p>
          <a:p>
            <a:pPr algn="ctr"/>
            <a:r>
              <a:rPr lang="pt-BR" sz="1310" dirty="0">
                <a:ln>
                  <a:solidFill>
                    <a:srgbClr val="002060"/>
                  </a:solidFill>
                </a:ln>
                <a:solidFill>
                  <a:srgbClr val="002060"/>
                </a:solidFill>
                <a:latin typeface="Monda" panose="02000503000000000000" pitchFamily="2" charset="0"/>
              </a:rPr>
              <a:t>MP-SA-0001.Rev. 4</a:t>
            </a:r>
          </a:p>
        </p:txBody>
      </p:sp>
    </p:spTree>
    <p:extLst>
      <p:ext uri="{BB962C8B-B14F-4D97-AF65-F5344CB8AC3E}">
        <p14:creationId xmlns:p14="http://schemas.microsoft.com/office/powerpoint/2010/main" val="3206447466"/>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4210301</TotalTime>
  <Words>2805</Words>
  <Application>Microsoft Office PowerPoint</Application>
  <PresentationFormat>Papel A4 (210 x 297 mm)</PresentationFormat>
  <Paragraphs>233</Paragraphs>
  <Slides>12</Slides>
  <Notes>5</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12</vt:i4>
      </vt:variant>
    </vt:vector>
  </HeadingPairs>
  <TitlesOfParts>
    <vt:vector size="18" baseType="lpstr">
      <vt:lpstr>Arial</vt:lpstr>
      <vt:lpstr>Arial Rounded MT Bold</vt:lpstr>
      <vt:lpstr>Calibri</vt:lpstr>
      <vt:lpstr>Monda</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soaco</dc:creator>
  <cp:lastModifiedBy>Eliel Lima</cp:lastModifiedBy>
  <cp:revision>147</cp:revision>
  <cp:lastPrinted>2018-04-19T16:14:57Z</cp:lastPrinted>
  <dcterms:created xsi:type="dcterms:W3CDTF">2017-01-16T11:13:17Z</dcterms:created>
  <dcterms:modified xsi:type="dcterms:W3CDTF">2022-02-23T11:12:35Z</dcterms:modified>
</cp:coreProperties>
</file>